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Default Extension="vml" ContentType="application/vnd.openxmlformats-officedocument.vmlDrawing"/>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slideLayouts/slideLayout14.xml" ContentType="application/vnd.openxmlformats-officedocument.presentationml.slideLayout+xml"/>
  <Override PartName="/ppt/theme/theme3.xml" ContentType="application/vnd.openxmlformats-officedocument.theme+xml"/>
  <Override PartName="/ppt/tags/tag2.xml" ContentType="application/vnd.openxmlformats-officedocument.presentationml.tags+xml"/>
  <Override PartName="/ppt/slideLayouts/slideLayout15.xml" ContentType="application/vnd.openxmlformats-officedocument.presentationml.slideLayout+xml"/>
  <Override PartName="/ppt/theme/theme4.xml" ContentType="application/vnd.openxmlformats-officedocument.theme+xml"/>
  <Override PartName="/ppt/tags/tag3.xml" ContentType="application/vnd.openxmlformats-officedocument.presentationml.tags+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4.xml" ContentType="application/vnd.openxmlformats-officedocument.presentationml.notesSlide+xml"/>
  <Override PartName="/ppt/charts/chart4.xml" ContentType="application/vnd.openxmlformats-officedocument.drawingml.chart+xml"/>
  <Override PartName="/ppt/theme/themeOverride1.xml" ContentType="application/vnd.openxmlformats-officedocument.themeOverride+xml"/>
  <Override PartName="/ppt/charts/chart5.xml" ContentType="application/vnd.openxmlformats-officedocument.drawingml.chart+xml"/>
  <Override PartName="/ppt/theme/themeOverride2.xml" ContentType="application/vnd.openxmlformats-officedocument.themeOverride+xml"/>
  <Override PartName="/ppt/notesSlides/notesSlide5.xml" ContentType="application/vnd.openxmlformats-officedocument.presentationml.notesSlide+xml"/>
  <Override PartName="/ppt/charts/chart6.xml" ContentType="application/vnd.openxmlformats-officedocument.drawingml.chart+xml"/>
  <Override PartName="/ppt/theme/themeOverride3.xml" ContentType="application/vnd.openxmlformats-officedocument.themeOverride+xml"/>
  <Override PartName="/ppt/charts/chart7.xml" ContentType="application/vnd.openxmlformats-officedocument.drawingml.chart+xml"/>
  <Override PartName="/ppt/theme/themeOverride4.xml" ContentType="application/vnd.openxmlformats-officedocument.themeOverride+xml"/>
  <Override PartName="/ppt/charts/chart8.xml" ContentType="application/vnd.openxmlformats-officedocument.drawingml.chart+xml"/>
  <Override PartName="/ppt/theme/themeOverride5.xml" ContentType="application/vnd.openxmlformats-officedocument.themeOverride+xml"/>
  <Override PartName="/ppt/charts/chart9.xml" ContentType="application/vnd.openxmlformats-officedocument.drawingml.chart+xml"/>
  <Override PartName="/ppt/theme/themeOverride6.xml" ContentType="application/vnd.openxmlformats-officedocument.themeOverride+xml"/>
  <Override PartName="/ppt/charts/chart10.xml" ContentType="application/vnd.openxmlformats-officedocument.drawingml.chart+xml"/>
  <Override PartName="/ppt/theme/themeOverride7.xml" ContentType="application/vnd.openxmlformats-officedocument.themeOverride+xml"/>
  <Override PartName="/ppt/charts/chart11.xml" ContentType="application/vnd.openxmlformats-officedocument.drawingml.chart+xml"/>
  <Override PartName="/ppt/theme/themeOverride8.xml" ContentType="application/vnd.openxmlformats-officedocument.themeOverride+xml"/>
  <Override PartName="/ppt/charts/chart12.xml" ContentType="application/vnd.openxmlformats-officedocument.drawingml.chart+xml"/>
  <Override PartName="/ppt/theme/themeOverride9.xml" ContentType="application/vnd.openxmlformats-officedocument.themeOverride+xml"/>
  <Override PartName="/ppt/charts/chart13.xml" ContentType="application/vnd.openxmlformats-officedocument.drawingml.chart+xml"/>
  <Override PartName="/ppt/theme/themeOverride10.xml" ContentType="application/vnd.openxmlformats-officedocument.themeOverride+xml"/>
  <Override PartName="/ppt/notesSlides/notesSlide6.xml" ContentType="application/vnd.openxmlformats-officedocument.presentationml.notesSlide+xml"/>
  <Override PartName="/ppt/charts/chart14.xml" ContentType="application/vnd.openxmlformats-officedocument.drawingml.chart+xml"/>
  <Override PartName="/ppt/theme/themeOverride11.xml" ContentType="application/vnd.openxmlformats-officedocument.themeOverride+xml"/>
  <Override PartName="/ppt/notesSlides/notesSlide7.xml" ContentType="application/vnd.openxmlformats-officedocument.presentationml.notesSlide+xml"/>
  <Override PartName="/ppt/charts/chart15.xml" ContentType="application/vnd.openxmlformats-officedocument.drawingml.chart+xml"/>
  <Override PartName="/ppt/notesSlides/notesSlide8.xml" ContentType="application/vnd.openxmlformats-officedocument.presentationml.notesSlide+xml"/>
  <Override PartName="/ppt/charts/chart16.xml" ContentType="application/vnd.openxmlformats-officedocument.drawingml.chart+xml"/>
  <Override PartName="/ppt/theme/themeOverride12.xml" ContentType="application/vnd.openxmlformats-officedocument.themeOverride+xml"/>
  <Override PartName="/ppt/notesSlides/notesSlide9.xml" ContentType="application/vnd.openxmlformats-officedocument.presentationml.notesSlide+xml"/>
  <Override PartName="/ppt/charts/chart17.xml" ContentType="application/vnd.openxmlformats-officedocument.drawingml.chart+xml"/>
  <Override PartName="/ppt/charts/chart18.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73" r:id="rId2"/>
    <p:sldMasterId id="2147483675" r:id="rId3"/>
    <p:sldMasterId id="2147483677" r:id="rId4"/>
  </p:sldMasterIdLst>
  <p:notesMasterIdLst>
    <p:notesMasterId r:id="rId43"/>
  </p:notesMasterIdLst>
  <p:sldIdLst>
    <p:sldId id="600" r:id="rId5"/>
    <p:sldId id="265" r:id="rId6"/>
    <p:sldId id="695" r:id="rId7"/>
    <p:sldId id="696" r:id="rId8"/>
    <p:sldId id="697" r:id="rId9"/>
    <p:sldId id="698" r:id="rId10"/>
    <p:sldId id="717" r:id="rId11"/>
    <p:sldId id="718" r:id="rId12"/>
    <p:sldId id="701" r:id="rId13"/>
    <p:sldId id="702" r:id="rId14"/>
    <p:sldId id="719" r:id="rId15"/>
    <p:sldId id="703" r:id="rId16"/>
    <p:sldId id="720" r:id="rId17"/>
    <p:sldId id="721" r:id="rId18"/>
    <p:sldId id="728" r:id="rId19"/>
    <p:sldId id="709" r:id="rId20"/>
    <p:sldId id="715" r:id="rId21"/>
    <p:sldId id="716" r:id="rId22"/>
    <p:sldId id="722" r:id="rId23"/>
    <p:sldId id="723" r:id="rId24"/>
    <p:sldId id="724" r:id="rId25"/>
    <p:sldId id="725" r:id="rId26"/>
    <p:sldId id="726" r:id="rId27"/>
    <p:sldId id="727" r:id="rId28"/>
    <p:sldId id="490" r:id="rId29"/>
    <p:sldId id="621" r:id="rId30"/>
    <p:sldId id="461" r:id="rId31"/>
    <p:sldId id="694" r:id="rId32"/>
    <p:sldId id="464" r:id="rId33"/>
    <p:sldId id="710" r:id="rId34"/>
    <p:sldId id="663" r:id="rId35"/>
    <p:sldId id="532" r:id="rId36"/>
    <p:sldId id="411" r:id="rId37"/>
    <p:sldId id="664" r:id="rId38"/>
    <p:sldId id="711" r:id="rId39"/>
    <p:sldId id="712" r:id="rId40"/>
    <p:sldId id="713" r:id="rId41"/>
    <p:sldId id="714" r:id="rId42"/>
  </p:sldIdLst>
  <p:sldSz cx="9144000" cy="514826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83" userDrawn="1">
          <p15:clr>
            <a:srgbClr val="A4A3A4"/>
          </p15:clr>
        </p15:guide>
        <p15:guide id="2" pos="61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 initials="a" lastIdx="1" clrIdx="0">
    <p:extLst>
      <p:ext uri="{19B8F6BF-5375-455C-9EA6-DF929625EA0E}">
        <p15:presenceInfo xmlns:p15="http://schemas.microsoft.com/office/powerpoint/2012/main" userId="adm" providerId="None"/>
      </p:ext>
    </p:extLst>
  </p:cmAuthor>
  <p:cmAuthor id="2" name="Luis Marcal" initials="LM" lastIdx="0" clrIdx="1">
    <p:extLst>
      <p:ext uri="{19B8F6BF-5375-455C-9EA6-DF929625EA0E}">
        <p15:presenceInfo xmlns:p15="http://schemas.microsoft.com/office/powerpoint/2012/main" userId="Luis Marcal"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FF00"/>
    <a:srgbClr val="A0A0A0"/>
    <a:srgbClr val="BABABA"/>
    <a:srgbClr val="FFFFFF"/>
    <a:srgbClr val="CCCC00"/>
    <a:srgbClr val="19345B"/>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279" autoAdjust="0"/>
    <p:restoredTop sz="89623" autoAdjust="0"/>
  </p:normalViewPr>
  <p:slideViewPr>
    <p:cSldViewPr snapToGrid="0" snapToObjects="1">
      <p:cViewPr varScale="1">
        <p:scale>
          <a:sx n="88" d="100"/>
          <a:sy n="88" d="100"/>
        </p:scale>
        <p:origin x="804" y="66"/>
      </p:cViewPr>
      <p:guideLst>
        <p:guide orient="horz" pos="2483"/>
        <p:guide pos="612"/>
      </p:guideLst>
    </p:cSldViewPr>
  </p:slid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slideMaster" Target="slideMasters/slideMaster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commentAuthors" Target="commentAuthor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4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2" Type="http://schemas.openxmlformats.org/officeDocument/2006/relationships/package" Target="../embeddings/Microsoft_Excel_Worksheet4.xlsx"/><Relationship Id="rId1" Type="http://schemas.openxmlformats.org/officeDocument/2006/relationships/themeOverride" Target="../theme/themeOverride1.xml"/></Relationships>
</file>

<file path=ppt/charts/_rels/chart5.xml.rels><?xml version="1.0" encoding="UTF-8" standalone="yes"?>
<Relationships xmlns="http://schemas.openxmlformats.org/package/2006/relationships"><Relationship Id="rId2" Type="http://schemas.openxmlformats.org/officeDocument/2006/relationships/package" Target="../embeddings/Microsoft_Excel_Worksheet5.xlsx"/><Relationship Id="rId1" Type="http://schemas.openxmlformats.org/officeDocument/2006/relationships/themeOverride" Target="../theme/themeOverride2.xml"/></Relationships>
</file>

<file path=ppt/charts/_rels/chart6.xml.rels><?xml version="1.0" encoding="UTF-8" standalone="yes"?>
<Relationships xmlns="http://schemas.openxmlformats.org/package/2006/relationships"><Relationship Id="rId2" Type="http://schemas.openxmlformats.org/officeDocument/2006/relationships/package" Target="../embeddings/Microsoft_Excel_Worksheet6.xlsx"/><Relationship Id="rId1" Type="http://schemas.openxmlformats.org/officeDocument/2006/relationships/themeOverride" Target="../theme/themeOverride3.xml"/></Relationships>
</file>

<file path=ppt/charts/_rels/chart7.xml.rels><?xml version="1.0" encoding="UTF-8" standalone="yes"?>
<Relationships xmlns="http://schemas.openxmlformats.org/package/2006/relationships"><Relationship Id="rId2" Type="http://schemas.openxmlformats.org/officeDocument/2006/relationships/package" Target="../embeddings/Microsoft_Excel_Worksheet7.xlsx"/><Relationship Id="rId1" Type="http://schemas.openxmlformats.org/officeDocument/2006/relationships/themeOverride" Target="../theme/themeOverride4.xml"/></Relationships>
</file>

<file path=ppt/charts/_rels/chart8.xml.rels><?xml version="1.0" encoding="UTF-8" standalone="yes"?>
<Relationships xmlns="http://schemas.openxmlformats.org/package/2006/relationships"><Relationship Id="rId2" Type="http://schemas.openxmlformats.org/officeDocument/2006/relationships/package" Target="../embeddings/Microsoft_Excel_Worksheet8.xlsx"/><Relationship Id="rId1" Type="http://schemas.openxmlformats.org/officeDocument/2006/relationships/themeOverride" Target="../theme/themeOverride5.xml"/></Relationships>
</file>

<file path=ppt/charts/_rels/chart9.xml.rels><?xml version="1.0" encoding="UTF-8" standalone="yes"?>
<Relationships xmlns="http://schemas.openxmlformats.org/package/2006/relationships"><Relationship Id="rId2" Type="http://schemas.openxmlformats.org/officeDocument/2006/relationships/package" Target="../embeddings/Microsoft_Excel_Worksheet9.xlsx"/><Relationship Id="rId1" Type="http://schemas.openxmlformats.org/officeDocument/2006/relationships/themeOverride" Target="../theme/themeOverride6.xml"/></Relationships>
</file>

<file path=ppt/charts/_rels/chart10.xml.rels><?xml version="1.0" encoding="UTF-8" standalone="yes"?>
<Relationships xmlns="http://schemas.openxmlformats.org/package/2006/relationships"><Relationship Id="rId2" Type="http://schemas.openxmlformats.org/officeDocument/2006/relationships/package" Target="../embeddings/Microsoft_Excel_Worksheet10.xlsx"/><Relationship Id="rId1" Type="http://schemas.openxmlformats.org/officeDocument/2006/relationships/themeOverride" Target="../theme/themeOverride7.xml"/></Relationships>
</file>

<file path=ppt/charts/_rels/chart11.xml.rels><?xml version="1.0" encoding="UTF-8" standalone="yes"?>
<Relationships xmlns="http://schemas.openxmlformats.org/package/2006/relationships"><Relationship Id="rId2" Type="http://schemas.openxmlformats.org/officeDocument/2006/relationships/package" Target="../embeddings/Microsoft_Excel_Worksheet11.xlsx"/><Relationship Id="rId1" Type="http://schemas.openxmlformats.org/officeDocument/2006/relationships/themeOverride" Target="../theme/themeOverride8.xml"/></Relationships>
</file>

<file path=ppt/charts/_rels/chart12.xml.rels><?xml version="1.0" encoding="UTF-8" standalone="yes"?>
<Relationships xmlns="http://schemas.openxmlformats.org/package/2006/relationships"><Relationship Id="rId2" Type="http://schemas.openxmlformats.org/officeDocument/2006/relationships/package" Target="../embeddings/Microsoft_Excel_Worksheet12.xlsx"/><Relationship Id="rId1" Type="http://schemas.openxmlformats.org/officeDocument/2006/relationships/themeOverride" Target="../theme/themeOverride9.xml"/></Relationships>
</file>

<file path=ppt/charts/_rels/chart13.xml.rels><?xml version="1.0" encoding="UTF-8" standalone="yes"?>
<Relationships xmlns="http://schemas.openxmlformats.org/package/2006/relationships"><Relationship Id="rId2" Type="http://schemas.openxmlformats.org/officeDocument/2006/relationships/package" Target="../embeddings/Microsoft_Excel_Worksheet13.xlsx"/><Relationship Id="rId1" Type="http://schemas.openxmlformats.org/officeDocument/2006/relationships/themeOverride" Target="../theme/themeOverride10.xml"/></Relationships>
</file>

<file path=ppt/charts/_rels/chart14.xml.rels><?xml version="1.0" encoding="UTF-8" standalone="yes"?>
<Relationships xmlns="http://schemas.openxmlformats.org/package/2006/relationships"><Relationship Id="rId2" Type="http://schemas.openxmlformats.org/officeDocument/2006/relationships/package" Target="../embeddings/Microsoft_Excel_Worksheet14.xlsx"/><Relationship Id="rId1" Type="http://schemas.openxmlformats.org/officeDocument/2006/relationships/themeOverride" Target="../theme/themeOverride11.xml"/></Relationships>
</file>

<file path=ppt/charts/_rels/chart15.xml.rels><?xml version="1.0" encoding="UTF-8" standalone="yes"?>
<Relationships xmlns="http://schemas.openxmlformats.org/package/2006/relationships"><Relationship Id="rId1" Type="http://schemas.openxmlformats.org/officeDocument/2006/relationships/oleObject" Target="file:///C:\Users\365865\Desktop\demanda%20Final.xlsx" TargetMode="External"/></Relationships>
</file>

<file path=ppt/charts/_rels/chart16.xml.rels><?xml version="1.0" encoding="UTF-8" standalone="yes"?>
<Relationships xmlns="http://schemas.openxmlformats.org/package/2006/relationships"><Relationship Id="rId2" Type="http://schemas.openxmlformats.org/officeDocument/2006/relationships/oleObject" Target="file:///C:\Users\478696\AppData\Local\Microsoft\Windows\Temporary%20Internet%20Files\Content.Outlook\971D3EO1\kpi-Jun'16.xls" TargetMode="External"/><Relationship Id="rId1" Type="http://schemas.openxmlformats.org/officeDocument/2006/relationships/themeOverride" Target="../theme/themeOverride12.xml"/></Relationships>
</file>

<file path=ppt/charts/_rels/chart17.xml.rels><?xml version="1.0" encoding="UTF-8" standalone="yes"?>
<Relationships xmlns="http://schemas.openxmlformats.org/package/2006/relationships"><Relationship Id="rId1" Type="http://schemas.openxmlformats.org/officeDocument/2006/relationships/oleObject" Target="file:///C:\Users\478696\AppData\Local\Microsoft\Windows\Temporary%20Internet%20Files\Content.Outlook\971D3EO1\kpi-Jun'16.xls" TargetMode="External"/></Relationships>
</file>

<file path=ppt/charts/_rels/chart18.xml.rels><?xml version="1.0" encoding="UTF-8" standalone="yes"?>
<Relationships xmlns="http://schemas.openxmlformats.org/package/2006/relationships"><Relationship Id="rId1" Type="http://schemas.openxmlformats.org/officeDocument/2006/relationships/oleObject" Target="file:///C:\Users\478696\AppData\Local\Microsoft\Windows\Temporary%20Internet%20Files\Content.Outlook\971D3EO1\kpi-Jun'16.xls"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pt-BR" dirty="0" smtClean="0">
                <a:solidFill>
                  <a:schemeClr val="accent2"/>
                </a:solidFill>
              </a:rPr>
              <a:t>Incidentes Todos os Impactos</a:t>
            </a:r>
            <a:endParaRPr lang="pt-BR" dirty="0">
              <a:solidFill>
                <a:schemeClr val="accent2"/>
              </a:solidFill>
            </a:endParaRPr>
          </a:p>
        </c:rich>
      </c:tx>
      <c:layout/>
      <c:overlay val="0"/>
    </c:title>
    <c:autoTitleDeleted val="0"/>
    <c:plotArea>
      <c:layout>
        <c:manualLayout>
          <c:layoutTarget val="inner"/>
          <c:xMode val="edge"/>
          <c:yMode val="edge"/>
          <c:x val="2.4382486517836682E-2"/>
          <c:y val="4.4759007402136779E-2"/>
          <c:w val="0.95633487271295414"/>
          <c:h val="0.74723833040905607"/>
        </c:manualLayout>
      </c:layout>
      <c:barChart>
        <c:barDir val="col"/>
        <c:grouping val="stacked"/>
        <c:varyColors val="0"/>
        <c:ser>
          <c:idx val="0"/>
          <c:order val="0"/>
          <c:tx>
            <c:strRef>
              <c:f>Plan1!$B$1</c:f>
              <c:strCache>
                <c:ptCount val="1"/>
                <c:pt idx="0">
                  <c:v>Incidentes</c:v>
                </c:pt>
              </c:strCache>
            </c:strRef>
          </c:tx>
          <c:spPr>
            <a:solidFill>
              <a:srgbClr val="19345B"/>
            </a:solidFill>
            <a:ln w="6350" cap="flat" cmpd="sng" algn="ctr">
              <a:noFill/>
              <a:prstDash val="solid"/>
              <a:miter lim="800000"/>
            </a:ln>
            <a:effectLst/>
            <a:scene3d>
              <a:camera prst="orthographicFront"/>
              <a:lightRig rig="threePt" dir="t"/>
            </a:scene3d>
            <a:sp3d>
              <a:bevelT w="139700" h="139700"/>
            </a:sp3d>
          </c:spPr>
          <c:invertIfNegative val="0"/>
          <c:dPt>
            <c:idx val="3"/>
            <c:invertIfNegative val="0"/>
            <c:bubble3D val="0"/>
            <c:extLst xmlns:c16r2="http://schemas.microsoft.com/office/drawing/2015/06/chart">
              <c:ext xmlns:c16="http://schemas.microsoft.com/office/drawing/2014/chart" uri="{C3380CC4-5D6E-409C-BE32-E72D297353CC}">
                <c16:uniqueId val="{00000001-3AF3-47B6-B362-8D75B94687B9}"/>
              </c:ext>
            </c:extLst>
          </c:dPt>
          <c:dPt>
            <c:idx val="4"/>
            <c:invertIfNegative val="0"/>
            <c:bubble3D val="0"/>
            <c:extLst xmlns:c16r2="http://schemas.microsoft.com/office/drawing/2015/06/chart">
              <c:ext xmlns:c16="http://schemas.microsoft.com/office/drawing/2014/chart" uri="{C3380CC4-5D6E-409C-BE32-E72D297353CC}">
                <c16:uniqueId val="{00000003-3AF3-47B6-B362-8D75B94687B9}"/>
              </c:ext>
            </c:extLst>
          </c:dPt>
          <c:dPt>
            <c:idx val="5"/>
            <c:invertIfNegative val="0"/>
            <c:bubble3D val="0"/>
            <c:extLst xmlns:c16r2="http://schemas.microsoft.com/office/drawing/2015/06/chart">
              <c:ext xmlns:c16="http://schemas.microsoft.com/office/drawing/2014/chart" uri="{C3380CC4-5D6E-409C-BE32-E72D297353CC}">
                <c16:uniqueId val="{00000005-B343-4B87-A407-FBF943380C67}"/>
              </c:ext>
            </c:extLst>
          </c:dPt>
          <c:dPt>
            <c:idx val="6"/>
            <c:invertIfNegative val="0"/>
            <c:bubble3D val="0"/>
            <c:spPr>
              <a:solidFill>
                <a:srgbClr val="00B050"/>
              </a:solidFill>
              <a:ln w="6350" cap="flat" cmpd="sng" algn="ctr">
                <a:noFill/>
                <a:prstDash val="solid"/>
                <a:miter lim="800000"/>
              </a:ln>
              <a:effectLst/>
              <a:scene3d>
                <a:camera prst="orthographicFront"/>
                <a:lightRig rig="threePt" dir="t"/>
              </a:scene3d>
              <a:sp3d>
                <a:bevelT w="139700" h="139700"/>
              </a:sp3d>
            </c:spPr>
          </c:dPt>
          <c:dLbls>
            <c:dLbl>
              <c:idx val="0"/>
              <c:layout>
                <c:manualLayout>
                  <c:x val="2.9725132765506763E-4"/>
                  <c:y val="-0.33724575713499888"/>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6-B343-4B87-A407-FBF943380C67}"/>
                </c:ext>
                <c:ext xmlns:c15="http://schemas.microsoft.com/office/drawing/2012/chart" uri="{CE6537A1-D6FC-4f65-9D91-7224C49458BB}">
                  <c15:layout/>
                </c:ext>
              </c:extLst>
            </c:dLbl>
            <c:dLbl>
              <c:idx val="1"/>
              <c:layout>
                <c:manualLayout>
                  <c:x val="2.4369452091275432E-3"/>
                  <c:y val="-0.31719452890615246"/>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7-B343-4B87-A407-FBF943380C67}"/>
                </c:ext>
                <c:ext xmlns:c15="http://schemas.microsoft.com/office/drawing/2012/chart" uri="{CE6537A1-D6FC-4f65-9D91-7224C49458BB}">
                  <c15:layout/>
                </c:ext>
              </c:extLst>
            </c:dLbl>
            <c:dLbl>
              <c:idx val="2"/>
              <c:layout>
                <c:manualLayout>
                  <c:x val="-3.9489857296034448E-3"/>
                  <c:y val="-0.29373820957677654"/>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8-B343-4B87-A407-FBF943380C67}"/>
                </c:ext>
                <c:ext xmlns:c15="http://schemas.microsoft.com/office/drawing/2012/chart" uri="{CE6537A1-D6FC-4f65-9D91-7224C49458BB}">
                  <c15:layout/>
                </c:ext>
              </c:extLst>
            </c:dLbl>
            <c:dLbl>
              <c:idx val="3"/>
              <c:layout>
                <c:manualLayout>
                  <c:x val="4.8940264024498127E-4"/>
                  <c:y val="-0.29864032586283118"/>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1-3AF3-47B6-B362-8D75B94687B9}"/>
                </c:ext>
                <c:ext xmlns:c15="http://schemas.microsoft.com/office/drawing/2012/chart" uri="{CE6537A1-D6FC-4f65-9D91-7224C49458BB}">
                  <c15:layout/>
                </c:ext>
              </c:extLst>
            </c:dLbl>
            <c:dLbl>
              <c:idx val="4"/>
              <c:layout>
                <c:manualLayout>
                  <c:x val="-3.4890503833019649E-3"/>
                  <c:y val="-0.30107619777201078"/>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3-3AF3-47B6-B362-8D75B94687B9}"/>
                </c:ext>
                <c:ext xmlns:c15="http://schemas.microsoft.com/office/drawing/2012/chart" uri="{CE6537A1-D6FC-4f65-9D91-7224C49458BB}">
                  <c15:layout/>
                </c:ext>
              </c:extLst>
            </c:dLbl>
            <c:dLbl>
              <c:idx val="5"/>
              <c:layout>
                <c:manualLayout>
                  <c:x val="-6.2286492573075517E-4"/>
                  <c:y val="-0.27752403643346235"/>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5-B343-4B87-A407-FBF943380C67}"/>
                </c:ext>
                <c:ext xmlns:c15="http://schemas.microsoft.com/office/drawing/2012/chart" uri="{CE6537A1-D6FC-4f65-9D91-7224C49458BB}">
                  <c15:layout/>
                </c:ext>
              </c:extLst>
            </c:dLbl>
            <c:dLbl>
              <c:idx val="6"/>
              <c:layout>
                <c:manualLayout>
                  <c:x val="-5.8949397208952624E-4"/>
                  <c:y val="-0.2089200562903068"/>
                </c:manualLayout>
              </c:layout>
              <c:dLblPos val="ctr"/>
              <c:showLegendKey val="0"/>
              <c:showVal val="1"/>
              <c:showCatName val="0"/>
              <c:showSerName val="0"/>
              <c:showPercent val="0"/>
              <c:showBubbleSize val="0"/>
              <c:extLst>
                <c:ext xmlns:c15="http://schemas.microsoft.com/office/drawing/2012/chart" uri="{CE6537A1-D6FC-4f65-9D91-7224C49458BB}">
                  <c15:layout/>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2"/>
                    </a:solidFill>
                    <a:latin typeface="+mn-lt"/>
                    <a:ea typeface="+mn-ea"/>
                    <a:cs typeface="+mn-cs"/>
                  </a:defRPr>
                </a:pPr>
                <a:endParaRPr lang="pt-BR"/>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0"/>
              </c:ext>
            </c:extLst>
          </c:dLbls>
          <c:cat>
            <c:strRef>
              <c:f>Plan1!$A$2:$A$8</c:f>
              <c:strCache>
                <c:ptCount val="7"/>
                <c:pt idx="0">
                  <c:v>Ago</c:v>
                </c:pt>
                <c:pt idx="1">
                  <c:v>Jan</c:v>
                </c:pt>
                <c:pt idx="2">
                  <c:v>Fev</c:v>
                </c:pt>
                <c:pt idx="3">
                  <c:v>Mar</c:v>
                </c:pt>
                <c:pt idx="4">
                  <c:v>Abr</c:v>
                </c:pt>
                <c:pt idx="5">
                  <c:v>Mai</c:v>
                </c:pt>
                <c:pt idx="6">
                  <c:v>Jun</c:v>
                </c:pt>
              </c:strCache>
            </c:strRef>
          </c:cat>
          <c:val>
            <c:numRef>
              <c:f>Plan1!$B$2:$B$8</c:f>
              <c:numCache>
                <c:formatCode>#,##0</c:formatCode>
                <c:ptCount val="7"/>
                <c:pt idx="0">
                  <c:v>24272</c:v>
                </c:pt>
                <c:pt idx="1">
                  <c:v>21648</c:v>
                </c:pt>
                <c:pt idx="2">
                  <c:v>19660</c:v>
                </c:pt>
                <c:pt idx="3">
                  <c:v>21144</c:v>
                </c:pt>
                <c:pt idx="4">
                  <c:v>20388</c:v>
                </c:pt>
                <c:pt idx="5">
                  <c:v>19846</c:v>
                </c:pt>
                <c:pt idx="6">
                  <c:v>12342</c:v>
                </c:pt>
              </c:numCache>
            </c:numRef>
          </c:val>
          <c:extLst xmlns:c16r2="http://schemas.microsoft.com/office/drawing/2015/06/chart">
            <c:ext xmlns:c16="http://schemas.microsoft.com/office/drawing/2014/chart" uri="{C3380CC4-5D6E-409C-BE32-E72D297353CC}">
              <c16:uniqueId val="{00000007-3AF3-47B6-B362-8D75B94687B9}"/>
            </c:ext>
          </c:extLst>
        </c:ser>
        <c:dLbls>
          <c:dLblPos val="ctr"/>
          <c:showLegendKey val="0"/>
          <c:showVal val="1"/>
          <c:showCatName val="0"/>
          <c:showSerName val="0"/>
          <c:showPercent val="0"/>
          <c:showBubbleSize val="0"/>
        </c:dLbls>
        <c:gapWidth val="219"/>
        <c:overlap val="100"/>
        <c:axId val="258247024"/>
        <c:axId val="258252120"/>
      </c:barChart>
      <c:catAx>
        <c:axId val="2582470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chemeClr val="tx2"/>
                </a:solidFill>
                <a:latin typeface="+mn-lt"/>
                <a:ea typeface="+mn-ea"/>
                <a:cs typeface="+mn-cs"/>
              </a:defRPr>
            </a:pPr>
            <a:endParaRPr lang="pt-BR"/>
          </a:p>
        </c:txPr>
        <c:crossAx val="258252120"/>
        <c:crosses val="autoZero"/>
        <c:auto val="1"/>
        <c:lblAlgn val="ctr"/>
        <c:lblOffset val="100"/>
        <c:noMultiLvlLbl val="0"/>
      </c:catAx>
      <c:valAx>
        <c:axId val="258252120"/>
        <c:scaling>
          <c:orientation val="minMax"/>
        </c:scaling>
        <c:delete val="1"/>
        <c:axPos val="l"/>
        <c:numFmt formatCode="#,##0" sourceLinked="1"/>
        <c:majorTickMark val="none"/>
        <c:minorTickMark val="none"/>
        <c:tickLblPos val="nextTo"/>
        <c:crossAx val="258247024"/>
        <c:crosses val="autoZero"/>
        <c:crossBetween val="between"/>
      </c:valAx>
      <c:spPr>
        <a:noFill/>
        <a:ln w="25400">
          <a:noFill/>
        </a:ln>
        <a:effectLst/>
      </c:spPr>
    </c:plotArea>
    <c:plotVisOnly val="1"/>
    <c:dispBlanksAs val="gap"/>
    <c:showDLblsOverMax val="0"/>
  </c:chart>
  <c:spPr>
    <a:noFill/>
    <a:ln>
      <a:noFill/>
    </a:ln>
    <a:effectLst/>
  </c:spPr>
  <c:txPr>
    <a:bodyPr/>
    <a:lstStyle/>
    <a:p>
      <a:pPr>
        <a:defRPr/>
      </a:pPr>
      <a:endParaRPr lang="pt-B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a:defRPr sz="1400" b="1" i="0" u="none" strike="noStrike" kern="1200" spc="0" baseline="0">
                <a:solidFill>
                  <a:schemeClr val="tx1">
                    <a:lumMod val="65000"/>
                    <a:lumOff val="35000"/>
                  </a:schemeClr>
                </a:solidFill>
                <a:latin typeface="+mn-lt"/>
                <a:ea typeface="+mn-ea"/>
                <a:cs typeface="+mn-cs"/>
              </a:defRPr>
            </a:pPr>
            <a:r>
              <a:rPr lang="pt-BR" sz="1400" b="1" dirty="0">
                <a:solidFill>
                  <a:schemeClr val="accent2">
                    <a:lumMod val="75000"/>
                  </a:schemeClr>
                </a:solidFill>
              </a:rPr>
              <a:t>Volume</a:t>
            </a:r>
            <a:r>
              <a:rPr lang="pt-BR" sz="1400" b="1" baseline="0" dirty="0">
                <a:solidFill>
                  <a:schemeClr val="accent2">
                    <a:lumMod val="75000"/>
                  </a:schemeClr>
                </a:solidFill>
              </a:rPr>
              <a:t> de </a:t>
            </a:r>
            <a:r>
              <a:rPr lang="pt-BR" sz="1400" b="1" dirty="0">
                <a:solidFill>
                  <a:schemeClr val="accent2">
                    <a:lumMod val="75000"/>
                  </a:schemeClr>
                </a:solidFill>
              </a:rPr>
              <a:t>Incidentes Alto Impacto</a:t>
            </a:r>
          </a:p>
        </c:rich>
      </c:tx>
      <c:layout>
        <c:manualLayout>
          <c:xMode val="edge"/>
          <c:yMode val="edge"/>
          <c:x val="0.14041433831977174"/>
          <c:y val="1.5303345953272837E-3"/>
        </c:manualLayout>
      </c:layout>
      <c:overlay val="0"/>
      <c:spPr>
        <a:noFill/>
        <a:ln>
          <a:noFill/>
        </a:ln>
        <a:effectLst/>
      </c:spPr>
    </c:title>
    <c:autoTitleDeleted val="0"/>
    <c:plotArea>
      <c:layout>
        <c:manualLayout>
          <c:layoutTarget val="inner"/>
          <c:xMode val="edge"/>
          <c:yMode val="edge"/>
          <c:x val="0"/>
          <c:y val="0.21105009973328545"/>
          <c:w val="1"/>
          <c:h val="0.58094719439387965"/>
        </c:manualLayout>
      </c:layout>
      <c:barChart>
        <c:barDir val="col"/>
        <c:grouping val="stacked"/>
        <c:varyColors val="0"/>
        <c:ser>
          <c:idx val="0"/>
          <c:order val="0"/>
          <c:tx>
            <c:strRef>
              <c:f>Plan1!$B$1</c:f>
              <c:strCache>
                <c:ptCount val="1"/>
                <c:pt idx="0">
                  <c:v>Incidentes</c:v>
                </c:pt>
              </c:strCache>
            </c:strRef>
          </c:tx>
          <c:spPr>
            <a:solidFill>
              <a:srgbClr val="19345B"/>
            </a:solidFill>
            <a:ln>
              <a:noFill/>
            </a:ln>
            <a:effectLst/>
            <a:scene3d>
              <a:camera prst="orthographicFront"/>
              <a:lightRig rig="threePt" dir="t"/>
            </a:scene3d>
            <a:sp3d>
              <a:bevelT w="165100" prst="coolSlant"/>
            </a:sp3d>
          </c:spPr>
          <c:invertIfNegative val="0"/>
          <c:dPt>
            <c:idx val="3"/>
            <c:invertIfNegative val="0"/>
            <c:bubble3D val="0"/>
            <c:extLst xmlns:c16r2="http://schemas.microsoft.com/office/drawing/2015/06/chart">
              <c:ext xmlns:c16="http://schemas.microsoft.com/office/drawing/2014/chart" uri="{C3380CC4-5D6E-409C-BE32-E72D297353CC}">
                <c16:uniqueId val="{00000001-3AF3-47B6-B362-8D75B94687B9}"/>
              </c:ext>
            </c:extLst>
          </c:dPt>
          <c:dPt>
            <c:idx val="4"/>
            <c:invertIfNegative val="0"/>
            <c:bubble3D val="0"/>
            <c:extLst xmlns:c16r2="http://schemas.microsoft.com/office/drawing/2015/06/chart">
              <c:ext xmlns:c16="http://schemas.microsoft.com/office/drawing/2014/chart" uri="{C3380CC4-5D6E-409C-BE32-E72D297353CC}">
                <c16:uniqueId val="{00000003-3AF3-47B6-B362-8D75B94687B9}"/>
              </c:ext>
            </c:extLst>
          </c:dPt>
          <c:dPt>
            <c:idx val="5"/>
            <c:invertIfNegative val="0"/>
            <c:bubble3D val="0"/>
            <c:extLst xmlns:c16r2="http://schemas.microsoft.com/office/drawing/2015/06/chart">
              <c:ext xmlns:c16="http://schemas.microsoft.com/office/drawing/2014/chart" uri="{C3380CC4-5D6E-409C-BE32-E72D297353CC}">
                <c16:uniqueId val="{00000005-A68B-42D7-9922-1033F30CA165}"/>
              </c:ext>
            </c:extLst>
          </c:dPt>
          <c:dPt>
            <c:idx val="6"/>
            <c:invertIfNegative val="0"/>
            <c:bubble3D val="0"/>
            <c:spPr>
              <a:solidFill>
                <a:srgbClr val="00B050"/>
              </a:solidFill>
              <a:ln>
                <a:noFill/>
              </a:ln>
              <a:effectLst/>
              <a:scene3d>
                <a:camera prst="orthographicFront"/>
                <a:lightRig rig="threePt" dir="t"/>
              </a:scene3d>
              <a:sp3d>
                <a:bevelT w="165100" prst="coolSlant"/>
              </a:sp3d>
            </c:spPr>
          </c:dPt>
          <c:dLbls>
            <c:dLbl>
              <c:idx val="0"/>
              <c:layout>
                <c:manualLayout>
                  <c:x val="6.5411141225126665E-3"/>
                  <c:y val="-0.34639981170248996"/>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6-A342-4057-BDFD-D4272EDC6324}"/>
                </c:ext>
                <c:ext xmlns:c15="http://schemas.microsoft.com/office/drawing/2012/chart" uri="{CE6537A1-D6FC-4f65-9D91-7224C49458BB}">
                  <c15:layout/>
                </c:ext>
              </c:extLst>
            </c:dLbl>
            <c:dLbl>
              <c:idx val="1"/>
              <c:layout>
                <c:manualLayout>
                  <c:x val="2.6721793069625129E-3"/>
                  <c:y val="-0.15360018829751007"/>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7-A342-4057-BDFD-D4272EDC6324}"/>
                </c:ext>
                <c:ext xmlns:c15="http://schemas.microsoft.com/office/drawing/2012/chart" uri="{CE6537A1-D6FC-4f65-9D91-7224C49458BB}">
                  <c15:layout/>
                </c:ext>
              </c:extLst>
            </c:dLbl>
            <c:dLbl>
              <c:idx val="2"/>
              <c:layout>
                <c:manualLayout>
                  <c:x val="6.504318586557381E-3"/>
                  <c:y val="-0.11841125645186061"/>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8-A342-4057-BDFD-D4272EDC6324}"/>
                </c:ext>
                <c:ext xmlns:c15="http://schemas.microsoft.com/office/drawing/2012/chart" uri="{CE6537A1-D6FC-4f65-9D91-7224C49458BB}">
                  <c15:layout/>
                </c:ext>
              </c:extLst>
            </c:dLbl>
            <c:dLbl>
              <c:idx val="3"/>
              <c:layout>
                <c:manualLayout>
                  <c:x val="-3.0013501655837115E-3"/>
                  <c:y val="-9.2672540449921278E-2"/>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1-3AF3-47B6-B362-8D75B94687B9}"/>
                </c:ext>
                <c:ext xmlns:c15="http://schemas.microsoft.com/office/drawing/2012/chart" uri="{CE6537A1-D6FC-4f65-9D91-7224C49458BB}">
                  <c15:layout/>
                </c:ext>
              </c:extLst>
            </c:dLbl>
            <c:dLbl>
              <c:idx val="4"/>
              <c:layout>
                <c:manualLayout>
                  <c:x val="2.9699455560383854E-3"/>
                  <c:y val="-0.1032528510583017"/>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3-3AF3-47B6-B362-8D75B94687B9}"/>
                </c:ext>
                <c:ext xmlns:c15="http://schemas.microsoft.com/office/drawing/2012/chart" uri="{CE6537A1-D6FC-4f65-9D91-7224C49458BB}">
                  <c15:layout/>
                </c:ext>
              </c:extLst>
            </c:dLbl>
            <c:dLbl>
              <c:idx val="5"/>
              <c:layout>
                <c:manualLayout>
                  <c:x val="2.9543595646345168E-3"/>
                  <c:y val="-0.10156788874763766"/>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5-A68B-42D7-9922-1033F30CA165}"/>
                </c:ext>
                <c:ext xmlns:c15="http://schemas.microsoft.com/office/drawing/2012/chart" uri="{CE6537A1-D6FC-4f65-9D91-7224C49458BB}">
                  <c15:layout/>
                </c:ext>
              </c:extLst>
            </c:dLbl>
            <c:dLbl>
              <c:idx val="6"/>
              <c:layout>
                <c:manualLayout>
                  <c:x val="-6.2706797988121331E-4"/>
                  <c:y val="-7.3264507922517583E-2"/>
                </c:manualLayout>
              </c:layout>
              <c:dLblPos val="ctr"/>
              <c:showLegendKey val="0"/>
              <c:showVal val="1"/>
              <c:showCatName val="0"/>
              <c:showSerName val="0"/>
              <c:showPercent val="0"/>
              <c:showBubbleSize val="0"/>
              <c:extLst>
                <c:ext xmlns:c15="http://schemas.microsoft.com/office/drawing/2012/chart" uri="{CE6537A1-D6FC-4f65-9D91-7224C49458BB}">
                  <c15:layout/>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pt-BR"/>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0"/>
              </c:ext>
            </c:extLst>
          </c:dLbls>
          <c:cat>
            <c:strRef>
              <c:f>Plan1!$A$2:$A$8</c:f>
              <c:strCache>
                <c:ptCount val="7"/>
                <c:pt idx="0">
                  <c:v>Ago</c:v>
                </c:pt>
                <c:pt idx="1">
                  <c:v>Jan</c:v>
                </c:pt>
                <c:pt idx="2">
                  <c:v>Fev</c:v>
                </c:pt>
                <c:pt idx="3">
                  <c:v>Mar</c:v>
                </c:pt>
                <c:pt idx="4">
                  <c:v>Abr</c:v>
                </c:pt>
                <c:pt idx="5">
                  <c:v>Mai</c:v>
                </c:pt>
                <c:pt idx="6">
                  <c:v>Jun</c:v>
                </c:pt>
              </c:strCache>
            </c:strRef>
          </c:cat>
          <c:val>
            <c:numRef>
              <c:f>Plan1!$B$2:$B$8</c:f>
              <c:numCache>
                <c:formatCode>#,##0</c:formatCode>
                <c:ptCount val="7"/>
                <c:pt idx="0">
                  <c:v>1494</c:v>
                </c:pt>
                <c:pt idx="1">
                  <c:v>210</c:v>
                </c:pt>
                <c:pt idx="2">
                  <c:v>204</c:v>
                </c:pt>
                <c:pt idx="3">
                  <c:v>180</c:v>
                </c:pt>
                <c:pt idx="4">
                  <c:v>183</c:v>
                </c:pt>
                <c:pt idx="5">
                  <c:v>183</c:v>
                </c:pt>
                <c:pt idx="6">
                  <c:v>110</c:v>
                </c:pt>
              </c:numCache>
            </c:numRef>
          </c:val>
          <c:extLst xmlns:c16r2="http://schemas.microsoft.com/office/drawing/2015/06/chart">
            <c:ext xmlns:c16="http://schemas.microsoft.com/office/drawing/2014/chart" uri="{C3380CC4-5D6E-409C-BE32-E72D297353CC}">
              <c16:uniqueId val="{00000007-3AF3-47B6-B362-8D75B94687B9}"/>
            </c:ext>
          </c:extLst>
        </c:ser>
        <c:dLbls>
          <c:dLblPos val="ctr"/>
          <c:showLegendKey val="0"/>
          <c:showVal val="1"/>
          <c:showCatName val="0"/>
          <c:showSerName val="0"/>
          <c:showPercent val="0"/>
          <c:showBubbleSize val="0"/>
        </c:dLbls>
        <c:gapWidth val="219"/>
        <c:overlap val="100"/>
        <c:axId val="214512432"/>
        <c:axId val="214510472"/>
      </c:barChart>
      <c:catAx>
        <c:axId val="2145124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pt-BR"/>
          </a:p>
        </c:txPr>
        <c:crossAx val="214510472"/>
        <c:crosses val="autoZero"/>
        <c:auto val="1"/>
        <c:lblAlgn val="ctr"/>
        <c:lblOffset val="100"/>
        <c:noMultiLvlLbl val="0"/>
      </c:catAx>
      <c:valAx>
        <c:axId val="214510472"/>
        <c:scaling>
          <c:orientation val="minMax"/>
        </c:scaling>
        <c:delete val="1"/>
        <c:axPos val="l"/>
        <c:numFmt formatCode="#,##0" sourceLinked="1"/>
        <c:majorTickMark val="none"/>
        <c:minorTickMark val="none"/>
        <c:tickLblPos val="nextTo"/>
        <c:crossAx val="214512432"/>
        <c:crosses val="autoZero"/>
        <c:crossBetween val="between"/>
      </c:valAx>
    </c:plotArea>
    <c:plotVisOnly val="1"/>
    <c:dispBlanksAs val="gap"/>
    <c:showDLblsOverMax val="0"/>
  </c:chart>
  <c:spPr>
    <a:noFill/>
    <a:ln>
      <a:noFill/>
    </a:ln>
    <a:effectLst/>
  </c:spPr>
  <c:txPr>
    <a:bodyPr/>
    <a:lstStyle/>
    <a:p>
      <a:pPr>
        <a:defRPr/>
      </a:pPr>
      <a:endParaRPr lang="pt-B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a:defRPr sz="1400" b="1" i="0" u="none" strike="noStrike" kern="1200" spc="0" baseline="0">
                <a:solidFill>
                  <a:schemeClr val="tx1">
                    <a:lumMod val="65000"/>
                    <a:lumOff val="35000"/>
                  </a:schemeClr>
                </a:solidFill>
                <a:latin typeface="+mn-lt"/>
                <a:ea typeface="+mn-ea"/>
                <a:cs typeface="+mn-cs"/>
              </a:defRPr>
            </a:pPr>
            <a:r>
              <a:rPr lang="pt-BR" sz="1400" b="1" dirty="0">
                <a:solidFill>
                  <a:schemeClr val="accent2">
                    <a:lumMod val="75000"/>
                  </a:schemeClr>
                </a:solidFill>
              </a:rPr>
              <a:t>Média diária de Incidentes Alto Impacto</a:t>
            </a:r>
          </a:p>
        </c:rich>
      </c:tx>
      <c:layout>
        <c:manualLayout>
          <c:xMode val="edge"/>
          <c:yMode val="edge"/>
          <c:x val="0.1585050000070585"/>
          <c:y val="0"/>
        </c:manualLayout>
      </c:layout>
      <c:overlay val="0"/>
      <c:spPr>
        <a:noFill/>
        <a:ln>
          <a:noFill/>
        </a:ln>
        <a:effectLst/>
      </c:spPr>
    </c:title>
    <c:autoTitleDeleted val="0"/>
    <c:plotArea>
      <c:layout>
        <c:manualLayout>
          <c:layoutTarget val="inner"/>
          <c:xMode val="edge"/>
          <c:yMode val="edge"/>
          <c:x val="2.7352474322057077E-2"/>
          <c:y val="0.19970809412273891"/>
          <c:w val="0.97264752567693746"/>
          <c:h val="0.58094719439387965"/>
        </c:manualLayout>
      </c:layout>
      <c:barChart>
        <c:barDir val="col"/>
        <c:grouping val="stacked"/>
        <c:varyColors val="0"/>
        <c:ser>
          <c:idx val="0"/>
          <c:order val="0"/>
          <c:tx>
            <c:strRef>
              <c:f>Plan1!$B$1</c:f>
              <c:strCache>
                <c:ptCount val="1"/>
                <c:pt idx="0">
                  <c:v>Incidentes</c:v>
                </c:pt>
              </c:strCache>
            </c:strRef>
          </c:tx>
          <c:spPr>
            <a:solidFill>
              <a:srgbClr val="19345B"/>
            </a:solidFill>
            <a:ln>
              <a:noFill/>
            </a:ln>
            <a:effectLst/>
            <a:scene3d>
              <a:camera prst="orthographicFront"/>
              <a:lightRig rig="threePt" dir="t"/>
            </a:scene3d>
            <a:sp3d>
              <a:bevelT/>
            </a:sp3d>
          </c:spPr>
          <c:invertIfNegative val="0"/>
          <c:dPt>
            <c:idx val="3"/>
            <c:invertIfNegative val="0"/>
            <c:bubble3D val="0"/>
            <c:extLst xmlns:c16r2="http://schemas.microsoft.com/office/drawing/2015/06/chart">
              <c:ext xmlns:c16="http://schemas.microsoft.com/office/drawing/2014/chart" uri="{C3380CC4-5D6E-409C-BE32-E72D297353CC}">
                <c16:uniqueId val="{00000001-852E-40EC-BB07-F4FF4F71836A}"/>
              </c:ext>
            </c:extLst>
          </c:dPt>
          <c:dPt>
            <c:idx val="4"/>
            <c:invertIfNegative val="0"/>
            <c:bubble3D val="0"/>
            <c:extLst xmlns:c16r2="http://schemas.microsoft.com/office/drawing/2015/06/chart">
              <c:ext xmlns:c16="http://schemas.microsoft.com/office/drawing/2014/chart" uri="{C3380CC4-5D6E-409C-BE32-E72D297353CC}">
                <c16:uniqueId val="{00000003-852E-40EC-BB07-F4FF4F71836A}"/>
              </c:ext>
            </c:extLst>
          </c:dPt>
          <c:dPt>
            <c:idx val="5"/>
            <c:invertIfNegative val="0"/>
            <c:bubble3D val="0"/>
            <c:extLst xmlns:c16r2="http://schemas.microsoft.com/office/drawing/2015/06/chart">
              <c:ext xmlns:c16="http://schemas.microsoft.com/office/drawing/2014/chart" uri="{C3380CC4-5D6E-409C-BE32-E72D297353CC}">
                <c16:uniqueId val="{00000005-5CA6-4A76-8126-37E9773D9510}"/>
              </c:ext>
            </c:extLst>
          </c:dPt>
          <c:dPt>
            <c:idx val="6"/>
            <c:invertIfNegative val="0"/>
            <c:bubble3D val="0"/>
            <c:spPr>
              <a:solidFill>
                <a:srgbClr val="00B050"/>
              </a:solidFill>
              <a:ln>
                <a:noFill/>
              </a:ln>
              <a:effectLst/>
              <a:scene3d>
                <a:camera prst="orthographicFront"/>
                <a:lightRig rig="threePt" dir="t"/>
              </a:scene3d>
              <a:sp3d>
                <a:bevelT/>
              </a:sp3d>
            </c:spPr>
          </c:dPt>
          <c:dLbls>
            <c:dLbl>
              <c:idx val="0"/>
              <c:layout>
                <c:manualLayout>
                  <c:x val="-2.9880988961915756E-3"/>
                  <c:y val="-0.32997223950626908"/>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6-1336-4DE1-AAF2-45A9A199F5C6}"/>
                </c:ext>
                <c:ext xmlns:c15="http://schemas.microsoft.com/office/drawing/2012/chart" uri="{CE6537A1-D6FC-4f65-9D91-7224C49458BB}">
                  <c15:layout/>
                </c:ext>
              </c:extLst>
            </c:dLbl>
            <c:dLbl>
              <c:idx val="1"/>
              <c:layout>
                <c:manualLayout>
                  <c:x val="-8.9642966885746869E-3"/>
                  <c:y val="-0.16498611975313454"/>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7-1336-4DE1-AAF2-45A9A199F5C6}"/>
                </c:ext>
                <c:ext xmlns:c15="http://schemas.microsoft.com/office/drawing/2012/chart" uri="{CE6537A1-D6FC-4f65-9D91-7224C49458BB}">
                  <c15:layout/>
                </c:ext>
              </c:extLst>
            </c:dLbl>
            <c:dLbl>
              <c:idx val="2"/>
              <c:layout>
                <c:manualLayout>
                  <c:x val="2.7829218106995886E-4"/>
                  <c:y val="-0.20309006734006735"/>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8-1336-4DE1-AAF2-45A9A199F5C6}"/>
                </c:ext>
                <c:ext xmlns:c15="http://schemas.microsoft.com/office/drawing/2012/chart" uri="{CE6537A1-D6FC-4f65-9D91-7224C49458BB}">
                  <c15:layout/>
                </c:ext>
              </c:extLst>
            </c:dLbl>
            <c:dLbl>
              <c:idx val="3"/>
              <c:layout>
                <c:manualLayout>
                  <c:x val="-2.9881687242798356E-3"/>
                  <c:y val="-0.10084469696969697"/>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1-852E-40EC-BB07-F4FF4F71836A}"/>
                </c:ext>
                <c:ext xmlns:c15="http://schemas.microsoft.com/office/drawing/2012/chart" uri="{CE6537A1-D6FC-4f65-9D91-7224C49458BB}">
                  <c15:layout/>
                </c:ext>
              </c:extLst>
            </c:dLbl>
            <c:dLbl>
              <c:idx val="4"/>
              <c:layout>
                <c:manualLayout>
                  <c:x val="0"/>
                  <c:y val="-0.14394991582491581"/>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3-852E-40EC-BB07-F4FF4F71836A}"/>
                </c:ext>
                <c:ext xmlns:c15="http://schemas.microsoft.com/office/drawing/2012/chart" uri="{CE6537A1-D6FC-4f65-9D91-7224C49458BB}">
                  <c15:layout/>
                </c:ext>
              </c:extLst>
            </c:dLbl>
            <c:dLbl>
              <c:idx val="5"/>
              <c:layout>
                <c:manualLayout>
                  <c:x val="-2.9645061728395062E-3"/>
                  <c:y val="-0.10731776094276094"/>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5-5CA6-4A76-8126-37E9773D9510}"/>
                </c:ext>
                <c:ext xmlns:c15="http://schemas.microsoft.com/office/drawing/2012/chart" uri="{CE6537A1-D6FC-4f65-9D91-7224C49458BB}">
                  <c15:layout/>
                </c:ext>
              </c:extLst>
            </c:dLbl>
            <c:dLbl>
              <c:idx val="6"/>
              <c:layout>
                <c:manualLayout>
                  <c:x val="3.2664609053499141E-3"/>
                  <c:y val="-6.4141414141414138E-2"/>
                </c:manualLayout>
              </c:layout>
              <c:dLblPos val="ctr"/>
              <c:showLegendKey val="0"/>
              <c:showVal val="1"/>
              <c:showCatName val="0"/>
              <c:showSerName val="0"/>
              <c:showPercent val="0"/>
              <c:showBubbleSize val="0"/>
              <c:extLst>
                <c:ext xmlns:c15="http://schemas.microsoft.com/office/drawing/2012/chart" uri="{CE6537A1-D6FC-4f65-9D91-7224C49458BB}">
                  <c15:layout/>
                </c:ext>
              </c:extLst>
            </c:dLbl>
            <c:spPr>
              <a:noFill/>
              <a:ln>
                <a:noFill/>
              </a:ln>
              <a:effectLst/>
            </c:spPr>
            <c:txPr>
              <a:bodyPr rot="0" spcFirstLastPara="1" vertOverflow="ellipsis" vert="horz" wrap="square" lIns="38100" tIns="19050" rIns="38100" bIns="19050" anchor="t" anchorCtr="0">
                <a:spAutoFit/>
              </a:bodyPr>
              <a:lstStyle/>
              <a:p>
                <a:pPr>
                  <a:defRPr sz="1197" b="1" i="0" u="none" strike="noStrike" kern="1200" baseline="0">
                    <a:solidFill>
                      <a:schemeClr val="tx1">
                        <a:lumMod val="75000"/>
                        <a:lumOff val="25000"/>
                      </a:schemeClr>
                    </a:solidFill>
                    <a:latin typeface="+mn-lt"/>
                    <a:ea typeface="+mn-ea"/>
                    <a:cs typeface="+mn-cs"/>
                  </a:defRPr>
                </a:pPr>
                <a:endParaRPr lang="pt-BR"/>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0"/>
              </c:ext>
            </c:extLst>
          </c:dLbls>
          <c:cat>
            <c:strRef>
              <c:f>Plan1!$A$2:$A$8</c:f>
              <c:strCache>
                <c:ptCount val="7"/>
                <c:pt idx="0">
                  <c:v>Ago</c:v>
                </c:pt>
                <c:pt idx="1">
                  <c:v>Jan</c:v>
                </c:pt>
                <c:pt idx="2">
                  <c:v>Fev</c:v>
                </c:pt>
                <c:pt idx="3">
                  <c:v>Mar</c:v>
                </c:pt>
                <c:pt idx="4">
                  <c:v>Abr</c:v>
                </c:pt>
                <c:pt idx="5">
                  <c:v>Mai</c:v>
                </c:pt>
                <c:pt idx="6">
                  <c:v>Jun</c:v>
                </c:pt>
              </c:strCache>
            </c:strRef>
          </c:cat>
          <c:val>
            <c:numRef>
              <c:f>Plan1!$B$2:$B$8</c:f>
              <c:numCache>
                <c:formatCode>#,##0.00</c:formatCode>
                <c:ptCount val="7"/>
                <c:pt idx="0">
                  <c:v>48.19</c:v>
                </c:pt>
                <c:pt idx="1">
                  <c:v>6.77</c:v>
                </c:pt>
                <c:pt idx="2">
                  <c:v>7.03</c:v>
                </c:pt>
                <c:pt idx="3">
                  <c:v>5.806451612903226</c:v>
                </c:pt>
                <c:pt idx="4">
                  <c:v>6.1</c:v>
                </c:pt>
                <c:pt idx="5">
                  <c:v>5.9</c:v>
                </c:pt>
                <c:pt idx="6">
                  <c:v>3.67</c:v>
                </c:pt>
              </c:numCache>
            </c:numRef>
          </c:val>
          <c:extLst xmlns:c16r2="http://schemas.microsoft.com/office/drawing/2015/06/chart">
            <c:ext xmlns:c16="http://schemas.microsoft.com/office/drawing/2014/chart" uri="{C3380CC4-5D6E-409C-BE32-E72D297353CC}">
              <c16:uniqueId val="{00000007-852E-40EC-BB07-F4FF4F71836A}"/>
            </c:ext>
          </c:extLst>
        </c:ser>
        <c:dLbls>
          <c:dLblPos val="ctr"/>
          <c:showLegendKey val="0"/>
          <c:showVal val="1"/>
          <c:showCatName val="0"/>
          <c:showSerName val="0"/>
          <c:showPercent val="0"/>
          <c:showBubbleSize val="0"/>
        </c:dLbls>
        <c:gapWidth val="219"/>
        <c:overlap val="100"/>
        <c:axId val="295229192"/>
        <c:axId val="295228408"/>
      </c:barChart>
      <c:catAx>
        <c:axId val="2952291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pt-BR"/>
          </a:p>
        </c:txPr>
        <c:crossAx val="295228408"/>
        <c:crosses val="autoZero"/>
        <c:auto val="1"/>
        <c:lblAlgn val="ctr"/>
        <c:lblOffset val="100"/>
        <c:noMultiLvlLbl val="0"/>
      </c:catAx>
      <c:valAx>
        <c:axId val="295228408"/>
        <c:scaling>
          <c:orientation val="minMax"/>
        </c:scaling>
        <c:delete val="1"/>
        <c:axPos val="l"/>
        <c:numFmt formatCode="#,##0.00" sourceLinked="1"/>
        <c:majorTickMark val="none"/>
        <c:minorTickMark val="none"/>
        <c:tickLblPos val="nextTo"/>
        <c:crossAx val="295229192"/>
        <c:crosses val="autoZero"/>
        <c:crossBetween val="between"/>
      </c:valAx>
      <c:spPr>
        <a:noFill/>
        <a:ln w="25400">
          <a:noFill/>
        </a:ln>
        <a:effectLst/>
      </c:spPr>
    </c:plotArea>
    <c:plotVisOnly val="1"/>
    <c:dispBlanksAs val="gap"/>
    <c:showDLblsOverMax val="0"/>
  </c:chart>
  <c:spPr>
    <a:noFill/>
    <a:ln>
      <a:noFill/>
    </a:ln>
    <a:effectLst/>
  </c:spPr>
  <c:txPr>
    <a:bodyPr/>
    <a:lstStyle/>
    <a:p>
      <a:pPr>
        <a:defRPr/>
      </a:pPr>
      <a:endParaRPr lang="pt-B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
          <c:y val="0.21105009973328545"/>
          <c:w val="1"/>
          <c:h val="0.58094719439387965"/>
        </c:manualLayout>
      </c:layout>
      <c:barChart>
        <c:barDir val="col"/>
        <c:grouping val="stacked"/>
        <c:varyColors val="0"/>
        <c:ser>
          <c:idx val="0"/>
          <c:order val="0"/>
          <c:tx>
            <c:strRef>
              <c:f>Plan1!$B$1</c:f>
              <c:strCache>
                <c:ptCount val="1"/>
                <c:pt idx="0">
                  <c:v>Incidentes</c:v>
                </c:pt>
              </c:strCache>
            </c:strRef>
          </c:tx>
          <c:spPr>
            <a:solidFill>
              <a:srgbClr val="19345B"/>
            </a:solidFill>
            <a:ln w="6350" cap="flat" cmpd="sng" algn="ctr">
              <a:noFill/>
              <a:prstDash val="solid"/>
              <a:miter lim="800000"/>
            </a:ln>
            <a:effectLst/>
            <a:scene3d>
              <a:camera prst="orthographicFront"/>
              <a:lightRig rig="threePt" dir="t"/>
            </a:scene3d>
            <a:sp3d>
              <a:bevelT w="139700" h="139700"/>
            </a:sp3d>
          </c:spPr>
          <c:invertIfNegative val="0"/>
          <c:dPt>
            <c:idx val="3"/>
            <c:invertIfNegative val="0"/>
            <c:bubble3D val="0"/>
            <c:extLst xmlns:c16r2="http://schemas.microsoft.com/office/drawing/2015/06/chart">
              <c:ext xmlns:c16="http://schemas.microsoft.com/office/drawing/2014/chart" uri="{C3380CC4-5D6E-409C-BE32-E72D297353CC}">
                <c16:uniqueId val="{00000001-3AF3-47B6-B362-8D75B94687B9}"/>
              </c:ext>
            </c:extLst>
          </c:dPt>
          <c:dPt>
            <c:idx val="4"/>
            <c:invertIfNegative val="0"/>
            <c:bubble3D val="0"/>
            <c:extLst xmlns:c16r2="http://schemas.microsoft.com/office/drawing/2015/06/chart">
              <c:ext xmlns:c16="http://schemas.microsoft.com/office/drawing/2014/chart" uri="{C3380CC4-5D6E-409C-BE32-E72D297353CC}">
                <c16:uniqueId val="{00000003-3AF3-47B6-B362-8D75B94687B9}"/>
              </c:ext>
            </c:extLst>
          </c:dPt>
          <c:dPt>
            <c:idx val="5"/>
            <c:invertIfNegative val="0"/>
            <c:bubble3D val="0"/>
            <c:spPr>
              <a:solidFill>
                <a:srgbClr val="00B050"/>
              </a:solidFill>
              <a:ln w="6350" cap="flat" cmpd="sng" algn="ctr">
                <a:noFill/>
                <a:prstDash val="solid"/>
                <a:miter lim="800000"/>
              </a:ln>
              <a:effectLst/>
              <a:scene3d>
                <a:camera prst="orthographicFront"/>
                <a:lightRig rig="threePt" dir="t"/>
              </a:scene3d>
              <a:sp3d>
                <a:bevelT w="139700" h="139700"/>
              </a:sp3d>
            </c:spPr>
            <c:extLst xmlns:c16r2="http://schemas.microsoft.com/office/drawing/2015/06/chart">
              <c:ext xmlns:c16="http://schemas.microsoft.com/office/drawing/2014/chart" uri="{C3380CC4-5D6E-409C-BE32-E72D297353CC}">
                <c16:uniqueId val="{00000005-A68B-42D7-9922-1033F30CA165}"/>
              </c:ext>
            </c:extLst>
          </c:dPt>
          <c:dLbls>
            <c:dLbl>
              <c:idx val="0"/>
              <c:layout>
                <c:manualLayout>
                  <c:x val="0"/>
                  <c:y val="-0.28542217508477441"/>
                </c:manualLayout>
              </c:layout>
              <c:dLblPos val="ctr"/>
              <c:showLegendKey val="0"/>
              <c:showVal val="1"/>
              <c:showCatName val="0"/>
              <c:showSerName val="0"/>
              <c:showPercent val="0"/>
              <c:showBubbleSize val="0"/>
              <c:extLst>
                <c:ext xmlns:c15="http://schemas.microsoft.com/office/drawing/2012/chart" uri="{CE6537A1-D6FC-4f65-9D91-7224C49458BB}">
                  <c15:layout/>
                </c:ext>
              </c:extLst>
            </c:dLbl>
            <c:dLbl>
              <c:idx val="1"/>
              <c:layout>
                <c:manualLayout>
                  <c:x val="0"/>
                  <c:y val="-0.27481624933140597"/>
                </c:manualLayout>
              </c:layout>
              <c:dLblPos val="ctr"/>
              <c:showLegendKey val="0"/>
              <c:showVal val="1"/>
              <c:showCatName val="0"/>
              <c:showSerName val="0"/>
              <c:showPercent val="0"/>
              <c:showBubbleSize val="0"/>
              <c:extLst>
                <c:ext xmlns:c15="http://schemas.microsoft.com/office/drawing/2012/chart" uri="{CE6537A1-D6FC-4f65-9D91-7224C49458BB}">
                  <c15:layout/>
                </c:ext>
              </c:extLst>
            </c:dLbl>
            <c:dLbl>
              <c:idx val="2"/>
              <c:layout>
                <c:manualLayout>
                  <c:x val="-5.3393869836060113E-17"/>
                  <c:y val="-0.25056513901461047"/>
                </c:manualLayout>
              </c:layout>
              <c:dLblPos val="ctr"/>
              <c:showLegendKey val="0"/>
              <c:showVal val="1"/>
              <c:showCatName val="0"/>
              <c:showSerName val="0"/>
              <c:showPercent val="0"/>
              <c:showBubbleSize val="0"/>
              <c:extLst>
                <c:ext xmlns:c15="http://schemas.microsoft.com/office/drawing/2012/chart" uri="{CE6537A1-D6FC-4f65-9D91-7224C49458BB}">
                  <c15:layout/>
                </c:ext>
              </c:extLst>
            </c:dLbl>
            <c:dLbl>
              <c:idx val="3"/>
              <c:layout>
                <c:manualLayout>
                  <c:x val="0"/>
                  <c:y val="-0.25405084262162692"/>
                </c:manualLayout>
              </c:layout>
              <c:dLblPos val="ctr"/>
              <c:showLegendKey val="0"/>
              <c:showVal val="1"/>
              <c:showCatName val="0"/>
              <c:showSerName val="0"/>
              <c:showPercent val="0"/>
              <c:showBubbleSize val="0"/>
              <c:extLst>
                <c:ext xmlns:c15="http://schemas.microsoft.com/office/drawing/2012/chart" uri="{CE6537A1-D6FC-4f65-9D91-7224C49458BB}">
                  <c15:layout/>
                </c:ext>
              </c:extLst>
            </c:dLbl>
            <c:dLbl>
              <c:idx val="4"/>
              <c:layout>
                <c:manualLayout>
                  <c:x val="1.4562132721800201E-3"/>
                  <c:y val="-0.24314728700361993"/>
                </c:manualLayout>
              </c:layout>
              <c:dLblPos val="ctr"/>
              <c:showLegendKey val="0"/>
              <c:showVal val="1"/>
              <c:showCatName val="0"/>
              <c:showSerName val="0"/>
              <c:showPercent val="0"/>
              <c:showBubbleSize val="0"/>
              <c:extLst>
                <c:ext xmlns:c15="http://schemas.microsoft.com/office/drawing/2012/chart" uri="{CE6537A1-D6FC-4f65-9D91-7224C49458BB}">
                  <c15:layout/>
                </c:ext>
              </c:extLst>
            </c:dLbl>
            <c:dLbl>
              <c:idx val="5"/>
              <c:layout>
                <c:manualLayout>
                  <c:x val="0"/>
                  <c:y val="-0.14453507210226554"/>
                </c:manualLayout>
              </c:layout>
              <c:dLblPos val="ctr"/>
              <c:showLegendKey val="0"/>
              <c:showVal val="1"/>
              <c:showCatName val="0"/>
              <c:showSerName val="0"/>
              <c:showPercent val="0"/>
              <c:showBubbleSize val="0"/>
              <c:extLst>
                <c:ext xmlns:c15="http://schemas.microsoft.com/office/drawing/2012/chart" uri="{CE6537A1-D6FC-4f65-9D91-7224C49458BB}">
                  <c15:layout/>
                </c:ext>
              </c:extLst>
            </c:dLbl>
            <c:spPr>
              <a:noFill/>
              <a:ln>
                <a:noFill/>
              </a:ln>
              <a:effectLst/>
            </c:spPr>
            <c:txPr>
              <a:bodyPr/>
              <a:lstStyle/>
              <a:p>
                <a:pPr>
                  <a:defRPr>
                    <a:solidFill>
                      <a:schemeClr val="tx1"/>
                    </a:solidFill>
                  </a:defRPr>
                </a:pPr>
                <a:endParaRPr lang="pt-B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Plan1!$A$2:$A$7</c:f>
              <c:strCache>
                <c:ptCount val="6"/>
                <c:pt idx="0">
                  <c:v>Jan</c:v>
                </c:pt>
                <c:pt idx="1">
                  <c:v>Fev</c:v>
                </c:pt>
                <c:pt idx="2">
                  <c:v>Mar</c:v>
                </c:pt>
                <c:pt idx="3">
                  <c:v>Abr</c:v>
                </c:pt>
                <c:pt idx="4">
                  <c:v>Mai</c:v>
                </c:pt>
                <c:pt idx="5">
                  <c:v>Jun</c:v>
                </c:pt>
              </c:strCache>
            </c:strRef>
          </c:cat>
          <c:val>
            <c:numRef>
              <c:f>Plan1!$B$2:$B$7</c:f>
              <c:numCache>
                <c:formatCode>#,##0</c:formatCode>
                <c:ptCount val="6"/>
                <c:pt idx="0">
                  <c:v>210</c:v>
                </c:pt>
                <c:pt idx="1">
                  <c:v>204</c:v>
                </c:pt>
                <c:pt idx="2">
                  <c:v>180</c:v>
                </c:pt>
                <c:pt idx="3">
                  <c:v>183</c:v>
                </c:pt>
                <c:pt idx="4">
                  <c:v>183</c:v>
                </c:pt>
                <c:pt idx="5">
                  <c:v>110</c:v>
                </c:pt>
              </c:numCache>
            </c:numRef>
          </c:val>
          <c:extLst xmlns:c16r2="http://schemas.microsoft.com/office/drawing/2015/06/chart">
            <c:ext xmlns:c16="http://schemas.microsoft.com/office/drawing/2014/chart" uri="{C3380CC4-5D6E-409C-BE32-E72D297353CC}">
              <c16:uniqueId val="{00000007-3AF3-47B6-B362-8D75B94687B9}"/>
            </c:ext>
          </c:extLst>
        </c:ser>
        <c:dLbls>
          <c:dLblPos val="ctr"/>
          <c:showLegendKey val="0"/>
          <c:showVal val="1"/>
          <c:showCatName val="0"/>
          <c:showSerName val="0"/>
          <c:showPercent val="0"/>
          <c:showBubbleSize val="0"/>
        </c:dLbls>
        <c:gapWidth val="219"/>
        <c:overlap val="100"/>
        <c:axId val="295229584"/>
        <c:axId val="295226840"/>
      </c:barChart>
      <c:lineChart>
        <c:grouping val="standard"/>
        <c:varyColors val="0"/>
        <c:ser>
          <c:idx val="1"/>
          <c:order val="1"/>
          <c:tx>
            <c:v>Contax</c:v>
          </c:tx>
          <c:spPr>
            <a:ln w="25400">
              <a:solidFill>
                <a:srgbClr val="19345B"/>
              </a:solidFill>
              <a:prstDash val="sysDash"/>
            </a:ln>
          </c:spPr>
          <c:marker>
            <c:symbol val="none"/>
          </c:marker>
          <c:dLbls>
            <c:spPr>
              <a:noFill/>
              <a:ln>
                <a:noFill/>
              </a:ln>
              <a:effectLst/>
            </c:spPr>
            <c:txPr>
              <a:bodyPr/>
              <a:lstStyle/>
              <a:p>
                <a:pPr>
                  <a:defRPr>
                    <a:solidFill>
                      <a:schemeClr val="bg1"/>
                    </a:solidFill>
                  </a:defRPr>
                </a:pPr>
                <a:endParaRPr lang="pt-BR"/>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Plan1!$A$2:$A$7</c:f>
              <c:strCache>
                <c:ptCount val="6"/>
                <c:pt idx="0">
                  <c:v>Jan</c:v>
                </c:pt>
                <c:pt idx="1">
                  <c:v>Fev</c:v>
                </c:pt>
                <c:pt idx="2">
                  <c:v>Mar</c:v>
                </c:pt>
                <c:pt idx="3">
                  <c:v>Abr</c:v>
                </c:pt>
                <c:pt idx="4">
                  <c:v>Mai</c:v>
                </c:pt>
                <c:pt idx="5">
                  <c:v>Jun</c:v>
                </c:pt>
              </c:strCache>
            </c:strRef>
          </c:cat>
          <c:val>
            <c:numRef>
              <c:f>Plan1!$C$2:$C$7</c:f>
              <c:numCache>
                <c:formatCode>General</c:formatCode>
                <c:ptCount val="6"/>
                <c:pt idx="0">
                  <c:v>90</c:v>
                </c:pt>
                <c:pt idx="1">
                  <c:v>105</c:v>
                </c:pt>
                <c:pt idx="2">
                  <c:v>101</c:v>
                </c:pt>
                <c:pt idx="3">
                  <c:v>104</c:v>
                </c:pt>
                <c:pt idx="4">
                  <c:v>118</c:v>
                </c:pt>
                <c:pt idx="5">
                  <c:v>61</c:v>
                </c:pt>
              </c:numCache>
            </c:numRef>
          </c:val>
          <c:smooth val="0"/>
        </c:ser>
        <c:ser>
          <c:idx val="2"/>
          <c:order val="2"/>
          <c:tx>
            <c:strRef>
              <c:f>Plan1!$D$1</c:f>
              <c:strCache>
                <c:ptCount val="1"/>
                <c:pt idx="0">
                  <c:v>Cliente</c:v>
                </c:pt>
              </c:strCache>
            </c:strRef>
          </c:tx>
          <c:spPr>
            <a:ln w="25400">
              <a:solidFill>
                <a:srgbClr val="FF0000"/>
              </a:solidFill>
              <a:prstDash val="sysDash"/>
            </a:ln>
          </c:spPr>
          <c:marker>
            <c:symbol val="none"/>
          </c:marker>
          <c:dLbls>
            <c:spPr>
              <a:noFill/>
              <a:ln>
                <a:noFill/>
              </a:ln>
              <a:effectLst/>
            </c:spPr>
            <c:txPr>
              <a:bodyPr/>
              <a:lstStyle/>
              <a:p>
                <a:pPr>
                  <a:defRPr>
                    <a:solidFill>
                      <a:schemeClr val="bg1"/>
                    </a:solidFill>
                  </a:defRPr>
                </a:pPr>
                <a:endParaRPr lang="pt-BR"/>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Plan1!$A$2:$A$7</c:f>
              <c:strCache>
                <c:ptCount val="6"/>
                <c:pt idx="0">
                  <c:v>Jan</c:v>
                </c:pt>
                <c:pt idx="1">
                  <c:v>Fev</c:v>
                </c:pt>
                <c:pt idx="2">
                  <c:v>Mar</c:v>
                </c:pt>
                <c:pt idx="3">
                  <c:v>Abr</c:v>
                </c:pt>
                <c:pt idx="4">
                  <c:v>Mai</c:v>
                </c:pt>
                <c:pt idx="5">
                  <c:v>Jun</c:v>
                </c:pt>
              </c:strCache>
            </c:strRef>
          </c:cat>
          <c:val>
            <c:numRef>
              <c:f>Plan1!$D$2:$D$7</c:f>
              <c:numCache>
                <c:formatCode>General</c:formatCode>
                <c:ptCount val="6"/>
                <c:pt idx="0">
                  <c:v>108</c:v>
                </c:pt>
                <c:pt idx="1">
                  <c:v>79</c:v>
                </c:pt>
                <c:pt idx="2">
                  <c:v>62</c:v>
                </c:pt>
                <c:pt idx="3">
                  <c:v>61</c:v>
                </c:pt>
                <c:pt idx="4">
                  <c:v>61</c:v>
                </c:pt>
                <c:pt idx="5">
                  <c:v>43</c:v>
                </c:pt>
              </c:numCache>
            </c:numRef>
          </c:val>
          <c:smooth val="0"/>
        </c:ser>
        <c:ser>
          <c:idx val="3"/>
          <c:order val="3"/>
          <c:tx>
            <c:strRef>
              <c:f>Plan1!$E$1</c:f>
              <c:strCache>
                <c:ptCount val="1"/>
                <c:pt idx="0">
                  <c:v>Fornecedor</c:v>
                </c:pt>
              </c:strCache>
            </c:strRef>
          </c:tx>
          <c:spPr>
            <a:ln w="25400">
              <a:solidFill>
                <a:sysClr val="windowText" lastClr="000000">
                  <a:lumMod val="50000"/>
                  <a:lumOff val="50000"/>
                </a:sysClr>
              </a:solidFill>
              <a:prstDash val="sysDash"/>
            </a:ln>
          </c:spPr>
          <c:marker>
            <c:symbol val="none"/>
          </c:marker>
          <c:dLbls>
            <c:dLbl>
              <c:idx val="2"/>
              <c:layout>
                <c:manualLayout>
                  <c:x val="-1.6069370789737764E-2"/>
                  <c:y val="-1.8172592696678251E-2"/>
                </c:manualLayout>
              </c:layout>
              <c:dLblPos val="r"/>
              <c:showLegendKey val="0"/>
              <c:showVal val="1"/>
              <c:showCatName val="0"/>
              <c:showSerName val="0"/>
              <c:showPercent val="0"/>
              <c:showBubbleSize val="0"/>
              <c:extLst>
                <c:ext xmlns:c15="http://schemas.microsoft.com/office/drawing/2012/chart" uri="{CE6537A1-D6FC-4f65-9D91-7224C49458BB}">
                  <c15:layout/>
                </c:ext>
              </c:extLst>
            </c:dLbl>
            <c:dLbl>
              <c:idx val="5"/>
              <c:layout>
                <c:manualLayout>
                  <c:x val="-1.6069370789737816E-2"/>
                  <c:y val="-1.090355561800695E-2"/>
                </c:manualLayout>
              </c:layout>
              <c:dLblPos val="r"/>
              <c:showLegendKey val="0"/>
              <c:showVal val="1"/>
              <c:showCatName val="0"/>
              <c:showSerName val="0"/>
              <c:showPercent val="0"/>
              <c:showBubbleSize val="0"/>
              <c:extLst>
                <c:ext xmlns:c15="http://schemas.microsoft.com/office/drawing/2012/chart" uri="{CE6537A1-D6FC-4f65-9D91-7224C49458BB}">
                  <c15:layout/>
                </c:ext>
              </c:extLst>
            </c:dLbl>
            <c:spPr>
              <a:noFill/>
              <a:ln>
                <a:noFill/>
              </a:ln>
              <a:effectLst/>
            </c:spPr>
            <c:txPr>
              <a:bodyPr/>
              <a:lstStyle/>
              <a:p>
                <a:pPr>
                  <a:defRPr>
                    <a:solidFill>
                      <a:schemeClr val="bg1"/>
                    </a:solidFill>
                  </a:defRPr>
                </a:pPr>
                <a:endParaRPr lang="pt-BR"/>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Plan1!$A$2:$A$7</c:f>
              <c:strCache>
                <c:ptCount val="6"/>
                <c:pt idx="0">
                  <c:v>Jan</c:v>
                </c:pt>
                <c:pt idx="1">
                  <c:v>Fev</c:v>
                </c:pt>
                <c:pt idx="2">
                  <c:v>Mar</c:v>
                </c:pt>
                <c:pt idx="3">
                  <c:v>Abr</c:v>
                </c:pt>
                <c:pt idx="4">
                  <c:v>Mai</c:v>
                </c:pt>
                <c:pt idx="5">
                  <c:v>Jun</c:v>
                </c:pt>
              </c:strCache>
            </c:strRef>
          </c:cat>
          <c:val>
            <c:numRef>
              <c:f>Plan1!$E$2:$E$7</c:f>
              <c:numCache>
                <c:formatCode>0</c:formatCode>
                <c:ptCount val="6"/>
                <c:pt idx="0">
                  <c:v>12</c:v>
                </c:pt>
                <c:pt idx="1">
                  <c:v>20</c:v>
                </c:pt>
                <c:pt idx="2">
                  <c:v>17</c:v>
                </c:pt>
                <c:pt idx="3">
                  <c:v>18</c:v>
                </c:pt>
                <c:pt idx="4">
                  <c:v>4</c:v>
                </c:pt>
                <c:pt idx="5">
                  <c:v>6</c:v>
                </c:pt>
              </c:numCache>
            </c:numRef>
          </c:val>
          <c:smooth val="0"/>
        </c:ser>
        <c:dLbls>
          <c:showLegendKey val="0"/>
          <c:showVal val="0"/>
          <c:showCatName val="0"/>
          <c:showSerName val="0"/>
          <c:showPercent val="0"/>
          <c:showBubbleSize val="0"/>
        </c:dLbls>
        <c:marker val="1"/>
        <c:smooth val="0"/>
        <c:axId val="295226056"/>
        <c:axId val="295231152"/>
      </c:lineChart>
      <c:catAx>
        <c:axId val="2952295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pt-BR"/>
          </a:p>
        </c:txPr>
        <c:crossAx val="295226840"/>
        <c:crosses val="autoZero"/>
        <c:auto val="1"/>
        <c:lblAlgn val="ctr"/>
        <c:lblOffset val="100"/>
        <c:noMultiLvlLbl val="0"/>
      </c:catAx>
      <c:valAx>
        <c:axId val="295226840"/>
        <c:scaling>
          <c:orientation val="minMax"/>
        </c:scaling>
        <c:delete val="1"/>
        <c:axPos val="l"/>
        <c:numFmt formatCode="#,##0" sourceLinked="1"/>
        <c:majorTickMark val="none"/>
        <c:minorTickMark val="none"/>
        <c:tickLblPos val="nextTo"/>
        <c:crossAx val="295229584"/>
        <c:crosses val="autoZero"/>
        <c:crossBetween val="between"/>
      </c:valAx>
      <c:valAx>
        <c:axId val="295231152"/>
        <c:scaling>
          <c:orientation val="minMax"/>
        </c:scaling>
        <c:delete val="0"/>
        <c:axPos val="r"/>
        <c:numFmt formatCode="General" sourceLinked="1"/>
        <c:majorTickMark val="none"/>
        <c:minorTickMark val="none"/>
        <c:tickLblPos val="none"/>
        <c:crossAx val="295226056"/>
        <c:crosses val="max"/>
        <c:crossBetween val="between"/>
      </c:valAx>
      <c:catAx>
        <c:axId val="295226056"/>
        <c:scaling>
          <c:orientation val="minMax"/>
        </c:scaling>
        <c:delete val="1"/>
        <c:axPos val="b"/>
        <c:numFmt formatCode="General" sourceLinked="1"/>
        <c:majorTickMark val="out"/>
        <c:minorTickMark val="none"/>
        <c:tickLblPos val="nextTo"/>
        <c:crossAx val="295231152"/>
        <c:crosses val="autoZero"/>
        <c:auto val="1"/>
        <c:lblAlgn val="ctr"/>
        <c:lblOffset val="100"/>
        <c:noMultiLvlLbl val="0"/>
      </c:catAx>
    </c:plotArea>
    <c:legend>
      <c:legendPos val="b"/>
      <c:layout/>
      <c:overlay val="0"/>
    </c:legend>
    <c:plotVisOnly val="1"/>
    <c:dispBlanksAs val="gap"/>
    <c:showDLblsOverMax val="0"/>
  </c:chart>
  <c:spPr>
    <a:noFill/>
    <a:ln>
      <a:noFill/>
    </a:ln>
    <a:effectLst/>
  </c:spPr>
  <c:txPr>
    <a:bodyPr/>
    <a:lstStyle/>
    <a:p>
      <a:pPr>
        <a:defRPr/>
      </a:pPr>
      <a:endParaRPr lang="pt-BR"/>
    </a:p>
  </c:txPr>
  <c:externalData r:id="rId2">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pieChart>
        <c:varyColors val="1"/>
        <c:ser>
          <c:idx val="0"/>
          <c:order val="0"/>
          <c:tx>
            <c:strRef>
              <c:f>Plan1!$A$1</c:f>
              <c:strCache>
                <c:ptCount val="1"/>
                <c:pt idx="0">
                  <c:v>Resolvedor</c:v>
                </c:pt>
              </c:strCache>
            </c:strRef>
          </c:tx>
          <c:spPr>
            <a:scene3d>
              <a:camera prst="orthographicFront"/>
              <a:lightRig rig="threePt" dir="t"/>
            </a:scene3d>
            <a:sp3d>
              <a:bevelT w="139700" h="139700"/>
            </a:sp3d>
          </c:spPr>
          <c:dPt>
            <c:idx val="0"/>
            <c:bubble3D val="0"/>
            <c:spPr>
              <a:solidFill>
                <a:sysClr val="window" lastClr="FFFFFF">
                  <a:lumMod val="65000"/>
                </a:sysClr>
              </a:solidFill>
              <a:scene3d>
                <a:camera prst="orthographicFront"/>
                <a:lightRig rig="threePt" dir="t"/>
              </a:scene3d>
              <a:sp3d>
                <a:bevelT w="139700" h="139700"/>
              </a:sp3d>
            </c:spPr>
            <c:extLst xmlns:c16r2="http://schemas.microsoft.com/office/drawing/2015/06/chart">
              <c:ext xmlns:c16="http://schemas.microsoft.com/office/drawing/2014/chart" uri="{C3380CC4-5D6E-409C-BE32-E72D297353CC}">
                <c16:uniqueId val="{00000001-E7AD-4C60-921E-18D5CD5D6CF6}"/>
              </c:ext>
            </c:extLst>
          </c:dPt>
          <c:dPt>
            <c:idx val="1"/>
            <c:bubble3D val="0"/>
            <c:spPr>
              <a:solidFill>
                <a:srgbClr val="FF0000"/>
              </a:solidFill>
              <a:scene3d>
                <a:camera prst="orthographicFront"/>
                <a:lightRig rig="threePt" dir="t"/>
              </a:scene3d>
              <a:sp3d>
                <a:bevelT w="139700" h="139700"/>
              </a:sp3d>
            </c:spPr>
            <c:extLst xmlns:c16r2="http://schemas.microsoft.com/office/drawing/2015/06/chart">
              <c:ext xmlns:c16="http://schemas.microsoft.com/office/drawing/2014/chart" uri="{C3380CC4-5D6E-409C-BE32-E72D297353CC}">
                <c16:uniqueId val="{00000003-E7AD-4C60-921E-18D5CD5D6CF6}"/>
              </c:ext>
            </c:extLst>
          </c:dPt>
          <c:dPt>
            <c:idx val="2"/>
            <c:bubble3D val="0"/>
            <c:spPr>
              <a:solidFill>
                <a:srgbClr val="19345B"/>
              </a:solidFill>
              <a:scene3d>
                <a:camera prst="orthographicFront"/>
                <a:lightRig rig="threePt" dir="t"/>
              </a:scene3d>
              <a:sp3d>
                <a:bevelT w="139700" h="139700"/>
              </a:sp3d>
            </c:spPr>
            <c:extLst xmlns:c16r2="http://schemas.microsoft.com/office/drawing/2015/06/chart">
              <c:ext xmlns:c16="http://schemas.microsoft.com/office/drawing/2014/chart" uri="{C3380CC4-5D6E-409C-BE32-E72D297353CC}">
                <c16:uniqueId val="{00000005-E7AD-4C60-921E-18D5CD5D6CF6}"/>
              </c:ext>
            </c:extLst>
          </c:dPt>
          <c:dLbls>
            <c:spPr>
              <a:noFill/>
              <a:ln>
                <a:noFill/>
              </a:ln>
              <a:effectLst/>
            </c:spPr>
            <c:txPr>
              <a:bodyPr/>
              <a:lstStyle/>
              <a:p>
                <a:pPr>
                  <a:defRPr b="1">
                    <a:solidFill>
                      <a:schemeClr val="bg1"/>
                    </a:solidFill>
                  </a:defRPr>
                </a:pPr>
                <a:endParaRPr lang="pt-BR"/>
              </a:p>
            </c:txPr>
            <c:dLblPos val="ctr"/>
            <c:showLegendKey val="0"/>
            <c:showVal val="1"/>
            <c:showCatName val="1"/>
            <c:showSerName val="0"/>
            <c:showPercent val="1"/>
            <c:showBubbleSize val="0"/>
            <c:showLeaderLines val="0"/>
            <c:extLst>
              <c:ext xmlns:c15="http://schemas.microsoft.com/office/drawing/2012/chart" uri="{CE6537A1-D6FC-4f65-9D91-7224C49458BB}">
                <c15:layout/>
              </c:ext>
            </c:extLst>
          </c:dLbls>
          <c:cat>
            <c:strRef>
              <c:f>Plan1!$A$2:$A$4</c:f>
              <c:strCache>
                <c:ptCount val="3"/>
                <c:pt idx="0">
                  <c:v>Fornecedor Contax</c:v>
                </c:pt>
                <c:pt idx="1">
                  <c:v>Suporte Cliente</c:v>
                </c:pt>
                <c:pt idx="2">
                  <c:v>TI Contax</c:v>
                </c:pt>
              </c:strCache>
            </c:strRef>
          </c:cat>
          <c:val>
            <c:numRef>
              <c:f>Plan1!$H$2:$H$4</c:f>
              <c:numCache>
                <c:formatCode>General</c:formatCode>
                <c:ptCount val="3"/>
                <c:pt idx="0">
                  <c:v>6</c:v>
                </c:pt>
                <c:pt idx="1">
                  <c:v>43</c:v>
                </c:pt>
                <c:pt idx="2">
                  <c:v>61</c:v>
                </c:pt>
              </c:numCache>
            </c:numRef>
          </c:val>
          <c:extLst xmlns:c16r2="http://schemas.microsoft.com/office/drawing/2015/06/chart">
            <c:ext xmlns:c16="http://schemas.microsoft.com/office/drawing/2014/chart" uri="{C3380CC4-5D6E-409C-BE32-E72D297353CC}">
              <c16:uniqueId val="{00000006-E7AD-4C60-921E-18D5CD5D6CF6}"/>
            </c:ext>
          </c:extLst>
        </c:ser>
        <c:dLbls>
          <c:dLblPos val="ctr"/>
          <c:showLegendKey val="0"/>
          <c:showVal val="1"/>
          <c:showCatName val="0"/>
          <c:showSerName val="0"/>
          <c:showPercent val="0"/>
          <c:showBubbleSize val="0"/>
          <c:showLeaderLines val="0"/>
        </c:dLbls>
        <c:firstSliceAng val="0"/>
      </c:pieChart>
    </c:plotArea>
    <c:plotVisOnly val="1"/>
    <c:dispBlanksAs val="gap"/>
    <c:showDLblsOverMax val="0"/>
  </c:chart>
  <c:spPr>
    <a:ln>
      <a:noFill/>
    </a:ln>
  </c:spPr>
  <c:externalData r:id="rId2">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tx>
            <c:strRef>
              <c:f>Plan1!$A$1</c:f>
              <c:strCache>
                <c:ptCount val="1"/>
                <c:pt idx="0">
                  <c:v>Ato Impacto (Critico + Muito Alto)</c:v>
                </c:pt>
              </c:strCache>
            </c:strRef>
          </c:tx>
          <c:spPr>
            <a:solidFill>
              <a:srgbClr val="19345B"/>
            </a:solidFill>
            <a:scene3d>
              <a:camera prst="orthographicFront"/>
              <a:lightRig rig="threePt" dir="t"/>
            </a:scene3d>
            <a:sp3d>
              <a:bevelT w="139700" h="139700"/>
            </a:sp3d>
          </c:spPr>
          <c:invertIfNegative val="0"/>
          <c:dLbls>
            <c:spPr>
              <a:noFill/>
              <a:ln>
                <a:noFill/>
              </a:ln>
              <a:effectLst/>
            </c:spPr>
            <c:txPr>
              <a:bodyPr/>
              <a:lstStyle/>
              <a:p>
                <a:pPr>
                  <a:defRPr>
                    <a:solidFill>
                      <a:schemeClr val="tx2"/>
                    </a:solidFill>
                  </a:defRPr>
                </a:pPr>
                <a:endParaRPr lang="pt-BR"/>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0"/>
              </c:ext>
            </c:extLst>
          </c:dLbls>
          <c:cat>
            <c:strRef>
              <c:f>Plan1!$B$1:$G$1</c:f>
              <c:strCache>
                <c:ptCount val="6"/>
                <c:pt idx="0">
                  <c:v>set/15</c:v>
                </c:pt>
                <c:pt idx="1">
                  <c:v>fev/16</c:v>
                </c:pt>
                <c:pt idx="2">
                  <c:v>mar/16</c:v>
                </c:pt>
                <c:pt idx="3">
                  <c:v>abr/16</c:v>
                </c:pt>
                <c:pt idx="4">
                  <c:v>mai/16</c:v>
                </c:pt>
                <c:pt idx="5">
                  <c:v>jun/16</c:v>
                </c:pt>
              </c:strCache>
            </c:strRef>
          </c:cat>
          <c:val>
            <c:numRef>
              <c:f>Plan1!$B$2:$G$2</c:f>
              <c:numCache>
                <c:formatCode>[h]:mm:ss;@</c:formatCode>
                <c:ptCount val="6"/>
                <c:pt idx="0">
                  <c:v>2.2795632152319799E-2</c:v>
                </c:pt>
                <c:pt idx="1">
                  <c:v>0.14141203703703703</c:v>
                </c:pt>
                <c:pt idx="2">
                  <c:v>0.17214474022633416</c:v>
                </c:pt>
                <c:pt idx="3" formatCode="h:mm:ss">
                  <c:v>0.16126157407407407</c:v>
                </c:pt>
                <c:pt idx="4" formatCode="[$-F400]h:mm:ss\ AM/PM">
                  <c:v>0.16440586419752612</c:v>
                </c:pt>
                <c:pt idx="5" formatCode="[$-F400]h:mm:ss\ AM/PM">
                  <c:v>0.17818287037037037</c:v>
                </c:pt>
              </c:numCache>
            </c:numRef>
          </c:val>
          <c:extLst xmlns:c16r2="http://schemas.microsoft.com/office/drawing/2015/06/chart">
            <c:ext xmlns:c16="http://schemas.microsoft.com/office/drawing/2014/chart" uri="{C3380CC4-5D6E-409C-BE32-E72D297353CC}">
              <c16:uniqueId val="{00000000-62CB-4E12-B928-110A004CDB14}"/>
            </c:ext>
          </c:extLst>
        </c:ser>
        <c:dLbls>
          <c:showLegendKey val="0"/>
          <c:showVal val="0"/>
          <c:showCatName val="0"/>
          <c:showSerName val="0"/>
          <c:showPercent val="0"/>
          <c:showBubbleSize val="0"/>
        </c:dLbls>
        <c:gapWidth val="75"/>
        <c:axId val="295231544"/>
        <c:axId val="295232328"/>
      </c:barChart>
      <c:catAx>
        <c:axId val="295231544"/>
        <c:scaling>
          <c:orientation val="minMax"/>
        </c:scaling>
        <c:delete val="0"/>
        <c:axPos val="b"/>
        <c:numFmt formatCode="General" sourceLinked="1"/>
        <c:majorTickMark val="out"/>
        <c:minorTickMark val="none"/>
        <c:tickLblPos val="nextTo"/>
        <c:txPr>
          <a:bodyPr/>
          <a:lstStyle/>
          <a:p>
            <a:pPr>
              <a:defRPr>
                <a:solidFill>
                  <a:schemeClr val="tx2"/>
                </a:solidFill>
              </a:defRPr>
            </a:pPr>
            <a:endParaRPr lang="pt-BR"/>
          </a:p>
        </c:txPr>
        <c:crossAx val="295232328"/>
        <c:crosses val="autoZero"/>
        <c:auto val="1"/>
        <c:lblAlgn val="ctr"/>
        <c:lblOffset val="100"/>
        <c:noMultiLvlLbl val="0"/>
      </c:catAx>
      <c:valAx>
        <c:axId val="295232328"/>
        <c:scaling>
          <c:orientation val="minMax"/>
        </c:scaling>
        <c:delete val="1"/>
        <c:axPos val="l"/>
        <c:numFmt formatCode="[h]:mm:ss;@" sourceLinked="1"/>
        <c:majorTickMark val="out"/>
        <c:minorTickMark val="none"/>
        <c:tickLblPos val="nextTo"/>
        <c:crossAx val="295231544"/>
        <c:crosses val="autoZero"/>
        <c:crossBetween val="between"/>
      </c:valAx>
      <c:spPr>
        <a:ln>
          <a:noFill/>
        </a:ln>
      </c:spPr>
    </c:plotArea>
    <c:plotVisOnly val="1"/>
    <c:dispBlanksAs val="gap"/>
    <c:showDLblsOverMax val="0"/>
  </c:chart>
  <c:spPr>
    <a:ln>
      <a:noFill/>
    </a:ln>
  </c:spPr>
  <c:externalData r:id="rId2">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tx>
            <c:strRef>
              <c:f>Plan1!$A$1</c:f>
              <c:strCache>
                <c:ptCount val="1"/>
                <c:pt idx="0">
                  <c:v>Ato Impacto (Critico + Muito Alto)</c:v>
                </c:pt>
              </c:strCache>
            </c:strRef>
          </c:tx>
          <c:spPr>
            <a:solidFill>
              <a:srgbClr val="19345B"/>
            </a:solidFill>
            <a:scene3d>
              <a:camera prst="orthographicFront"/>
              <a:lightRig rig="threePt" dir="t"/>
            </a:scene3d>
            <a:sp3d>
              <a:bevelT w="139700" h="139700"/>
            </a:sp3d>
          </c:spPr>
          <c:invertIfNegative val="0"/>
          <c:dLbls>
            <c:spPr>
              <a:noFill/>
              <a:ln>
                <a:noFill/>
              </a:ln>
              <a:effectLst/>
            </c:spPr>
            <c:txPr>
              <a:bodyPr/>
              <a:lstStyle/>
              <a:p>
                <a:pPr>
                  <a:defRPr>
                    <a:solidFill>
                      <a:schemeClr val="tx2"/>
                    </a:solidFill>
                  </a:defRPr>
                </a:pPr>
                <a:endParaRPr lang="pt-BR"/>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0"/>
              </c:ext>
            </c:extLst>
          </c:dLbls>
          <c:cat>
            <c:strRef>
              <c:f>Plan1!$B$1:$C$1</c:f>
              <c:strCache>
                <c:ptCount val="2"/>
                <c:pt idx="0">
                  <c:v>mai/16</c:v>
                </c:pt>
                <c:pt idx="1">
                  <c:v>jun/16</c:v>
                </c:pt>
              </c:strCache>
            </c:strRef>
          </c:cat>
          <c:val>
            <c:numRef>
              <c:f>Plan1!$B$2:$C$2</c:f>
              <c:numCache>
                <c:formatCode>[h]:mm:ss;@</c:formatCode>
                <c:ptCount val="2"/>
                <c:pt idx="0">
                  <c:v>0.25166972757882122</c:v>
                </c:pt>
                <c:pt idx="1">
                  <c:v>0.31668981481481479</c:v>
                </c:pt>
              </c:numCache>
            </c:numRef>
          </c:val>
          <c:extLst xmlns:c16r2="http://schemas.microsoft.com/office/drawing/2015/06/chart">
            <c:ext xmlns:c16="http://schemas.microsoft.com/office/drawing/2014/chart" uri="{C3380CC4-5D6E-409C-BE32-E72D297353CC}">
              <c16:uniqueId val="{00000000-62CB-4E12-B928-110A004CDB14}"/>
            </c:ext>
          </c:extLst>
        </c:ser>
        <c:dLbls>
          <c:showLegendKey val="0"/>
          <c:showVal val="0"/>
          <c:showCatName val="0"/>
          <c:showSerName val="0"/>
          <c:showPercent val="0"/>
          <c:showBubbleSize val="0"/>
        </c:dLbls>
        <c:gapWidth val="75"/>
        <c:axId val="295225272"/>
        <c:axId val="295225664"/>
      </c:barChart>
      <c:catAx>
        <c:axId val="295225272"/>
        <c:scaling>
          <c:orientation val="minMax"/>
        </c:scaling>
        <c:delete val="0"/>
        <c:axPos val="b"/>
        <c:numFmt formatCode="General" sourceLinked="1"/>
        <c:majorTickMark val="out"/>
        <c:minorTickMark val="none"/>
        <c:tickLblPos val="nextTo"/>
        <c:txPr>
          <a:bodyPr/>
          <a:lstStyle/>
          <a:p>
            <a:pPr>
              <a:defRPr>
                <a:solidFill>
                  <a:schemeClr val="tx2"/>
                </a:solidFill>
              </a:defRPr>
            </a:pPr>
            <a:endParaRPr lang="pt-BR"/>
          </a:p>
        </c:txPr>
        <c:crossAx val="295225664"/>
        <c:crosses val="autoZero"/>
        <c:auto val="1"/>
        <c:lblAlgn val="ctr"/>
        <c:lblOffset val="100"/>
        <c:noMultiLvlLbl val="0"/>
      </c:catAx>
      <c:valAx>
        <c:axId val="295225664"/>
        <c:scaling>
          <c:orientation val="minMax"/>
        </c:scaling>
        <c:delete val="1"/>
        <c:axPos val="l"/>
        <c:numFmt formatCode="[h]:mm:ss;@" sourceLinked="1"/>
        <c:majorTickMark val="out"/>
        <c:minorTickMark val="none"/>
        <c:tickLblPos val="nextTo"/>
        <c:crossAx val="295225272"/>
        <c:crosses val="autoZero"/>
        <c:crossBetween val="between"/>
      </c:valAx>
      <c:spPr>
        <a:ln>
          <a:noFill/>
        </a:ln>
      </c:spPr>
    </c:plotArea>
    <c:plotVisOnly val="1"/>
    <c:dispBlanksAs val="gap"/>
    <c:showDLblsOverMax val="0"/>
  </c:chart>
  <c:spPr>
    <a:ln>
      <a:noFill/>
    </a:ln>
  </c:spPr>
  <c:externalData r:id="rId2">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tx>
            <c:strRef>
              <c:f>Plan1!$A$1</c:f>
              <c:strCache>
                <c:ptCount val="1"/>
                <c:pt idx="0">
                  <c:v>Ato Impacto (Critico + Muito Alto)</c:v>
                </c:pt>
              </c:strCache>
            </c:strRef>
          </c:tx>
          <c:spPr>
            <a:solidFill>
              <a:srgbClr val="19345B"/>
            </a:solidFill>
            <a:scene3d>
              <a:camera prst="orthographicFront"/>
              <a:lightRig rig="threePt" dir="t"/>
            </a:scene3d>
            <a:sp3d>
              <a:bevelT w="139700" h="139700"/>
            </a:sp3d>
          </c:spPr>
          <c:invertIfNegative val="0"/>
          <c:dLbls>
            <c:spPr>
              <a:noFill/>
              <a:ln>
                <a:noFill/>
              </a:ln>
              <a:effectLst/>
            </c:spPr>
            <c:txPr>
              <a:bodyPr/>
              <a:lstStyle/>
              <a:p>
                <a:pPr>
                  <a:defRPr>
                    <a:solidFill>
                      <a:schemeClr val="tx2"/>
                    </a:solidFill>
                  </a:defRPr>
                </a:pPr>
                <a:endParaRPr lang="pt-BR"/>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0"/>
              </c:ext>
            </c:extLst>
          </c:dLbls>
          <c:cat>
            <c:strRef>
              <c:f>Plan1!$B$1:$C$1</c:f>
              <c:strCache>
                <c:ptCount val="2"/>
                <c:pt idx="0">
                  <c:v>mai/16</c:v>
                </c:pt>
                <c:pt idx="1">
                  <c:v>jun/16</c:v>
                </c:pt>
              </c:strCache>
            </c:strRef>
          </c:cat>
          <c:val>
            <c:numRef>
              <c:f>Plan1!$B$2:$C$2</c:f>
              <c:numCache>
                <c:formatCode>[h]:mm:ss</c:formatCode>
                <c:ptCount val="2"/>
                <c:pt idx="0">
                  <c:v>0.50130312689737466</c:v>
                </c:pt>
                <c:pt idx="1">
                  <c:v>0.45581018518518518</c:v>
                </c:pt>
              </c:numCache>
            </c:numRef>
          </c:val>
          <c:extLst xmlns:c16r2="http://schemas.microsoft.com/office/drawing/2015/06/chart">
            <c:ext xmlns:c16="http://schemas.microsoft.com/office/drawing/2014/chart" uri="{C3380CC4-5D6E-409C-BE32-E72D297353CC}">
              <c16:uniqueId val="{00000000-62CB-4E12-B928-110A004CDB14}"/>
            </c:ext>
          </c:extLst>
        </c:ser>
        <c:dLbls>
          <c:showLegendKey val="0"/>
          <c:showVal val="0"/>
          <c:showCatName val="0"/>
          <c:showSerName val="0"/>
          <c:showPercent val="0"/>
          <c:showBubbleSize val="0"/>
        </c:dLbls>
        <c:gapWidth val="75"/>
        <c:axId val="295230368"/>
        <c:axId val="295230760"/>
      </c:barChart>
      <c:catAx>
        <c:axId val="295230368"/>
        <c:scaling>
          <c:orientation val="minMax"/>
        </c:scaling>
        <c:delete val="0"/>
        <c:axPos val="b"/>
        <c:numFmt formatCode="General" sourceLinked="1"/>
        <c:majorTickMark val="out"/>
        <c:minorTickMark val="none"/>
        <c:tickLblPos val="nextTo"/>
        <c:txPr>
          <a:bodyPr/>
          <a:lstStyle/>
          <a:p>
            <a:pPr>
              <a:defRPr>
                <a:solidFill>
                  <a:schemeClr val="tx2"/>
                </a:solidFill>
              </a:defRPr>
            </a:pPr>
            <a:endParaRPr lang="pt-BR"/>
          </a:p>
        </c:txPr>
        <c:crossAx val="295230760"/>
        <c:crosses val="autoZero"/>
        <c:auto val="1"/>
        <c:lblAlgn val="ctr"/>
        <c:lblOffset val="100"/>
        <c:noMultiLvlLbl val="0"/>
      </c:catAx>
      <c:valAx>
        <c:axId val="295230760"/>
        <c:scaling>
          <c:orientation val="minMax"/>
        </c:scaling>
        <c:delete val="1"/>
        <c:axPos val="l"/>
        <c:numFmt formatCode="[h]:mm:ss" sourceLinked="1"/>
        <c:majorTickMark val="out"/>
        <c:minorTickMark val="none"/>
        <c:tickLblPos val="nextTo"/>
        <c:crossAx val="295230368"/>
        <c:crosses val="autoZero"/>
        <c:crossBetween val="between"/>
      </c:valAx>
      <c:spPr>
        <a:ln>
          <a:noFill/>
        </a:ln>
      </c:spPr>
    </c:plotArea>
    <c:plotVisOnly val="1"/>
    <c:dispBlanksAs val="gap"/>
    <c:showDLblsOverMax val="0"/>
  </c:chart>
  <c:spPr>
    <a:ln>
      <a:noFill/>
    </a:ln>
  </c:spPr>
  <c:externalData r:id="rId2">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tx>
            <c:strRef>
              <c:f>Plan1!$A$1</c:f>
              <c:strCache>
                <c:ptCount val="1"/>
                <c:pt idx="0">
                  <c:v>Ato Impacto (Critico + Muito Alto)</c:v>
                </c:pt>
              </c:strCache>
            </c:strRef>
          </c:tx>
          <c:spPr>
            <a:solidFill>
              <a:srgbClr val="19345B"/>
            </a:solidFill>
            <a:scene3d>
              <a:camera prst="orthographicFront"/>
              <a:lightRig rig="threePt" dir="t"/>
            </a:scene3d>
            <a:sp3d>
              <a:bevelT w="139700" h="139700"/>
            </a:sp3d>
          </c:spPr>
          <c:invertIfNegative val="0"/>
          <c:dLbls>
            <c:spPr>
              <a:noFill/>
              <a:ln>
                <a:noFill/>
              </a:ln>
              <a:effectLst/>
            </c:spPr>
            <c:txPr>
              <a:bodyPr/>
              <a:lstStyle/>
              <a:p>
                <a:pPr>
                  <a:defRPr>
                    <a:solidFill>
                      <a:schemeClr val="tx2"/>
                    </a:solidFill>
                  </a:defRPr>
                </a:pPr>
                <a:endParaRPr lang="pt-BR"/>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0"/>
              </c:ext>
            </c:extLst>
          </c:dLbls>
          <c:cat>
            <c:strRef>
              <c:f>Plan1!$B$1:$C$1</c:f>
              <c:strCache>
                <c:ptCount val="2"/>
                <c:pt idx="0">
                  <c:v>mai/16</c:v>
                </c:pt>
                <c:pt idx="1">
                  <c:v>jun/16</c:v>
                </c:pt>
              </c:strCache>
            </c:strRef>
          </c:cat>
          <c:val>
            <c:numRef>
              <c:f>Plan1!$B$2:$C$2</c:f>
              <c:numCache>
                <c:formatCode>[h]:mm:ss;@</c:formatCode>
                <c:ptCount val="2"/>
                <c:pt idx="0">
                  <c:v>2.0870138888876681</c:v>
                </c:pt>
                <c:pt idx="1">
                  <c:v>2.8870370370370373</c:v>
                </c:pt>
              </c:numCache>
            </c:numRef>
          </c:val>
          <c:extLst xmlns:c16r2="http://schemas.microsoft.com/office/drawing/2015/06/chart">
            <c:ext xmlns:c16="http://schemas.microsoft.com/office/drawing/2014/chart" uri="{C3380CC4-5D6E-409C-BE32-E72D297353CC}">
              <c16:uniqueId val="{00000000-62CB-4E12-B928-110A004CDB14}"/>
            </c:ext>
          </c:extLst>
        </c:ser>
        <c:dLbls>
          <c:showLegendKey val="0"/>
          <c:showVal val="0"/>
          <c:showCatName val="0"/>
          <c:showSerName val="0"/>
          <c:showPercent val="0"/>
          <c:showBubbleSize val="0"/>
        </c:dLbls>
        <c:gapWidth val="75"/>
        <c:axId val="295227232"/>
        <c:axId val="258245848"/>
      </c:barChart>
      <c:catAx>
        <c:axId val="295227232"/>
        <c:scaling>
          <c:orientation val="minMax"/>
        </c:scaling>
        <c:delete val="0"/>
        <c:axPos val="b"/>
        <c:numFmt formatCode="General" sourceLinked="1"/>
        <c:majorTickMark val="out"/>
        <c:minorTickMark val="none"/>
        <c:tickLblPos val="nextTo"/>
        <c:txPr>
          <a:bodyPr/>
          <a:lstStyle/>
          <a:p>
            <a:pPr>
              <a:defRPr>
                <a:solidFill>
                  <a:schemeClr val="tx2"/>
                </a:solidFill>
              </a:defRPr>
            </a:pPr>
            <a:endParaRPr lang="pt-BR"/>
          </a:p>
        </c:txPr>
        <c:crossAx val="258245848"/>
        <c:crosses val="autoZero"/>
        <c:auto val="1"/>
        <c:lblAlgn val="ctr"/>
        <c:lblOffset val="100"/>
        <c:noMultiLvlLbl val="0"/>
      </c:catAx>
      <c:valAx>
        <c:axId val="258245848"/>
        <c:scaling>
          <c:orientation val="minMax"/>
        </c:scaling>
        <c:delete val="1"/>
        <c:axPos val="l"/>
        <c:numFmt formatCode="[h]:mm:ss;@" sourceLinked="1"/>
        <c:majorTickMark val="out"/>
        <c:minorTickMark val="none"/>
        <c:tickLblPos val="nextTo"/>
        <c:crossAx val="295227232"/>
        <c:crosses val="autoZero"/>
        <c:crossBetween val="between"/>
      </c:valAx>
      <c:spPr>
        <a:ln>
          <a:noFill/>
        </a:ln>
      </c:spPr>
    </c:plotArea>
    <c:plotVisOnly val="1"/>
    <c:dispBlanksAs val="gap"/>
    <c:showDLblsOverMax val="0"/>
  </c:chart>
  <c:spPr>
    <a:ln>
      <a:noFill/>
    </a:ln>
  </c:spPr>
  <c:externalData r:id="rId2">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tx>
            <c:strRef>
              <c:f>Plan1!$A$1</c:f>
              <c:strCache>
                <c:ptCount val="1"/>
                <c:pt idx="0">
                  <c:v>Ato Impacto (Critico + Muito Alto)</c:v>
                </c:pt>
              </c:strCache>
            </c:strRef>
          </c:tx>
          <c:spPr>
            <a:solidFill>
              <a:srgbClr val="19345B"/>
            </a:solidFill>
            <a:scene3d>
              <a:camera prst="orthographicFront"/>
              <a:lightRig rig="threePt" dir="t"/>
            </a:scene3d>
            <a:sp3d>
              <a:bevelT w="139700" h="139700"/>
            </a:sp3d>
          </c:spPr>
          <c:invertIfNegative val="0"/>
          <c:dPt>
            <c:idx val="5"/>
            <c:invertIfNegative val="0"/>
            <c:bubble3D val="0"/>
            <c:spPr>
              <a:solidFill>
                <a:srgbClr val="FFC000"/>
              </a:solidFill>
              <a:scene3d>
                <a:camera prst="orthographicFront"/>
                <a:lightRig rig="threePt" dir="t"/>
              </a:scene3d>
              <a:sp3d>
                <a:bevelT w="139700" h="139700"/>
              </a:sp3d>
            </c:spPr>
          </c:dPt>
          <c:dLbls>
            <c:spPr>
              <a:noFill/>
              <a:ln>
                <a:noFill/>
              </a:ln>
              <a:effectLst/>
            </c:spPr>
            <c:txPr>
              <a:bodyPr/>
              <a:lstStyle/>
              <a:p>
                <a:pPr>
                  <a:defRPr>
                    <a:solidFill>
                      <a:schemeClr val="tx2"/>
                    </a:solidFill>
                  </a:defRPr>
                </a:pPr>
                <a:endParaRPr lang="pt-BR"/>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0"/>
              </c:ext>
            </c:extLst>
          </c:dLbls>
          <c:cat>
            <c:strRef>
              <c:f>Plan1!$B$1:$G$1</c:f>
              <c:strCache>
                <c:ptCount val="6"/>
                <c:pt idx="0">
                  <c:v>set/15</c:v>
                </c:pt>
                <c:pt idx="1">
                  <c:v>fev/16</c:v>
                </c:pt>
                <c:pt idx="2">
                  <c:v>mar/16</c:v>
                </c:pt>
                <c:pt idx="3">
                  <c:v>abr/16</c:v>
                </c:pt>
                <c:pt idx="4">
                  <c:v>mai/16</c:v>
                </c:pt>
                <c:pt idx="5">
                  <c:v>jun/16</c:v>
                </c:pt>
              </c:strCache>
            </c:strRef>
          </c:cat>
          <c:val>
            <c:numRef>
              <c:f>Plan1!$B$2:$G$2</c:f>
              <c:numCache>
                <c:formatCode>[h]:mm:ss;@</c:formatCode>
                <c:ptCount val="6"/>
                <c:pt idx="0">
                  <c:v>1.4335300925925925</c:v>
                </c:pt>
                <c:pt idx="1">
                  <c:v>0.67074074074074075</c:v>
                </c:pt>
                <c:pt idx="2">
                  <c:v>0.48246527777777781</c:v>
                </c:pt>
                <c:pt idx="3">
                  <c:v>0.5274537037037037</c:v>
                </c:pt>
                <c:pt idx="4" formatCode="h:mm:ss">
                  <c:v>0.19980448526460948</c:v>
                </c:pt>
                <c:pt idx="5" formatCode="h:mm:ss">
                  <c:v>0.28920138888888891</c:v>
                </c:pt>
              </c:numCache>
            </c:numRef>
          </c:val>
          <c:extLst xmlns:c16r2="http://schemas.microsoft.com/office/drawing/2015/06/chart">
            <c:ext xmlns:c16="http://schemas.microsoft.com/office/drawing/2014/chart" uri="{C3380CC4-5D6E-409C-BE32-E72D297353CC}">
              <c16:uniqueId val="{00000000-62CB-4E12-B928-110A004CDB14}"/>
            </c:ext>
          </c:extLst>
        </c:ser>
        <c:dLbls>
          <c:showLegendKey val="0"/>
          <c:showVal val="0"/>
          <c:showCatName val="0"/>
          <c:showSerName val="0"/>
          <c:showPercent val="0"/>
          <c:showBubbleSize val="0"/>
        </c:dLbls>
        <c:gapWidth val="75"/>
        <c:axId val="296517680"/>
        <c:axId val="296522384"/>
      </c:barChart>
      <c:catAx>
        <c:axId val="296517680"/>
        <c:scaling>
          <c:orientation val="minMax"/>
        </c:scaling>
        <c:delete val="0"/>
        <c:axPos val="b"/>
        <c:numFmt formatCode="General" sourceLinked="1"/>
        <c:majorTickMark val="out"/>
        <c:minorTickMark val="none"/>
        <c:tickLblPos val="nextTo"/>
        <c:txPr>
          <a:bodyPr/>
          <a:lstStyle/>
          <a:p>
            <a:pPr>
              <a:defRPr>
                <a:solidFill>
                  <a:schemeClr val="tx2"/>
                </a:solidFill>
              </a:defRPr>
            </a:pPr>
            <a:endParaRPr lang="pt-BR"/>
          </a:p>
        </c:txPr>
        <c:crossAx val="296522384"/>
        <c:crosses val="autoZero"/>
        <c:auto val="1"/>
        <c:lblAlgn val="ctr"/>
        <c:lblOffset val="100"/>
        <c:noMultiLvlLbl val="0"/>
      </c:catAx>
      <c:valAx>
        <c:axId val="296522384"/>
        <c:scaling>
          <c:orientation val="minMax"/>
        </c:scaling>
        <c:delete val="1"/>
        <c:axPos val="l"/>
        <c:numFmt formatCode="[h]:mm:ss;@" sourceLinked="1"/>
        <c:majorTickMark val="out"/>
        <c:minorTickMark val="none"/>
        <c:tickLblPos val="nextTo"/>
        <c:crossAx val="296517680"/>
        <c:crosses val="autoZero"/>
        <c:crossBetween val="between"/>
      </c:valAx>
      <c:spPr>
        <a:ln>
          <a:noFill/>
        </a:ln>
      </c:spPr>
    </c:plotArea>
    <c:plotVisOnly val="1"/>
    <c:dispBlanksAs val="gap"/>
    <c:showDLblsOverMax val="0"/>
  </c:chart>
  <c:spPr>
    <a:ln>
      <a:noFill/>
    </a:ln>
  </c:spPr>
  <c:externalData r:id="rId2">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tx>
            <c:strRef>
              <c:f>Plan1!$A$1</c:f>
              <c:strCache>
                <c:ptCount val="1"/>
                <c:pt idx="0">
                  <c:v>Ato Impacto (Critico + Muito Alto)</c:v>
                </c:pt>
              </c:strCache>
            </c:strRef>
          </c:tx>
          <c:spPr>
            <a:solidFill>
              <a:srgbClr val="19345B"/>
            </a:solidFill>
            <a:scene3d>
              <a:camera prst="orthographicFront"/>
              <a:lightRig rig="threePt" dir="t"/>
            </a:scene3d>
            <a:sp3d>
              <a:bevelT w="139700" h="139700"/>
            </a:sp3d>
          </c:spPr>
          <c:invertIfNegative val="0"/>
          <c:dLbls>
            <c:spPr>
              <a:noFill/>
              <a:ln>
                <a:noFill/>
              </a:ln>
              <a:effectLst/>
            </c:spPr>
            <c:txPr>
              <a:bodyPr/>
              <a:lstStyle/>
              <a:p>
                <a:pPr>
                  <a:defRPr>
                    <a:solidFill>
                      <a:schemeClr val="tx2"/>
                    </a:solidFill>
                  </a:defRPr>
                </a:pPr>
                <a:endParaRPr lang="pt-BR"/>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0"/>
              </c:ext>
            </c:extLst>
          </c:dLbls>
          <c:cat>
            <c:strRef>
              <c:f>Plan1!$B$1:$C$1</c:f>
              <c:strCache>
                <c:ptCount val="2"/>
                <c:pt idx="0">
                  <c:v>mai/16</c:v>
                </c:pt>
                <c:pt idx="1">
                  <c:v>jun/16</c:v>
                </c:pt>
              </c:strCache>
            </c:strRef>
          </c:cat>
          <c:val>
            <c:numRef>
              <c:f>Plan1!$B$2:$C$2</c:f>
              <c:numCache>
                <c:formatCode>h:mm:ss</c:formatCode>
                <c:ptCount val="2"/>
                <c:pt idx="0">
                  <c:v>0.11931799051106748</c:v>
                </c:pt>
                <c:pt idx="1">
                  <c:v>0.1351273148148148</c:v>
                </c:pt>
              </c:numCache>
            </c:numRef>
          </c:val>
          <c:extLst xmlns:c16r2="http://schemas.microsoft.com/office/drawing/2015/06/chart">
            <c:ext xmlns:c16="http://schemas.microsoft.com/office/drawing/2014/chart" uri="{C3380CC4-5D6E-409C-BE32-E72D297353CC}">
              <c16:uniqueId val="{00000000-62CB-4E12-B928-110A004CDB14}"/>
            </c:ext>
          </c:extLst>
        </c:ser>
        <c:dLbls>
          <c:showLegendKey val="0"/>
          <c:showVal val="0"/>
          <c:showCatName val="0"/>
          <c:showSerName val="0"/>
          <c:showPercent val="0"/>
          <c:showBubbleSize val="0"/>
        </c:dLbls>
        <c:gapWidth val="75"/>
        <c:axId val="296523560"/>
        <c:axId val="296521600"/>
      </c:barChart>
      <c:catAx>
        <c:axId val="296523560"/>
        <c:scaling>
          <c:orientation val="minMax"/>
        </c:scaling>
        <c:delete val="0"/>
        <c:axPos val="b"/>
        <c:numFmt formatCode="General" sourceLinked="1"/>
        <c:majorTickMark val="out"/>
        <c:minorTickMark val="none"/>
        <c:tickLblPos val="nextTo"/>
        <c:txPr>
          <a:bodyPr/>
          <a:lstStyle/>
          <a:p>
            <a:pPr>
              <a:defRPr>
                <a:solidFill>
                  <a:schemeClr val="tx2"/>
                </a:solidFill>
              </a:defRPr>
            </a:pPr>
            <a:endParaRPr lang="pt-BR"/>
          </a:p>
        </c:txPr>
        <c:crossAx val="296521600"/>
        <c:crosses val="autoZero"/>
        <c:auto val="1"/>
        <c:lblAlgn val="ctr"/>
        <c:lblOffset val="100"/>
        <c:noMultiLvlLbl val="0"/>
      </c:catAx>
      <c:valAx>
        <c:axId val="296521600"/>
        <c:scaling>
          <c:orientation val="minMax"/>
          <c:max val="0.16000000000000003"/>
        </c:scaling>
        <c:delete val="1"/>
        <c:axPos val="l"/>
        <c:numFmt formatCode="h:mm:ss" sourceLinked="1"/>
        <c:majorTickMark val="out"/>
        <c:minorTickMark val="none"/>
        <c:tickLblPos val="nextTo"/>
        <c:crossAx val="296523560"/>
        <c:crosses val="autoZero"/>
        <c:crossBetween val="between"/>
      </c:valAx>
      <c:spPr>
        <a:ln>
          <a:noFill/>
        </a:ln>
      </c:spPr>
    </c:plotArea>
    <c:plotVisOnly val="1"/>
    <c:dispBlanksAs val="gap"/>
    <c:showDLblsOverMax val="0"/>
  </c:chart>
  <c:spPr>
    <a:ln>
      <a:noFill/>
    </a:ln>
  </c:spPr>
  <c:externalData r:id="rId2">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tx>
            <c:strRef>
              <c:f>Plan1!$A$1</c:f>
              <c:strCache>
                <c:ptCount val="1"/>
                <c:pt idx="0">
                  <c:v>Ato Impacto (Critico + Muito Alto)</c:v>
                </c:pt>
              </c:strCache>
            </c:strRef>
          </c:tx>
          <c:spPr>
            <a:solidFill>
              <a:srgbClr val="19345B"/>
            </a:solidFill>
            <a:scene3d>
              <a:camera prst="orthographicFront"/>
              <a:lightRig rig="threePt" dir="t"/>
            </a:scene3d>
            <a:sp3d>
              <a:bevelT w="139700" h="139700"/>
            </a:sp3d>
          </c:spPr>
          <c:invertIfNegative val="0"/>
          <c:dLbls>
            <c:spPr>
              <a:noFill/>
              <a:ln>
                <a:noFill/>
              </a:ln>
              <a:effectLst/>
            </c:spPr>
            <c:txPr>
              <a:bodyPr/>
              <a:lstStyle/>
              <a:p>
                <a:pPr>
                  <a:defRPr>
                    <a:solidFill>
                      <a:schemeClr val="tx2"/>
                    </a:solidFill>
                  </a:defRPr>
                </a:pPr>
                <a:endParaRPr lang="pt-BR"/>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0"/>
              </c:ext>
            </c:extLst>
          </c:dLbls>
          <c:cat>
            <c:strRef>
              <c:f>Plan1!$B$1:$C$1</c:f>
              <c:strCache>
                <c:ptCount val="2"/>
                <c:pt idx="0">
                  <c:v>mai/16</c:v>
                </c:pt>
                <c:pt idx="1">
                  <c:v>jun/16</c:v>
                </c:pt>
              </c:strCache>
            </c:strRef>
          </c:cat>
          <c:val>
            <c:numRef>
              <c:f>Plan1!$B$2:$C$2</c:f>
              <c:numCache>
                <c:formatCode>[h]:mm:ss</c:formatCode>
                <c:ptCount val="2"/>
                <c:pt idx="0">
                  <c:v>0.36307566788047074</c:v>
                </c:pt>
                <c:pt idx="1">
                  <c:v>0.40309027777777778</c:v>
                </c:pt>
              </c:numCache>
            </c:numRef>
          </c:val>
          <c:extLst xmlns:c16r2="http://schemas.microsoft.com/office/drawing/2015/06/chart">
            <c:ext xmlns:c16="http://schemas.microsoft.com/office/drawing/2014/chart" uri="{C3380CC4-5D6E-409C-BE32-E72D297353CC}">
              <c16:uniqueId val="{00000000-62CB-4E12-B928-110A004CDB14}"/>
            </c:ext>
          </c:extLst>
        </c:ser>
        <c:dLbls>
          <c:showLegendKey val="0"/>
          <c:showVal val="0"/>
          <c:showCatName val="0"/>
          <c:showSerName val="0"/>
          <c:showPercent val="0"/>
          <c:showBubbleSize val="0"/>
        </c:dLbls>
        <c:gapWidth val="75"/>
        <c:axId val="296523168"/>
        <c:axId val="296524736"/>
      </c:barChart>
      <c:catAx>
        <c:axId val="296523168"/>
        <c:scaling>
          <c:orientation val="minMax"/>
        </c:scaling>
        <c:delete val="0"/>
        <c:axPos val="b"/>
        <c:numFmt formatCode="General" sourceLinked="1"/>
        <c:majorTickMark val="out"/>
        <c:minorTickMark val="none"/>
        <c:tickLblPos val="nextTo"/>
        <c:txPr>
          <a:bodyPr/>
          <a:lstStyle/>
          <a:p>
            <a:pPr>
              <a:defRPr>
                <a:solidFill>
                  <a:schemeClr val="tx2"/>
                </a:solidFill>
              </a:defRPr>
            </a:pPr>
            <a:endParaRPr lang="pt-BR"/>
          </a:p>
        </c:txPr>
        <c:crossAx val="296524736"/>
        <c:crosses val="autoZero"/>
        <c:auto val="1"/>
        <c:lblAlgn val="ctr"/>
        <c:lblOffset val="100"/>
        <c:noMultiLvlLbl val="0"/>
      </c:catAx>
      <c:valAx>
        <c:axId val="296524736"/>
        <c:scaling>
          <c:orientation val="minMax"/>
        </c:scaling>
        <c:delete val="1"/>
        <c:axPos val="l"/>
        <c:numFmt formatCode="[h]:mm:ss" sourceLinked="1"/>
        <c:majorTickMark val="out"/>
        <c:minorTickMark val="none"/>
        <c:tickLblPos val="nextTo"/>
        <c:crossAx val="296523168"/>
        <c:crosses val="autoZero"/>
        <c:crossBetween val="between"/>
      </c:valAx>
      <c:spPr>
        <a:ln>
          <a:noFill/>
        </a:ln>
      </c:spPr>
    </c:plotArea>
    <c:plotVisOnly val="1"/>
    <c:dispBlanksAs val="gap"/>
    <c:showDLblsOverMax val="0"/>
  </c:chart>
  <c:spPr>
    <a:ln>
      <a:noFill/>
    </a:ln>
  </c:spPr>
  <c:externalData r:id="rId2">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tx>
            <c:strRef>
              <c:f>Plan1!$A$1</c:f>
              <c:strCache>
                <c:ptCount val="1"/>
                <c:pt idx="0">
                  <c:v>Ato Impacto (Critico + Muito Alto)</c:v>
                </c:pt>
              </c:strCache>
            </c:strRef>
          </c:tx>
          <c:spPr>
            <a:solidFill>
              <a:srgbClr val="19345B"/>
            </a:solidFill>
            <a:scene3d>
              <a:camera prst="orthographicFront"/>
              <a:lightRig rig="threePt" dir="t"/>
            </a:scene3d>
            <a:sp3d>
              <a:bevelT w="139700" h="139700"/>
            </a:sp3d>
          </c:spPr>
          <c:invertIfNegative val="0"/>
          <c:dLbls>
            <c:spPr>
              <a:noFill/>
              <a:ln>
                <a:noFill/>
              </a:ln>
              <a:effectLst/>
            </c:spPr>
            <c:txPr>
              <a:bodyPr/>
              <a:lstStyle/>
              <a:p>
                <a:pPr>
                  <a:defRPr>
                    <a:solidFill>
                      <a:schemeClr val="tx2"/>
                    </a:solidFill>
                  </a:defRPr>
                </a:pPr>
                <a:endParaRPr lang="pt-BR"/>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0"/>
              </c:ext>
            </c:extLst>
          </c:dLbls>
          <c:cat>
            <c:strRef>
              <c:f>Plan1!$B$1:$C$1</c:f>
              <c:strCache>
                <c:ptCount val="2"/>
                <c:pt idx="0">
                  <c:v>mai/16</c:v>
                </c:pt>
                <c:pt idx="1">
                  <c:v>jun/16</c:v>
                </c:pt>
              </c:strCache>
            </c:strRef>
          </c:cat>
          <c:val>
            <c:numRef>
              <c:f>Plan1!$B$2:$C$2</c:f>
              <c:numCache>
                <c:formatCode>[h]:mm:ss;@</c:formatCode>
                <c:ptCount val="2"/>
                <c:pt idx="0">
                  <c:v>0.14463541666737001</c:v>
                </c:pt>
                <c:pt idx="1">
                  <c:v>1.0394560185185184</c:v>
                </c:pt>
              </c:numCache>
            </c:numRef>
          </c:val>
          <c:extLst xmlns:c16r2="http://schemas.microsoft.com/office/drawing/2015/06/chart">
            <c:ext xmlns:c16="http://schemas.microsoft.com/office/drawing/2014/chart" uri="{C3380CC4-5D6E-409C-BE32-E72D297353CC}">
              <c16:uniqueId val="{00000000-62CB-4E12-B928-110A004CDB14}"/>
            </c:ext>
          </c:extLst>
        </c:ser>
        <c:dLbls>
          <c:showLegendKey val="0"/>
          <c:showVal val="0"/>
          <c:showCatName val="0"/>
          <c:showSerName val="0"/>
          <c:showPercent val="0"/>
          <c:showBubbleSize val="0"/>
        </c:dLbls>
        <c:gapWidth val="75"/>
        <c:axId val="296520032"/>
        <c:axId val="296523952"/>
      </c:barChart>
      <c:catAx>
        <c:axId val="296520032"/>
        <c:scaling>
          <c:orientation val="minMax"/>
        </c:scaling>
        <c:delete val="0"/>
        <c:axPos val="b"/>
        <c:numFmt formatCode="General" sourceLinked="1"/>
        <c:majorTickMark val="out"/>
        <c:minorTickMark val="none"/>
        <c:tickLblPos val="nextTo"/>
        <c:txPr>
          <a:bodyPr/>
          <a:lstStyle/>
          <a:p>
            <a:pPr>
              <a:defRPr>
                <a:solidFill>
                  <a:schemeClr val="tx2"/>
                </a:solidFill>
              </a:defRPr>
            </a:pPr>
            <a:endParaRPr lang="pt-BR"/>
          </a:p>
        </c:txPr>
        <c:crossAx val="296523952"/>
        <c:crosses val="autoZero"/>
        <c:auto val="1"/>
        <c:lblAlgn val="ctr"/>
        <c:lblOffset val="100"/>
        <c:noMultiLvlLbl val="0"/>
      </c:catAx>
      <c:valAx>
        <c:axId val="296523952"/>
        <c:scaling>
          <c:orientation val="minMax"/>
        </c:scaling>
        <c:delete val="1"/>
        <c:axPos val="l"/>
        <c:numFmt formatCode="[h]:mm:ss;@" sourceLinked="1"/>
        <c:majorTickMark val="out"/>
        <c:minorTickMark val="none"/>
        <c:tickLblPos val="nextTo"/>
        <c:crossAx val="296520032"/>
        <c:crosses val="autoZero"/>
        <c:crossBetween val="between"/>
      </c:valAx>
      <c:spPr>
        <a:ln>
          <a:noFill/>
        </a:ln>
      </c:spPr>
    </c:plotArea>
    <c:plotVisOnly val="1"/>
    <c:dispBlanksAs val="gap"/>
    <c:showDLblsOverMax val="0"/>
  </c:chart>
  <c:spPr>
    <a:ln>
      <a:noFill/>
    </a:ln>
  </c:spPr>
  <c:externalData r:id="rId2">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21527683256769209"/>
          <c:y val="5.5212197429648911E-2"/>
          <c:w val="0.59836343866107988"/>
          <c:h val="0.93474922121950588"/>
        </c:manualLayout>
      </c:layout>
      <c:pieChart>
        <c:varyColors val="1"/>
        <c:ser>
          <c:idx val="0"/>
          <c:order val="0"/>
          <c:tx>
            <c:strRef>
              <c:f>Plan1!$A$1</c:f>
              <c:strCache>
                <c:ptCount val="1"/>
                <c:pt idx="0">
                  <c:v>Resolvedor</c:v>
                </c:pt>
              </c:strCache>
            </c:strRef>
          </c:tx>
          <c:spPr>
            <a:scene3d>
              <a:camera prst="orthographicFront"/>
              <a:lightRig rig="threePt" dir="t"/>
            </a:scene3d>
            <a:sp3d>
              <a:bevelT w="139700" h="139700"/>
            </a:sp3d>
          </c:spPr>
          <c:dPt>
            <c:idx val="0"/>
            <c:bubble3D val="0"/>
            <c:spPr>
              <a:solidFill>
                <a:sysClr val="window" lastClr="FFFFFF">
                  <a:lumMod val="65000"/>
                </a:sysClr>
              </a:solidFill>
              <a:scene3d>
                <a:camera prst="orthographicFront"/>
                <a:lightRig rig="threePt" dir="t"/>
              </a:scene3d>
              <a:sp3d>
                <a:bevelT w="139700" h="139700"/>
              </a:sp3d>
            </c:spPr>
            <c:extLst xmlns:c16r2="http://schemas.microsoft.com/office/drawing/2015/06/chart">
              <c:ext xmlns:c16="http://schemas.microsoft.com/office/drawing/2014/chart" uri="{C3380CC4-5D6E-409C-BE32-E72D297353CC}">
                <c16:uniqueId val="{00000001-E7AD-4C60-921E-18D5CD5D6CF6}"/>
              </c:ext>
            </c:extLst>
          </c:dPt>
          <c:dPt>
            <c:idx val="1"/>
            <c:bubble3D val="0"/>
            <c:spPr>
              <a:solidFill>
                <a:srgbClr val="FF0000"/>
              </a:solidFill>
              <a:scene3d>
                <a:camera prst="orthographicFront"/>
                <a:lightRig rig="threePt" dir="t"/>
              </a:scene3d>
              <a:sp3d>
                <a:bevelT w="139700" h="139700"/>
              </a:sp3d>
            </c:spPr>
            <c:extLst xmlns:c16r2="http://schemas.microsoft.com/office/drawing/2015/06/chart">
              <c:ext xmlns:c16="http://schemas.microsoft.com/office/drawing/2014/chart" uri="{C3380CC4-5D6E-409C-BE32-E72D297353CC}">
                <c16:uniqueId val="{00000003-E7AD-4C60-921E-18D5CD5D6CF6}"/>
              </c:ext>
            </c:extLst>
          </c:dPt>
          <c:dPt>
            <c:idx val="2"/>
            <c:bubble3D val="0"/>
            <c:spPr>
              <a:solidFill>
                <a:srgbClr val="19345B"/>
              </a:solidFill>
              <a:scene3d>
                <a:camera prst="orthographicFront"/>
                <a:lightRig rig="threePt" dir="t"/>
              </a:scene3d>
              <a:sp3d>
                <a:bevelT w="139700" h="139700"/>
              </a:sp3d>
            </c:spPr>
            <c:extLst xmlns:c16r2="http://schemas.microsoft.com/office/drawing/2015/06/chart">
              <c:ext xmlns:c16="http://schemas.microsoft.com/office/drawing/2014/chart" uri="{C3380CC4-5D6E-409C-BE32-E72D297353CC}">
                <c16:uniqueId val="{00000005-E7AD-4C60-921E-18D5CD5D6CF6}"/>
              </c:ext>
            </c:extLst>
          </c:dPt>
          <c:dLbls>
            <c:spPr>
              <a:noFill/>
              <a:ln>
                <a:noFill/>
              </a:ln>
              <a:effectLst/>
            </c:spPr>
            <c:txPr>
              <a:bodyPr/>
              <a:lstStyle/>
              <a:p>
                <a:pPr>
                  <a:defRPr b="1">
                    <a:solidFill>
                      <a:schemeClr val="bg1"/>
                    </a:solidFill>
                  </a:defRPr>
                </a:pPr>
                <a:endParaRPr lang="pt-BR"/>
              </a:p>
            </c:txPr>
            <c:dLblPos val="ctr"/>
            <c:showLegendKey val="0"/>
            <c:showVal val="1"/>
            <c:showCatName val="1"/>
            <c:showSerName val="0"/>
            <c:showPercent val="1"/>
            <c:showBubbleSize val="0"/>
            <c:showLeaderLines val="0"/>
            <c:extLst>
              <c:ext xmlns:c15="http://schemas.microsoft.com/office/drawing/2012/chart" uri="{CE6537A1-D6FC-4f65-9D91-7224C49458BB}">
                <c15:layout/>
              </c:ext>
            </c:extLst>
          </c:dLbls>
          <c:cat>
            <c:strRef>
              <c:f>Plan1!$A$2:$A$4</c:f>
              <c:strCache>
                <c:ptCount val="3"/>
                <c:pt idx="0">
                  <c:v>Fornecedor Contax</c:v>
                </c:pt>
                <c:pt idx="1">
                  <c:v>Suporte Cliente</c:v>
                </c:pt>
                <c:pt idx="2">
                  <c:v>Contax</c:v>
                </c:pt>
              </c:strCache>
            </c:strRef>
          </c:cat>
          <c:val>
            <c:numRef>
              <c:f>Plan1!$H$2:$H$4</c:f>
              <c:numCache>
                <c:formatCode>General</c:formatCode>
                <c:ptCount val="3"/>
                <c:pt idx="0">
                  <c:v>6</c:v>
                </c:pt>
                <c:pt idx="1">
                  <c:v>43</c:v>
                </c:pt>
                <c:pt idx="2">
                  <c:v>61</c:v>
                </c:pt>
              </c:numCache>
            </c:numRef>
          </c:val>
          <c:extLst xmlns:c16r2="http://schemas.microsoft.com/office/drawing/2015/06/chart">
            <c:ext xmlns:c16="http://schemas.microsoft.com/office/drawing/2014/chart" uri="{C3380CC4-5D6E-409C-BE32-E72D297353CC}">
              <c16:uniqueId val="{00000006-E7AD-4C60-921E-18D5CD5D6CF6}"/>
            </c:ext>
          </c:extLst>
        </c:ser>
        <c:dLbls>
          <c:dLblPos val="ctr"/>
          <c:showLegendKey val="0"/>
          <c:showVal val="1"/>
          <c:showCatName val="0"/>
          <c:showSerName val="0"/>
          <c:showPercent val="0"/>
          <c:showBubbleSize val="0"/>
          <c:showLeaderLines val="0"/>
        </c:dLbls>
        <c:firstSliceAng val="170"/>
      </c:pieChart>
    </c:plotArea>
    <c:plotVisOnly val="1"/>
    <c:dispBlanksAs val="gap"/>
    <c:showDLblsOverMax val="0"/>
  </c:chart>
  <c:spPr>
    <a:ln>
      <a:noFill/>
    </a:ln>
  </c:spPr>
  <c:externalData r:id="rId2">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Plan1!$A$9</c:f>
              <c:strCache>
                <c:ptCount val="1"/>
                <c:pt idx="0">
                  <c:v>Total</c:v>
                </c:pt>
              </c:strCache>
            </c:strRef>
          </c:tx>
          <c:spPr>
            <a:solidFill>
              <a:srgbClr val="FF0000"/>
            </a:solidFill>
            <a:scene3d>
              <a:camera prst="orthographicFront"/>
              <a:lightRig rig="threePt" dir="t"/>
            </a:scene3d>
            <a:sp3d>
              <a:bevelT w="139700" h="139700"/>
            </a:sp3d>
          </c:spPr>
          <c:dPt>
            <c:idx val="0"/>
            <c:bubble3D val="0"/>
            <c:spPr>
              <a:solidFill>
                <a:srgbClr val="19345B"/>
              </a:solidFill>
              <a:scene3d>
                <a:camera prst="orthographicFront"/>
                <a:lightRig rig="threePt" dir="t"/>
              </a:scene3d>
              <a:sp3d>
                <a:bevelT w="139700" h="139700"/>
              </a:sp3d>
            </c:spPr>
          </c:dPt>
          <c:dPt>
            <c:idx val="2"/>
            <c:bubble3D val="0"/>
            <c:spPr>
              <a:solidFill>
                <a:schemeClr val="bg1">
                  <a:lumMod val="65000"/>
                </a:schemeClr>
              </a:solidFill>
              <a:scene3d>
                <a:camera prst="orthographicFront"/>
                <a:lightRig rig="threePt" dir="t"/>
              </a:scene3d>
              <a:sp3d>
                <a:bevelT w="139700" h="139700"/>
              </a:sp3d>
            </c:spPr>
          </c:dPt>
          <c:dLbls>
            <c:spPr>
              <a:noFill/>
              <a:ln>
                <a:noFill/>
              </a:ln>
              <a:effectLst/>
            </c:spPr>
            <c:txPr>
              <a:bodyPr/>
              <a:lstStyle/>
              <a:p>
                <a:pPr>
                  <a:defRPr b="1">
                    <a:solidFill>
                      <a:schemeClr val="bg1"/>
                    </a:solidFill>
                  </a:defRPr>
                </a:pPr>
                <a:endParaRPr lang="pt-BR"/>
              </a:p>
            </c:txPr>
            <c:dLblPos val="ctr"/>
            <c:showLegendKey val="0"/>
            <c:showVal val="1"/>
            <c:showCatName val="1"/>
            <c:showSerName val="0"/>
            <c:showPercent val="1"/>
            <c:showBubbleSize val="0"/>
            <c:showLeaderLines val="1"/>
            <c:extLst>
              <c:ext xmlns:c15="http://schemas.microsoft.com/office/drawing/2012/chart" uri="{CE6537A1-D6FC-4f65-9D91-7224C49458BB}">
                <c15:layout/>
              </c:ext>
            </c:extLst>
          </c:dLbls>
          <c:cat>
            <c:strRef>
              <c:f>Plan1!$N$3:$N$5</c:f>
              <c:strCache>
                <c:ptCount val="3"/>
                <c:pt idx="0">
                  <c:v>Software</c:v>
                </c:pt>
                <c:pt idx="1">
                  <c:v>Hardware</c:v>
                </c:pt>
                <c:pt idx="2">
                  <c:v>Outras causas</c:v>
                </c:pt>
              </c:strCache>
            </c:strRef>
          </c:cat>
          <c:val>
            <c:numRef>
              <c:f>Plan1!$O$3:$O$5</c:f>
              <c:numCache>
                <c:formatCode>General</c:formatCode>
                <c:ptCount val="3"/>
                <c:pt idx="0">
                  <c:v>4369</c:v>
                </c:pt>
                <c:pt idx="1">
                  <c:v>4404</c:v>
                </c:pt>
                <c:pt idx="2">
                  <c:v>3569</c:v>
                </c:pt>
              </c:numCache>
            </c:numRef>
          </c:val>
        </c:ser>
        <c:dLbls>
          <c:dLblPos val="ctr"/>
          <c:showLegendKey val="0"/>
          <c:showVal val="1"/>
          <c:showCatName val="1"/>
          <c:showSerName val="0"/>
          <c:showPercent val="0"/>
          <c:showBubbleSize val="0"/>
          <c:showLeaderLines val="1"/>
        </c:dLbls>
        <c:firstSliceAng val="52"/>
      </c:pieChart>
    </c:plotArea>
    <c:plotVisOnly val="1"/>
    <c:dispBlanksAs val="gap"/>
    <c:showDLblsOverMax val="0"/>
  </c:chart>
  <c:spPr>
    <a:noFill/>
    <a:ln>
      <a:noFill/>
    </a:ln>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3.1889574871106309E-2"/>
          <c:y val="5.828688947759264E-2"/>
          <c:w val="0.93622085025778734"/>
          <c:h val="0.68187516531989167"/>
        </c:manualLayout>
      </c:layout>
      <c:barChart>
        <c:barDir val="col"/>
        <c:grouping val="stacked"/>
        <c:varyColors val="0"/>
        <c:ser>
          <c:idx val="0"/>
          <c:order val="0"/>
          <c:tx>
            <c:strRef>
              <c:f>graficos!$C$1</c:f>
              <c:strCache>
                <c:ptCount val="1"/>
                <c:pt idx="0">
                  <c:v>Canceladas</c:v>
                </c:pt>
              </c:strCache>
            </c:strRef>
          </c:tx>
          <c:spPr>
            <a:solidFill>
              <a:srgbClr val="FF0000"/>
            </a:solidFill>
            <a:ln>
              <a:noFill/>
            </a:ln>
            <a:scene3d>
              <a:camera prst="orthographicFront"/>
              <a:lightRig rig="threePt" dir="t"/>
            </a:scene3d>
            <a:sp3d>
              <a:bevelT w="139700" h="139700"/>
            </a:sp3d>
          </c:spPr>
          <c:invertIfNegative val="0"/>
          <c:dLbls>
            <c:spPr>
              <a:noFill/>
              <a:ln>
                <a:noFill/>
              </a:ln>
              <a:effectLst/>
            </c:spPr>
            <c:txPr>
              <a:bodyPr/>
              <a:lstStyle/>
              <a:p>
                <a:pPr>
                  <a:defRPr>
                    <a:solidFill>
                      <a:schemeClr val="bg1"/>
                    </a:solidFill>
                  </a:defRPr>
                </a:pPr>
                <a:endParaRPr lang="pt-BR"/>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graficos!$A$2:$A$7</c:f>
              <c:strCache>
                <c:ptCount val="6"/>
                <c:pt idx="0">
                  <c:v>Jan'16</c:v>
                </c:pt>
                <c:pt idx="1">
                  <c:v>Fev'16</c:v>
                </c:pt>
                <c:pt idx="2">
                  <c:v>Mar'16</c:v>
                </c:pt>
                <c:pt idx="3">
                  <c:v>Abr'16</c:v>
                </c:pt>
                <c:pt idx="4">
                  <c:v>Mai'16</c:v>
                </c:pt>
                <c:pt idx="5">
                  <c:v>Jun'16</c:v>
                </c:pt>
              </c:strCache>
            </c:strRef>
          </c:cat>
          <c:val>
            <c:numRef>
              <c:f>graficos!$C$2:$C$7</c:f>
              <c:numCache>
                <c:formatCode>General</c:formatCode>
                <c:ptCount val="6"/>
                <c:pt idx="0">
                  <c:v>39</c:v>
                </c:pt>
                <c:pt idx="1">
                  <c:v>40</c:v>
                </c:pt>
                <c:pt idx="2">
                  <c:v>78</c:v>
                </c:pt>
                <c:pt idx="3">
                  <c:v>58</c:v>
                </c:pt>
                <c:pt idx="4">
                  <c:v>52</c:v>
                </c:pt>
                <c:pt idx="5">
                  <c:v>17</c:v>
                </c:pt>
              </c:numCache>
            </c:numRef>
          </c:val>
        </c:ser>
        <c:ser>
          <c:idx val="1"/>
          <c:order val="1"/>
          <c:tx>
            <c:strRef>
              <c:f>graficos!$D$1</c:f>
              <c:strCache>
                <c:ptCount val="1"/>
                <c:pt idx="0">
                  <c:v>Implantadas</c:v>
                </c:pt>
              </c:strCache>
            </c:strRef>
          </c:tx>
          <c:spPr>
            <a:solidFill>
              <a:srgbClr val="19345B"/>
            </a:solidFill>
            <a:scene3d>
              <a:camera prst="orthographicFront"/>
              <a:lightRig rig="threePt" dir="t"/>
            </a:scene3d>
            <a:sp3d>
              <a:bevelT w="139700" h="139700"/>
            </a:sp3d>
          </c:spPr>
          <c:invertIfNegative val="0"/>
          <c:dLbls>
            <c:spPr>
              <a:noFill/>
              <a:ln>
                <a:noFill/>
              </a:ln>
              <a:effectLst/>
            </c:spPr>
            <c:txPr>
              <a:bodyPr/>
              <a:lstStyle/>
              <a:p>
                <a:pPr>
                  <a:defRPr>
                    <a:solidFill>
                      <a:schemeClr val="bg1"/>
                    </a:solidFill>
                  </a:defRPr>
                </a:pPr>
                <a:endParaRPr lang="pt-BR"/>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graficos!$A$2:$A$7</c:f>
              <c:strCache>
                <c:ptCount val="6"/>
                <c:pt idx="0">
                  <c:v>Jan'16</c:v>
                </c:pt>
                <c:pt idx="1">
                  <c:v>Fev'16</c:v>
                </c:pt>
                <c:pt idx="2">
                  <c:v>Mar'16</c:v>
                </c:pt>
                <c:pt idx="3">
                  <c:v>Abr'16</c:v>
                </c:pt>
                <c:pt idx="4">
                  <c:v>Mai'16</c:v>
                </c:pt>
                <c:pt idx="5">
                  <c:v>Jun'16</c:v>
                </c:pt>
              </c:strCache>
            </c:strRef>
          </c:cat>
          <c:val>
            <c:numRef>
              <c:f>graficos!$D$2:$D$7</c:f>
              <c:numCache>
                <c:formatCode>General</c:formatCode>
                <c:ptCount val="6"/>
                <c:pt idx="0">
                  <c:v>160</c:v>
                </c:pt>
                <c:pt idx="1">
                  <c:v>167</c:v>
                </c:pt>
                <c:pt idx="2">
                  <c:v>169</c:v>
                </c:pt>
                <c:pt idx="3">
                  <c:v>192</c:v>
                </c:pt>
                <c:pt idx="4">
                  <c:v>206</c:v>
                </c:pt>
                <c:pt idx="5">
                  <c:v>158</c:v>
                </c:pt>
              </c:numCache>
            </c:numRef>
          </c:val>
        </c:ser>
        <c:dLbls>
          <c:dLblPos val="ctr"/>
          <c:showLegendKey val="0"/>
          <c:showVal val="1"/>
          <c:showCatName val="0"/>
          <c:showSerName val="0"/>
          <c:showPercent val="0"/>
          <c:showBubbleSize val="0"/>
        </c:dLbls>
        <c:gapWidth val="150"/>
        <c:overlap val="100"/>
        <c:axId val="257898720"/>
        <c:axId val="257897544"/>
      </c:barChart>
      <c:lineChart>
        <c:grouping val="standard"/>
        <c:varyColors val="0"/>
        <c:ser>
          <c:idx val="2"/>
          <c:order val="2"/>
          <c:tx>
            <c:strRef>
              <c:f>graficos!$B$1</c:f>
              <c:strCache>
                <c:ptCount val="1"/>
                <c:pt idx="0">
                  <c:v>Total Coordenadas</c:v>
                </c:pt>
              </c:strCache>
            </c:strRef>
          </c:tx>
          <c:spPr>
            <a:ln w="25400">
              <a:solidFill>
                <a:schemeClr val="bg1">
                  <a:lumMod val="50000"/>
                </a:schemeClr>
              </a:solidFill>
              <a:prstDash val="sysDash"/>
            </a:ln>
          </c:spPr>
          <c:marker>
            <c:symbol val="none"/>
          </c:marker>
          <c:dLbls>
            <c:spPr>
              <a:noFill/>
              <a:ln>
                <a:noFill/>
              </a:ln>
              <a:effectLst/>
            </c:spPr>
            <c:txPr>
              <a:bodyPr/>
              <a:lstStyle/>
              <a:p>
                <a:pPr>
                  <a:defRPr b="1">
                    <a:solidFill>
                      <a:schemeClr val="bg1">
                        <a:lumMod val="50000"/>
                      </a:schemeClr>
                    </a:solidFill>
                  </a:defRPr>
                </a:pPr>
                <a:endParaRPr lang="pt-BR"/>
              </a:p>
            </c:txPr>
            <c:dLblPos val="t"/>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val>
            <c:numRef>
              <c:f>graficos!$B$2:$B$7</c:f>
              <c:numCache>
                <c:formatCode>General</c:formatCode>
                <c:ptCount val="6"/>
                <c:pt idx="0">
                  <c:v>199</c:v>
                </c:pt>
                <c:pt idx="1">
                  <c:v>207</c:v>
                </c:pt>
                <c:pt idx="2">
                  <c:v>247</c:v>
                </c:pt>
                <c:pt idx="3">
                  <c:v>250</c:v>
                </c:pt>
                <c:pt idx="4">
                  <c:v>258</c:v>
                </c:pt>
                <c:pt idx="5">
                  <c:v>175</c:v>
                </c:pt>
              </c:numCache>
            </c:numRef>
          </c:val>
          <c:smooth val="0"/>
        </c:ser>
        <c:dLbls>
          <c:showLegendKey val="0"/>
          <c:showVal val="0"/>
          <c:showCatName val="0"/>
          <c:showSerName val="0"/>
          <c:showPercent val="0"/>
          <c:showBubbleSize val="0"/>
        </c:dLbls>
        <c:marker val="1"/>
        <c:smooth val="0"/>
        <c:axId val="257898720"/>
        <c:axId val="257897544"/>
      </c:lineChart>
      <c:catAx>
        <c:axId val="257898720"/>
        <c:scaling>
          <c:orientation val="minMax"/>
        </c:scaling>
        <c:delete val="0"/>
        <c:axPos val="b"/>
        <c:numFmt formatCode="General" sourceLinked="1"/>
        <c:majorTickMark val="out"/>
        <c:minorTickMark val="none"/>
        <c:tickLblPos val="nextTo"/>
        <c:txPr>
          <a:bodyPr/>
          <a:lstStyle/>
          <a:p>
            <a:pPr>
              <a:defRPr sz="900"/>
            </a:pPr>
            <a:endParaRPr lang="pt-BR"/>
          </a:p>
        </c:txPr>
        <c:crossAx val="257897544"/>
        <c:crosses val="autoZero"/>
        <c:auto val="1"/>
        <c:lblAlgn val="ctr"/>
        <c:lblOffset val="100"/>
        <c:noMultiLvlLbl val="1"/>
      </c:catAx>
      <c:valAx>
        <c:axId val="257897544"/>
        <c:scaling>
          <c:orientation val="minMax"/>
        </c:scaling>
        <c:delete val="0"/>
        <c:axPos val="l"/>
        <c:numFmt formatCode="General" sourceLinked="1"/>
        <c:majorTickMark val="none"/>
        <c:minorTickMark val="none"/>
        <c:tickLblPos val="none"/>
        <c:spPr>
          <a:ln>
            <a:noFill/>
          </a:ln>
        </c:spPr>
        <c:crossAx val="257898720"/>
        <c:crosses val="autoZero"/>
        <c:crossBetween val="between"/>
      </c:valAx>
      <c:spPr>
        <a:noFill/>
        <a:ln w="25400">
          <a:noFill/>
        </a:ln>
      </c:spPr>
    </c:plotArea>
    <c:legend>
      <c:legendPos val="b"/>
      <c:layout/>
      <c:overlay val="0"/>
    </c:legend>
    <c:plotVisOnly val="1"/>
    <c:dispBlanksAs val="gap"/>
    <c:showDLblsOverMax val="0"/>
  </c:chart>
  <c:externalData r:id="rId2">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2191495620533894"/>
          <c:y val="0"/>
          <c:w val="0.55873398773793903"/>
          <c:h val="1"/>
        </c:manualLayout>
      </c:layout>
      <c:pieChart>
        <c:varyColors val="1"/>
        <c:ser>
          <c:idx val="0"/>
          <c:order val="0"/>
          <c:tx>
            <c:strRef>
              <c:f>graficos!$C$1:$D$1</c:f>
              <c:strCache>
                <c:ptCount val="1"/>
                <c:pt idx="0">
                  <c:v>Canceladas Implantadas</c:v>
                </c:pt>
              </c:strCache>
            </c:strRef>
          </c:tx>
          <c:spPr>
            <a:scene3d>
              <a:camera prst="orthographicFront"/>
              <a:lightRig rig="contrasting" dir="t">
                <a:rot lat="0" lon="0" rev="7800000"/>
              </a:lightRig>
            </a:scene3d>
            <a:sp3d>
              <a:bevelT w="139700" h="139700"/>
            </a:sp3d>
          </c:spPr>
          <c:dPt>
            <c:idx val="0"/>
            <c:bubble3D val="0"/>
            <c:spPr>
              <a:solidFill>
                <a:srgbClr val="FF0000"/>
              </a:solidFill>
              <a:scene3d>
                <a:camera prst="orthographicFront"/>
                <a:lightRig rig="contrasting" dir="t">
                  <a:rot lat="0" lon="0" rev="7800000"/>
                </a:lightRig>
              </a:scene3d>
              <a:sp3d>
                <a:bevelT w="139700" h="139700"/>
              </a:sp3d>
            </c:spPr>
          </c:dPt>
          <c:dPt>
            <c:idx val="1"/>
            <c:bubble3D val="0"/>
            <c:spPr>
              <a:solidFill>
                <a:srgbClr val="19345B"/>
              </a:solidFill>
              <a:scene3d>
                <a:camera prst="orthographicFront"/>
                <a:lightRig rig="contrasting" dir="t">
                  <a:rot lat="0" lon="0" rev="7800000"/>
                </a:lightRig>
              </a:scene3d>
              <a:sp3d>
                <a:bevelT w="139700" h="139700"/>
              </a:sp3d>
            </c:spPr>
          </c:dPt>
          <c:dLbls>
            <c:dLbl>
              <c:idx val="0"/>
              <c:layout>
                <c:manualLayout>
                  <c:x val="-0.11308996937999095"/>
                  <c:y val="0.12838828930892615"/>
                </c:manualLayout>
              </c:layout>
              <c:showLegendKey val="0"/>
              <c:showVal val="1"/>
              <c:showCatName val="1"/>
              <c:showSerName val="0"/>
              <c:showPercent val="1"/>
              <c:showBubbleSize val="0"/>
              <c:extLst>
                <c:ext xmlns:c15="http://schemas.microsoft.com/office/drawing/2012/chart" uri="{CE6537A1-D6FC-4f65-9D91-7224C49458BB}">
                  <c15:layout/>
                </c:ext>
              </c:extLst>
            </c:dLbl>
            <c:dLbl>
              <c:idx val="1"/>
              <c:layout>
                <c:manualLayout>
                  <c:x val="0.13953691164751295"/>
                  <c:y val="-0.27152068060457962"/>
                </c:manualLayout>
              </c:layout>
              <c:showLegendKey val="0"/>
              <c:showVal val="1"/>
              <c:showCatName val="1"/>
              <c:showSerName val="0"/>
              <c:showPercent val="1"/>
              <c:showBubbleSize val="0"/>
              <c:extLst>
                <c:ext xmlns:c15="http://schemas.microsoft.com/office/drawing/2012/chart" uri="{CE6537A1-D6FC-4f65-9D91-7224C49458BB}">
                  <c15:layout/>
                </c:ext>
              </c:extLst>
            </c:dLbl>
            <c:spPr>
              <a:noFill/>
              <a:ln>
                <a:noFill/>
              </a:ln>
              <a:effectLst/>
            </c:spPr>
            <c:txPr>
              <a:bodyPr/>
              <a:lstStyle/>
              <a:p>
                <a:pPr>
                  <a:defRPr b="1">
                    <a:solidFill>
                      <a:schemeClr val="bg1"/>
                    </a:solidFill>
                  </a:defRPr>
                </a:pPr>
                <a:endParaRPr lang="pt-BR"/>
              </a:p>
            </c:txPr>
            <c:showLegendKey val="0"/>
            <c:showVal val="1"/>
            <c:showCatName val="1"/>
            <c:showSerName val="0"/>
            <c:showPercent val="1"/>
            <c:showBubbleSize val="0"/>
            <c:showLeaderLines val="1"/>
            <c:extLst>
              <c:ext xmlns:c15="http://schemas.microsoft.com/office/drawing/2012/chart" uri="{CE6537A1-D6FC-4f65-9D91-7224C49458BB}"/>
            </c:extLst>
          </c:dLbls>
          <c:cat>
            <c:strRef>
              <c:f>graficos!$C$1:$D$1</c:f>
              <c:strCache>
                <c:ptCount val="2"/>
                <c:pt idx="0">
                  <c:v>Canceladas</c:v>
                </c:pt>
                <c:pt idx="1">
                  <c:v>Implantadas</c:v>
                </c:pt>
              </c:strCache>
            </c:strRef>
          </c:cat>
          <c:val>
            <c:numRef>
              <c:f>graficos!$C$7:$D$7</c:f>
              <c:numCache>
                <c:formatCode>General</c:formatCode>
                <c:ptCount val="2"/>
                <c:pt idx="0">
                  <c:v>17</c:v>
                </c:pt>
                <c:pt idx="1">
                  <c:v>158</c:v>
                </c:pt>
              </c:numCache>
            </c:numRef>
          </c:val>
        </c:ser>
        <c:dLbls>
          <c:showLegendKey val="0"/>
          <c:showVal val="0"/>
          <c:showCatName val="0"/>
          <c:showSerName val="0"/>
          <c:showPercent val="0"/>
          <c:showBubbleSize val="0"/>
          <c:showLeaderLines val="1"/>
        </c:dLbls>
        <c:firstSliceAng val="0"/>
      </c:pieChart>
    </c:plotArea>
    <c:plotVisOnly val="1"/>
    <c:dispBlanksAs val="gap"/>
    <c:showDLblsOverMax val="0"/>
  </c:chart>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1889574871106309E-2"/>
          <c:y val="5.828688947759264E-2"/>
          <c:w val="0.93622085025778734"/>
          <c:h val="0.68187516531989167"/>
        </c:manualLayout>
      </c:layout>
      <c:barChart>
        <c:barDir val="col"/>
        <c:grouping val="stacked"/>
        <c:varyColors val="0"/>
        <c:ser>
          <c:idx val="1"/>
          <c:order val="0"/>
          <c:tx>
            <c:strRef>
              <c:f>graficos!$A$11</c:f>
              <c:strCache>
                <c:ptCount val="1"/>
                <c:pt idx="0">
                  <c:v>Total Implantadas  (excluindo as canceladas)</c:v>
                </c:pt>
              </c:strCache>
            </c:strRef>
          </c:tx>
          <c:spPr>
            <a:solidFill>
              <a:srgbClr val="19345B"/>
            </a:solidFill>
            <a:scene3d>
              <a:camera prst="orthographicFront"/>
              <a:lightRig rig="threePt" dir="t"/>
            </a:scene3d>
            <a:sp3d>
              <a:bevelT w="139700" h="139700"/>
            </a:sp3d>
          </c:spPr>
          <c:invertIfNegative val="0"/>
          <c:dLbls>
            <c:spPr>
              <a:noFill/>
              <a:ln>
                <a:noFill/>
              </a:ln>
              <a:effectLst/>
            </c:spPr>
            <c:txPr>
              <a:bodyPr/>
              <a:lstStyle/>
              <a:p>
                <a:pPr>
                  <a:defRPr>
                    <a:solidFill>
                      <a:schemeClr val="bg1"/>
                    </a:solidFill>
                  </a:defRPr>
                </a:pPr>
                <a:endParaRPr lang="pt-BR"/>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graficos!$B$11:$D$11</c:f>
              <c:strCache>
                <c:ptCount val="3"/>
                <c:pt idx="0">
                  <c:v>Programas</c:v>
                </c:pt>
                <c:pt idx="1">
                  <c:v>Técnicas</c:v>
                </c:pt>
                <c:pt idx="2">
                  <c:v>Emergenciais</c:v>
                </c:pt>
              </c:strCache>
            </c:strRef>
          </c:cat>
          <c:val>
            <c:numRef>
              <c:f>graficos!$B$17:$D$17</c:f>
              <c:numCache>
                <c:formatCode>General</c:formatCode>
                <c:ptCount val="3"/>
                <c:pt idx="0">
                  <c:v>67</c:v>
                </c:pt>
                <c:pt idx="1">
                  <c:v>73</c:v>
                </c:pt>
                <c:pt idx="2">
                  <c:v>18</c:v>
                </c:pt>
              </c:numCache>
            </c:numRef>
          </c:val>
        </c:ser>
        <c:dLbls>
          <c:dLblPos val="ctr"/>
          <c:showLegendKey val="0"/>
          <c:showVal val="1"/>
          <c:showCatName val="0"/>
          <c:showSerName val="0"/>
          <c:showPercent val="0"/>
          <c:showBubbleSize val="0"/>
        </c:dLbls>
        <c:gapWidth val="150"/>
        <c:overlap val="100"/>
        <c:axId val="257895192"/>
        <c:axId val="257895584"/>
      </c:barChart>
      <c:catAx>
        <c:axId val="257895192"/>
        <c:scaling>
          <c:orientation val="minMax"/>
        </c:scaling>
        <c:delete val="0"/>
        <c:axPos val="b"/>
        <c:numFmt formatCode="General" sourceLinked="1"/>
        <c:majorTickMark val="out"/>
        <c:minorTickMark val="none"/>
        <c:tickLblPos val="nextTo"/>
        <c:txPr>
          <a:bodyPr/>
          <a:lstStyle/>
          <a:p>
            <a:pPr>
              <a:defRPr sz="900"/>
            </a:pPr>
            <a:endParaRPr lang="pt-BR"/>
          </a:p>
        </c:txPr>
        <c:crossAx val="257895584"/>
        <c:crosses val="autoZero"/>
        <c:auto val="1"/>
        <c:lblAlgn val="ctr"/>
        <c:lblOffset val="100"/>
        <c:noMultiLvlLbl val="1"/>
      </c:catAx>
      <c:valAx>
        <c:axId val="257895584"/>
        <c:scaling>
          <c:orientation val="minMax"/>
        </c:scaling>
        <c:delete val="0"/>
        <c:axPos val="l"/>
        <c:numFmt formatCode="General" sourceLinked="1"/>
        <c:majorTickMark val="none"/>
        <c:minorTickMark val="none"/>
        <c:tickLblPos val="none"/>
        <c:spPr>
          <a:ln>
            <a:noFill/>
          </a:ln>
        </c:spPr>
        <c:crossAx val="257895192"/>
        <c:crosses val="autoZero"/>
        <c:crossBetween val="between"/>
      </c:valAx>
      <c:spPr>
        <a:noFill/>
        <a:ln w="25400">
          <a:noFill/>
        </a:ln>
      </c:spPr>
    </c:plotArea>
    <c:legend>
      <c:legendPos val="b"/>
      <c:layout/>
      <c:overlay val="0"/>
    </c:legend>
    <c:plotVisOnly val="1"/>
    <c:dispBlanksAs val="gap"/>
    <c:showDLblsOverMax val="0"/>
  </c:chart>
  <c:externalData r:id="rId1">
    <c:autoUpdate val="0"/>
  </c:externalData>
</c:chartSpace>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B0D43F-B80B-40D7-B843-4AC81DACC905}" type="datetimeFigureOut">
              <a:rPr lang="pt-BR" smtClean="0"/>
              <a:t>24/06/2016</a:t>
            </a:fld>
            <a:endParaRPr lang="pt-BR"/>
          </a:p>
        </p:txBody>
      </p:sp>
      <p:sp>
        <p:nvSpPr>
          <p:cNvPr id="4" name="Espaço Reservado para Imagem de Slide 3"/>
          <p:cNvSpPr>
            <a:spLocks noGrp="1" noRot="1" noChangeAspect="1"/>
          </p:cNvSpPr>
          <p:nvPr>
            <p:ph type="sldImg" idx="2"/>
          </p:nvPr>
        </p:nvSpPr>
        <p:spPr>
          <a:xfrm>
            <a:off x="688975" y="1143000"/>
            <a:ext cx="548005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7626FD-18EF-494C-A467-3D85C3950BD0}" type="slidenum">
              <a:rPr lang="pt-BR" smtClean="0"/>
              <a:t>‹nº›</a:t>
            </a:fld>
            <a:endParaRPr lang="pt-BR"/>
          </a:p>
        </p:txBody>
      </p:sp>
    </p:spTree>
    <p:extLst>
      <p:ext uri="{BB962C8B-B14F-4D97-AF65-F5344CB8AC3E}">
        <p14:creationId xmlns:p14="http://schemas.microsoft.com/office/powerpoint/2010/main" val="18809518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9E7626FD-18EF-494C-A467-3D85C3950BD0}" type="slidenum">
              <a:rPr lang="pt-BR" smtClean="0"/>
              <a:t>2</a:t>
            </a:fld>
            <a:endParaRPr lang="pt-BR"/>
          </a:p>
        </p:txBody>
      </p:sp>
    </p:spTree>
    <p:extLst>
      <p:ext uri="{BB962C8B-B14F-4D97-AF65-F5344CB8AC3E}">
        <p14:creationId xmlns:p14="http://schemas.microsoft.com/office/powerpoint/2010/main" val="19007445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9E7626FD-18EF-494C-A467-3D85C3950BD0}" type="slidenum">
              <a:rPr lang="pt-BR" smtClean="0"/>
              <a:t>3</a:t>
            </a:fld>
            <a:endParaRPr lang="pt-BR" dirty="0"/>
          </a:p>
        </p:txBody>
      </p:sp>
    </p:spTree>
    <p:extLst>
      <p:ext uri="{BB962C8B-B14F-4D97-AF65-F5344CB8AC3E}">
        <p14:creationId xmlns:p14="http://schemas.microsoft.com/office/powerpoint/2010/main" val="10238375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384175" y="685800"/>
            <a:ext cx="6089650" cy="3429000"/>
          </a:xfrm>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9E7626FD-18EF-494C-A467-3D85C3950BD0}" type="slidenum">
              <a:rPr lang="pt-BR" smtClean="0">
                <a:solidFill>
                  <a:prstClr val="black"/>
                </a:solidFill>
              </a:rPr>
              <a:pPr/>
              <a:t>4</a:t>
            </a:fld>
            <a:endParaRPr lang="pt-BR" dirty="0">
              <a:solidFill>
                <a:prstClr val="black"/>
              </a:solidFill>
            </a:endParaRPr>
          </a:p>
        </p:txBody>
      </p:sp>
    </p:spTree>
    <p:extLst>
      <p:ext uri="{BB962C8B-B14F-4D97-AF65-F5344CB8AC3E}">
        <p14:creationId xmlns:p14="http://schemas.microsoft.com/office/powerpoint/2010/main" val="6465316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384175" y="685800"/>
            <a:ext cx="6089650" cy="3429000"/>
          </a:xfrm>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9E7626FD-18EF-494C-A467-3D85C3950BD0}" type="slidenum">
              <a:rPr lang="pt-BR" smtClean="0">
                <a:solidFill>
                  <a:prstClr val="black"/>
                </a:solidFill>
              </a:rPr>
              <a:pPr/>
              <a:t>5</a:t>
            </a:fld>
            <a:endParaRPr lang="pt-BR" dirty="0">
              <a:solidFill>
                <a:prstClr val="black"/>
              </a:solidFill>
            </a:endParaRPr>
          </a:p>
        </p:txBody>
      </p:sp>
    </p:spTree>
    <p:extLst>
      <p:ext uri="{BB962C8B-B14F-4D97-AF65-F5344CB8AC3E}">
        <p14:creationId xmlns:p14="http://schemas.microsoft.com/office/powerpoint/2010/main" val="20499341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1200" kern="1200" dirty="0" smtClean="0">
                <a:solidFill>
                  <a:schemeClr val="tx1"/>
                </a:solidFill>
                <a:effectLst/>
                <a:latin typeface="+mn-lt"/>
                <a:ea typeface="+mn-ea"/>
                <a:cs typeface="+mn-cs"/>
              </a:rPr>
              <a:t>- Operação Redecard iniciou ociosa devido a atraso na disponibilização de arquivo RAW – tempo de duração do incidente: 25 horas.</a:t>
            </a:r>
          </a:p>
          <a:p>
            <a:pPr marL="0" marR="0" indent="0" algn="l" defTabSz="914400" rtl="0" eaLnBrk="1" fontAlgn="auto" latinLnBrk="0" hangingPunct="1">
              <a:lnSpc>
                <a:spcPct val="100000"/>
              </a:lnSpc>
              <a:spcBef>
                <a:spcPts val="0"/>
              </a:spcBef>
              <a:spcAft>
                <a:spcPts val="0"/>
              </a:spcAft>
              <a:buClrTx/>
              <a:buSzTx/>
              <a:buFontTx/>
              <a:buNone/>
              <a:tabLst/>
              <a:defRPr/>
            </a:pPr>
            <a:r>
              <a:rPr lang="pt-BR" dirty="0" smtClean="0"/>
              <a:t>- </a:t>
            </a:r>
            <a:r>
              <a:rPr lang="pt-BR" sz="1200" kern="1200" dirty="0" smtClean="0">
                <a:solidFill>
                  <a:schemeClr val="tx1"/>
                </a:solidFill>
                <a:effectLst/>
                <a:latin typeface="+mn-lt"/>
                <a:ea typeface="+mn-ea"/>
                <a:cs typeface="+mn-cs"/>
              </a:rPr>
              <a:t>Perda de gerenciamento do CORE A site Boa Viagem  – tempo de duração do incidente: 9h17min horas</a:t>
            </a:r>
          </a:p>
          <a:p>
            <a:pPr marL="0" marR="0" indent="0" algn="l" defTabSz="914400" rtl="0" eaLnBrk="1" fontAlgn="auto" latinLnBrk="0" hangingPunct="1">
              <a:lnSpc>
                <a:spcPct val="100000"/>
              </a:lnSpc>
              <a:spcBef>
                <a:spcPts val="0"/>
              </a:spcBef>
              <a:spcAft>
                <a:spcPts val="0"/>
              </a:spcAft>
              <a:buClrTx/>
              <a:buSzTx/>
              <a:buFontTx/>
              <a:buNone/>
              <a:tabLst/>
              <a:defRPr/>
            </a:pPr>
            <a:r>
              <a:rPr lang="pt-BR" dirty="0" smtClean="0"/>
              <a:t>- </a:t>
            </a:r>
            <a:r>
              <a:rPr lang="pt-BR" sz="1200" kern="1200" dirty="0" smtClean="0">
                <a:solidFill>
                  <a:schemeClr val="tx1"/>
                </a:solidFill>
                <a:effectLst/>
                <a:latin typeface="+mn-lt"/>
                <a:ea typeface="+mn-ea"/>
                <a:cs typeface="+mn-cs"/>
              </a:rPr>
              <a:t>- O planejamento não consegue efetuar a carga de </a:t>
            </a:r>
            <a:r>
              <a:rPr lang="pt-BR" sz="1200" kern="1200" dirty="0" err="1" smtClean="0">
                <a:solidFill>
                  <a:schemeClr val="tx1"/>
                </a:solidFill>
                <a:effectLst/>
                <a:latin typeface="+mn-lt"/>
                <a:ea typeface="+mn-ea"/>
                <a:cs typeface="+mn-cs"/>
              </a:rPr>
              <a:t>mailling</a:t>
            </a:r>
            <a:r>
              <a:rPr lang="pt-BR" sz="1200" kern="1200" dirty="0" smtClean="0">
                <a:solidFill>
                  <a:schemeClr val="tx1"/>
                </a:solidFill>
                <a:effectLst/>
                <a:latin typeface="+mn-lt"/>
                <a:ea typeface="+mn-ea"/>
                <a:cs typeface="+mn-cs"/>
              </a:rPr>
              <a:t> no Aspect. Operação não disca. – tempo de duração do incidente: 9h2min horas</a:t>
            </a:r>
          </a:p>
        </p:txBody>
      </p:sp>
      <p:sp>
        <p:nvSpPr>
          <p:cNvPr id="4" name="Espaço Reservado para Número de Slide 3"/>
          <p:cNvSpPr>
            <a:spLocks noGrp="1"/>
          </p:cNvSpPr>
          <p:nvPr>
            <p:ph type="sldNum" sz="quarter" idx="10"/>
          </p:nvPr>
        </p:nvSpPr>
        <p:spPr/>
        <p:txBody>
          <a:bodyPr/>
          <a:lstStyle/>
          <a:p>
            <a:fld id="{9E7626FD-18EF-494C-A467-3D85C3950BD0}" type="slidenum">
              <a:rPr lang="pt-BR" smtClean="0"/>
              <a:t>6</a:t>
            </a:fld>
            <a:endParaRPr lang="pt-BR"/>
          </a:p>
        </p:txBody>
      </p:sp>
    </p:spTree>
    <p:extLst>
      <p:ext uri="{BB962C8B-B14F-4D97-AF65-F5344CB8AC3E}">
        <p14:creationId xmlns:p14="http://schemas.microsoft.com/office/powerpoint/2010/main" val="27120358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9E7626FD-18EF-494C-A467-3D85C3950BD0}" type="slidenum">
              <a:rPr lang="pt-BR" smtClean="0"/>
              <a:t>9</a:t>
            </a:fld>
            <a:endParaRPr lang="pt-BR"/>
          </a:p>
        </p:txBody>
      </p:sp>
    </p:spTree>
    <p:extLst>
      <p:ext uri="{BB962C8B-B14F-4D97-AF65-F5344CB8AC3E}">
        <p14:creationId xmlns:p14="http://schemas.microsoft.com/office/powerpoint/2010/main" val="6984128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9E7626FD-18EF-494C-A467-3D85C3950BD0}" type="slidenum">
              <a:rPr lang="pt-BR" smtClean="0"/>
              <a:t>15</a:t>
            </a:fld>
            <a:endParaRPr lang="pt-BR"/>
          </a:p>
        </p:txBody>
      </p:sp>
    </p:spTree>
    <p:extLst>
      <p:ext uri="{BB962C8B-B14F-4D97-AF65-F5344CB8AC3E}">
        <p14:creationId xmlns:p14="http://schemas.microsoft.com/office/powerpoint/2010/main" val="35376665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9E7626FD-18EF-494C-A467-3D85C3950BD0}" type="slidenum">
              <a:rPr lang="pt-BR" smtClean="0"/>
              <a:t>16</a:t>
            </a:fld>
            <a:endParaRPr lang="pt-BR"/>
          </a:p>
        </p:txBody>
      </p:sp>
    </p:spTree>
    <p:extLst>
      <p:ext uri="{BB962C8B-B14F-4D97-AF65-F5344CB8AC3E}">
        <p14:creationId xmlns:p14="http://schemas.microsoft.com/office/powerpoint/2010/main" val="38806396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9E7626FD-18EF-494C-A467-3D85C3950BD0}" type="slidenum">
              <a:rPr lang="pt-BR" smtClean="0"/>
              <a:t>18</a:t>
            </a:fld>
            <a:endParaRPr lang="pt-BR"/>
          </a:p>
        </p:txBody>
      </p:sp>
    </p:spTree>
    <p:extLst>
      <p:ext uri="{BB962C8B-B14F-4D97-AF65-F5344CB8AC3E}">
        <p14:creationId xmlns:p14="http://schemas.microsoft.com/office/powerpoint/2010/main" val="8657034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smtClean="0"/>
              <a:t>Boarin</a:t>
            </a:r>
          </a:p>
          <a:p>
            <a:endParaRPr lang="pt-BR" dirty="0"/>
          </a:p>
        </p:txBody>
      </p:sp>
      <p:sp>
        <p:nvSpPr>
          <p:cNvPr id="4" name="Espaço Reservado para Número de Slide 3"/>
          <p:cNvSpPr>
            <a:spLocks noGrp="1"/>
          </p:cNvSpPr>
          <p:nvPr>
            <p:ph type="sldNum" sz="quarter" idx="10"/>
          </p:nvPr>
        </p:nvSpPr>
        <p:spPr/>
        <p:txBody>
          <a:bodyPr/>
          <a:lstStyle/>
          <a:p>
            <a:fld id="{9E7626FD-18EF-494C-A467-3D85C3950BD0}" type="slidenum">
              <a:rPr lang="pt-BR" smtClean="0"/>
              <a:t>19</a:t>
            </a:fld>
            <a:endParaRPr lang="pt-BR"/>
          </a:p>
        </p:txBody>
      </p:sp>
    </p:spTree>
    <p:extLst>
      <p:ext uri="{BB962C8B-B14F-4D97-AF65-F5344CB8AC3E}">
        <p14:creationId xmlns:p14="http://schemas.microsoft.com/office/powerpoint/2010/main" val="37777155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smtClean="0"/>
              <a:t>Boarin</a:t>
            </a:r>
          </a:p>
          <a:p>
            <a:endParaRPr lang="pt-BR" dirty="0"/>
          </a:p>
        </p:txBody>
      </p:sp>
      <p:sp>
        <p:nvSpPr>
          <p:cNvPr id="4" name="Espaço Reservado para Número de Slide 3"/>
          <p:cNvSpPr>
            <a:spLocks noGrp="1"/>
          </p:cNvSpPr>
          <p:nvPr>
            <p:ph type="sldNum" sz="quarter" idx="10"/>
          </p:nvPr>
        </p:nvSpPr>
        <p:spPr/>
        <p:txBody>
          <a:bodyPr/>
          <a:lstStyle/>
          <a:p>
            <a:fld id="{9E7626FD-18EF-494C-A467-3D85C3950BD0}" type="slidenum">
              <a:rPr lang="pt-BR" smtClean="0"/>
              <a:t>20</a:t>
            </a:fld>
            <a:endParaRPr lang="pt-BR"/>
          </a:p>
        </p:txBody>
      </p:sp>
    </p:spTree>
    <p:extLst>
      <p:ext uri="{BB962C8B-B14F-4D97-AF65-F5344CB8AC3E}">
        <p14:creationId xmlns:p14="http://schemas.microsoft.com/office/powerpoint/2010/main" val="31516815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smtClean="0"/>
              <a:t>Boarin</a:t>
            </a:r>
          </a:p>
          <a:p>
            <a:endParaRPr lang="pt-BR" dirty="0"/>
          </a:p>
        </p:txBody>
      </p:sp>
      <p:sp>
        <p:nvSpPr>
          <p:cNvPr id="4" name="Espaço Reservado para Número de Slide 3"/>
          <p:cNvSpPr>
            <a:spLocks noGrp="1"/>
          </p:cNvSpPr>
          <p:nvPr>
            <p:ph type="sldNum" sz="quarter" idx="10"/>
          </p:nvPr>
        </p:nvSpPr>
        <p:spPr/>
        <p:txBody>
          <a:bodyPr/>
          <a:lstStyle/>
          <a:p>
            <a:fld id="{9E7626FD-18EF-494C-A467-3D85C3950BD0}" type="slidenum">
              <a:rPr lang="pt-BR" smtClean="0"/>
              <a:t>21</a:t>
            </a:fld>
            <a:endParaRPr lang="pt-BR"/>
          </a:p>
        </p:txBody>
      </p:sp>
    </p:spTree>
    <p:extLst>
      <p:ext uri="{BB962C8B-B14F-4D97-AF65-F5344CB8AC3E}">
        <p14:creationId xmlns:p14="http://schemas.microsoft.com/office/powerpoint/2010/main" val="7208728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smtClean="0"/>
              <a:t>Boarin</a:t>
            </a:r>
          </a:p>
          <a:p>
            <a:endParaRPr lang="pt-BR" dirty="0"/>
          </a:p>
        </p:txBody>
      </p:sp>
      <p:sp>
        <p:nvSpPr>
          <p:cNvPr id="4" name="Espaço Reservado para Número de Slide 3"/>
          <p:cNvSpPr>
            <a:spLocks noGrp="1"/>
          </p:cNvSpPr>
          <p:nvPr>
            <p:ph type="sldNum" sz="quarter" idx="10"/>
          </p:nvPr>
        </p:nvSpPr>
        <p:spPr/>
        <p:txBody>
          <a:bodyPr/>
          <a:lstStyle/>
          <a:p>
            <a:fld id="{9E7626FD-18EF-494C-A467-3D85C3950BD0}" type="slidenum">
              <a:rPr lang="pt-BR" smtClean="0"/>
              <a:t>22</a:t>
            </a:fld>
            <a:endParaRPr lang="pt-BR"/>
          </a:p>
        </p:txBody>
      </p:sp>
    </p:spTree>
    <p:extLst>
      <p:ext uri="{BB962C8B-B14F-4D97-AF65-F5344CB8AC3E}">
        <p14:creationId xmlns:p14="http://schemas.microsoft.com/office/powerpoint/2010/main" val="1147210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smtClean="0"/>
              <a:t>Boarin</a:t>
            </a:r>
          </a:p>
          <a:p>
            <a:endParaRPr lang="pt-BR" dirty="0"/>
          </a:p>
        </p:txBody>
      </p:sp>
      <p:sp>
        <p:nvSpPr>
          <p:cNvPr id="4" name="Espaço Reservado para Número de Slide 3"/>
          <p:cNvSpPr>
            <a:spLocks noGrp="1"/>
          </p:cNvSpPr>
          <p:nvPr>
            <p:ph type="sldNum" sz="quarter" idx="10"/>
          </p:nvPr>
        </p:nvSpPr>
        <p:spPr/>
        <p:txBody>
          <a:bodyPr/>
          <a:lstStyle/>
          <a:p>
            <a:fld id="{9E7626FD-18EF-494C-A467-3D85C3950BD0}" type="slidenum">
              <a:rPr lang="pt-BR" smtClean="0"/>
              <a:t>23</a:t>
            </a:fld>
            <a:endParaRPr lang="pt-BR"/>
          </a:p>
        </p:txBody>
      </p:sp>
    </p:spTree>
    <p:extLst>
      <p:ext uri="{BB962C8B-B14F-4D97-AF65-F5344CB8AC3E}">
        <p14:creationId xmlns:p14="http://schemas.microsoft.com/office/powerpoint/2010/main" val="21069209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smtClean="0"/>
              <a:t>Boarin</a:t>
            </a:r>
          </a:p>
          <a:p>
            <a:endParaRPr lang="pt-BR" dirty="0"/>
          </a:p>
        </p:txBody>
      </p:sp>
      <p:sp>
        <p:nvSpPr>
          <p:cNvPr id="4" name="Espaço Reservado para Número de Slide 3"/>
          <p:cNvSpPr>
            <a:spLocks noGrp="1"/>
          </p:cNvSpPr>
          <p:nvPr>
            <p:ph type="sldNum" sz="quarter" idx="10"/>
          </p:nvPr>
        </p:nvSpPr>
        <p:spPr/>
        <p:txBody>
          <a:bodyPr/>
          <a:lstStyle/>
          <a:p>
            <a:fld id="{9E7626FD-18EF-494C-A467-3D85C3950BD0}" type="slidenum">
              <a:rPr lang="pt-BR" smtClean="0"/>
              <a:t>24</a:t>
            </a:fld>
            <a:endParaRPr lang="pt-BR"/>
          </a:p>
        </p:txBody>
      </p:sp>
    </p:spTree>
    <p:extLst>
      <p:ext uri="{BB962C8B-B14F-4D97-AF65-F5344CB8AC3E}">
        <p14:creationId xmlns:p14="http://schemas.microsoft.com/office/powerpoint/2010/main" val="12511585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9E7626FD-18EF-494C-A467-3D85C3950BD0}" type="slidenum">
              <a:rPr lang="pt-BR" smtClean="0"/>
              <a:t>25</a:t>
            </a:fld>
            <a:endParaRPr lang="pt-BR"/>
          </a:p>
        </p:txBody>
      </p:sp>
    </p:spTree>
    <p:extLst>
      <p:ext uri="{BB962C8B-B14F-4D97-AF65-F5344CB8AC3E}">
        <p14:creationId xmlns:p14="http://schemas.microsoft.com/office/powerpoint/2010/main" val="29966674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9E7626FD-18EF-494C-A467-3D85C3950BD0}" type="slidenum">
              <a:rPr lang="pt-BR" smtClean="0"/>
              <a:t>26</a:t>
            </a:fld>
            <a:endParaRPr lang="pt-BR"/>
          </a:p>
        </p:txBody>
      </p:sp>
    </p:spTree>
    <p:extLst>
      <p:ext uri="{BB962C8B-B14F-4D97-AF65-F5344CB8AC3E}">
        <p14:creationId xmlns:p14="http://schemas.microsoft.com/office/powerpoint/2010/main" val="13289992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tabLst/>
              <a:defRPr/>
            </a:pPr>
            <a:endParaRPr lang="pt-BR" sz="1200" b="0" dirty="0" smtClean="0">
              <a:solidFill>
                <a:schemeClr val="tx1">
                  <a:lumMod val="95000"/>
                  <a:lumOff val="5000"/>
                </a:schemeClr>
              </a:solidFill>
            </a:endParaRPr>
          </a:p>
        </p:txBody>
      </p:sp>
      <p:sp>
        <p:nvSpPr>
          <p:cNvPr id="4" name="Espaço Reservado para Número de Slide 3"/>
          <p:cNvSpPr>
            <a:spLocks noGrp="1"/>
          </p:cNvSpPr>
          <p:nvPr>
            <p:ph type="sldNum" sz="quarter" idx="10"/>
          </p:nvPr>
        </p:nvSpPr>
        <p:spPr/>
        <p:txBody>
          <a:bodyPr/>
          <a:lstStyle/>
          <a:p>
            <a:fld id="{9E7626FD-18EF-494C-A467-3D85C3950BD0}" type="slidenum">
              <a:rPr lang="pt-BR" smtClean="0"/>
              <a:t>27</a:t>
            </a:fld>
            <a:endParaRPr lang="pt-BR"/>
          </a:p>
        </p:txBody>
      </p:sp>
    </p:spTree>
    <p:extLst>
      <p:ext uri="{BB962C8B-B14F-4D97-AF65-F5344CB8AC3E}">
        <p14:creationId xmlns:p14="http://schemas.microsoft.com/office/powerpoint/2010/main" val="9222998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9E7626FD-18EF-494C-A467-3D85C3950BD0}" type="slidenum">
              <a:rPr lang="pt-BR" smtClean="0"/>
              <a:t>28</a:t>
            </a:fld>
            <a:endParaRPr lang="pt-BR"/>
          </a:p>
        </p:txBody>
      </p:sp>
    </p:spTree>
    <p:extLst>
      <p:ext uri="{BB962C8B-B14F-4D97-AF65-F5344CB8AC3E}">
        <p14:creationId xmlns:p14="http://schemas.microsoft.com/office/powerpoint/2010/main" val="27022193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kern="1200" dirty="0" smtClean="0">
                <a:solidFill>
                  <a:schemeClr val="tx1"/>
                </a:solidFill>
                <a:effectLst/>
                <a:latin typeface="+mn-lt"/>
                <a:ea typeface="+mn-ea"/>
                <a:cs typeface="+mn-cs"/>
              </a:rPr>
              <a:t>Risco: Como o modelo de contratação é “spot”, será necessário adequar as demandas ao nosso prazo de execução, tendo em vista que estes recursos são suportados pelo contrato de outro cliente.  </a:t>
            </a:r>
          </a:p>
          <a:p>
            <a:endParaRPr lang="pt-BR" dirty="0"/>
          </a:p>
        </p:txBody>
      </p:sp>
      <p:sp>
        <p:nvSpPr>
          <p:cNvPr id="4" name="Espaço Reservado para Número de Slide 3"/>
          <p:cNvSpPr>
            <a:spLocks noGrp="1"/>
          </p:cNvSpPr>
          <p:nvPr>
            <p:ph type="sldNum" sz="quarter" idx="10"/>
          </p:nvPr>
        </p:nvSpPr>
        <p:spPr/>
        <p:txBody>
          <a:bodyPr/>
          <a:lstStyle/>
          <a:p>
            <a:fld id="{9E7626FD-18EF-494C-A467-3D85C3950BD0}" type="slidenum">
              <a:rPr lang="pt-BR" smtClean="0"/>
              <a:t>29</a:t>
            </a:fld>
            <a:endParaRPr lang="pt-BR"/>
          </a:p>
        </p:txBody>
      </p:sp>
    </p:spTree>
    <p:extLst>
      <p:ext uri="{BB962C8B-B14F-4D97-AF65-F5344CB8AC3E}">
        <p14:creationId xmlns:p14="http://schemas.microsoft.com/office/powerpoint/2010/main" val="25694402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9E7626FD-18EF-494C-A467-3D85C3950BD0}" type="slidenum">
              <a:rPr lang="pt-BR" smtClean="0"/>
              <a:t>30</a:t>
            </a:fld>
            <a:endParaRPr lang="pt-BR"/>
          </a:p>
        </p:txBody>
      </p:sp>
    </p:spTree>
    <p:extLst>
      <p:ext uri="{BB962C8B-B14F-4D97-AF65-F5344CB8AC3E}">
        <p14:creationId xmlns:p14="http://schemas.microsoft.com/office/powerpoint/2010/main" val="23280241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9E7626FD-18EF-494C-A467-3D85C3950BD0}" type="slidenum">
              <a:rPr lang="pt-BR" smtClean="0"/>
              <a:t>31</a:t>
            </a:fld>
            <a:endParaRPr lang="pt-BR"/>
          </a:p>
        </p:txBody>
      </p:sp>
    </p:spTree>
    <p:extLst>
      <p:ext uri="{BB962C8B-B14F-4D97-AF65-F5344CB8AC3E}">
        <p14:creationId xmlns:p14="http://schemas.microsoft.com/office/powerpoint/2010/main" val="15003235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9E7626FD-18EF-494C-A467-3D85C3950BD0}" type="slidenum">
              <a:rPr lang="pt-BR" smtClean="0"/>
              <a:t>32</a:t>
            </a:fld>
            <a:endParaRPr lang="pt-BR"/>
          </a:p>
        </p:txBody>
      </p:sp>
    </p:spTree>
    <p:extLst>
      <p:ext uri="{BB962C8B-B14F-4D97-AF65-F5344CB8AC3E}">
        <p14:creationId xmlns:p14="http://schemas.microsoft.com/office/powerpoint/2010/main" val="2671239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384175" y="685800"/>
            <a:ext cx="6089650" cy="3429000"/>
          </a:xfrm>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9E7626FD-18EF-494C-A467-3D85C3950BD0}" type="slidenum">
              <a:rPr lang="pt-BR" smtClean="0">
                <a:solidFill>
                  <a:prstClr val="black"/>
                </a:solidFill>
              </a:rPr>
              <a:pPr/>
              <a:t>34</a:t>
            </a:fld>
            <a:endParaRPr lang="pt-BR" dirty="0">
              <a:solidFill>
                <a:prstClr val="black"/>
              </a:solidFill>
            </a:endParaRPr>
          </a:p>
        </p:txBody>
      </p:sp>
    </p:spTree>
    <p:extLst>
      <p:ext uri="{BB962C8B-B14F-4D97-AF65-F5344CB8AC3E}">
        <p14:creationId xmlns:p14="http://schemas.microsoft.com/office/powerpoint/2010/main" val="13368838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143000" y="842552"/>
            <a:ext cx="6858000" cy="1792358"/>
          </a:xfrm>
        </p:spPr>
        <p:txBody>
          <a:bodyPr anchor="b"/>
          <a:lstStyle>
            <a:lvl1pPr algn="ctr">
              <a:defRPr sz="4500"/>
            </a:lvl1pPr>
          </a:lstStyle>
          <a:p>
            <a:r>
              <a:rPr lang="pt-BR" smtClean="0"/>
              <a:t>Clique para editar o título mestre</a:t>
            </a:r>
            <a:endParaRPr lang="pt-BR"/>
          </a:p>
        </p:txBody>
      </p:sp>
      <p:sp>
        <p:nvSpPr>
          <p:cNvPr id="3" name="Subtítulo 2"/>
          <p:cNvSpPr>
            <a:spLocks noGrp="1"/>
          </p:cNvSpPr>
          <p:nvPr>
            <p:ph type="subTitle" idx="1"/>
          </p:nvPr>
        </p:nvSpPr>
        <p:spPr>
          <a:xfrm>
            <a:off x="1143000" y="2704030"/>
            <a:ext cx="6858000" cy="1242971"/>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pt-BR" smtClean="0"/>
              <a:t>Clique para editar o estilo do subtítulo mestre</a:t>
            </a:r>
            <a:endParaRPr lang="pt-BR"/>
          </a:p>
        </p:txBody>
      </p:sp>
      <p:sp>
        <p:nvSpPr>
          <p:cNvPr id="4" name="Espaço Reservado para Data 3"/>
          <p:cNvSpPr>
            <a:spLocks noGrp="1"/>
          </p:cNvSpPr>
          <p:nvPr>
            <p:ph type="dt" sz="half" idx="10"/>
          </p:nvPr>
        </p:nvSpPr>
        <p:spPr/>
        <p:txBody>
          <a:bodyPr/>
          <a:lstStyle/>
          <a:p>
            <a:fld id="{15A96241-9EE8-3241-9C65-A8F2A1D83BB2}" type="datetimeFigureOut">
              <a:rPr lang="en-US" smtClean="0"/>
              <a:t>6/24/2016</a:t>
            </a:fld>
            <a:endParaRPr lang="en-US"/>
          </a:p>
        </p:txBody>
      </p:sp>
      <p:sp>
        <p:nvSpPr>
          <p:cNvPr id="5" name="Espaço Reservado para Rodapé 4"/>
          <p:cNvSpPr>
            <a:spLocks noGrp="1"/>
          </p:cNvSpPr>
          <p:nvPr>
            <p:ph type="ftr" sz="quarter" idx="11"/>
          </p:nvPr>
        </p:nvSpPr>
        <p:spPr/>
        <p:txBody>
          <a:bodyPr/>
          <a:lstStyle/>
          <a:p>
            <a:endParaRPr lang="en-US"/>
          </a:p>
        </p:txBody>
      </p:sp>
      <p:sp>
        <p:nvSpPr>
          <p:cNvPr id="6" name="Espaço Reservado para Número de Slide 5"/>
          <p:cNvSpPr>
            <a:spLocks noGrp="1"/>
          </p:cNvSpPr>
          <p:nvPr>
            <p:ph type="sldNum" sz="quarter" idx="12"/>
          </p:nvPr>
        </p:nvSpPr>
        <p:spPr/>
        <p:txBody>
          <a:bodyPr/>
          <a:lstStyle/>
          <a:p>
            <a:fld id="{2088DD49-D405-3D4F-92A5-BAA19C6BFE1F}" type="slidenum">
              <a:rPr lang="en-US" smtClean="0"/>
              <a:t>‹nº›</a:t>
            </a:fld>
            <a:endParaRPr lang="en-US"/>
          </a:p>
        </p:txBody>
      </p:sp>
    </p:spTree>
    <p:extLst>
      <p:ext uri="{BB962C8B-B14F-4D97-AF65-F5344CB8AC3E}">
        <p14:creationId xmlns:p14="http://schemas.microsoft.com/office/powerpoint/2010/main" val="4129829308"/>
      </p:ext>
    </p:extLst>
  </p:cSld>
  <p:clrMapOvr>
    <a:masterClrMapping/>
  </p:clrMapOvr>
  <mc:AlternateContent xmlns:mc="http://schemas.openxmlformats.org/markup-compatibility/2006">
    <mc:Choice xmlns:p14="http://schemas.microsoft.com/office/powerpoint/2010/main" Requires="p14">
      <p:transition p14:dur="250">
        <p14:reveal/>
      </p:transition>
    </mc:Choice>
    <mc:Fallback>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Conteúdo 2"/>
          <p:cNvSpPr>
            <a:spLocks noGrp="1"/>
          </p:cNvSpPr>
          <p:nvPr>
            <p:ph idx="1"/>
          </p:nvPr>
        </p:nvSpPr>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15A96241-9EE8-3241-9C65-A8F2A1D83BB2}" type="datetimeFigureOut">
              <a:rPr lang="en-US" smtClean="0"/>
              <a:t>6/24/2016</a:t>
            </a:fld>
            <a:endParaRPr lang="en-US"/>
          </a:p>
        </p:txBody>
      </p:sp>
      <p:sp>
        <p:nvSpPr>
          <p:cNvPr id="5" name="Espaço Reservado para Rodapé 4"/>
          <p:cNvSpPr>
            <a:spLocks noGrp="1"/>
          </p:cNvSpPr>
          <p:nvPr>
            <p:ph type="ftr" sz="quarter" idx="11"/>
          </p:nvPr>
        </p:nvSpPr>
        <p:spPr/>
        <p:txBody>
          <a:bodyPr/>
          <a:lstStyle/>
          <a:p>
            <a:endParaRPr lang="en-US"/>
          </a:p>
        </p:txBody>
      </p:sp>
      <p:sp>
        <p:nvSpPr>
          <p:cNvPr id="6" name="Espaço Reservado para Número de Slide 5"/>
          <p:cNvSpPr>
            <a:spLocks noGrp="1"/>
          </p:cNvSpPr>
          <p:nvPr>
            <p:ph type="sldNum" sz="quarter" idx="12"/>
          </p:nvPr>
        </p:nvSpPr>
        <p:spPr/>
        <p:txBody>
          <a:bodyPr/>
          <a:lstStyle/>
          <a:p>
            <a:fld id="{2088DD49-D405-3D4F-92A5-BAA19C6BFE1F}" type="slidenum">
              <a:rPr lang="en-US" smtClean="0"/>
              <a:t>‹nº›</a:t>
            </a:fld>
            <a:endParaRPr lang="en-US"/>
          </a:p>
        </p:txBody>
      </p:sp>
    </p:spTree>
    <p:extLst>
      <p:ext uri="{BB962C8B-B14F-4D97-AF65-F5344CB8AC3E}">
        <p14:creationId xmlns:p14="http://schemas.microsoft.com/office/powerpoint/2010/main" val="717106955"/>
      </p:ext>
    </p:extLst>
  </p:cSld>
  <p:clrMapOvr>
    <a:masterClrMapping/>
  </p:clrMapOvr>
  <mc:AlternateContent xmlns:mc="http://schemas.openxmlformats.org/markup-compatibility/2006">
    <mc:Choice xmlns:p14="http://schemas.microsoft.com/office/powerpoint/2010/main" Requires="p14">
      <p:transition p14:dur="250">
        <p14:reveal/>
      </p:transition>
    </mc:Choice>
    <mc:Fallback>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623888" y="1283491"/>
            <a:ext cx="7886700" cy="2141534"/>
          </a:xfrm>
        </p:spPr>
        <p:txBody>
          <a:bodyPr anchor="b"/>
          <a:lstStyle>
            <a:lvl1pPr>
              <a:defRPr sz="4500"/>
            </a:lvl1pPr>
          </a:lstStyle>
          <a:p>
            <a:r>
              <a:rPr lang="pt-BR" smtClean="0"/>
              <a:t>Clique para editar o título mestre</a:t>
            </a:r>
            <a:endParaRPr lang="pt-BR"/>
          </a:p>
        </p:txBody>
      </p:sp>
      <p:sp>
        <p:nvSpPr>
          <p:cNvPr id="3" name="Espaço Reservado para Texto 2"/>
          <p:cNvSpPr>
            <a:spLocks noGrp="1"/>
          </p:cNvSpPr>
          <p:nvPr>
            <p:ph type="body" idx="1"/>
          </p:nvPr>
        </p:nvSpPr>
        <p:spPr>
          <a:xfrm>
            <a:off x="623888" y="3445285"/>
            <a:ext cx="7886700" cy="1126182"/>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pt-BR" smtClean="0"/>
              <a:t>Clique para editar o texto mestre</a:t>
            </a:r>
          </a:p>
        </p:txBody>
      </p:sp>
      <p:sp>
        <p:nvSpPr>
          <p:cNvPr id="4" name="Espaço Reservado para Data 3"/>
          <p:cNvSpPr>
            <a:spLocks noGrp="1"/>
          </p:cNvSpPr>
          <p:nvPr>
            <p:ph type="dt" sz="half" idx="10"/>
          </p:nvPr>
        </p:nvSpPr>
        <p:spPr/>
        <p:txBody>
          <a:bodyPr/>
          <a:lstStyle/>
          <a:p>
            <a:fld id="{15A96241-9EE8-3241-9C65-A8F2A1D83BB2}" type="datetimeFigureOut">
              <a:rPr lang="en-US" smtClean="0"/>
              <a:t>6/24/2016</a:t>
            </a:fld>
            <a:endParaRPr lang="en-US"/>
          </a:p>
        </p:txBody>
      </p:sp>
      <p:sp>
        <p:nvSpPr>
          <p:cNvPr id="5" name="Espaço Reservado para Rodapé 4"/>
          <p:cNvSpPr>
            <a:spLocks noGrp="1"/>
          </p:cNvSpPr>
          <p:nvPr>
            <p:ph type="ftr" sz="quarter" idx="11"/>
          </p:nvPr>
        </p:nvSpPr>
        <p:spPr/>
        <p:txBody>
          <a:bodyPr/>
          <a:lstStyle/>
          <a:p>
            <a:endParaRPr lang="en-US"/>
          </a:p>
        </p:txBody>
      </p:sp>
      <p:sp>
        <p:nvSpPr>
          <p:cNvPr id="6" name="Espaço Reservado para Número de Slide 5"/>
          <p:cNvSpPr>
            <a:spLocks noGrp="1"/>
          </p:cNvSpPr>
          <p:nvPr>
            <p:ph type="sldNum" sz="quarter" idx="12"/>
          </p:nvPr>
        </p:nvSpPr>
        <p:spPr/>
        <p:txBody>
          <a:bodyPr/>
          <a:lstStyle/>
          <a:p>
            <a:fld id="{2088DD49-D405-3D4F-92A5-BAA19C6BFE1F}" type="slidenum">
              <a:rPr lang="en-US" smtClean="0"/>
              <a:t>‹nº›</a:t>
            </a:fld>
            <a:endParaRPr lang="en-US"/>
          </a:p>
        </p:txBody>
      </p:sp>
    </p:spTree>
    <p:extLst>
      <p:ext uri="{BB962C8B-B14F-4D97-AF65-F5344CB8AC3E}">
        <p14:creationId xmlns:p14="http://schemas.microsoft.com/office/powerpoint/2010/main" val="2878464889"/>
      </p:ext>
    </p:extLst>
  </p:cSld>
  <p:clrMapOvr>
    <a:masterClrMapping/>
  </p:clrMapOvr>
  <mc:AlternateContent xmlns:mc="http://schemas.openxmlformats.org/markup-compatibility/2006">
    <mc:Choice xmlns:p14="http://schemas.microsoft.com/office/powerpoint/2010/main" Requires="p14">
      <p:transition p14:dur="250">
        <p14:reveal/>
      </p:transition>
    </mc:Choice>
    <mc:Fallback>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Conteúdo 2"/>
          <p:cNvSpPr>
            <a:spLocks noGrp="1"/>
          </p:cNvSpPr>
          <p:nvPr>
            <p:ph sz="half" idx="1"/>
          </p:nvPr>
        </p:nvSpPr>
        <p:spPr>
          <a:xfrm>
            <a:off x="628650" y="1370486"/>
            <a:ext cx="3886200" cy="3266526"/>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Conteúdo 3"/>
          <p:cNvSpPr>
            <a:spLocks noGrp="1"/>
          </p:cNvSpPr>
          <p:nvPr>
            <p:ph sz="half" idx="2"/>
          </p:nvPr>
        </p:nvSpPr>
        <p:spPr>
          <a:xfrm>
            <a:off x="4629150" y="1370486"/>
            <a:ext cx="3886200" cy="3266526"/>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5" name="Espaço Reservado para Data 4"/>
          <p:cNvSpPr>
            <a:spLocks noGrp="1"/>
          </p:cNvSpPr>
          <p:nvPr>
            <p:ph type="dt" sz="half" idx="10"/>
          </p:nvPr>
        </p:nvSpPr>
        <p:spPr/>
        <p:txBody>
          <a:bodyPr/>
          <a:lstStyle/>
          <a:p>
            <a:fld id="{15A96241-9EE8-3241-9C65-A8F2A1D83BB2}" type="datetimeFigureOut">
              <a:rPr lang="en-US" smtClean="0"/>
              <a:t>6/24/2016</a:t>
            </a:fld>
            <a:endParaRPr lang="en-US"/>
          </a:p>
        </p:txBody>
      </p:sp>
      <p:sp>
        <p:nvSpPr>
          <p:cNvPr id="6" name="Espaço Reservado para Rodapé 5"/>
          <p:cNvSpPr>
            <a:spLocks noGrp="1"/>
          </p:cNvSpPr>
          <p:nvPr>
            <p:ph type="ftr" sz="quarter" idx="11"/>
          </p:nvPr>
        </p:nvSpPr>
        <p:spPr/>
        <p:txBody>
          <a:bodyPr/>
          <a:lstStyle/>
          <a:p>
            <a:endParaRPr lang="en-US"/>
          </a:p>
        </p:txBody>
      </p:sp>
      <p:sp>
        <p:nvSpPr>
          <p:cNvPr id="7" name="Espaço Reservado para Número de Slide 6"/>
          <p:cNvSpPr>
            <a:spLocks noGrp="1"/>
          </p:cNvSpPr>
          <p:nvPr>
            <p:ph type="sldNum" sz="quarter" idx="12"/>
          </p:nvPr>
        </p:nvSpPr>
        <p:spPr/>
        <p:txBody>
          <a:bodyPr/>
          <a:lstStyle/>
          <a:p>
            <a:fld id="{2088DD49-D405-3D4F-92A5-BAA19C6BFE1F}" type="slidenum">
              <a:rPr lang="en-US" smtClean="0"/>
              <a:t>‹nº›</a:t>
            </a:fld>
            <a:endParaRPr lang="en-US"/>
          </a:p>
        </p:txBody>
      </p:sp>
    </p:spTree>
    <p:extLst>
      <p:ext uri="{BB962C8B-B14F-4D97-AF65-F5344CB8AC3E}">
        <p14:creationId xmlns:p14="http://schemas.microsoft.com/office/powerpoint/2010/main" val="3077221514"/>
      </p:ext>
    </p:extLst>
  </p:cSld>
  <p:clrMapOvr>
    <a:masterClrMapping/>
  </p:clrMapOvr>
  <mc:AlternateContent xmlns:mc="http://schemas.openxmlformats.org/markup-compatibility/2006">
    <mc:Choice xmlns:p14="http://schemas.microsoft.com/office/powerpoint/2010/main" Requires="p14">
      <p:transition p14:dur="250">
        <p14:reveal/>
      </p:transition>
    </mc:Choice>
    <mc:Fallback>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a:xfrm>
            <a:off x="629841" y="274098"/>
            <a:ext cx="7886700" cy="995093"/>
          </a:xfrm>
        </p:spPr>
        <p:txBody>
          <a:bodyPr/>
          <a:lstStyle/>
          <a:p>
            <a:r>
              <a:rPr lang="pt-BR" smtClean="0"/>
              <a:t>Clique para editar o título mestre</a:t>
            </a:r>
            <a:endParaRPr lang="pt-BR"/>
          </a:p>
        </p:txBody>
      </p:sp>
      <p:sp>
        <p:nvSpPr>
          <p:cNvPr id="3" name="Espaço Reservado para Texto 2"/>
          <p:cNvSpPr>
            <a:spLocks noGrp="1"/>
          </p:cNvSpPr>
          <p:nvPr>
            <p:ph type="body" idx="1"/>
          </p:nvPr>
        </p:nvSpPr>
        <p:spPr>
          <a:xfrm>
            <a:off x="629842" y="1262040"/>
            <a:ext cx="3868340" cy="618506"/>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pt-BR" smtClean="0"/>
              <a:t>Clique para editar o texto mestre</a:t>
            </a:r>
          </a:p>
        </p:txBody>
      </p:sp>
      <p:sp>
        <p:nvSpPr>
          <p:cNvPr id="4" name="Espaço Reservado para Conteúdo 3"/>
          <p:cNvSpPr>
            <a:spLocks noGrp="1"/>
          </p:cNvSpPr>
          <p:nvPr>
            <p:ph sz="half" idx="2"/>
          </p:nvPr>
        </p:nvSpPr>
        <p:spPr>
          <a:xfrm>
            <a:off x="629842" y="1880546"/>
            <a:ext cx="3868340" cy="2766000"/>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5" name="Espaço Reservado para Texto 4"/>
          <p:cNvSpPr>
            <a:spLocks noGrp="1"/>
          </p:cNvSpPr>
          <p:nvPr>
            <p:ph type="body" sz="quarter" idx="3"/>
          </p:nvPr>
        </p:nvSpPr>
        <p:spPr>
          <a:xfrm>
            <a:off x="4629150" y="1262040"/>
            <a:ext cx="3887391" cy="618506"/>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pt-BR" smtClean="0"/>
              <a:t>Clique para editar o texto mestre</a:t>
            </a:r>
          </a:p>
        </p:txBody>
      </p:sp>
      <p:sp>
        <p:nvSpPr>
          <p:cNvPr id="6" name="Espaço Reservado para Conteúdo 5"/>
          <p:cNvSpPr>
            <a:spLocks noGrp="1"/>
          </p:cNvSpPr>
          <p:nvPr>
            <p:ph sz="quarter" idx="4"/>
          </p:nvPr>
        </p:nvSpPr>
        <p:spPr>
          <a:xfrm>
            <a:off x="4629150" y="1880546"/>
            <a:ext cx="3887391" cy="2766000"/>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7" name="Espaço Reservado para Data 6"/>
          <p:cNvSpPr>
            <a:spLocks noGrp="1"/>
          </p:cNvSpPr>
          <p:nvPr>
            <p:ph type="dt" sz="half" idx="10"/>
          </p:nvPr>
        </p:nvSpPr>
        <p:spPr/>
        <p:txBody>
          <a:bodyPr/>
          <a:lstStyle/>
          <a:p>
            <a:fld id="{15A96241-9EE8-3241-9C65-A8F2A1D83BB2}" type="datetimeFigureOut">
              <a:rPr lang="en-US" smtClean="0"/>
              <a:t>6/24/2016</a:t>
            </a:fld>
            <a:endParaRPr lang="en-US"/>
          </a:p>
        </p:txBody>
      </p:sp>
      <p:sp>
        <p:nvSpPr>
          <p:cNvPr id="8" name="Espaço Reservado para Rodapé 7"/>
          <p:cNvSpPr>
            <a:spLocks noGrp="1"/>
          </p:cNvSpPr>
          <p:nvPr>
            <p:ph type="ftr" sz="quarter" idx="11"/>
          </p:nvPr>
        </p:nvSpPr>
        <p:spPr/>
        <p:txBody>
          <a:bodyPr/>
          <a:lstStyle/>
          <a:p>
            <a:endParaRPr lang="en-US"/>
          </a:p>
        </p:txBody>
      </p:sp>
      <p:sp>
        <p:nvSpPr>
          <p:cNvPr id="9" name="Espaço Reservado para Número de Slide 8"/>
          <p:cNvSpPr>
            <a:spLocks noGrp="1"/>
          </p:cNvSpPr>
          <p:nvPr>
            <p:ph type="sldNum" sz="quarter" idx="12"/>
          </p:nvPr>
        </p:nvSpPr>
        <p:spPr/>
        <p:txBody>
          <a:bodyPr/>
          <a:lstStyle/>
          <a:p>
            <a:fld id="{2088DD49-D405-3D4F-92A5-BAA19C6BFE1F}" type="slidenum">
              <a:rPr lang="en-US" smtClean="0"/>
              <a:t>‹nº›</a:t>
            </a:fld>
            <a:endParaRPr lang="en-US"/>
          </a:p>
        </p:txBody>
      </p:sp>
    </p:spTree>
    <p:extLst>
      <p:ext uri="{BB962C8B-B14F-4D97-AF65-F5344CB8AC3E}">
        <p14:creationId xmlns:p14="http://schemas.microsoft.com/office/powerpoint/2010/main" val="1541108507"/>
      </p:ext>
    </p:extLst>
  </p:cSld>
  <p:clrMapOvr>
    <a:masterClrMapping/>
  </p:clrMapOvr>
  <mc:AlternateContent xmlns:mc="http://schemas.openxmlformats.org/markup-compatibility/2006">
    <mc:Choice xmlns:p14="http://schemas.microsoft.com/office/powerpoint/2010/main" Requires="p14">
      <p:transition p14:dur="250">
        <p14:reveal/>
      </p:transition>
    </mc:Choice>
    <mc:Fallback>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Data 2"/>
          <p:cNvSpPr>
            <a:spLocks noGrp="1"/>
          </p:cNvSpPr>
          <p:nvPr>
            <p:ph type="dt" sz="half" idx="10"/>
          </p:nvPr>
        </p:nvSpPr>
        <p:spPr/>
        <p:txBody>
          <a:bodyPr/>
          <a:lstStyle/>
          <a:p>
            <a:fld id="{15A96241-9EE8-3241-9C65-A8F2A1D83BB2}" type="datetimeFigureOut">
              <a:rPr lang="en-US" smtClean="0"/>
              <a:t>6/24/2016</a:t>
            </a:fld>
            <a:endParaRPr lang="en-US"/>
          </a:p>
        </p:txBody>
      </p:sp>
      <p:sp>
        <p:nvSpPr>
          <p:cNvPr id="4" name="Espaço Reservado para Rodapé 3"/>
          <p:cNvSpPr>
            <a:spLocks noGrp="1"/>
          </p:cNvSpPr>
          <p:nvPr>
            <p:ph type="ftr" sz="quarter" idx="11"/>
          </p:nvPr>
        </p:nvSpPr>
        <p:spPr/>
        <p:txBody>
          <a:bodyPr/>
          <a:lstStyle/>
          <a:p>
            <a:endParaRPr lang="en-US"/>
          </a:p>
        </p:txBody>
      </p:sp>
      <p:sp>
        <p:nvSpPr>
          <p:cNvPr id="5" name="Espaço Reservado para Número de Slide 4"/>
          <p:cNvSpPr>
            <a:spLocks noGrp="1"/>
          </p:cNvSpPr>
          <p:nvPr>
            <p:ph type="sldNum" sz="quarter" idx="12"/>
          </p:nvPr>
        </p:nvSpPr>
        <p:spPr/>
        <p:txBody>
          <a:bodyPr/>
          <a:lstStyle/>
          <a:p>
            <a:fld id="{2088DD49-D405-3D4F-92A5-BAA19C6BFE1F}" type="slidenum">
              <a:rPr lang="en-US" smtClean="0"/>
              <a:t>‹nº›</a:t>
            </a:fld>
            <a:endParaRPr lang="en-US"/>
          </a:p>
        </p:txBody>
      </p:sp>
    </p:spTree>
    <p:extLst>
      <p:ext uri="{BB962C8B-B14F-4D97-AF65-F5344CB8AC3E}">
        <p14:creationId xmlns:p14="http://schemas.microsoft.com/office/powerpoint/2010/main" val="3934559617"/>
      </p:ext>
    </p:extLst>
  </p:cSld>
  <p:clrMapOvr>
    <a:masterClrMapping/>
  </p:clrMapOvr>
  <mc:AlternateContent xmlns:mc="http://schemas.openxmlformats.org/markup-compatibility/2006">
    <mc:Choice xmlns:p14="http://schemas.microsoft.com/office/powerpoint/2010/main" Requires="p14">
      <p:transition p14:dur="250">
        <p14:reveal/>
      </p:transition>
    </mc:Choice>
    <mc:Fallback>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15A96241-9EE8-3241-9C65-A8F2A1D83BB2}" type="datetimeFigureOut">
              <a:rPr lang="en-US" smtClean="0"/>
              <a:t>6/24/2016</a:t>
            </a:fld>
            <a:endParaRPr lang="en-US"/>
          </a:p>
        </p:txBody>
      </p:sp>
      <p:sp>
        <p:nvSpPr>
          <p:cNvPr id="3" name="Espaço Reservado para Rodapé 2"/>
          <p:cNvSpPr>
            <a:spLocks noGrp="1"/>
          </p:cNvSpPr>
          <p:nvPr>
            <p:ph type="ftr" sz="quarter" idx="11"/>
          </p:nvPr>
        </p:nvSpPr>
        <p:spPr/>
        <p:txBody>
          <a:bodyPr/>
          <a:lstStyle/>
          <a:p>
            <a:endParaRPr lang="en-US"/>
          </a:p>
        </p:txBody>
      </p:sp>
      <p:sp>
        <p:nvSpPr>
          <p:cNvPr id="4" name="Espaço Reservado para Número de Slide 3"/>
          <p:cNvSpPr>
            <a:spLocks noGrp="1"/>
          </p:cNvSpPr>
          <p:nvPr>
            <p:ph type="sldNum" sz="quarter" idx="12"/>
          </p:nvPr>
        </p:nvSpPr>
        <p:spPr/>
        <p:txBody>
          <a:bodyPr/>
          <a:lstStyle/>
          <a:p>
            <a:fld id="{2088DD49-D405-3D4F-92A5-BAA19C6BFE1F}" type="slidenum">
              <a:rPr lang="en-US" smtClean="0"/>
              <a:t>‹nº›</a:t>
            </a:fld>
            <a:endParaRPr lang="en-US"/>
          </a:p>
        </p:txBody>
      </p:sp>
    </p:spTree>
    <p:extLst>
      <p:ext uri="{BB962C8B-B14F-4D97-AF65-F5344CB8AC3E}">
        <p14:creationId xmlns:p14="http://schemas.microsoft.com/office/powerpoint/2010/main" val="3974958239"/>
      </p:ext>
    </p:extLst>
  </p:cSld>
  <p:clrMapOvr>
    <a:masterClrMapping/>
  </p:clrMapOvr>
  <mc:AlternateContent xmlns:mc="http://schemas.openxmlformats.org/markup-compatibility/2006">
    <mc:Choice xmlns:p14="http://schemas.microsoft.com/office/powerpoint/2010/main" Requires="p14">
      <p:transition p14:dur="250">
        <p14:reveal/>
      </p:transition>
    </mc:Choice>
    <mc:Fallback>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629841" y="343218"/>
            <a:ext cx="2949178" cy="1201261"/>
          </a:xfrm>
        </p:spPr>
        <p:txBody>
          <a:bodyPr anchor="b"/>
          <a:lstStyle>
            <a:lvl1pPr>
              <a:defRPr sz="2400"/>
            </a:lvl1pPr>
          </a:lstStyle>
          <a:p>
            <a:r>
              <a:rPr lang="pt-BR" smtClean="0"/>
              <a:t>Clique para editar o título mestre</a:t>
            </a:r>
            <a:endParaRPr lang="pt-BR"/>
          </a:p>
        </p:txBody>
      </p:sp>
      <p:sp>
        <p:nvSpPr>
          <p:cNvPr id="3" name="Espaço Reservado para Conteúdo 2"/>
          <p:cNvSpPr>
            <a:spLocks noGrp="1"/>
          </p:cNvSpPr>
          <p:nvPr>
            <p:ph idx="1"/>
          </p:nvPr>
        </p:nvSpPr>
        <p:spPr>
          <a:xfrm>
            <a:off x="3887391" y="741255"/>
            <a:ext cx="4629150" cy="3658604"/>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Texto 3"/>
          <p:cNvSpPr>
            <a:spLocks noGrp="1"/>
          </p:cNvSpPr>
          <p:nvPr>
            <p:ph type="body" sz="half" idx="2"/>
          </p:nvPr>
        </p:nvSpPr>
        <p:spPr>
          <a:xfrm>
            <a:off x="629841" y="1544479"/>
            <a:ext cx="2949178" cy="286133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pt-BR" smtClean="0"/>
              <a:t>Clique para editar o texto mestre</a:t>
            </a:r>
          </a:p>
        </p:txBody>
      </p:sp>
      <p:sp>
        <p:nvSpPr>
          <p:cNvPr id="5" name="Espaço Reservado para Data 4"/>
          <p:cNvSpPr>
            <a:spLocks noGrp="1"/>
          </p:cNvSpPr>
          <p:nvPr>
            <p:ph type="dt" sz="half" idx="10"/>
          </p:nvPr>
        </p:nvSpPr>
        <p:spPr/>
        <p:txBody>
          <a:bodyPr/>
          <a:lstStyle/>
          <a:p>
            <a:fld id="{15A96241-9EE8-3241-9C65-A8F2A1D83BB2}" type="datetimeFigureOut">
              <a:rPr lang="en-US" smtClean="0"/>
              <a:t>6/24/2016</a:t>
            </a:fld>
            <a:endParaRPr lang="en-US"/>
          </a:p>
        </p:txBody>
      </p:sp>
      <p:sp>
        <p:nvSpPr>
          <p:cNvPr id="6" name="Espaço Reservado para Rodapé 5"/>
          <p:cNvSpPr>
            <a:spLocks noGrp="1"/>
          </p:cNvSpPr>
          <p:nvPr>
            <p:ph type="ftr" sz="quarter" idx="11"/>
          </p:nvPr>
        </p:nvSpPr>
        <p:spPr/>
        <p:txBody>
          <a:bodyPr/>
          <a:lstStyle/>
          <a:p>
            <a:endParaRPr lang="en-US"/>
          </a:p>
        </p:txBody>
      </p:sp>
      <p:sp>
        <p:nvSpPr>
          <p:cNvPr id="7" name="Espaço Reservado para Número de Slide 6"/>
          <p:cNvSpPr>
            <a:spLocks noGrp="1"/>
          </p:cNvSpPr>
          <p:nvPr>
            <p:ph type="sldNum" sz="quarter" idx="12"/>
          </p:nvPr>
        </p:nvSpPr>
        <p:spPr/>
        <p:txBody>
          <a:bodyPr/>
          <a:lstStyle/>
          <a:p>
            <a:fld id="{2088DD49-D405-3D4F-92A5-BAA19C6BFE1F}" type="slidenum">
              <a:rPr lang="en-US" smtClean="0"/>
              <a:t>‹nº›</a:t>
            </a:fld>
            <a:endParaRPr lang="en-US"/>
          </a:p>
        </p:txBody>
      </p:sp>
    </p:spTree>
    <p:extLst>
      <p:ext uri="{BB962C8B-B14F-4D97-AF65-F5344CB8AC3E}">
        <p14:creationId xmlns:p14="http://schemas.microsoft.com/office/powerpoint/2010/main" val="2698632025"/>
      </p:ext>
    </p:extLst>
  </p:cSld>
  <p:clrMapOvr>
    <a:masterClrMapping/>
  </p:clrMapOvr>
  <mc:AlternateContent xmlns:mc="http://schemas.openxmlformats.org/markup-compatibility/2006">
    <mc:Choice xmlns:p14="http://schemas.microsoft.com/office/powerpoint/2010/main" Requires="p14">
      <p:transition p14:dur="250">
        <p14:reveal/>
      </p:transition>
    </mc:Choice>
    <mc:Fallback>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629841" y="343218"/>
            <a:ext cx="2949178" cy="1201261"/>
          </a:xfrm>
        </p:spPr>
        <p:txBody>
          <a:bodyPr anchor="b"/>
          <a:lstStyle>
            <a:lvl1pPr>
              <a:defRPr sz="2400"/>
            </a:lvl1pPr>
          </a:lstStyle>
          <a:p>
            <a:r>
              <a:rPr lang="pt-BR" smtClean="0"/>
              <a:t>Clique para editar o título mestre</a:t>
            </a:r>
            <a:endParaRPr lang="pt-BR"/>
          </a:p>
        </p:txBody>
      </p:sp>
      <p:sp>
        <p:nvSpPr>
          <p:cNvPr id="3" name="Espaço Reservado para Imagem 2"/>
          <p:cNvSpPr>
            <a:spLocks noGrp="1"/>
          </p:cNvSpPr>
          <p:nvPr>
            <p:ph type="pic" idx="1"/>
          </p:nvPr>
        </p:nvSpPr>
        <p:spPr>
          <a:xfrm>
            <a:off x="3887391" y="741255"/>
            <a:ext cx="4629150" cy="3658604"/>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pt-BR"/>
          </a:p>
        </p:txBody>
      </p:sp>
      <p:sp>
        <p:nvSpPr>
          <p:cNvPr id="4" name="Espaço Reservado para Texto 3"/>
          <p:cNvSpPr>
            <a:spLocks noGrp="1"/>
          </p:cNvSpPr>
          <p:nvPr>
            <p:ph type="body" sz="half" idx="2"/>
          </p:nvPr>
        </p:nvSpPr>
        <p:spPr>
          <a:xfrm>
            <a:off x="629841" y="1544479"/>
            <a:ext cx="2949178" cy="286133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pt-BR" smtClean="0"/>
              <a:t>Clique para editar o texto mestre</a:t>
            </a:r>
          </a:p>
        </p:txBody>
      </p:sp>
      <p:sp>
        <p:nvSpPr>
          <p:cNvPr id="5" name="Espaço Reservado para Data 4"/>
          <p:cNvSpPr>
            <a:spLocks noGrp="1"/>
          </p:cNvSpPr>
          <p:nvPr>
            <p:ph type="dt" sz="half" idx="10"/>
          </p:nvPr>
        </p:nvSpPr>
        <p:spPr/>
        <p:txBody>
          <a:bodyPr/>
          <a:lstStyle/>
          <a:p>
            <a:fld id="{15A96241-9EE8-3241-9C65-A8F2A1D83BB2}" type="datetimeFigureOut">
              <a:rPr lang="en-US" smtClean="0"/>
              <a:t>6/24/2016</a:t>
            </a:fld>
            <a:endParaRPr lang="en-US"/>
          </a:p>
        </p:txBody>
      </p:sp>
      <p:sp>
        <p:nvSpPr>
          <p:cNvPr id="6" name="Espaço Reservado para Rodapé 5"/>
          <p:cNvSpPr>
            <a:spLocks noGrp="1"/>
          </p:cNvSpPr>
          <p:nvPr>
            <p:ph type="ftr" sz="quarter" idx="11"/>
          </p:nvPr>
        </p:nvSpPr>
        <p:spPr/>
        <p:txBody>
          <a:bodyPr/>
          <a:lstStyle/>
          <a:p>
            <a:endParaRPr lang="en-US"/>
          </a:p>
        </p:txBody>
      </p:sp>
      <p:sp>
        <p:nvSpPr>
          <p:cNvPr id="7" name="Espaço Reservado para Número de Slide 6"/>
          <p:cNvSpPr>
            <a:spLocks noGrp="1"/>
          </p:cNvSpPr>
          <p:nvPr>
            <p:ph type="sldNum" sz="quarter" idx="12"/>
          </p:nvPr>
        </p:nvSpPr>
        <p:spPr/>
        <p:txBody>
          <a:bodyPr/>
          <a:lstStyle/>
          <a:p>
            <a:fld id="{2088DD49-D405-3D4F-92A5-BAA19C6BFE1F}" type="slidenum">
              <a:rPr lang="en-US" smtClean="0"/>
              <a:t>‹nº›</a:t>
            </a:fld>
            <a:endParaRPr lang="en-US"/>
          </a:p>
        </p:txBody>
      </p:sp>
    </p:spTree>
    <p:extLst>
      <p:ext uri="{BB962C8B-B14F-4D97-AF65-F5344CB8AC3E}">
        <p14:creationId xmlns:p14="http://schemas.microsoft.com/office/powerpoint/2010/main" val="4117529887"/>
      </p:ext>
    </p:extLst>
  </p:cSld>
  <p:clrMapOvr>
    <a:masterClrMapping/>
  </p:clrMapOvr>
  <mc:AlternateContent xmlns:mc="http://schemas.openxmlformats.org/markup-compatibility/2006">
    <mc:Choice xmlns:p14="http://schemas.microsoft.com/office/powerpoint/2010/main" Requires="p14">
      <p:transition p14:dur="250">
        <p14:reveal/>
      </p:transition>
    </mc:Choice>
    <mc:Fallback>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Texto Vertical 2"/>
          <p:cNvSpPr>
            <a:spLocks noGrp="1"/>
          </p:cNvSpPr>
          <p:nvPr>
            <p:ph type="body" orient="vert" idx="1"/>
          </p:nvPr>
        </p:nvSpPr>
        <p:spPr/>
        <p:txBody>
          <a:bodyPr vert="eaVert"/>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15A96241-9EE8-3241-9C65-A8F2A1D83BB2}" type="datetimeFigureOut">
              <a:rPr lang="en-US" smtClean="0"/>
              <a:t>6/24/2016</a:t>
            </a:fld>
            <a:endParaRPr lang="en-US"/>
          </a:p>
        </p:txBody>
      </p:sp>
      <p:sp>
        <p:nvSpPr>
          <p:cNvPr id="5" name="Espaço Reservado para Rodapé 4"/>
          <p:cNvSpPr>
            <a:spLocks noGrp="1"/>
          </p:cNvSpPr>
          <p:nvPr>
            <p:ph type="ftr" sz="quarter" idx="11"/>
          </p:nvPr>
        </p:nvSpPr>
        <p:spPr/>
        <p:txBody>
          <a:bodyPr/>
          <a:lstStyle/>
          <a:p>
            <a:endParaRPr lang="en-US"/>
          </a:p>
        </p:txBody>
      </p:sp>
      <p:sp>
        <p:nvSpPr>
          <p:cNvPr id="6" name="Espaço Reservado para Número de Slide 5"/>
          <p:cNvSpPr>
            <a:spLocks noGrp="1"/>
          </p:cNvSpPr>
          <p:nvPr>
            <p:ph type="sldNum" sz="quarter" idx="12"/>
          </p:nvPr>
        </p:nvSpPr>
        <p:spPr/>
        <p:txBody>
          <a:bodyPr/>
          <a:lstStyle/>
          <a:p>
            <a:fld id="{2088DD49-D405-3D4F-92A5-BAA19C6BFE1F}" type="slidenum">
              <a:rPr lang="en-US" smtClean="0"/>
              <a:t>‹nº›</a:t>
            </a:fld>
            <a:endParaRPr lang="en-US"/>
          </a:p>
        </p:txBody>
      </p:sp>
    </p:spTree>
    <p:extLst>
      <p:ext uri="{BB962C8B-B14F-4D97-AF65-F5344CB8AC3E}">
        <p14:creationId xmlns:p14="http://schemas.microsoft.com/office/powerpoint/2010/main" val="2052717037"/>
      </p:ext>
    </p:extLst>
  </p:cSld>
  <p:clrMapOvr>
    <a:masterClrMapping/>
  </p:clrMapOvr>
  <mc:AlternateContent xmlns:mc="http://schemas.openxmlformats.org/markup-compatibility/2006">
    <mc:Choice xmlns:p14="http://schemas.microsoft.com/office/powerpoint/2010/main" Requires="p14">
      <p:transition p14:dur="250">
        <p14:reveal/>
      </p:transition>
    </mc:Choice>
    <mc:Fallback>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543675" y="274097"/>
            <a:ext cx="1971675" cy="4362915"/>
          </a:xfrm>
        </p:spPr>
        <p:txBody>
          <a:bodyPr vert="eaVert"/>
          <a:lstStyle/>
          <a:p>
            <a:r>
              <a:rPr lang="pt-BR" smtClean="0"/>
              <a:t>Clique para editar o título mestre</a:t>
            </a:r>
            <a:endParaRPr lang="pt-BR"/>
          </a:p>
        </p:txBody>
      </p:sp>
      <p:sp>
        <p:nvSpPr>
          <p:cNvPr id="3" name="Espaço Reservado para Texto Vertical 2"/>
          <p:cNvSpPr>
            <a:spLocks noGrp="1"/>
          </p:cNvSpPr>
          <p:nvPr>
            <p:ph type="body" orient="vert" idx="1"/>
          </p:nvPr>
        </p:nvSpPr>
        <p:spPr>
          <a:xfrm>
            <a:off x="628650" y="274097"/>
            <a:ext cx="5800725" cy="4362915"/>
          </a:xfrm>
        </p:spPr>
        <p:txBody>
          <a:bodyPr vert="eaVert"/>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15A96241-9EE8-3241-9C65-A8F2A1D83BB2}" type="datetimeFigureOut">
              <a:rPr lang="en-US" smtClean="0"/>
              <a:t>6/24/2016</a:t>
            </a:fld>
            <a:endParaRPr lang="en-US"/>
          </a:p>
        </p:txBody>
      </p:sp>
      <p:sp>
        <p:nvSpPr>
          <p:cNvPr id="5" name="Espaço Reservado para Rodapé 4"/>
          <p:cNvSpPr>
            <a:spLocks noGrp="1"/>
          </p:cNvSpPr>
          <p:nvPr>
            <p:ph type="ftr" sz="quarter" idx="11"/>
          </p:nvPr>
        </p:nvSpPr>
        <p:spPr/>
        <p:txBody>
          <a:bodyPr/>
          <a:lstStyle/>
          <a:p>
            <a:endParaRPr lang="en-US"/>
          </a:p>
        </p:txBody>
      </p:sp>
      <p:sp>
        <p:nvSpPr>
          <p:cNvPr id="6" name="Espaço Reservado para Número de Slide 5"/>
          <p:cNvSpPr>
            <a:spLocks noGrp="1"/>
          </p:cNvSpPr>
          <p:nvPr>
            <p:ph type="sldNum" sz="quarter" idx="12"/>
          </p:nvPr>
        </p:nvSpPr>
        <p:spPr/>
        <p:txBody>
          <a:bodyPr/>
          <a:lstStyle/>
          <a:p>
            <a:fld id="{2088DD49-D405-3D4F-92A5-BAA19C6BFE1F}" type="slidenum">
              <a:rPr lang="en-US" smtClean="0"/>
              <a:t>‹nº›</a:t>
            </a:fld>
            <a:endParaRPr lang="en-US"/>
          </a:p>
        </p:txBody>
      </p:sp>
    </p:spTree>
    <p:extLst>
      <p:ext uri="{BB962C8B-B14F-4D97-AF65-F5344CB8AC3E}">
        <p14:creationId xmlns:p14="http://schemas.microsoft.com/office/powerpoint/2010/main" val="356763819"/>
      </p:ext>
    </p:extLst>
  </p:cSld>
  <p:clrMapOvr>
    <a:masterClrMapping/>
  </p:clrMapOvr>
  <mc:AlternateContent xmlns:mc="http://schemas.openxmlformats.org/markup-compatibility/2006">
    <mc:Choice xmlns:p14="http://schemas.microsoft.com/office/powerpoint/2010/main" Requires="p14">
      <p:transition p14:dur="250">
        <p14:reveal/>
      </p:transition>
    </mc:Choice>
    <mc:Fallback>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7" name="Picture 8"/>
          <p:cNvPicPr>
            <a:picLocks noChangeAspect="1"/>
          </p:cNvPicPr>
          <p:nvPr userDrawn="1"/>
        </p:nvPicPr>
        <p:blipFill>
          <a:blip r:embed="rId2"/>
          <a:stretch>
            <a:fillRect/>
          </a:stretch>
        </p:blipFill>
        <p:spPr>
          <a:xfrm>
            <a:off x="1675508" y="1582714"/>
            <a:ext cx="5886194" cy="1069501"/>
          </a:xfrm>
          <a:prstGeom prst="rect">
            <a:avLst/>
          </a:prstGeom>
        </p:spPr>
      </p:pic>
    </p:spTree>
    <p:extLst>
      <p:ext uri="{BB962C8B-B14F-4D97-AF65-F5344CB8AC3E}">
        <p14:creationId xmlns:p14="http://schemas.microsoft.com/office/powerpoint/2010/main" val="157351810"/>
      </p:ext>
    </p:extLst>
  </p:cSld>
  <p:clrMapOvr>
    <a:masterClrMapping/>
  </p:clrMapOvr>
  <mc:AlternateContent xmlns:mc="http://schemas.openxmlformats.org/markup-compatibility/2006">
    <mc:Choice xmlns:p14="http://schemas.microsoft.com/office/powerpoint/2010/main" Requires="p14">
      <p:transition p14:dur="250">
        <p14:reveal/>
      </p:transition>
    </mc:Choice>
    <mc:Fallback>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ayout Personalizado">
    <p:spTree>
      <p:nvGrpSpPr>
        <p:cNvPr id="1" name=""/>
        <p:cNvGrpSpPr/>
        <p:nvPr/>
      </p:nvGrpSpPr>
      <p:grpSpPr>
        <a:xfrm>
          <a:off x="0" y="0"/>
          <a:ext cx="0" cy="0"/>
          <a:chOff x="0" y="0"/>
          <a:chExt cx="0" cy="0"/>
        </a:xfrm>
      </p:grpSpPr>
      <p:sp>
        <p:nvSpPr>
          <p:cNvPr id="2" name="Título 1"/>
          <p:cNvSpPr>
            <a:spLocks noGrp="1"/>
          </p:cNvSpPr>
          <p:nvPr>
            <p:ph type="title"/>
          </p:nvPr>
        </p:nvSpPr>
        <p:spPr>
          <a:xfrm>
            <a:off x="457200" y="206169"/>
            <a:ext cx="8229600" cy="858044"/>
          </a:xfrm>
          <a:prstGeom prst="rect">
            <a:avLst/>
          </a:prstGeom>
        </p:spPr>
        <p:txBody>
          <a:bodyPr/>
          <a:lstStyle/>
          <a:p>
            <a:r>
              <a:rPr lang="pt-BR" smtClean="0"/>
              <a:t>Clique para editar o título mestre</a:t>
            </a:r>
            <a:endParaRPr lang="pt-BR"/>
          </a:p>
        </p:txBody>
      </p:sp>
    </p:spTree>
    <p:extLst>
      <p:ext uri="{BB962C8B-B14F-4D97-AF65-F5344CB8AC3E}">
        <p14:creationId xmlns:p14="http://schemas.microsoft.com/office/powerpoint/2010/main" val="2673148422"/>
      </p:ext>
    </p:extLst>
  </p:cSld>
  <p:clrMapOvr>
    <a:masterClrMapping/>
  </p:clrMapOvr>
  <mc:AlternateContent xmlns:mc="http://schemas.openxmlformats.org/markup-compatibility/2006">
    <mc:Choice xmlns:p14="http://schemas.microsoft.com/office/powerpoint/2010/main" Requires="p14">
      <p:transition p14:dur="250">
        <p14:reveal/>
      </p:transition>
    </mc:Choice>
    <mc:Fallback>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ayout Personalizado">
    <p:spTree>
      <p:nvGrpSpPr>
        <p:cNvPr id="1" name=""/>
        <p:cNvGrpSpPr/>
        <p:nvPr/>
      </p:nvGrpSpPr>
      <p:grpSpPr>
        <a:xfrm>
          <a:off x="0" y="0"/>
          <a:ext cx="0" cy="0"/>
          <a:chOff x="0" y="0"/>
          <a:chExt cx="0" cy="0"/>
        </a:xfrm>
      </p:grpSpPr>
      <p:sp>
        <p:nvSpPr>
          <p:cNvPr id="2" name="Título 1"/>
          <p:cNvSpPr>
            <a:spLocks noGrp="1"/>
          </p:cNvSpPr>
          <p:nvPr>
            <p:ph type="title"/>
          </p:nvPr>
        </p:nvSpPr>
        <p:spPr>
          <a:xfrm>
            <a:off x="457200" y="206169"/>
            <a:ext cx="8229600" cy="858044"/>
          </a:xfrm>
          <a:prstGeom prst="rect">
            <a:avLst/>
          </a:prstGeom>
        </p:spPr>
        <p:txBody>
          <a:bodyPr/>
          <a:lstStyle/>
          <a:p>
            <a:r>
              <a:rPr lang="pt-BR" smtClean="0"/>
              <a:t>Clique para editar o título mestre</a:t>
            </a:r>
            <a:endParaRPr lang="pt-BR"/>
          </a:p>
        </p:txBody>
      </p:sp>
    </p:spTree>
    <p:extLst>
      <p:ext uri="{BB962C8B-B14F-4D97-AF65-F5344CB8AC3E}">
        <p14:creationId xmlns:p14="http://schemas.microsoft.com/office/powerpoint/2010/main" val="569956178"/>
      </p:ext>
    </p:extLst>
  </p:cSld>
  <p:clrMapOvr>
    <a:masterClrMapping/>
  </p:clrMapOvr>
  <mc:AlternateContent xmlns:mc="http://schemas.openxmlformats.org/markup-compatibility/2006">
    <mc:Choice xmlns:p14="http://schemas.microsoft.com/office/powerpoint/2010/main" Requires="p14">
      <p:transition p14:dur="250">
        <p14:reveal/>
      </p:transition>
    </mc:Choice>
    <mc:Fallback>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ayout Personalizado">
    <p:spTree>
      <p:nvGrpSpPr>
        <p:cNvPr id="1" name=""/>
        <p:cNvGrpSpPr/>
        <p:nvPr/>
      </p:nvGrpSpPr>
      <p:grpSpPr>
        <a:xfrm>
          <a:off x="0" y="0"/>
          <a:ext cx="0" cy="0"/>
          <a:chOff x="0" y="0"/>
          <a:chExt cx="0" cy="0"/>
        </a:xfrm>
      </p:grpSpPr>
      <p:sp>
        <p:nvSpPr>
          <p:cNvPr id="2" name="Título 1"/>
          <p:cNvSpPr>
            <a:spLocks noGrp="1"/>
          </p:cNvSpPr>
          <p:nvPr>
            <p:ph type="title"/>
          </p:nvPr>
        </p:nvSpPr>
        <p:spPr>
          <a:xfrm>
            <a:off x="457200" y="206169"/>
            <a:ext cx="8229600" cy="858044"/>
          </a:xfrm>
          <a:prstGeom prst="rect">
            <a:avLst/>
          </a:prstGeom>
        </p:spPr>
        <p:txBody>
          <a:bodyPr/>
          <a:lstStyle/>
          <a:p>
            <a:r>
              <a:rPr lang="pt-BR" smtClean="0"/>
              <a:t>Clique para editar o título mestre</a:t>
            </a:r>
            <a:endParaRPr lang="pt-BR"/>
          </a:p>
        </p:txBody>
      </p:sp>
    </p:spTree>
    <p:extLst>
      <p:ext uri="{BB962C8B-B14F-4D97-AF65-F5344CB8AC3E}">
        <p14:creationId xmlns:p14="http://schemas.microsoft.com/office/powerpoint/2010/main" val="3460693877"/>
      </p:ext>
    </p:extLst>
  </p:cSld>
  <p:clrMapOvr>
    <a:masterClrMapping/>
  </p:clrMapOvr>
  <mc:AlternateContent xmlns:mc="http://schemas.openxmlformats.org/markup-compatibility/2006">
    <mc:Choice xmlns:p14="http://schemas.microsoft.com/office/powerpoint/2010/main" Requires="p14">
      <p:transition p14:dur="250">
        <p14:reveal/>
      </p:transition>
    </mc:Choice>
    <mc:Fallback>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vmlDrawing" Target="../drawings/vmlDrawing1.vml"/><Relationship Id="rId7" Type="http://schemas.openxmlformats.org/officeDocument/2006/relationships/image" Target="../media/image3.jpg"/><Relationship Id="rId2" Type="http://schemas.openxmlformats.org/officeDocument/2006/relationships/theme" Target="../theme/theme2.xml"/><Relationship Id="rId1" Type="http://schemas.openxmlformats.org/officeDocument/2006/relationships/slideLayout" Target="../slideLayouts/slideLayout13.xml"/><Relationship Id="rId6" Type="http://schemas.openxmlformats.org/officeDocument/2006/relationships/image" Target="../media/image2.emf"/><Relationship Id="rId5" Type="http://schemas.openxmlformats.org/officeDocument/2006/relationships/oleObject" Target="../embeddings/oleObject1.bin"/><Relationship Id="rId4" Type="http://schemas.openxmlformats.org/officeDocument/2006/relationships/tags" Target="../tags/tag1.xml"/></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vmlDrawing" Target="../drawings/vmlDrawing2.vml"/><Relationship Id="rId7" Type="http://schemas.openxmlformats.org/officeDocument/2006/relationships/image" Target="../media/image1.emf"/><Relationship Id="rId2" Type="http://schemas.openxmlformats.org/officeDocument/2006/relationships/theme" Target="../theme/theme3.xml"/><Relationship Id="rId1" Type="http://schemas.openxmlformats.org/officeDocument/2006/relationships/slideLayout" Target="../slideLayouts/slideLayout14.xml"/><Relationship Id="rId6" Type="http://schemas.openxmlformats.org/officeDocument/2006/relationships/image" Target="../media/image2.emf"/><Relationship Id="rId5" Type="http://schemas.openxmlformats.org/officeDocument/2006/relationships/oleObject" Target="../embeddings/oleObject2.bin"/><Relationship Id="rId4" Type="http://schemas.openxmlformats.org/officeDocument/2006/relationships/tags" Target="../tags/tag2.xml"/><Relationship Id="rId9" Type="http://schemas.openxmlformats.org/officeDocument/2006/relationships/image" Target="../media/image5.jpg"/></Relationships>
</file>

<file path=ppt/slideMasters/_rels/slideMaster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vmlDrawing" Target="../drawings/vmlDrawing3.vml"/><Relationship Id="rId7" Type="http://schemas.openxmlformats.org/officeDocument/2006/relationships/image" Target="../media/image6.png"/><Relationship Id="rId2" Type="http://schemas.openxmlformats.org/officeDocument/2006/relationships/theme" Target="../theme/theme4.xml"/><Relationship Id="rId1" Type="http://schemas.openxmlformats.org/officeDocument/2006/relationships/slideLayout" Target="../slideLayouts/slideLayout15.xml"/><Relationship Id="rId6" Type="http://schemas.openxmlformats.org/officeDocument/2006/relationships/image" Target="../media/image2.emf"/><Relationship Id="rId5" Type="http://schemas.openxmlformats.org/officeDocument/2006/relationships/oleObject" Target="../embeddings/oleObject3.bin"/><Relationship Id="rId4" Type="http://schemas.openxmlformats.org/officeDocument/2006/relationships/tags" Target="../tags/tag3.xml"/><Relationship Id="rId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628650" y="274098"/>
            <a:ext cx="7886700" cy="995093"/>
          </a:xfrm>
          <a:prstGeom prst="rect">
            <a:avLst/>
          </a:prstGeom>
        </p:spPr>
        <p:txBody>
          <a:bodyPr vert="horz" lIns="91440" tIns="45720" rIns="91440" bIns="45720" rtlCol="0" anchor="ctr">
            <a:normAutofit/>
          </a:bodyPr>
          <a:lstStyle/>
          <a:p>
            <a:r>
              <a:rPr lang="pt-BR" smtClean="0"/>
              <a:t>Clique para editar o título mestre</a:t>
            </a:r>
            <a:endParaRPr lang="pt-BR"/>
          </a:p>
        </p:txBody>
      </p:sp>
      <p:sp>
        <p:nvSpPr>
          <p:cNvPr id="3" name="Espaço Reservado para Texto 2"/>
          <p:cNvSpPr>
            <a:spLocks noGrp="1"/>
          </p:cNvSpPr>
          <p:nvPr>
            <p:ph type="body" idx="1"/>
          </p:nvPr>
        </p:nvSpPr>
        <p:spPr>
          <a:xfrm>
            <a:off x="628650" y="1370486"/>
            <a:ext cx="7886700" cy="3266526"/>
          </a:xfrm>
          <a:prstGeom prst="rect">
            <a:avLst/>
          </a:prstGeom>
        </p:spPr>
        <p:txBody>
          <a:bodyPr vert="horz" lIns="91440" tIns="45720" rIns="91440" bIns="45720" rtlCol="0">
            <a:normAutofit/>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2"/>
          </p:nvPr>
        </p:nvSpPr>
        <p:spPr>
          <a:xfrm>
            <a:off x="628650" y="4771678"/>
            <a:ext cx="2057400" cy="274097"/>
          </a:xfrm>
          <a:prstGeom prst="rect">
            <a:avLst/>
          </a:prstGeom>
        </p:spPr>
        <p:txBody>
          <a:bodyPr vert="horz" lIns="91440" tIns="45720" rIns="91440" bIns="45720" rtlCol="0" anchor="ctr"/>
          <a:lstStyle>
            <a:lvl1pPr algn="l">
              <a:defRPr sz="900">
                <a:solidFill>
                  <a:schemeClr val="tx1">
                    <a:tint val="75000"/>
                  </a:schemeClr>
                </a:solidFill>
              </a:defRPr>
            </a:lvl1pPr>
          </a:lstStyle>
          <a:p>
            <a:fld id="{15A96241-9EE8-3241-9C65-A8F2A1D83BB2}" type="datetimeFigureOut">
              <a:rPr lang="en-US" smtClean="0"/>
              <a:t>6/24/2016</a:t>
            </a:fld>
            <a:endParaRPr lang="en-US"/>
          </a:p>
        </p:txBody>
      </p:sp>
      <p:sp>
        <p:nvSpPr>
          <p:cNvPr id="5" name="Espaço Reservado para Rodapé 4"/>
          <p:cNvSpPr>
            <a:spLocks noGrp="1"/>
          </p:cNvSpPr>
          <p:nvPr>
            <p:ph type="ftr" sz="quarter" idx="3"/>
          </p:nvPr>
        </p:nvSpPr>
        <p:spPr>
          <a:xfrm>
            <a:off x="3028950" y="4771678"/>
            <a:ext cx="3086100" cy="274097"/>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Espaço Reservado para Número de Slide 5"/>
          <p:cNvSpPr>
            <a:spLocks noGrp="1"/>
          </p:cNvSpPr>
          <p:nvPr>
            <p:ph type="sldNum" sz="quarter" idx="4"/>
          </p:nvPr>
        </p:nvSpPr>
        <p:spPr>
          <a:xfrm>
            <a:off x="6457950" y="4771678"/>
            <a:ext cx="2057400" cy="274097"/>
          </a:xfrm>
          <a:prstGeom prst="rect">
            <a:avLst/>
          </a:prstGeom>
        </p:spPr>
        <p:txBody>
          <a:bodyPr vert="horz" lIns="91440" tIns="45720" rIns="91440" bIns="45720" rtlCol="0" anchor="ctr"/>
          <a:lstStyle>
            <a:lvl1pPr algn="r">
              <a:defRPr sz="900">
                <a:solidFill>
                  <a:schemeClr val="tx1">
                    <a:tint val="75000"/>
                  </a:schemeClr>
                </a:solidFill>
              </a:defRPr>
            </a:lvl1pPr>
          </a:lstStyle>
          <a:p>
            <a:fld id="{2088DD49-D405-3D4F-92A5-BAA19C6BFE1F}" type="slidenum">
              <a:rPr lang="en-US" smtClean="0"/>
              <a:t>‹nº›</a:t>
            </a:fld>
            <a:endParaRPr lang="en-US"/>
          </a:p>
        </p:txBody>
      </p:sp>
    </p:spTree>
    <p:extLst>
      <p:ext uri="{BB962C8B-B14F-4D97-AF65-F5344CB8AC3E}">
        <p14:creationId xmlns:p14="http://schemas.microsoft.com/office/powerpoint/2010/main" val="240914215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9" r:id="rId12"/>
  </p:sldLayoutIdLst>
  <mc:AlternateContent xmlns:mc="http://schemas.openxmlformats.org/markup-compatibility/2006">
    <mc:Choice xmlns:p14="http://schemas.microsoft.com/office/powerpoint/2010/main" Requires="p14">
      <p:transition p14:dur="250">
        <p14:reveal/>
      </p:transition>
    </mc:Choice>
    <mc:Fallback>
      <p:transition>
        <p:fade/>
      </p:transition>
    </mc:Fallback>
  </mc:AlternateConten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pt-B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Objeto 1" hidden="1"/>
          <p:cNvGraphicFramePr>
            <a:graphicFrameLocks noChangeAspect="1"/>
          </p:cNvGraphicFramePr>
          <p:nvPr userDrawn="1">
            <p:custDataLst>
              <p:tags r:id="rId4"/>
            </p:custDataLst>
            <p:extLst/>
          </p:nvPr>
        </p:nvGraphicFramePr>
        <p:xfrm>
          <a:off x="1589" y="1193"/>
          <a:ext cx="1587" cy="1191"/>
        </p:xfrm>
        <a:graphic>
          <a:graphicData uri="http://schemas.openxmlformats.org/presentationml/2006/ole">
            <mc:AlternateContent xmlns:mc="http://schemas.openxmlformats.org/markup-compatibility/2006">
              <mc:Choice xmlns:v="urn:schemas-microsoft-com:vml" Requires="v">
                <p:oleObj spid="_x0000_s22158" name="Slide do think-cell" r:id="rId5" imgW="270" imgH="270" progId="TCLayout.ActiveDocument.1">
                  <p:embed/>
                </p:oleObj>
              </mc:Choice>
              <mc:Fallback>
                <p:oleObj name="Slide do think-cell" r:id="rId5" imgW="270" imgH="270" progId="TCLayout.ActiveDocument.1">
                  <p:embed/>
                  <p:pic>
                    <p:nvPicPr>
                      <p:cNvPr id="0" name=""/>
                      <p:cNvPicPr/>
                      <p:nvPr/>
                    </p:nvPicPr>
                    <p:blipFill>
                      <a:blip r:embed="rId6"/>
                      <a:stretch>
                        <a:fillRect/>
                      </a:stretch>
                    </p:blipFill>
                    <p:spPr>
                      <a:xfrm>
                        <a:off x="1589" y="1193"/>
                        <a:ext cx="1587" cy="1191"/>
                      </a:xfrm>
                      <a:prstGeom prst="rect">
                        <a:avLst/>
                      </a:prstGeom>
                    </p:spPr>
                  </p:pic>
                </p:oleObj>
              </mc:Fallback>
            </mc:AlternateContent>
          </a:graphicData>
        </a:graphic>
      </p:graphicFrame>
      <p:pic>
        <p:nvPicPr>
          <p:cNvPr id="6" name="Picture 14" descr="t02-02.jpg"/>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0" y="0"/>
            <a:ext cx="9144000" cy="5148263"/>
          </a:xfrm>
          <a:prstGeom prst="rect">
            <a:avLst/>
          </a:prstGeom>
        </p:spPr>
      </p:pic>
      <p:pic>
        <p:nvPicPr>
          <p:cNvPr id="7" name="Picture 10"/>
          <p:cNvPicPr>
            <a:picLocks noChangeAspect="1"/>
          </p:cNvPicPr>
          <p:nvPr userDrawn="1"/>
        </p:nvPicPr>
        <p:blipFill>
          <a:blip r:embed="rId8"/>
          <a:stretch>
            <a:fillRect/>
          </a:stretch>
        </p:blipFill>
        <p:spPr>
          <a:xfrm>
            <a:off x="7021333" y="289005"/>
            <a:ext cx="1603348" cy="291323"/>
          </a:xfrm>
          <a:prstGeom prst="rect">
            <a:avLst/>
          </a:prstGeom>
        </p:spPr>
      </p:pic>
    </p:spTree>
    <p:extLst>
      <p:ext uri="{BB962C8B-B14F-4D97-AF65-F5344CB8AC3E}">
        <p14:creationId xmlns:p14="http://schemas.microsoft.com/office/powerpoint/2010/main" val="1362381218"/>
      </p:ext>
    </p:extLst>
  </p:cSld>
  <p:clrMap bg1="lt1" tx1="dk1" bg2="lt2" tx2="dk2" accent1="accent1" accent2="accent2" accent3="accent3" accent4="accent4" accent5="accent5" accent6="accent6" hlink="hlink" folHlink="folHlink"/>
  <p:sldLayoutIdLst>
    <p:sldLayoutId id="2147483674" r:id="rId1"/>
  </p:sldLayoutIdLst>
  <mc:AlternateContent xmlns:mc="http://schemas.openxmlformats.org/markup-compatibility/2006">
    <mc:Choice xmlns:p14="http://schemas.microsoft.com/office/powerpoint/2010/main" Requires="p14">
      <p:transition p14:dur="250">
        <p14:reveal/>
      </p:transition>
    </mc:Choice>
    <mc:Fallback>
      <p:transition>
        <p:fade/>
      </p:transition>
    </mc:Fallback>
  </mc:AlternateContent>
  <p:hf hdr="0" ftr="0" dt="0"/>
  <p:txStyles>
    <p:titleStyle>
      <a:lvl1pPr algn="ctr" defTabSz="686108" rtl="0" eaLnBrk="1" latinLnBrk="0" hangingPunct="1">
        <a:spcBef>
          <a:spcPct val="0"/>
        </a:spcBef>
        <a:buNone/>
        <a:defRPr sz="3303" kern="1200">
          <a:solidFill>
            <a:schemeClr val="tx1"/>
          </a:solidFill>
          <a:latin typeface="+mj-lt"/>
          <a:ea typeface="+mj-ea"/>
          <a:cs typeface="+mj-cs"/>
        </a:defRPr>
      </a:lvl1pPr>
    </p:titleStyle>
    <p:bodyStyle>
      <a:lvl1pPr marL="257291" indent="-257291" algn="l" defTabSz="686108" rtl="0" eaLnBrk="1" latinLnBrk="0" hangingPunct="1">
        <a:spcBef>
          <a:spcPct val="20000"/>
        </a:spcBef>
        <a:buFont typeface="Arial" pitchFamily="34" charset="0"/>
        <a:buChar char="•"/>
        <a:defRPr sz="2402" kern="1200">
          <a:solidFill>
            <a:schemeClr val="tx1"/>
          </a:solidFill>
          <a:latin typeface="+mn-lt"/>
          <a:ea typeface="+mn-ea"/>
          <a:cs typeface="+mn-cs"/>
        </a:defRPr>
      </a:lvl1pPr>
      <a:lvl2pPr marL="557462" indent="-214409" algn="l" defTabSz="686108" rtl="0" eaLnBrk="1" latinLnBrk="0" hangingPunct="1">
        <a:spcBef>
          <a:spcPct val="20000"/>
        </a:spcBef>
        <a:buFont typeface="Arial" pitchFamily="34" charset="0"/>
        <a:buChar char="–"/>
        <a:defRPr sz="2102" kern="1200">
          <a:solidFill>
            <a:schemeClr val="tx1"/>
          </a:solidFill>
          <a:latin typeface="+mn-lt"/>
          <a:ea typeface="+mn-ea"/>
          <a:cs typeface="+mn-cs"/>
        </a:defRPr>
      </a:lvl2pPr>
      <a:lvl3pPr marL="857634" indent="-171527" algn="l" defTabSz="686108" rtl="0" eaLnBrk="1" latinLnBrk="0" hangingPunct="1">
        <a:spcBef>
          <a:spcPct val="20000"/>
        </a:spcBef>
        <a:buFont typeface="Arial" pitchFamily="34" charset="0"/>
        <a:buChar char="•"/>
        <a:defRPr sz="1802" kern="1200">
          <a:solidFill>
            <a:schemeClr val="tx1"/>
          </a:solidFill>
          <a:latin typeface="+mn-lt"/>
          <a:ea typeface="+mn-ea"/>
          <a:cs typeface="+mn-cs"/>
        </a:defRPr>
      </a:lvl3pPr>
      <a:lvl4pPr marL="1200688" indent="-171527" algn="l" defTabSz="686108" rtl="0" eaLnBrk="1" latinLnBrk="0" hangingPunct="1">
        <a:spcBef>
          <a:spcPct val="20000"/>
        </a:spcBef>
        <a:buFont typeface="Arial" pitchFamily="34" charset="0"/>
        <a:buChar char="–"/>
        <a:defRPr sz="1501" kern="1200">
          <a:solidFill>
            <a:schemeClr val="tx1"/>
          </a:solidFill>
          <a:latin typeface="+mn-lt"/>
          <a:ea typeface="+mn-ea"/>
          <a:cs typeface="+mn-cs"/>
        </a:defRPr>
      </a:lvl4pPr>
      <a:lvl5pPr marL="1543743" indent="-171527" algn="l" defTabSz="686108" rtl="0" eaLnBrk="1" latinLnBrk="0" hangingPunct="1">
        <a:spcBef>
          <a:spcPct val="20000"/>
        </a:spcBef>
        <a:buFont typeface="Arial" pitchFamily="34" charset="0"/>
        <a:buChar char="»"/>
        <a:defRPr sz="1501" kern="1200">
          <a:solidFill>
            <a:schemeClr val="tx1"/>
          </a:solidFill>
          <a:latin typeface="+mn-lt"/>
          <a:ea typeface="+mn-ea"/>
          <a:cs typeface="+mn-cs"/>
        </a:defRPr>
      </a:lvl5pPr>
      <a:lvl6pPr marL="1886798" indent="-171527" algn="l" defTabSz="686108" rtl="0" eaLnBrk="1" latinLnBrk="0" hangingPunct="1">
        <a:spcBef>
          <a:spcPct val="20000"/>
        </a:spcBef>
        <a:buFont typeface="Arial" pitchFamily="34" charset="0"/>
        <a:buChar char="•"/>
        <a:defRPr sz="1501" kern="1200">
          <a:solidFill>
            <a:schemeClr val="tx1"/>
          </a:solidFill>
          <a:latin typeface="+mn-lt"/>
          <a:ea typeface="+mn-ea"/>
          <a:cs typeface="+mn-cs"/>
        </a:defRPr>
      </a:lvl6pPr>
      <a:lvl7pPr marL="2229850" indent="-171527" algn="l" defTabSz="686108" rtl="0" eaLnBrk="1" latinLnBrk="0" hangingPunct="1">
        <a:spcBef>
          <a:spcPct val="20000"/>
        </a:spcBef>
        <a:buFont typeface="Arial" pitchFamily="34" charset="0"/>
        <a:buChar char="•"/>
        <a:defRPr sz="1501" kern="1200">
          <a:solidFill>
            <a:schemeClr val="tx1"/>
          </a:solidFill>
          <a:latin typeface="+mn-lt"/>
          <a:ea typeface="+mn-ea"/>
          <a:cs typeface="+mn-cs"/>
        </a:defRPr>
      </a:lvl7pPr>
      <a:lvl8pPr marL="2572905" indent="-171527" algn="l" defTabSz="686108" rtl="0" eaLnBrk="1" latinLnBrk="0" hangingPunct="1">
        <a:spcBef>
          <a:spcPct val="20000"/>
        </a:spcBef>
        <a:buFont typeface="Arial" pitchFamily="34" charset="0"/>
        <a:buChar char="•"/>
        <a:defRPr sz="1501" kern="1200">
          <a:solidFill>
            <a:schemeClr val="tx1"/>
          </a:solidFill>
          <a:latin typeface="+mn-lt"/>
          <a:ea typeface="+mn-ea"/>
          <a:cs typeface="+mn-cs"/>
        </a:defRPr>
      </a:lvl8pPr>
      <a:lvl9pPr marL="2915959" indent="-171527" algn="l" defTabSz="686108" rtl="0" eaLnBrk="1" latinLnBrk="0" hangingPunct="1">
        <a:spcBef>
          <a:spcPct val="20000"/>
        </a:spcBef>
        <a:buFont typeface="Arial" pitchFamily="34" charset="0"/>
        <a:buChar char="•"/>
        <a:defRPr sz="1501" kern="1200">
          <a:solidFill>
            <a:schemeClr val="tx1"/>
          </a:solidFill>
          <a:latin typeface="+mn-lt"/>
          <a:ea typeface="+mn-ea"/>
          <a:cs typeface="+mn-cs"/>
        </a:defRPr>
      </a:lvl9pPr>
    </p:bodyStyle>
    <p:otherStyle>
      <a:defPPr>
        <a:defRPr lang="pt-BR"/>
      </a:defPPr>
      <a:lvl1pPr marL="0" algn="l" defTabSz="686108" rtl="0" eaLnBrk="1" latinLnBrk="0" hangingPunct="1">
        <a:defRPr sz="1351" kern="1200">
          <a:solidFill>
            <a:schemeClr val="tx1"/>
          </a:solidFill>
          <a:latin typeface="+mn-lt"/>
          <a:ea typeface="+mn-ea"/>
          <a:cs typeface="+mn-cs"/>
        </a:defRPr>
      </a:lvl1pPr>
      <a:lvl2pPr marL="343055" algn="l" defTabSz="686108" rtl="0" eaLnBrk="1" latinLnBrk="0" hangingPunct="1">
        <a:defRPr sz="1351" kern="1200">
          <a:solidFill>
            <a:schemeClr val="tx1"/>
          </a:solidFill>
          <a:latin typeface="+mn-lt"/>
          <a:ea typeface="+mn-ea"/>
          <a:cs typeface="+mn-cs"/>
        </a:defRPr>
      </a:lvl2pPr>
      <a:lvl3pPr marL="686108" algn="l" defTabSz="686108" rtl="0" eaLnBrk="1" latinLnBrk="0" hangingPunct="1">
        <a:defRPr sz="1351" kern="1200">
          <a:solidFill>
            <a:schemeClr val="tx1"/>
          </a:solidFill>
          <a:latin typeface="+mn-lt"/>
          <a:ea typeface="+mn-ea"/>
          <a:cs typeface="+mn-cs"/>
        </a:defRPr>
      </a:lvl3pPr>
      <a:lvl4pPr marL="1029162" algn="l" defTabSz="686108" rtl="0" eaLnBrk="1" latinLnBrk="0" hangingPunct="1">
        <a:defRPr sz="1351" kern="1200">
          <a:solidFill>
            <a:schemeClr val="tx1"/>
          </a:solidFill>
          <a:latin typeface="+mn-lt"/>
          <a:ea typeface="+mn-ea"/>
          <a:cs typeface="+mn-cs"/>
        </a:defRPr>
      </a:lvl4pPr>
      <a:lvl5pPr marL="1372216" algn="l" defTabSz="686108" rtl="0" eaLnBrk="1" latinLnBrk="0" hangingPunct="1">
        <a:defRPr sz="1351" kern="1200">
          <a:solidFill>
            <a:schemeClr val="tx1"/>
          </a:solidFill>
          <a:latin typeface="+mn-lt"/>
          <a:ea typeface="+mn-ea"/>
          <a:cs typeface="+mn-cs"/>
        </a:defRPr>
      </a:lvl5pPr>
      <a:lvl6pPr marL="1715271" algn="l" defTabSz="686108" rtl="0" eaLnBrk="1" latinLnBrk="0" hangingPunct="1">
        <a:defRPr sz="1351" kern="1200">
          <a:solidFill>
            <a:schemeClr val="tx1"/>
          </a:solidFill>
          <a:latin typeface="+mn-lt"/>
          <a:ea typeface="+mn-ea"/>
          <a:cs typeface="+mn-cs"/>
        </a:defRPr>
      </a:lvl6pPr>
      <a:lvl7pPr marL="2058324" algn="l" defTabSz="686108" rtl="0" eaLnBrk="1" latinLnBrk="0" hangingPunct="1">
        <a:defRPr sz="1351" kern="1200">
          <a:solidFill>
            <a:schemeClr val="tx1"/>
          </a:solidFill>
          <a:latin typeface="+mn-lt"/>
          <a:ea typeface="+mn-ea"/>
          <a:cs typeface="+mn-cs"/>
        </a:defRPr>
      </a:lvl7pPr>
      <a:lvl8pPr marL="2401377" algn="l" defTabSz="686108" rtl="0" eaLnBrk="1" latinLnBrk="0" hangingPunct="1">
        <a:defRPr sz="1351" kern="1200">
          <a:solidFill>
            <a:schemeClr val="tx1"/>
          </a:solidFill>
          <a:latin typeface="+mn-lt"/>
          <a:ea typeface="+mn-ea"/>
          <a:cs typeface="+mn-cs"/>
        </a:defRPr>
      </a:lvl8pPr>
      <a:lvl9pPr marL="2744432" algn="l" defTabSz="686108" rtl="0" eaLnBrk="1" latinLnBrk="0" hangingPunct="1">
        <a:defRPr sz="1351"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Objeto 1" hidden="1"/>
          <p:cNvGraphicFramePr>
            <a:graphicFrameLocks noChangeAspect="1"/>
          </p:cNvGraphicFramePr>
          <p:nvPr userDrawn="1">
            <p:custDataLst>
              <p:tags r:id="rId4"/>
            </p:custDataLst>
            <p:extLst/>
          </p:nvPr>
        </p:nvGraphicFramePr>
        <p:xfrm>
          <a:off x="1589" y="1193"/>
          <a:ext cx="1587" cy="1191"/>
        </p:xfrm>
        <a:graphic>
          <a:graphicData uri="http://schemas.openxmlformats.org/presentationml/2006/ole">
            <mc:AlternateContent xmlns:mc="http://schemas.openxmlformats.org/markup-compatibility/2006">
              <mc:Choice xmlns:v="urn:schemas-microsoft-com:vml" Requires="v">
                <p:oleObj spid="_x0000_s23182" name="Slide do think-cell" r:id="rId5" imgW="270" imgH="270" progId="TCLayout.ActiveDocument.1">
                  <p:embed/>
                </p:oleObj>
              </mc:Choice>
              <mc:Fallback>
                <p:oleObj name="Slide do think-cell" r:id="rId5" imgW="270" imgH="270" progId="TCLayout.ActiveDocument.1">
                  <p:embed/>
                  <p:pic>
                    <p:nvPicPr>
                      <p:cNvPr id="0" name=""/>
                      <p:cNvPicPr/>
                      <p:nvPr/>
                    </p:nvPicPr>
                    <p:blipFill>
                      <a:blip r:embed="rId6"/>
                      <a:stretch>
                        <a:fillRect/>
                      </a:stretch>
                    </p:blipFill>
                    <p:spPr>
                      <a:xfrm>
                        <a:off x="1589" y="1193"/>
                        <a:ext cx="1587" cy="1191"/>
                      </a:xfrm>
                      <a:prstGeom prst="rect">
                        <a:avLst/>
                      </a:prstGeom>
                    </p:spPr>
                  </p:pic>
                </p:oleObj>
              </mc:Fallback>
            </mc:AlternateContent>
          </a:graphicData>
        </a:graphic>
      </p:graphicFrame>
      <p:pic>
        <p:nvPicPr>
          <p:cNvPr id="6" name="Picture 9"/>
          <p:cNvPicPr>
            <a:picLocks noChangeAspect="1"/>
          </p:cNvPicPr>
          <p:nvPr userDrawn="1"/>
        </p:nvPicPr>
        <p:blipFill>
          <a:blip r:embed="rId7"/>
          <a:stretch>
            <a:fillRect/>
          </a:stretch>
        </p:blipFill>
        <p:spPr>
          <a:xfrm>
            <a:off x="7062980" y="289005"/>
            <a:ext cx="1603348" cy="291323"/>
          </a:xfrm>
          <a:prstGeom prst="rect">
            <a:avLst/>
          </a:prstGeom>
        </p:spPr>
      </p:pic>
      <p:pic>
        <p:nvPicPr>
          <p:cNvPr id="7" name="Picture 2"/>
          <p:cNvPicPr>
            <a:picLocks noChangeAspect="1" noChangeArrowheads="1"/>
          </p:cNvPicPr>
          <p:nvPr userDrawn="1"/>
        </p:nvPicPr>
        <p:blipFill rotWithShape="1">
          <a:blip r:embed="rId8">
            <a:extLst>
              <a:ext uri="{28A0092B-C50C-407E-A947-70E740481C1C}">
                <a14:useLocalDpi xmlns:a14="http://schemas.microsoft.com/office/drawing/2010/main" val="0"/>
              </a:ext>
            </a:extLst>
          </a:blip>
          <a:srcRect l="76780" t="78172" r="18395" b="12686"/>
          <a:stretch/>
        </p:blipFill>
        <p:spPr bwMode="auto">
          <a:xfrm>
            <a:off x="8188658" y="4384319"/>
            <a:ext cx="955343" cy="7639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1" descr="t03-02.jpg"/>
          <p:cNvPicPr>
            <a:picLocks noChangeAspect="1"/>
          </p:cNvPicPr>
          <p:nvPr userDrawn="1"/>
        </p:nvPicPr>
        <p:blipFill rotWithShape="1">
          <a:blip r:embed="rId9">
            <a:extLst>
              <a:ext uri="{28A0092B-C50C-407E-A947-70E740481C1C}">
                <a14:useLocalDpi xmlns:a14="http://schemas.microsoft.com/office/drawing/2010/main" val="0"/>
              </a:ext>
            </a:extLst>
          </a:blip>
          <a:srcRect r="91368" b="84909"/>
          <a:stretch/>
        </p:blipFill>
        <p:spPr>
          <a:xfrm>
            <a:off x="0" y="0"/>
            <a:ext cx="789296" cy="776935"/>
          </a:xfrm>
          <a:prstGeom prst="rect">
            <a:avLst/>
          </a:prstGeom>
        </p:spPr>
      </p:pic>
    </p:spTree>
    <p:extLst>
      <p:ext uri="{BB962C8B-B14F-4D97-AF65-F5344CB8AC3E}">
        <p14:creationId xmlns:p14="http://schemas.microsoft.com/office/powerpoint/2010/main" val="579421654"/>
      </p:ext>
    </p:extLst>
  </p:cSld>
  <p:clrMap bg1="lt1" tx1="dk1" bg2="lt2" tx2="dk2" accent1="accent1" accent2="accent2" accent3="accent3" accent4="accent4" accent5="accent5" accent6="accent6" hlink="hlink" folHlink="folHlink"/>
  <p:sldLayoutIdLst>
    <p:sldLayoutId id="2147483676" r:id="rId1"/>
  </p:sldLayoutIdLst>
  <mc:AlternateContent xmlns:mc="http://schemas.openxmlformats.org/markup-compatibility/2006">
    <mc:Choice xmlns:p14="http://schemas.microsoft.com/office/powerpoint/2010/main" Requires="p14">
      <p:transition p14:dur="250">
        <p14:reveal/>
      </p:transition>
    </mc:Choice>
    <mc:Fallback>
      <p:transition>
        <p:fade/>
      </p:transition>
    </mc:Fallback>
  </mc:AlternateContent>
  <p:hf hdr="0" ftr="0" dt="0"/>
  <p:txStyles>
    <p:titleStyle>
      <a:lvl1pPr algn="ctr" defTabSz="686108" rtl="0" eaLnBrk="1" latinLnBrk="0" hangingPunct="1">
        <a:spcBef>
          <a:spcPct val="0"/>
        </a:spcBef>
        <a:buNone/>
        <a:defRPr sz="3303" kern="1200">
          <a:solidFill>
            <a:schemeClr val="tx1"/>
          </a:solidFill>
          <a:latin typeface="+mj-lt"/>
          <a:ea typeface="+mj-ea"/>
          <a:cs typeface="+mj-cs"/>
        </a:defRPr>
      </a:lvl1pPr>
    </p:titleStyle>
    <p:bodyStyle>
      <a:lvl1pPr marL="257291" indent="-257291" algn="l" defTabSz="686108" rtl="0" eaLnBrk="1" latinLnBrk="0" hangingPunct="1">
        <a:spcBef>
          <a:spcPct val="20000"/>
        </a:spcBef>
        <a:buFont typeface="Arial" pitchFamily="34" charset="0"/>
        <a:buChar char="•"/>
        <a:defRPr sz="2402" kern="1200">
          <a:solidFill>
            <a:schemeClr val="tx1"/>
          </a:solidFill>
          <a:latin typeface="+mn-lt"/>
          <a:ea typeface="+mn-ea"/>
          <a:cs typeface="+mn-cs"/>
        </a:defRPr>
      </a:lvl1pPr>
      <a:lvl2pPr marL="557462" indent="-214409" algn="l" defTabSz="686108" rtl="0" eaLnBrk="1" latinLnBrk="0" hangingPunct="1">
        <a:spcBef>
          <a:spcPct val="20000"/>
        </a:spcBef>
        <a:buFont typeface="Arial" pitchFamily="34" charset="0"/>
        <a:buChar char="–"/>
        <a:defRPr sz="2102" kern="1200">
          <a:solidFill>
            <a:schemeClr val="tx1"/>
          </a:solidFill>
          <a:latin typeface="+mn-lt"/>
          <a:ea typeface="+mn-ea"/>
          <a:cs typeface="+mn-cs"/>
        </a:defRPr>
      </a:lvl2pPr>
      <a:lvl3pPr marL="857634" indent="-171527" algn="l" defTabSz="686108" rtl="0" eaLnBrk="1" latinLnBrk="0" hangingPunct="1">
        <a:spcBef>
          <a:spcPct val="20000"/>
        </a:spcBef>
        <a:buFont typeface="Arial" pitchFamily="34" charset="0"/>
        <a:buChar char="•"/>
        <a:defRPr sz="1802" kern="1200">
          <a:solidFill>
            <a:schemeClr val="tx1"/>
          </a:solidFill>
          <a:latin typeface="+mn-lt"/>
          <a:ea typeface="+mn-ea"/>
          <a:cs typeface="+mn-cs"/>
        </a:defRPr>
      </a:lvl3pPr>
      <a:lvl4pPr marL="1200688" indent="-171527" algn="l" defTabSz="686108" rtl="0" eaLnBrk="1" latinLnBrk="0" hangingPunct="1">
        <a:spcBef>
          <a:spcPct val="20000"/>
        </a:spcBef>
        <a:buFont typeface="Arial" pitchFamily="34" charset="0"/>
        <a:buChar char="–"/>
        <a:defRPr sz="1501" kern="1200">
          <a:solidFill>
            <a:schemeClr val="tx1"/>
          </a:solidFill>
          <a:latin typeface="+mn-lt"/>
          <a:ea typeface="+mn-ea"/>
          <a:cs typeface="+mn-cs"/>
        </a:defRPr>
      </a:lvl4pPr>
      <a:lvl5pPr marL="1543743" indent="-171527" algn="l" defTabSz="686108" rtl="0" eaLnBrk="1" latinLnBrk="0" hangingPunct="1">
        <a:spcBef>
          <a:spcPct val="20000"/>
        </a:spcBef>
        <a:buFont typeface="Arial" pitchFamily="34" charset="0"/>
        <a:buChar char="»"/>
        <a:defRPr sz="1501" kern="1200">
          <a:solidFill>
            <a:schemeClr val="tx1"/>
          </a:solidFill>
          <a:latin typeface="+mn-lt"/>
          <a:ea typeface="+mn-ea"/>
          <a:cs typeface="+mn-cs"/>
        </a:defRPr>
      </a:lvl5pPr>
      <a:lvl6pPr marL="1886798" indent="-171527" algn="l" defTabSz="686108" rtl="0" eaLnBrk="1" latinLnBrk="0" hangingPunct="1">
        <a:spcBef>
          <a:spcPct val="20000"/>
        </a:spcBef>
        <a:buFont typeface="Arial" pitchFamily="34" charset="0"/>
        <a:buChar char="•"/>
        <a:defRPr sz="1501" kern="1200">
          <a:solidFill>
            <a:schemeClr val="tx1"/>
          </a:solidFill>
          <a:latin typeface="+mn-lt"/>
          <a:ea typeface="+mn-ea"/>
          <a:cs typeface="+mn-cs"/>
        </a:defRPr>
      </a:lvl6pPr>
      <a:lvl7pPr marL="2229850" indent="-171527" algn="l" defTabSz="686108" rtl="0" eaLnBrk="1" latinLnBrk="0" hangingPunct="1">
        <a:spcBef>
          <a:spcPct val="20000"/>
        </a:spcBef>
        <a:buFont typeface="Arial" pitchFamily="34" charset="0"/>
        <a:buChar char="•"/>
        <a:defRPr sz="1501" kern="1200">
          <a:solidFill>
            <a:schemeClr val="tx1"/>
          </a:solidFill>
          <a:latin typeface="+mn-lt"/>
          <a:ea typeface="+mn-ea"/>
          <a:cs typeface="+mn-cs"/>
        </a:defRPr>
      </a:lvl7pPr>
      <a:lvl8pPr marL="2572905" indent="-171527" algn="l" defTabSz="686108" rtl="0" eaLnBrk="1" latinLnBrk="0" hangingPunct="1">
        <a:spcBef>
          <a:spcPct val="20000"/>
        </a:spcBef>
        <a:buFont typeface="Arial" pitchFamily="34" charset="0"/>
        <a:buChar char="•"/>
        <a:defRPr sz="1501" kern="1200">
          <a:solidFill>
            <a:schemeClr val="tx1"/>
          </a:solidFill>
          <a:latin typeface="+mn-lt"/>
          <a:ea typeface="+mn-ea"/>
          <a:cs typeface="+mn-cs"/>
        </a:defRPr>
      </a:lvl8pPr>
      <a:lvl9pPr marL="2915959" indent="-171527" algn="l" defTabSz="686108" rtl="0" eaLnBrk="1" latinLnBrk="0" hangingPunct="1">
        <a:spcBef>
          <a:spcPct val="20000"/>
        </a:spcBef>
        <a:buFont typeface="Arial" pitchFamily="34" charset="0"/>
        <a:buChar char="•"/>
        <a:defRPr sz="1501" kern="1200">
          <a:solidFill>
            <a:schemeClr val="tx1"/>
          </a:solidFill>
          <a:latin typeface="+mn-lt"/>
          <a:ea typeface="+mn-ea"/>
          <a:cs typeface="+mn-cs"/>
        </a:defRPr>
      </a:lvl9pPr>
    </p:bodyStyle>
    <p:otherStyle>
      <a:defPPr>
        <a:defRPr lang="pt-BR"/>
      </a:defPPr>
      <a:lvl1pPr marL="0" algn="l" defTabSz="686108" rtl="0" eaLnBrk="1" latinLnBrk="0" hangingPunct="1">
        <a:defRPr sz="1351" kern="1200">
          <a:solidFill>
            <a:schemeClr val="tx1"/>
          </a:solidFill>
          <a:latin typeface="+mn-lt"/>
          <a:ea typeface="+mn-ea"/>
          <a:cs typeface="+mn-cs"/>
        </a:defRPr>
      </a:lvl1pPr>
      <a:lvl2pPr marL="343055" algn="l" defTabSz="686108" rtl="0" eaLnBrk="1" latinLnBrk="0" hangingPunct="1">
        <a:defRPr sz="1351" kern="1200">
          <a:solidFill>
            <a:schemeClr val="tx1"/>
          </a:solidFill>
          <a:latin typeface="+mn-lt"/>
          <a:ea typeface="+mn-ea"/>
          <a:cs typeface="+mn-cs"/>
        </a:defRPr>
      </a:lvl2pPr>
      <a:lvl3pPr marL="686108" algn="l" defTabSz="686108" rtl="0" eaLnBrk="1" latinLnBrk="0" hangingPunct="1">
        <a:defRPr sz="1351" kern="1200">
          <a:solidFill>
            <a:schemeClr val="tx1"/>
          </a:solidFill>
          <a:latin typeface="+mn-lt"/>
          <a:ea typeface="+mn-ea"/>
          <a:cs typeface="+mn-cs"/>
        </a:defRPr>
      </a:lvl3pPr>
      <a:lvl4pPr marL="1029162" algn="l" defTabSz="686108" rtl="0" eaLnBrk="1" latinLnBrk="0" hangingPunct="1">
        <a:defRPr sz="1351" kern="1200">
          <a:solidFill>
            <a:schemeClr val="tx1"/>
          </a:solidFill>
          <a:latin typeface="+mn-lt"/>
          <a:ea typeface="+mn-ea"/>
          <a:cs typeface="+mn-cs"/>
        </a:defRPr>
      </a:lvl4pPr>
      <a:lvl5pPr marL="1372216" algn="l" defTabSz="686108" rtl="0" eaLnBrk="1" latinLnBrk="0" hangingPunct="1">
        <a:defRPr sz="1351" kern="1200">
          <a:solidFill>
            <a:schemeClr val="tx1"/>
          </a:solidFill>
          <a:latin typeface="+mn-lt"/>
          <a:ea typeface="+mn-ea"/>
          <a:cs typeface="+mn-cs"/>
        </a:defRPr>
      </a:lvl5pPr>
      <a:lvl6pPr marL="1715271" algn="l" defTabSz="686108" rtl="0" eaLnBrk="1" latinLnBrk="0" hangingPunct="1">
        <a:defRPr sz="1351" kern="1200">
          <a:solidFill>
            <a:schemeClr val="tx1"/>
          </a:solidFill>
          <a:latin typeface="+mn-lt"/>
          <a:ea typeface="+mn-ea"/>
          <a:cs typeface="+mn-cs"/>
        </a:defRPr>
      </a:lvl6pPr>
      <a:lvl7pPr marL="2058324" algn="l" defTabSz="686108" rtl="0" eaLnBrk="1" latinLnBrk="0" hangingPunct="1">
        <a:defRPr sz="1351" kern="1200">
          <a:solidFill>
            <a:schemeClr val="tx1"/>
          </a:solidFill>
          <a:latin typeface="+mn-lt"/>
          <a:ea typeface="+mn-ea"/>
          <a:cs typeface="+mn-cs"/>
        </a:defRPr>
      </a:lvl7pPr>
      <a:lvl8pPr marL="2401377" algn="l" defTabSz="686108" rtl="0" eaLnBrk="1" latinLnBrk="0" hangingPunct="1">
        <a:defRPr sz="1351" kern="1200">
          <a:solidFill>
            <a:schemeClr val="tx1"/>
          </a:solidFill>
          <a:latin typeface="+mn-lt"/>
          <a:ea typeface="+mn-ea"/>
          <a:cs typeface="+mn-cs"/>
        </a:defRPr>
      </a:lvl8pPr>
      <a:lvl9pPr marL="2744432" algn="l" defTabSz="686108" rtl="0" eaLnBrk="1" latinLnBrk="0" hangingPunct="1">
        <a:defRPr sz="1351"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Objeto 1" hidden="1"/>
          <p:cNvGraphicFramePr>
            <a:graphicFrameLocks noChangeAspect="1"/>
          </p:cNvGraphicFramePr>
          <p:nvPr userDrawn="1">
            <p:custDataLst>
              <p:tags r:id="rId4"/>
            </p:custDataLst>
            <p:extLst/>
          </p:nvPr>
        </p:nvGraphicFramePr>
        <p:xfrm>
          <a:off x="1589" y="1193"/>
          <a:ext cx="1587" cy="1191"/>
        </p:xfrm>
        <a:graphic>
          <a:graphicData uri="http://schemas.openxmlformats.org/presentationml/2006/ole">
            <mc:AlternateContent xmlns:mc="http://schemas.openxmlformats.org/markup-compatibility/2006">
              <mc:Choice xmlns:v="urn:schemas-microsoft-com:vml" Requires="v">
                <p:oleObj spid="_x0000_s24206" name="Slide do think-cell" r:id="rId5" imgW="270" imgH="270" progId="TCLayout.ActiveDocument.1">
                  <p:embed/>
                </p:oleObj>
              </mc:Choice>
              <mc:Fallback>
                <p:oleObj name="Slide do think-cell" r:id="rId5" imgW="270" imgH="270" progId="TCLayout.ActiveDocument.1">
                  <p:embed/>
                  <p:pic>
                    <p:nvPicPr>
                      <p:cNvPr id="0" name=""/>
                      <p:cNvPicPr/>
                      <p:nvPr/>
                    </p:nvPicPr>
                    <p:blipFill>
                      <a:blip r:embed="rId6"/>
                      <a:stretch>
                        <a:fillRect/>
                      </a:stretch>
                    </p:blipFill>
                    <p:spPr>
                      <a:xfrm>
                        <a:off x="1589" y="1193"/>
                        <a:ext cx="1587" cy="1191"/>
                      </a:xfrm>
                      <a:prstGeom prst="rect">
                        <a:avLst/>
                      </a:prstGeom>
                    </p:spPr>
                  </p:pic>
                </p:oleObj>
              </mc:Fallback>
            </mc:AlternateContent>
          </a:graphicData>
        </a:graphic>
      </p:graphicFrame>
      <p:pic>
        <p:nvPicPr>
          <p:cNvPr id="8" name="interna_img-3.png"/>
          <p:cNvPicPr/>
          <p:nvPr userDrawn="1"/>
        </p:nvPicPr>
        <p:blipFill>
          <a:blip r:embed="rId7">
            <a:extLst>
              <a:ext uri="{28A0092B-C50C-407E-A947-70E740481C1C}">
                <a14:useLocalDpi xmlns:a14="http://schemas.microsoft.com/office/drawing/2010/main" val="0"/>
              </a:ext>
            </a:extLst>
          </a:blip>
          <a:srcRect r="70182"/>
          <a:stretch>
            <a:fillRect/>
          </a:stretch>
        </p:blipFill>
        <p:spPr>
          <a:xfrm>
            <a:off x="1" y="-4669"/>
            <a:ext cx="3640873" cy="5157601"/>
          </a:xfrm>
          <a:prstGeom prst="rect">
            <a:avLst/>
          </a:prstGeom>
          <a:ln w="12700">
            <a:miter lim="400000"/>
          </a:ln>
        </p:spPr>
      </p:pic>
      <p:pic>
        <p:nvPicPr>
          <p:cNvPr id="9" name="image5.png"/>
          <p:cNvPicPr/>
          <p:nvPr userDrawn="1"/>
        </p:nvPicPr>
        <p:blipFill rotWithShape="1">
          <a:blip r:embed="rId8" cstate="print">
            <a:extLst>
              <a:ext uri="{28A0092B-C50C-407E-A947-70E740481C1C}">
                <a14:useLocalDpi xmlns:a14="http://schemas.microsoft.com/office/drawing/2010/main" val="0"/>
              </a:ext>
            </a:extLst>
          </a:blip>
          <a:srcRect r="50000"/>
          <a:stretch/>
        </p:blipFill>
        <p:spPr>
          <a:xfrm>
            <a:off x="8118917" y="4410609"/>
            <a:ext cx="1043999" cy="770734"/>
          </a:xfrm>
          <a:prstGeom prst="rect">
            <a:avLst/>
          </a:prstGeom>
          <a:ln w="12700">
            <a:miter lim="400000"/>
          </a:ln>
        </p:spPr>
      </p:pic>
      <p:pic>
        <p:nvPicPr>
          <p:cNvPr id="10" name="Picture 11"/>
          <p:cNvPicPr>
            <a:picLocks noChangeAspect="1"/>
          </p:cNvPicPr>
          <p:nvPr userDrawn="1"/>
        </p:nvPicPr>
        <p:blipFill>
          <a:blip r:embed="rId9"/>
          <a:stretch>
            <a:fillRect/>
          </a:stretch>
        </p:blipFill>
        <p:spPr>
          <a:xfrm>
            <a:off x="7021333" y="289005"/>
            <a:ext cx="1603348" cy="291323"/>
          </a:xfrm>
          <a:prstGeom prst="rect">
            <a:avLst/>
          </a:prstGeom>
        </p:spPr>
      </p:pic>
    </p:spTree>
    <p:extLst>
      <p:ext uri="{BB962C8B-B14F-4D97-AF65-F5344CB8AC3E}">
        <p14:creationId xmlns:p14="http://schemas.microsoft.com/office/powerpoint/2010/main" val="715296771"/>
      </p:ext>
    </p:extLst>
  </p:cSld>
  <p:clrMap bg1="lt1" tx1="dk1" bg2="lt2" tx2="dk2" accent1="accent1" accent2="accent2" accent3="accent3" accent4="accent4" accent5="accent5" accent6="accent6" hlink="hlink" folHlink="folHlink"/>
  <p:sldLayoutIdLst>
    <p:sldLayoutId id="2147483678" r:id="rId1"/>
  </p:sldLayoutIdLst>
  <mc:AlternateContent xmlns:mc="http://schemas.openxmlformats.org/markup-compatibility/2006">
    <mc:Choice xmlns:p14="http://schemas.microsoft.com/office/powerpoint/2010/main" Requires="p14">
      <p:transition p14:dur="250">
        <p14:reveal/>
      </p:transition>
    </mc:Choice>
    <mc:Fallback>
      <p:transition>
        <p:fade/>
      </p:transition>
    </mc:Fallback>
  </mc:AlternateContent>
  <p:hf hdr="0" ftr="0" dt="0"/>
  <p:txStyles>
    <p:titleStyle>
      <a:lvl1pPr algn="ctr" defTabSz="686108" rtl="0" eaLnBrk="1" latinLnBrk="0" hangingPunct="1">
        <a:spcBef>
          <a:spcPct val="0"/>
        </a:spcBef>
        <a:buNone/>
        <a:defRPr sz="3303" kern="1200">
          <a:solidFill>
            <a:schemeClr val="tx1"/>
          </a:solidFill>
          <a:latin typeface="+mj-lt"/>
          <a:ea typeface="+mj-ea"/>
          <a:cs typeface="+mj-cs"/>
        </a:defRPr>
      </a:lvl1pPr>
    </p:titleStyle>
    <p:bodyStyle>
      <a:lvl1pPr marL="257291" indent="-257291" algn="l" defTabSz="686108" rtl="0" eaLnBrk="1" latinLnBrk="0" hangingPunct="1">
        <a:spcBef>
          <a:spcPct val="20000"/>
        </a:spcBef>
        <a:buFont typeface="Arial" pitchFamily="34" charset="0"/>
        <a:buChar char="•"/>
        <a:defRPr sz="2402" kern="1200">
          <a:solidFill>
            <a:schemeClr val="tx1"/>
          </a:solidFill>
          <a:latin typeface="+mn-lt"/>
          <a:ea typeface="+mn-ea"/>
          <a:cs typeface="+mn-cs"/>
        </a:defRPr>
      </a:lvl1pPr>
      <a:lvl2pPr marL="557462" indent="-214409" algn="l" defTabSz="686108" rtl="0" eaLnBrk="1" latinLnBrk="0" hangingPunct="1">
        <a:spcBef>
          <a:spcPct val="20000"/>
        </a:spcBef>
        <a:buFont typeface="Arial" pitchFamily="34" charset="0"/>
        <a:buChar char="–"/>
        <a:defRPr sz="2102" kern="1200">
          <a:solidFill>
            <a:schemeClr val="tx1"/>
          </a:solidFill>
          <a:latin typeface="+mn-lt"/>
          <a:ea typeface="+mn-ea"/>
          <a:cs typeface="+mn-cs"/>
        </a:defRPr>
      </a:lvl2pPr>
      <a:lvl3pPr marL="857634" indent="-171527" algn="l" defTabSz="686108" rtl="0" eaLnBrk="1" latinLnBrk="0" hangingPunct="1">
        <a:spcBef>
          <a:spcPct val="20000"/>
        </a:spcBef>
        <a:buFont typeface="Arial" pitchFamily="34" charset="0"/>
        <a:buChar char="•"/>
        <a:defRPr sz="1802" kern="1200">
          <a:solidFill>
            <a:schemeClr val="tx1"/>
          </a:solidFill>
          <a:latin typeface="+mn-lt"/>
          <a:ea typeface="+mn-ea"/>
          <a:cs typeface="+mn-cs"/>
        </a:defRPr>
      </a:lvl3pPr>
      <a:lvl4pPr marL="1200688" indent="-171527" algn="l" defTabSz="686108" rtl="0" eaLnBrk="1" latinLnBrk="0" hangingPunct="1">
        <a:spcBef>
          <a:spcPct val="20000"/>
        </a:spcBef>
        <a:buFont typeface="Arial" pitchFamily="34" charset="0"/>
        <a:buChar char="–"/>
        <a:defRPr sz="1501" kern="1200">
          <a:solidFill>
            <a:schemeClr val="tx1"/>
          </a:solidFill>
          <a:latin typeface="+mn-lt"/>
          <a:ea typeface="+mn-ea"/>
          <a:cs typeface="+mn-cs"/>
        </a:defRPr>
      </a:lvl4pPr>
      <a:lvl5pPr marL="1543743" indent="-171527" algn="l" defTabSz="686108" rtl="0" eaLnBrk="1" latinLnBrk="0" hangingPunct="1">
        <a:spcBef>
          <a:spcPct val="20000"/>
        </a:spcBef>
        <a:buFont typeface="Arial" pitchFamily="34" charset="0"/>
        <a:buChar char="»"/>
        <a:defRPr sz="1501" kern="1200">
          <a:solidFill>
            <a:schemeClr val="tx1"/>
          </a:solidFill>
          <a:latin typeface="+mn-lt"/>
          <a:ea typeface="+mn-ea"/>
          <a:cs typeface="+mn-cs"/>
        </a:defRPr>
      </a:lvl5pPr>
      <a:lvl6pPr marL="1886798" indent="-171527" algn="l" defTabSz="686108" rtl="0" eaLnBrk="1" latinLnBrk="0" hangingPunct="1">
        <a:spcBef>
          <a:spcPct val="20000"/>
        </a:spcBef>
        <a:buFont typeface="Arial" pitchFamily="34" charset="0"/>
        <a:buChar char="•"/>
        <a:defRPr sz="1501" kern="1200">
          <a:solidFill>
            <a:schemeClr val="tx1"/>
          </a:solidFill>
          <a:latin typeface="+mn-lt"/>
          <a:ea typeface="+mn-ea"/>
          <a:cs typeface="+mn-cs"/>
        </a:defRPr>
      </a:lvl6pPr>
      <a:lvl7pPr marL="2229850" indent="-171527" algn="l" defTabSz="686108" rtl="0" eaLnBrk="1" latinLnBrk="0" hangingPunct="1">
        <a:spcBef>
          <a:spcPct val="20000"/>
        </a:spcBef>
        <a:buFont typeface="Arial" pitchFamily="34" charset="0"/>
        <a:buChar char="•"/>
        <a:defRPr sz="1501" kern="1200">
          <a:solidFill>
            <a:schemeClr val="tx1"/>
          </a:solidFill>
          <a:latin typeface="+mn-lt"/>
          <a:ea typeface="+mn-ea"/>
          <a:cs typeface="+mn-cs"/>
        </a:defRPr>
      </a:lvl7pPr>
      <a:lvl8pPr marL="2572905" indent="-171527" algn="l" defTabSz="686108" rtl="0" eaLnBrk="1" latinLnBrk="0" hangingPunct="1">
        <a:spcBef>
          <a:spcPct val="20000"/>
        </a:spcBef>
        <a:buFont typeface="Arial" pitchFamily="34" charset="0"/>
        <a:buChar char="•"/>
        <a:defRPr sz="1501" kern="1200">
          <a:solidFill>
            <a:schemeClr val="tx1"/>
          </a:solidFill>
          <a:latin typeface="+mn-lt"/>
          <a:ea typeface="+mn-ea"/>
          <a:cs typeface="+mn-cs"/>
        </a:defRPr>
      </a:lvl8pPr>
      <a:lvl9pPr marL="2915959" indent="-171527" algn="l" defTabSz="686108" rtl="0" eaLnBrk="1" latinLnBrk="0" hangingPunct="1">
        <a:spcBef>
          <a:spcPct val="20000"/>
        </a:spcBef>
        <a:buFont typeface="Arial" pitchFamily="34" charset="0"/>
        <a:buChar char="•"/>
        <a:defRPr sz="1501" kern="1200">
          <a:solidFill>
            <a:schemeClr val="tx1"/>
          </a:solidFill>
          <a:latin typeface="+mn-lt"/>
          <a:ea typeface="+mn-ea"/>
          <a:cs typeface="+mn-cs"/>
        </a:defRPr>
      </a:lvl9pPr>
    </p:bodyStyle>
    <p:otherStyle>
      <a:defPPr>
        <a:defRPr lang="pt-BR"/>
      </a:defPPr>
      <a:lvl1pPr marL="0" algn="l" defTabSz="686108" rtl="0" eaLnBrk="1" latinLnBrk="0" hangingPunct="1">
        <a:defRPr sz="1351" kern="1200">
          <a:solidFill>
            <a:schemeClr val="tx1"/>
          </a:solidFill>
          <a:latin typeface="+mn-lt"/>
          <a:ea typeface="+mn-ea"/>
          <a:cs typeface="+mn-cs"/>
        </a:defRPr>
      </a:lvl1pPr>
      <a:lvl2pPr marL="343055" algn="l" defTabSz="686108" rtl="0" eaLnBrk="1" latinLnBrk="0" hangingPunct="1">
        <a:defRPr sz="1351" kern="1200">
          <a:solidFill>
            <a:schemeClr val="tx1"/>
          </a:solidFill>
          <a:latin typeface="+mn-lt"/>
          <a:ea typeface="+mn-ea"/>
          <a:cs typeface="+mn-cs"/>
        </a:defRPr>
      </a:lvl2pPr>
      <a:lvl3pPr marL="686108" algn="l" defTabSz="686108" rtl="0" eaLnBrk="1" latinLnBrk="0" hangingPunct="1">
        <a:defRPr sz="1351" kern="1200">
          <a:solidFill>
            <a:schemeClr val="tx1"/>
          </a:solidFill>
          <a:latin typeface="+mn-lt"/>
          <a:ea typeface="+mn-ea"/>
          <a:cs typeface="+mn-cs"/>
        </a:defRPr>
      </a:lvl3pPr>
      <a:lvl4pPr marL="1029162" algn="l" defTabSz="686108" rtl="0" eaLnBrk="1" latinLnBrk="0" hangingPunct="1">
        <a:defRPr sz="1351" kern="1200">
          <a:solidFill>
            <a:schemeClr val="tx1"/>
          </a:solidFill>
          <a:latin typeface="+mn-lt"/>
          <a:ea typeface="+mn-ea"/>
          <a:cs typeface="+mn-cs"/>
        </a:defRPr>
      </a:lvl4pPr>
      <a:lvl5pPr marL="1372216" algn="l" defTabSz="686108" rtl="0" eaLnBrk="1" latinLnBrk="0" hangingPunct="1">
        <a:defRPr sz="1351" kern="1200">
          <a:solidFill>
            <a:schemeClr val="tx1"/>
          </a:solidFill>
          <a:latin typeface="+mn-lt"/>
          <a:ea typeface="+mn-ea"/>
          <a:cs typeface="+mn-cs"/>
        </a:defRPr>
      </a:lvl5pPr>
      <a:lvl6pPr marL="1715271" algn="l" defTabSz="686108" rtl="0" eaLnBrk="1" latinLnBrk="0" hangingPunct="1">
        <a:defRPr sz="1351" kern="1200">
          <a:solidFill>
            <a:schemeClr val="tx1"/>
          </a:solidFill>
          <a:latin typeface="+mn-lt"/>
          <a:ea typeface="+mn-ea"/>
          <a:cs typeface="+mn-cs"/>
        </a:defRPr>
      </a:lvl6pPr>
      <a:lvl7pPr marL="2058324" algn="l" defTabSz="686108" rtl="0" eaLnBrk="1" latinLnBrk="0" hangingPunct="1">
        <a:defRPr sz="1351" kern="1200">
          <a:solidFill>
            <a:schemeClr val="tx1"/>
          </a:solidFill>
          <a:latin typeface="+mn-lt"/>
          <a:ea typeface="+mn-ea"/>
          <a:cs typeface="+mn-cs"/>
        </a:defRPr>
      </a:lvl7pPr>
      <a:lvl8pPr marL="2401377" algn="l" defTabSz="686108" rtl="0" eaLnBrk="1" latinLnBrk="0" hangingPunct="1">
        <a:defRPr sz="1351" kern="1200">
          <a:solidFill>
            <a:schemeClr val="tx1"/>
          </a:solidFill>
          <a:latin typeface="+mn-lt"/>
          <a:ea typeface="+mn-ea"/>
          <a:cs typeface="+mn-cs"/>
        </a:defRPr>
      </a:lvl8pPr>
      <a:lvl9pPr marL="2744432" algn="l" defTabSz="686108" rtl="0" eaLnBrk="1" latinLnBrk="0" hangingPunct="1">
        <a:defRPr sz="135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1.emf"/><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chart" Target="../charts/chart1.xml"/><Relationship Id="rId7" Type="http://schemas.openxmlformats.org/officeDocument/2006/relationships/image" Target="../media/image1.emf"/><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10.png"/><Relationship Id="rId5" Type="http://schemas.openxmlformats.org/officeDocument/2006/relationships/image" Target="../media/image4.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emf"/><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chart" Target="../charts/chart3.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chart" Target="../charts/chart5.xml"/><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1.emf"/><Relationship Id="rId5" Type="http://schemas.openxmlformats.org/officeDocument/2006/relationships/image" Target="../media/image9.png"/><Relationship Id="rId4" Type="http://schemas.openxmlformats.org/officeDocument/2006/relationships/chart" Target="../charts/chart4.xml"/></Relationships>
</file>

<file path=ppt/slides/_rels/slide6.xml.rels><?xml version="1.0" encoding="UTF-8" standalone="yes"?>
<Relationships xmlns="http://schemas.openxmlformats.org/package/2006/relationships"><Relationship Id="rId8" Type="http://schemas.openxmlformats.org/officeDocument/2006/relationships/chart" Target="../charts/chart8.xml"/><Relationship Id="rId3" Type="http://schemas.openxmlformats.org/officeDocument/2006/relationships/chart" Target="../charts/chart6.xml"/><Relationship Id="rId7" Type="http://schemas.openxmlformats.org/officeDocument/2006/relationships/chart" Target="../charts/chart7.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5.jpg"/><Relationship Id="rId5" Type="http://schemas.openxmlformats.org/officeDocument/2006/relationships/image" Target="../media/image4.png"/><Relationship Id="rId4" Type="http://schemas.openxmlformats.org/officeDocument/2006/relationships/image" Target="../media/image1.emf"/><Relationship Id="rId9" Type="http://schemas.openxmlformats.org/officeDocument/2006/relationships/chart" Target="../charts/chart9.xml"/></Relationships>
</file>

<file path=ppt/slides/_rels/slide7.xml.rels><?xml version="1.0" encoding="UTF-8" standalone="yes"?>
<Relationships xmlns="http://schemas.openxmlformats.org/package/2006/relationships"><Relationship Id="rId8" Type="http://schemas.openxmlformats.org/officeDocument/2006/relationships/chart" Target="../charts/chart13.xml"/><Relationship Id="rId3" Type="http://schemas.openxmlformats.org/officeDocument/2006/relationships/image" Target="../media/image4.png"/><Relationship Id="rId7" Type="http://schemas.openxmlformats.org/officeDocument/2006/relationships/chart" Target="../charts/chart12.xml"/><Relationship Id="rId2" Type="http://schemas.openxmlformats.org/officeDocument/2006/relationships/image" Target="../media/image1.emf"/><Relationship Id="rId1" Type="http://schemas.openxmlformats.org/officeDocument/2006/relationships/slideLayout" Target="../slideLayouts/slideLayout2.xml"/><Relationship Id="rId6" Type="http://schemas.openxmlformats.org/officeDocument/2006/relationships/chart" Target="../charts/chart11.xml"/><Relationship Id="rId5" Type="http://schemas.openxmlformats.org/officeDocument/2006/relationships/chart" Target="../charts/chart10.xml"/><Relationship Id="rId4" Type="http://schemas.openxmlformats.org/officeDocument/2006/relationships/image" Target="../media/image5.jp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emf"/><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9.xml.rels><?xml version="1.0" encoding="UTF-8" standalone="yes"?>
<Relationships xmlns="http://schemas.openxmlformats.org/package/2006/relationships"><Relationship Id="rId8" Type="http://schemas.openxmlformats.org/officeDocument/2006/relationships/image" Target="../media/image12.emf"/><Relationship Id="rId3" Type="http://schemas.openxmlformats.org/officeDocument/2006/relationships/chart" Target="../charts/chart14.xml"/><Relationship Id="rId7" Type="http://schemas.openxmlformats.org/officeDocument/2006/relationships/slide" Target="slide10.xml"/><Relationship Id="rId12" Type="http://schemas.openxmlformats.org/officeDocument/2006/relationships/image" Target="../media/image14.emf"/><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5.jpg"/><Relationship Id="rId11" Type="http://schemas.openxmlformats.org/officeDocument/2006/relationships/slide" Target="slide12.xml"/><Relationship Id="rId5" Type="http://schemas.openxmlformats.org/officeDocument/2006/relationships/image" Target="../media/image4.png"/><Relationship Id="rId10" Type="http://schemas.openxmlformats.org/officeDocument/2006/relationships/image" Target="../media/image13.emf"/><Relationship Id="rId4" Type="http://schemas.openxmlformats.org/officeDocument/2006/relationships/image" Target="../media/image1.emf"/><Relationship Id="rId9" Type="http://schemas.openxmlformats.org/officeDocument/2006/relationships/slide" Target="slide13.xml"/></Relationships>
</file>

<file path=ppt/slides/_rels/slide10.xml.rels><?xml version="1.0" encoding="UTF-8" standalone="yes"?>
<Relationships xmlns="http://schemas.openxmlformats.org/package/2006/relationships"><Relationship Id="rId8" Type="http://schemas.openxmlformats.org/officeDocument/2006/relationships/image" Target="../media/image17.emf"/><Relationship Id="rId3" Type="http://schemas.openxmlformats.org/officeDocument/2006/relationships/image" Target="../media/image4.png"/><Relationship Id="rId7" Type="http://schemas.openxmlformats.org/officeDocument/2006/relationships/image" Target="../media/image16.emf"/><Relationship Id="rId2" Type="http://schemas.openxmlformats.org/officeDocument/2006/relationships/image" Target="../media/image1.emf"/><Relationship Id="rId1" Type="http://schemas.openxmlformats.org/officeDocument/2006/relationships/slideLayout" Target="../slideLayouts/slideLayout2.xml"/><Relationship Id="rId6" Type="http://schemas.openxmlformats.org/officeDocument/2006/relationships/slide" Target="slide11.xml"/><Relationship Id="rId5" Type="http://schemas.openxmlformats.org/officeDocument/2006/relationships/image" Target="../media/image15.emf"/><Relationship Id="rId4" Type="http://schemas.openxmlformats.org/officeDocument/2006/relationships/image" Target="../media/image5.jpg"/><Relationship Id="rId9" Type="http://schemas.openxmlformats.org/officeDocument/2006/relationships/image" Target="../media/image18.emf"/></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emf"/><Relationship Id="rId1" Type="http://schemas.openxmlformats.org/officeDocument/2006/relationships/slideLayout" Target="../slideLayouts/slideLayout2.xml"/><Relationship Id="rId5" Type="http://schemas.openxmlformats.org/officeDocument/2006/relationships/image" Target="../media/image19.emf"/><Relationship Id="rId4" Type="http://schemas.openxmlformats.org/officeDocument/2006/relationships/image" Target="../media/image5.jpg"/></Relationships>
</file>

<file path=ppt/slides/_rels/slide12.xml.rels><?xml version="1.0" encoding="UTF-8" standalone="yes"?>
<Relationships xmlns="http://schemas.openxmlformats.org/package/2006/relationships"><Relationship Id="rId8" Type="http://schemas.openxmlformats.org/officeDocument/2006/relationships/image" Target="../media/image23.emf"/><Relationship Id="rId3" Type="http://schemas.openxmlformats.org/officeDocument/2006/relationships/image" Target="../media/image4.png"/><Relationship Id="rId7" Type="http://schemas.openxmlformats.org/officeDocument/2006/relationships/image" Target="../media/image22.emf"/><Relationship Id="rId2" Type="http://schemas.openxmlformats.org/officeDocument/2006/relationships/image" Target="../media/image1.emf"/><Relationship Id="rId1" Type="http://schemas.openxmlformats.org/officeDocument/2006/relationships/slideLayout" Target="../slideLayouts/slideLayout2.xml"/><Relationship Id="rId6" Type="http://schemas.openxmlformats.org/officeDocument/2006/relationships/image" Target="../media/image21.emf"/><Relationship Id="rId5" Type="http://schemas.openxmlformats.org/officeDocument/2006/relationships/image" Target="../media/image20.emf"/><Relationship Id="rId4" Type="http://schemas.openxmlformats.org/officeDocument/2006/relationships/image" Target="../media/image5.jpg"/></Relationships>
</file>

<file path=ppt/slides/_rels/slide13.xml.rels><?xml version="1.0" encoding="UTF-8" standalone="yes"?>
<Relationships xmlns="http://schemas.openxmlformats.org/package/2006/relationships"><Relationship Id="rId8" Type="http://schemas.openxmlformats.org/officeDocument/2006/relationships/image" Target="../media/image26.emf"/><Relationship Id="rId3" Type="http://schemas.openxmlformats.org/officeDocument/2006/relationships/image" Target="../media/image4.png"/><Relationship Id="rId7" Type="http://schemas.openxmlformats.org/officeDocument/2006/relationships/image" Target="../media/image25.emf"/><Relationship Id="rId2" Type="http://schemas.openxmlformats.org/officeDocument/2006/relationships/image" Target="../media/image1.emf"/><Relationship Id="rId1" Type="http://schemas.openxmlformats.org/officeDocument/2006/relationships/slideLayout" Target="../slideLayouts/slideLayout2.xml"/><Relationship Id="rId6" Type="http://schemas.openxmlformats.org/officeDocument/2006/relationships/image" Target="../media/image24.emf"/><Relationship Id="rId5" Type="http://schemas.openxmlformats.org/officeDocument/2006/relationships/slide" Target="slide9.xml"/><Relationship Id="rId10" Type="http://schemas.openxmlformats.org/officeDocument/2006/relationships/image" Target="../media/image28.emf"/><Relationship Id="rId4" Type="http://schemas.openxmlformats.org/officeDocument/2006/relationships/image" Target="../media/image5.jpg"/><Relationship Id="rId9" Type="http://schemas.openxmlformats.org/officeDocument/2006/relationships/image" Target="../media/image27.emf"/></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emf"/><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emf"/><Relationship Id="rId4" Type="http://schemas.openxmlformats.org/officeDocument/2006/relationships/image" Target="../media/image5.jpg"/></Relationships>
</file>

<file path=ppt/slides/_rels/slide15.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5.jpg"/><Relationship Id="rId5" Type="http://schemas.openxmlformats.org/officeDocument/2006/relationships/image" Target="../media/image4.png"/><Relationship Id="rId4" Type="http://schemas.openxmlformats.org/officeDocument/2006/relationships/image" Target="../media/image1.emf"/></Relationships>
</file>

<file path=ppt/slides/_rels/slide1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1.emf"/><Relationship Id="rId5" Type="http://schemas.openxmlformats.org/officeDocument/2006/relationships/image" Target="../media/image5.jp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emf"/><Relationship Id="rId1" Type="http://schemas.openxmlformats.org/officeDocument/2006/relationships/slideLayout" Target="../slideLayouts/slideLayout2.xml"/><Relationship Id="rId5" Type="http://schemas.openxmlformats.org/officeDocument/2006/relationships/chart" Target="../charts/chart16.xml"/><Relationship Id="rId4" Type="http://schemas.openxmlformats.org/officeDocument/2006/relationships/image" Target="../media/image5.jpg"/></Relationships>
</file>

<file path=ppt/slides/_rels/slide18.xml.rels><?xml version="1.0" encoding="UTF-8" standalone="yes"?>
<Relationships xmlns="http://schemas.openxmlformats.org/package/2006/relationships"><Relationship Id="rId3" Type="http://schemas.openxmlformats.org/officeDocument/2006/relationships/image" Target="../media/image1.emf"/><Relationship Id="rId7" Type="http://schemas.openxmlformats.org/officeDocument/2006/relationships/chart" Target="../charts/chart18.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chart" Target="../charts/chart17.xml"/><Relationship Id="rId5" Type="http://schemas.openxmlformats.org/officeDocument/2006/relationships/image" Target="../media/image5.jp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33.emf"/><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32.png"/><Relationship Id="rId5" Type="http://schemas.openxmlformats.org/officeDocument/2006/relationships/image" Target="../media/image5.jpg"/><Relationship Id="rId4" Type="http://schemas.openxmlformats.org/officeDocument/2006/relationships/image" Target="../media/image1.emf"/></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34.emf"/><Relationship Id="rId5" Type="http://schemas.openxmlformats.org/officeDocument/2006/relationships/image" Target="../media/image5.jpg"/><Relationship Id="rId4" Type="http://schemas.openxmlformats.org/officeDocument/2006/relationships/image" Target="../media/image1.emf"/></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36.pn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35.emf"/><Relationship Id="rId5" Type="http://schemas.openxmlformats.org/officeDocument/2006/relationships/image" Target="../media/image5.jpg"/><Relationship Id="rId4" Type="http://schemas.openxmlformats.org/officeDocument/2006/relationships/image" Target="../media/image1.emf"/></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37.png"/><Relationship Id="rId5" Type="http://schemas.openxmlformats.org/officeDocument/2006/relationships/image" Target="../media/image5.jpg"/><Relationship Id="rId4" Type="http://schemas.openxmlformats.org/officeDocument/2006/relationships/image" Target="../media/image1.emf"/></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38.emf"/><Relationship Id="rId5" Type="http://schemas.openxmlformats.org/officeDocument/2006/relationships/image" Target="../media/image5.jpg"/><Relationship Id="rId4" Type="http://schemas.openxmlformats.org/officeDocument/2006/relationships/image" Target="../media/image1.emf"/></Relationships>
</file>

<file path=ppt/slides/_rels/slide24.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5.jpg"/><Relationship Id="rId5" Type="http://schemas.openxmlformats.org/officeDocument/2006/relationships/image" Target="../media/image1.emf"/><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4.xml"/><Relationship Id="rId5" Type="http://schemas.openxmlformats.org/officeDocument/2006/relationships/image" Target="../media/image5.jpg"/><Relationship Id="rId4" Type="http://schemas.openxmlformats.org/officeDocument/2006/relationships/image" Target="../media/image1.emf"/></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4.xml"/><Relationship Id="rId5" Type="http://schemas.openxmlformats.org/officeDocument/2006/relationships/image" Target="../media/image5.jpg"/><Relationship Id="rId4" Type="http://schemas.openxmlformats.org/officeDocument/2006/relationships/image" Target="../media/image1.emf"/></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40.emf"/><Relationship Id="rId2" Type="http://schemas.openxmlformats.org/officeDocument/2006/relationships/notesSlide" Target="../notesSlides/notesSlide18.xml"/><Relationship Id="rId1" Type="http://schemas.openxmlformats.org/officeDocument/2006/relationships/slideLayout" Target="../slideLayouts/slideLayout4.xml"/><Relationship Id="rId6" Type="http://schemas.openxmlformats.org/officeDocument/2006/relationships/slide" Target="slide34.xml"/><Relationship Id="rId5" Type="http://schemas.openxmlformats.org/officeDocument/2006/relationships/image" Target="../media/image5.jpg"/><Relationship Id="rId4" Type="http://schemas.openxmlformats.org/officeDocument/2006/relationships/image" Target="../media/image1.emf"/></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4.xml"/><Relationship Id="rId5" Type="http://schemas.openxmlformats.org/officeDocument/2006/relationships/image" Target="../media/image5.jpg"/><Relationship Id="rId4" Type="http://schemas.openxmlformats.org/officeDocument/2006/relationships/image" Target="../media/image1.emf"/></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4.xml"/><Relationship Id="rId5" Type="http://schemas.openxmlformats.org/officeDocument/2006/relationships/image" Target="../media/image5.jpg"/><Relationship Id="rId4" Type="http://schemas.openxmlformats.org/officeDocument/2006/relationships/image" Target="../media/image1.emf"/></Relationships>
</file>

<file path=ppt/slides/_rels/slide30.xml.rels><?xml version="1.0" encoding="UTF-8" standalone="yes"?>
<Relationships xmlns="http://schemas.openxmlformats.org/package/2006/relationships"><Relationship Id="rId3" Type="http://schemas.openxmlformats.org/officeDocument/2006/relationships/slide" Target="slide35.xml"/><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image" Target="../media/image5.jpg"/><Relationship Id="rId5" Type="http://schemas.openxmlformats.org/officeDocument/2006/relationships/image" Target="../media/image1.emf"/><Relationship Id="rId4" Type="http://schemas.openxmlformats.org/officeDocument/2006/relationships/image" Target="../media/image4.png"/></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4.xml"/><Relationship Id="rId5" Type="http://schemas.openxmlformats.org/officeDocument/2006/relationships/image" Target="../media/image1.emf"/><Relationship Id="rId4" Type="http://schemas.openxmlformats.org/officeDocument/2006/relationships/image" Target="../media/image5.jpg"/></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4.xml"/><Relationship Id="rId6" Type="http://schemas.openxmlformats.org/officeDocument/2006/relationships/image" Target="../media/image41.png"/><Relationship Id="rId5" Type="http://schemas.openxmlformats.org/officeDocument/2006/relationships/image" Target="../media/image5.jpg"/><Relationship Id="rId4" Type="http://schemas.openxmlformats.org/officeDocument/2006/relationships/image" Target="../media/image1.emf"/></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emf"/><Relationship Id="rId1" Type="http://schemas.openxmlformats.org/officeDocument/2006/relationships/slideLayout" Target="../slideLayouts/slideLayout4.xml"/><Relationship Id="rId5" Type="http://schemas.openxmlformats.org/officeDocument/2006/relationships/image" Target="../media/image42.jpg"/><Relationship Id="rId4" Type="http://schemas.openxmlformats.org/officeDocument/2006/relationships/image" Target="../media/image5.jpg"/></Relationships>
</file>

<file path=ppt/slides/_rels/slide34.xml.rels><?xml version="1.0" encoding="UTF-8" standalone="yes"?>
<Relationships xmlns="http://schemas.openxmlformats.org/package/2006/relationships"><Relationship Id="rId8" Type="http://schemas.openxmlformats.org/officeDocument/2006/relationships/image" Target="../media/image44.emf"/><Relationship Id="rId3" Type="http://schemas.openxmlformats.org/officeDocument/2006/relationships/image" Target="../media/image4.png"/><Relationship Id="rId7" Type="http://schemas.openxmlformats.org/officeDocument/2006/relationships/image" Target="../media/image43.png"/><Relationship Id="rId2" Type="http://schemas.openxmlformats.org/officeDocument/2006/relationships/notesSlide" Target="../notesSlides/notesSlide24.xml"/><Relationship Id="rId1" Type="http://schemas.openxmlformats.org/officeDocument/2006/relationships/slideLayout" Target="../slideLayouts/slideLayout4.xml"/><Relationship Id="rId6" Type="http://schemas.openxmlformats.org/officeDocument/2006/relationships/slide" Target="slide27.xml"/><Relationship Id="rId5" Type="http://schemas.openxmlformats.org/officeDocument/2006/relationships/image" Target="../media/image1.emf"/><Relationship Id="rId10" Type="http://schemas.openxmlformats.org/officeDocument/2006/relationships/image" Target="../media/image46.emf"/><Relationship Id="rId4" Type="http://schemas.openxmlformats.org/officeDocument/2006/relationships/image" Target="../media/image9.png"/><Relationship Id="rId9" Type="http://schemas.openxmlformats.org/officeDocument/2006/relationships/image" Target="../media/image45.emf"/></Relationships>
</file>

<file path=ppt/slides/_rels/slide3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slide" Target="slide30.xml"/><Relationship Id="rId2" Type="http://schemas.openxmlformats.org/officeDocument/2006/relationships/image" Target="../media/image50.emf"/><Relationship Id="rId1" Type="http://schemas.openxmlformats.org/officeDocument/2006/relationships/slideLayout" Target="../slideLayouts/slideLayout2.xml"/><Relationship Id="rId4"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0" y="3502222"/>
            <a:ext cx="9144000" cy="873740"/>
          </a:xfrm>
          <a:prstGeom prst="rect">
            <a:avLst/>
          </a:prstGeom>
        </p:spPr>
        <p:txBody>
          <a:bodyPr vert="horz" lIns="91431" tIns="45715" rIns="91431" bIns="45715"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2400" b="1" dirty="0" err="1" smtClean="0">
                <a:solidFill>
                  <a:srgbClr val="254061"/>
                </a:solidFill>
                <a:latin typeface="Arial"/>
                <a:cs typeface="Arial"/>
              </a:rPr>
              <a:t>Estabilidade</a:t>
            </a:r>
            <a:r>
              <a:rPr lang="en-US" sz="2400" b="1" dirty="0" smtClean="0">
                <a:solidFill>
                  <a:srgbClr val="254061"/>
                </a:solidFill>
                <a:latin typeface="Arial"/>
                <a:cs typeface="Arial"/>
              </a:rPr>
              <a:t> </a:t>
            </a:r>
            <a:r>
              <a:rPr lang="en-US" sz="2400" b="1" dirty="0" err="1" smtClean="0">
                <a:solidFill>
                  <a:srgbClr val="254061"/>
                </a:solidFill>
                <a:latin typeface="Arial"/>
                <a:cs typeface="Arial"/>
              </a:rPr>
              <a:t>Operacional</a:t>
            </a:r>
            <a:endParaRPr lang="en-US" sz="2400" b="1" dirty="0" smtClean="0">
              <a:solidFill>
                <a:srgbClr val="254061"/>
              </a:solidFill>
              <a:latin typeface="Arial"/>
              <a:cs typeface="Arial"/>
            </a:endParaRPr>
          </a:p>
          <a:p>
            <a:pPr>
              <a:spcBef>
                <a:spcPts val="1200"/>
              </a:spcBef>
            </a:pPr>
            <a:r>
              <a:rPr lang="en-US" sz="2000" dirty="0" smtClean="0">
                <a:solidFill>
                  <a:srgbClr val="254061"/>
                </a:solidFill>
                <a:latin typeface="Arial"/>
                <a:cs typeface="Arial"/>
              </a:rPr>
              <a:t>23 </a:t>
            </a:r>
            <a:r>
              <a:rPr lang="en-US" sz="2000" dirty="0" err="1" smtClean="0">
                <a:solidFill>
                  <a:srgbClr val="254061"/>
                </a:solidFill>
                <a:latin typeface="Arial"/>
                <a:cs typeface="Arial"/>
              </a:rPr>
              <a:t>Junho</a:t>
            </a:r>
            <a:r>
              <a:rPr lang="en-US" sz="2000" dirty="0" smtClean="0">
                <a:solidFill>
                  <a:srgbClr val="254061"/>
                </a:solidFill>
                <a:latin typeface="Arial"/>
                <a:cs typeface="Arial"/>
              </a:rPr>
              <a:t> de 2016</a:t>
            </a:r>
          </a:p>
        </p:txBody>
      </p:sp>
    </p:spTree>
    <p:extLst>
      <p:ext uri="{BB962C8B-B14F-4D97-AF65-F5344CB8AC3E}">
        <p14:creationId xmlns:p14="http://schemas.microsoft.com/office/powerpoint/2010/main" val="2857642486"/>
      </p:ext>
    </p:extLst>
  </p:cSld>
  <p:clrMapOvr>
    <a:masterClrMapping/>
  </p:clrMapOvr>
  <mc:AlternateContent xmlns:mc="http://schemas.openxmlformats.org/markup-compatibility/2006">
    <mc:Choice xmlns:p14="http://schemas.microsoft.com/office/powerpoint/2010/main" Requires="p14">
      <p:transition p14:dur="250" advTm="1185">
        <p14:reveal/>
      </p:transition>
    </mc:Choice>
    <mc:Fallback>
      <p:transition advTm="1185">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 name="interna_img-3.png"/>
          <p:cNvPicPr/>
          <p:nvPr/>
        </p:nvPicPr>
        <p:blipFill>
          <a:blip r:embed="rId3">
            <a:extLst>
              <a:ext uri="{28A0092B-C50C-407E-A947-70E740481C1C}">
                <a14:useLocalDpi xmlns:a14="http://schemas.microsoft.com/office/drawing/2010/main" val="0"/>
              </a:ext>
            </a:extLst>
          </a:blip>
          <a:stretch>
            <a:fillRect/>
          </a:stretch>
        </p:blipFill>
        <p:spPr>
          <a:xfrm>
            <a:off x="0" y="0"/>
            <a:ext cx="9141292" cy="5148264"/>
          </a:xfrm>
          <a:prstGeom prst="rect">
            <a:avLst/>
          </a:prstGeom>
          <a:ln w="12700">
            <a:miter lim="400000"/>
          </a:ln>
        </p:spPr>
      </p:pic>
      <p:sp>
        <p:nvSpPr>
          <p:cNvPr id="114" name="Shape 114"/>
          <p:cNvSpPr/>
          <p:nvPr/>
        </p:nvSpPr>
        <p:spPr>
          <a:xfrm>
            <a:off x="2669861" y="503053"/>
            <a:ext cx="1409769" cy="858840"/>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ctr">
            <a:normAutofit/>
          </a:bodyPr>
          <a:lstStyle>
            <a:lvl1pPr>
              <a:defRPr sz="3000" b="1">
                <a:solidFill>
                  <a:srgbClr val="1F497D"/>
                </a:solidFill>
                <a:latin typeface="Arial"/>
                <a:ea typeface="Arial"/>
                <a:cs typeface="Arial"/>
                <a:sym typeface="Arial"/>
              </a:defRPr>
            </a:lvl1pPr>
          </a:lstStyle>
          <a:p>
            <a:pPr lvl="0">
              <a:defRPr sz="1800" b="0">
                <a:solidFill>
                  <a:srgbClr val="000000"/>
                </a:solidFill>
              </a:defRPr>
            </a:pPr>
            <a:r>
              <a:rPr lang="pt-BR" sz="3000" b="1" dirty="0" smtClean="0">
                <a:solidFill>
                  <a:srgbClr val="1F497D"/>
                </a:solidFill>
              </a:rPr>
              <a:t>Índice</a:t>
            </a:r>
            <a:endParaRPr sz="3000" b="1" dirty="0">
              <a:solidFill>
                <a:srgbClr val="1F497D"/>
              </a:solidFill>
            </a:endParaRPr>
          </a:p>
        </p:txBody>
      </p:sp>
      <p:pic>
        <p:nvPicPr>
          <p:cNvPr id="116" name="image5.png"/>
          <p:cNvPicPr/>
          <p:nvPr/>
        </p:nvPicPr>
        <p:blipFill>
          <a:blip r:embed="rId4">
            <a:extLst>
              <a:ext uri="{28A0092B-C50C-407E-A947-70E740481C1C}">
                <a14:useLocalDpi xmlns:a14="http://schemas.microsoft.com/office/drawing/2010/main" val="0"/>
              </a:ext>
            </a:extLst>
          </a:blip>
          <a:stretch>
            <a:fillRect/>
          </a:stretch>
        </p:blipFill>
        <p:spPr>
          <a:xfrm>
            <a:off x="8534860" y="4531179"/>
            <a:ext cx="1248721" cy="614581"/>
          </a:xfrm>
          <a:prstGeom prst="rect">
            <a:avLst/>
          </a:prstGeom>
          <a:ln w="12700">
            <a:miter lim="400000"/>
          </a:ln>
        </p:spPr>
      </p:pic>
      <p:pic>
        <p:nvPicPr>
          <p:cNvPr id="8" name="Picture 7"/>
          <p:cNvPicPr>
            <a:picLocks noChangeAspect="1"/>
          </p:cNvPicPr>
          <p:nvPr/>
        </p:nvPicPr>
        <p:blipFill>
          <a:blip r:embed="rId5"/>
          <a:stretch>
            <a:fillRect/>
          </a:stretch>
        </p:blipFill>
        <p:spPr>
          <a:xfrm>
            <a:off x="7331777" y="257994"/>
            <a:ext cx="1473556" cy="356656"/>
          </a:xfrm>
          <a:prstGeom prst="rect">
            <a:avLst/>
          </a:prstGeom>
        </p:spPr>
      </p:pic>
      <p:sp>
        <p:nvSpPr>
          <p:cNvPr id="7" name="Title 1"/>
          <p:cNvSpPr txBox="1">
            <a:spLocks/>
          </p:cNvSpPr>
          <p:nvPr/>
        </p:nvSpPr>
        <p:spPr>
          <a:xfrm>
            <a:off x="2625970" y="1276051"/>
            <a:ext cx="6515322" cy="3178628"/>
          </a:xfrm>
          <a:prstGeom prst="rect">
            <a:avLst/>
          </a:prstGeom>
        </p:spPr>
        <p:txBody>
          <a:bodyPr vert="horz" lIns="91440" tIns="45720" rIns="91440" bIns="45720" rtlCol="0" anchor="t">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buClr>
                <a:srgbClr val="800000"/>
              </a:buClr>
            </a:pPr>
            <a:r>
              <a:rPr lang="pt-BR" sz="1400" b="1" dirty="0" smtClean="0">
                <a:solidFill>
                  <a:schemeClr val="tx2"/>
                </a:solidFill>
                <a:latin typeface="Arial" pitchFamily="34" charset="0"/>
                <a:cs typeface="Arial" pitchFamily="34" charset="0"/>
              </a:rPr>
              <a:t>1. Indicadores totais de Incidentes </a:t>
            </a:r>
          </a:p>
          <a:p>
            <a:pPr algn="l">
              <a:buClr>
                <a:srgbClr val="800000"/>
              </a:buClr>
            </a:pPr>
            <a:r>
              <a:rPr lang="pt-PT" sz="1400" b="1" dirty="0" smtClean="0">
                <a:solidFill>
                  <a:schemeClr val="tx2"/>
                </a:solidFill>
                <a:latin typeface="Arial" pitchFamily="34" charset="0"/>
                <a:cs typeface="Arial" pitchFamily="34" charset="0"/>
              </a:rPr>
              <a:t>2. </a:t>
            </a:r>
            <a:r>
              <a:rPr lang="pt-BR" sz="1400" b="1" dirty="0" smtClean="0">
                <a:solidFill>
                  <a:schemeClr val="tx2"/>
                </a:solidFill>
                <a:latin typeface="Arial" pitchFamily="34" charset="0"/>
                <a:cs typeface="Arial" pitchFamily="34" charset="0"/>
              </a:rPr>
              <a:t>Gerenciamento </a:t>
            </a:r>
            <a:r>
              <a:rPr lang="pt-BR" sz="1400" b="1" dirty="0">
                <a:solidFill>
                  <a:schemeClr val="tx2"/>
                </a:solidFill>
                <a:latin typeface="Arial" pitchFamily="34" charset="0"/>
                <a:cs typeface="Arial" pitchFamily="34" charset="0"/>
              </a:rPr>
              <a:t>de Incidentes – Alto </a:t>
            </a:r>
            <a:r>
              <a:rPr lang="pt-BR" sz="1400" b="1" dirty="0" smtClean="0">
                <a:solidFill>
                  <a:schemeClr val="tx2"/>
                </a:solidFill>
                <a:latin typeface="Arial" pitchFamily="34" charset="0"/>
                <a:cs typeface="Arial" pitchFamily="34" charset="0"/>
              </a:rPr>
              <a:t>Impacto</a:t>
            </a:r>
          </a:p>
          <a:p>
            <a:pPr algn="l">
              <a:buClr>
                <a:srgbClr val="800000"/>
              </a:buClr>
            </a:pPr>
            <a:r>
              <a:rPr lang="pt-BR" sz="1400" b="1" dirty="0" smtClean="0">
                <a:solidFill>
                  <a:schemeClr val="tx2"/>
                </a:solidFill>
                <a:latin typeface="Arial" pitchFamily="34" charset="0"/>
                <a:cs typeface="Arial" pitchFamily="34" charset="0"/>
              </a:rPr>
              <a:t>3. Tempo </a:t>
            </a:r>
            <a:r>
              <a:rPr lang="pt-BR" sz="1400" b="1" dirty="0">
                <a:solidFill>
                  <a:schemeClr val="tx2"/>
                </a:solidFill>
                <a:latin typeface="Arial" pitchFamily="34" charset="0"/>
                <a:cs typeface="Arial" pitchFamily="34" charset="0"/>
              </a:rPr>
              <a:t>médio entre F</a:t>
            </a:r>
            <a:r>
              <a:rPr lang="pt-BR" sz="1400" b="1" dirty="0" smtClean="0">
                <a:solidFill>
                  <a:schemeClr val="tx2"/>
                </a:solidFill>
                <a:latin typeface="Arial" pitchFamily="34" charset="0"/>
                <a:cs typeface="Arial" pitchFamily="34" charset="0"/>
              </a:rPr>
              <a:t>alhas e de Resolução</a:t>
            </a:r>
            <a:endParaRPr lang="pt-BR" sz="1400" b="1" dirty="0">
              <a:solidFill>
                <a:schemeClr val="tx2"/>
              </a:solidFill>
              <a:latin typeface="Arial" pitchFamily="34" charset="0"/>
              <a:cs typeface="Arial" pitchFamily="34" charset="0"/>
            </a:endParaRPr>
          </a:p>
          <a:p>
            <a:pPr algn="l">
              <a:buClr>
                <a:srgbClr val="800000"/>
              </a:buClr>
            </a:pPr>
            <a:r>
              <a:rPr lang="pt-BR" sz="1400" b="1" dirty="0" smtClean="0">
                <a:solidFill>
                  <a:schemeClr val="tx2"/>
                </a:solidFill>
                <a:latin typeface="Arial" pitchFamily="34" charset="0"/>
                <a:cs typeface="Arial" pitchFamily="34" charset="0"/>
              </a:rPr>
              <a:t>4</a:t>
            </a:r>
            <a:r>
              <a:rPr lang="pt-BR" sz="1400" b="1" dirty="0">
                <a:solidFill>
                  <a:schemeClr val="tx2"/>
                </a:solidFill>
                <a:latin typeface="Arial" pitchFamily="34" charset="0"/>
                <a:cs typeface="Arial" pitchFamily="34" charset="0"/>
              </a:rPr>
              <a:t>. Incidentes Alto Impacto – Por </a:t>
            </a:r>
            <a:r>
              <a:rPr lang="pt-BR" sz="1400" b="1" dirty="0" smtClean="0">
                <a:solidFill>
                  <a:schemeClr val="tx2"/>
                </a:solidFill>
                <a:latin typeface="Arial" pitchFamily="34" charset="0"/>
                <a:cs typeface="Arial" pitchFamily="34" charset="0"/>
              </a:rPr>
              <a:t>Clientes</a:t>
            </a:r>
          </a:p>
          <a:p>
            <a:pPr algn="l">
              <a:buClr>
                <a:srgbClr val="800000"/>
              </a:buClr>
            </a:pPr>
            <a:r>
              <a:rPr lang="pt-BR" sz="1400" b="1" dirty="0" smtClean="0">
                <a:solidFill>
                  <a:schemeClr val="tx2"/>
                </a:solidFill>
                <a:latin typeface="Arial" pitchFamily="34" charset="0"/>
                <a:cs typeface="Arial" pitchFamily="34" charset="0"/>
              </a:rPr>
              <a:t>5. Incidentes </a:t>
            </a:r>
            <a:r>
              <a:rPr lang="pt-BR" sz="1400" b="1" dirty="0">
                <a:solidFill>
                  <a:schemeClr val="tx2"/>
                </a:solidFill>
                <a:latin typeface="Arial" pitchFamily="34" charset="0"/>
                <a:cs typeface="Arial" pitchFamily="34" charset="0"/>
              </a:rPr>
              <a:t>Alto Impacto – Por </a:t>
            </a:r>
            <a:r>
              <a:rPr lang="pt-BR" sz="1400" b="1" dirty="0" err="1" smtClean="0">
                <a:solidFill>
                  <a:schemeClr val="tx2"/>
                </a:solidFill>
                <a:latin typeface="Arial" pitchFamily="34" charset="0"/>
                <a:cs typeface="Arial" pitchFamily="34" charset="0"/>
              </a:rPr>
              <a:t>Resolvedor</a:t>
            </a:r>
            <a:endParaRPr lang="pt-BR" sz="1400" b="1" dirty="0" smtClean="0">
              <a:solidFill>
                <a:schemeClr val="tx2"/>
              </a:solidFill>
              <a:latin typeface="Arial" pitchFamily="34" charset="0"/>
              <a:cs typeface="Arial" pitchFamily="34" charset="0"/>
            </a:endParaRPr>
          </a:p>
          <a:p>
            <a:pPr algn="l">
              <a:buClr>
                <a:srgbClr val="800000"/>
              </a:buClr>
            </a:pPr>
            <a:r>
              <a:rPr lang="pt-BR" sz="1400" b="1" dirty="0" smtClean="0">
                <a:solidFill>
                  <a:schemeClr val="tx2"/>
                </a:solidFill>
                <a:latin typeface="Arial" pitchFamily="34" charset="0"/>
                <a:cs typeface="Arial" pitchFamily="34" charset="0"/>
              </a:rPr>
              <a:t>6. </a:t>
            </a:r>
            <a:r>
              <a:rPr lang="pt-BR" sz="1400" b="1" dirty="0">
                <a:solidFill>
                  <a:schemeClr val="tx2"/>
                </a:solidFill>
                <a:latin typeface="Arial" pitchFamily="34" charset="0"/>
                <a:cs typeface="Arial" pitchFamily="34" charset="0"/>
              </a:rPr>
              <a:t>Incidentes Médio /Baixo Impacto</a:t>
            </a:r>
          </a:p>
          <a:p>
            <a:pPr algn="l">
              <a:buClr>
                <a:srgbClr val="800000"/>
              </a:buClr>
            </a:pPr>
            <a:r>
              <a:rPr lang="pt-BR" sz="1400" b="1" dirty="0">
                <a:solidFill>
                  <a:schemeClr val="tx2"/>
                </a:solidFill>
                <a:latin typeface="Arial" pitchFamily="34" charset="0"/>
                <a:cs typeface="Arial" pitchFamily="34" charset="0"/>
              </a:rPr>
              <a:t>7</a:t>
            </a:r>
            <a:r>
              <a:rPr lang="pt-BR" sz="1400" b="1" dirty="0" smtClean="0">
                <a:solidFill>
                  <a:schemeClr val="tx2"/>
                </a:solidFill>
                <a:latin typeface="Arial" pitchFamily="34" charset="0"/>
                <a:cs typeface="Arial" pitchFamily="34" charset="0"/>
              </a:rPr>
              <a:t>. </a:t>
            </a:r>
            <a:r>
              <a:rPr lang="pt-BR" sz="1400" b="1" dirty="0">
                <a:solidFill>
                  <a:schemeClr val="tx2"/>
                </a:solidFill>
                <a:latin typeface="Arial" pitchFamily="34" charset="0"/>
                <a:cs typeface="Arial" pitchFamily="34" charset="0"/>
              </a:rPr>
              <a:t>Gestão de </a:t>
            </a:r>
            <a:r>
              <a:rPr lang="pt-BR" sz="1400" b="1" dirty="0" smtClean="0">
                <a:solidFill>
                  <a:schemeClr val="tx2"/>
                </a:solidFill>
                <a:latin typeface="Arial" pitchFamily="34" charset="0"/>
                <a:cs typeface="Arial" pitchFamily="34" charset="0"/>
              </a:rPr>
              <a:t>Mudanças</a:t>
            </a:r>
            <a:endParaRPr lang="pt-BR" sz="1400" b="1" dirty="0">
              <a:solidFill>
                <a:schemeClr val="tx2"/>
              </a:solidFill>
              <a:latin typeface="Arial" pitchFamily="34" charset="0"/>
              <a:cs typeface="Arial" pitchFamily="34" charset="0"/>
            </a:endParaRPr>
          </a:p>
          <a:p>
            <a:pPr algn="l">
              <a:buClr>
                <a:srgbClr val="800000"/>
              </a:buClr>
            </a:pPr>
            <a:r>
              <a:rPr lang="pt-BR" sz="1400" b="1" dirty="0">
                <a:solidFill>
                  <a:schemeClr val="tx2"/>
                </a:solidFill>
                <a:latin typeface="Arial" pitchFamily="34" charset="0"/>
                <a:cs typeface="Arial" pitchFamily="34" charset="0"/>
              </a:rPr>
              <a:t>8</a:t>
            </a:r>
            <a:r>
              <a:rPr lang="pt-BR" sz="1400" b="1" dirty="0" smtClean="0">
                <a:solidFill>
                  <a:schemeClr val="tx2"/>
                </a:solidFill>
                <a:latin typeface="Arial" pitchFamily="34" charset="0"/>
                <a:cs typeface="Arial" pitchFamily="34" charset="0"/>
              </a:rPr>
              <a:t>. Gestão </a:t>
            </a:r>
            <a:r>
              <a:rPr lang="pt-BR" sz="1400" b="1" dirty="0">
                <a:solidFill>
                  <a:schemeClr val="tx2"/>
                </a:solidFill>
                <a:latin typeface="Arial" pitchFamily="34" charset="0"/>
                <a:cs typeface="Arial" pitchFamily="34" charset="0"/>
              </a:rPr>
              <a:t>de </a:t>
            </a:r>
            <a:r>
              <a:rPr lang="pt-BR" sz="1400" b="1" dirty="0" smtClean="0">
                <a:solidFill>
                  <a:schemeClr val="tx2"/>
                </a:solidFill>
                <a:latin typeface="Arial" pitchFamily="34" charset="0"/>
                <a:cs typeface="Arial" pitchFamily="34" charset="0"/>
              </a:rPr>
              <a:t>problemas – </a:t>
            </a:r>
            <a:r>
              <a:rPr lang="pt-BR" sz="1400" b="1" dirty="0" err="1">
                <a:solidFill>
                  <a:schemeClr val="tx2"/>
                </a:solidFill>
                <a:latin typeface="Arial" pitchFamily="34" charset="0"/>
                <a:cs typeface="Arial" pitchFamily="34" charset="0"/>
              </a:rPr>
              <a:t>Dashboard</a:t>
            </a:r>
            <a:r>
              <a:rPr lang="pt-BR" sz="1400" b="1" dirty="0">
                <a:solidFill>
                  <a:schemeClr val="tx2"/>
                </a:solidFill>
                <a:latin typeface="Arial" pitchFamily="34" charset="0"/>
                <a:cs typeface="Arial" pitchFamily="34" charset="0"/>
              </a:rPr>
              <a:t> e Indicadores</a:t>
            </a:r>
          </a:p>
          <a:p>
            <a:pPr algn="l"/>
            <a:r>
              <a:rPr lang="pt-BR" sz="1400" b="1" dirty="0" smtClean="0">
                <a:solidFill>
                  <a:schemeClr val="tx2"/>
                </a:solidFill>
                <a:latin typeface="Arial" pitchFamily="34" charset="0"/>
                <a:cs typeface="Arial" pitchFamily="34" charset="0"/>
              </a:rPr>
              <a:t>9. </a:t>
            </a:r>
            <a:r>
              <a:rPr lang="pt-BR" sz="1400" b="1" dirty="0">
                <a:solidFill>
                  <a:schemeClr val="tx2"/>
                </a:solidFill>
                <a:latin typeface="Arial" pitchFamily="34" charset="0"/>
                <a:cs typeface="Arial" pitchFamily="34" charset="0"/>
              </a:rPr>
              <a:t>Projetos </a:t>
            </a:r>
            <a:r>
              <a:rPr lang="pt-BR" sz="1400" b="1" dirty="0" smtClean="0">
                <a:solidFill>
                  <a:schemeClr val="tx2"/>
                </a:solidFill>
                <a:latin typeface="Arial" pitchFamily="34" charset="0"/>
                <a:cs typeface="Arial" pitchFamily="34" charset="0"/>
              </a:rPr>
              <a:t>Estruturantes</a:t>
            </a:r>
          </a:p>
          <a:p>
            <a:pPr algn="l"/>
            <a:r>
              <a:rPr lang="pt-BR" sz="1400" b="1" dirty="0" smtClean="0">
                <a:solidFill>
                  <a:schemeClr val="tx2"/>
                </a:solidFill>
                <a:latin typeface="Arial" pitchFamily="34" charset="0"/>
                <a:cs typeface="Arial" pitchFamily="34" charset="0"/>
              </a:rPr>
              <a:t>10. </a:t>
            </a:r>
            <a:r>
              <a:rPr lang="pt-BR" sz="1400" b="1" dirty="0">
                <a:solidFill>
                  <a:schemeClr val="tx2"/>
                </a:solidFill>
                <a:latin typeface="Arial" pitchFamily="34" charset="0"/>
                <a:cs typeface="Arial" pitchFamily="34" charset="0"/>
              </a:rPr>
              <a:t>Alinhamento</a:t>
            </a:r>
          </a:p>
          <a:p>
            <a:pPr algn="l"/>
            <a:r>
              <a:rPr lang="pt-BR" sz="1400" b="1" dirty="0" smtClean="0">
                <a:solidFill>
                  <a:schemeClr val="tx2"/>
                </a:solidFill>
                <a:latin typeface="Arial" pitchFamily="34" charset="0"/>
                <a:cs typeface="Arial" pitchFamily="34" charset="0"/>
              </a:rPr>
              <a:t> </a:t>
            </a:r>
          </a:p>
        </p:txBody>
      </p:sp>
    </p:spTree>
    <p:extLst>
      <p:ext uri="{BB962C8B-B14F-4D97-AF65-F5344CB8AC3E}">
        <p14:creationId xmlns:p14="http://schemas.microsoft.com/office/powerpoint/2010/main" val="3268750377"/>
      </p:ext>
    </p:extLst>
  </p:cSld>
  <p:clrMapOvr>
    <a:masterClrMapping/>
  </p:clrMapOvr>
  <mc:AlternateContent xmlns:mc="http://schemas.openxmlformats.org/markup-compatibility/2006">
    <mc:Choice xmlns:p14="http://schemas.microsoft.com/office/powerpoint/2010/main" Requires="p14">
      <p:transition p14:dur="250">
        <p14:reveal/>
      </p:transition>
    </mc:Choice>
    <mc:Fallback>
      <p:transition>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Gráfico 22"/>
          <p:cNvGraphicFramePr/>
          <p:nvPr>
            <p:extLst/>
          </p:nvPr>
        </p:nvGraphicFramePr>
        <p:xfrm>
          <a:off x="77733" y="616462"/>
          <a:ext cx="8592115" cy="2963210"/>
        </p:xfrm>
        <a:graphic>
          <a:graphicData uri="http://schemas.openxmlformats.org/drawingml/2006/chart">
            <c:chart xmlns:c="http://schemas.openxmlformats.org/drawingml/2006/chart" xmlns:r="http://schemas.openxmlformats.org/officeDocument/2006/relationships" r:id="rId3"/>
          </a:graphicData>
        </a:graphic>
      </p:graphicFrame>
      <p:pic>
        <p:nvPicPr>
          <p:cNvPr id="4" name="Imagem 3"/>
          <p:cNvPicPr>
            <a:picLocks noChangeAspect="1"/>
          </p:cNvPicPr>
          <p:nvPr/>
        </p:nvPicPr>
        <p:blipFill>
          <a:blip r:embed="rId4"/>
          <a:stretch>
            <a:fillRect/>
          </a:stretch>
        </p:blipFill>
        <p:spPr>
          <a:xfrm>
            <a:off x="0" y="4816"/>
            <a:ext cx="786452" cy="773543"/>
          </a:xfrm>
          <a:prstGeom prst="rect">
            <a:avLst/>
          </a:prstGeom>
        </p:spPr>
      </p:pic>
      <p:sp>
        <p:nvSpPr>
          <p:cNvPr id="6" name="CaixaDeTexto 5"/>
          <p:cNvSpPr txBox="1"/>
          <p:nvPr/>
        </p:nvSpPr>
        <p:spPr>
          <a:xfrm>
            <a:off x="2042610" y="273768"/>
            <a:ext cx="184731" cy="461238"/>
          </a:xfrm>
          <a:prstGeom prst="rect">
            <a:avLst/>
          </a:prstGeom>
          <a:noFill/>
          <a:scene3d>
            <a:camera prst="orthographicFront"/>
            <a:lightRig rig="threePt" dir="t"/>
          </a:scene3d>
          <a:sp3d>
            <a:bevelT w="114300" prst="artDeco"/>
            <a:bevelB/>
          </a:sp3d>
        </p:spPr>
        <p:txBody>
          <a:bodyPr wrap="none" rtlCol="0">
            <a:spAutoFit/>
          </a:bodyPr>
          <a:lstStyle/>
          <a:p>
            <a:endParaRPr lang="pt-BR" sz="2400" dirty="0"/>
          </a:p>
        </p:txBody>
      </p:sp>
      <p:sp>
        <p:nvSpPr>
          <p:cNvPr id="20" name="Title 1"/>
          <p:cNvSpPr txBox="1">
            <a:spLocks/>
          </p:cNvSpPr>
          <p:nvPr/>
        </p:nvSpPr>
        <p:spPr>
          <a:xfrm>
            <a:off x="758032" y="44006"/>
            <a:ext cx="6254098" cy="432259"/>
          </a:xfrm>
          <a:prstGeom prst="rect">
            <a:avLst/>
          </a:prstGeom>
          <a:scene3d>
            <a:camera prst="orthographicFront"/>
            <a:lightRig rig="threePt" dir="t"/>
          </a:scene3d>
          <a:sp3d>
            <a:bevelT w="114300" prst="artDeco"/>
            <a:bevelB/>
          </a:sp3d>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buClr>
                <a:srgbClr val="800000"/>
              </a:buClr>
            </a:pPr>
            <a:r>
              <a:rPr lang="pt-BR" sz="2400" b="1" dirty="0" smtClean="0">
                <a:solidFill>
                  <a:schemeClr val="tx2"/>
                </a:solidFill>
                <a:latin typeface="Arial" pitchFamily="34" charset="0"/>
                <a:cs typeface="Arial" pitchFamily="34" charset="0"/>
              </a:rPr>
              <a:t>1. Indicadores: Totais de Incidentes</a:t>
            </a:r>
            <a:endParaRPr lang="pt-BR" sz="1600" b="1" dirty="0">
              <a:solidFill>
                <a:schemeClr val="tx2"/>
              </a:solidFill>
              <a:latin typeface="Arial" pitchFamily="34" charset="0"/>
              <a:cs typeface="Arial" pitchFamily="34" charset="0"/>
            </a:endParaRPr>
          </a:p>
        </p:txBody>
      </p:sp>
      <p:pic>
        <p:nvPicPr>
          <p:cNvPr id="1026" name="Picture 2"/>
          <p:cNvPicPr>
            <a:picLocks noChangeAspect="1" noChangeArrowheads="1"/>
          </p:cNvPicPr>
          <p:nvPr/>
        </p:nvPicPr>
        <p:blipFill rotWithShape="1">
          <a:blip r:embed="rId5">
            <a:extLst>
              <a:ext uri="{28A0092B-C50C-407E-A947-70E740481C1C}">
                <a14:useLocalDpi xmlns:a14="http://schemas.microsoft.com/office/drawing/2010/main" val="0"/>
              </a:ext>
            </a:extLst>
          </a:blip>
          <a:srcRect l="76780" t="78172" r="18395" b="12686"/>
          <a:stretch/>
        </p:blipFill>
        <p:spPr bwMode="auto">
          <a:xfrm>
            <a:off x="8192177" y="4376194"/>
            <a:ext cx="955343" cy="763238"/>
          </a:xfrm>
          <a:prstGeom prst="rect">
            <a:avLst/>
          </a:prstGeom>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 name="Imagem 1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891436" y="2794190"/>
            <a:ext cx="247650" cy="1760495"/>
          </a:xfrm>
          <a:prstGeom prst="roundRect">
            <a:avLst>
              <a:gd name="adj" fmla="val 8594"/>
            </a:avLst>
          </a:prstGeom>
          <a:solidFill>
            <a:srgbClr val="FFFFFF">
              <a:shade val="85000"/>
            </a:srgbClr>
          </a:solidFill>
          <a:ln>
            <a:noFill/>
          </a:ln>
          <a:effectLst/>
        </p:spPr>
      </p:pic>
      <p:pic>
        <p:nvPicPr>
          <p:cNvPr id="26" name="Picture 7"/>
          <p:cNvPicPr>
            <a:picLocks noChangeAspect="1"/>
          </p:cNvPicPr>
          <p:nvPr/>
        </p:nvPicPr>
        <p:blipFill>
          <a:blip r:embed="rId7"/>
          <a:stretch>
            <a:fillRect/>
          </a:stretch>
        </p:blipFill>
        <p:spPr>
          <a:xfrm>
            <a:off x="7331777" y="260136"/>
            <a:ext cx="1473556" cy="356326"/>
          </a:xfrm>
          <a:prstGeom prst="rect">
            <a:avLst/>
          </a:prstGeom>
        </p:spPr>
      </p:pic>
      <p:sp>
        <p:nvSpPr>
          <p:cNvPr id="16" name="CaixaDeTexto 15"/>
          <p:cNvSpPr txBox="1"/>
          <p:nvPr/>
        </p:nvSpPr>
        <p:spPr>
          <a:xfrm>
            <a:off x="1194143" y="3579803"/>
            <a:ext cx="512369" cy="230832"/>
          </a:xfrm>
          <a:prstGeom prst="rect">
            <a:avLst/>
          </a:prstGeom>
          <a:noFill/>
          <a:scene3d>
            <a:camera prst="orthographicFront"/>
            <a:lightRig rig="threePt" dir="t"/>
          </a:scene3d>
          <a:sp3d>
            <a:bevelT w="114300" prst="artDeco"/>
            <a:bevelB/>
          </a:sp3d>
        </p:spPr>
        <p:txBody>
          <a:bodyPr wrap="square" rtlCol="0">
            <a:spAutoFit/>
          </a:bodyPr>
          <a:lstStyle/>
          <a:p>
            <a:pPr algn="ctr"/>
            <a:r>
              <a:rPr lang="pt-BR" sz="900" b="1" dirty="0">
                <a:solidFill>
                  <a:srgbClr val="00B050"/>
                </a:solidFill>
              </a:rPr>
              <a:t>-10,8%</a:t>
            </a:r>
          </a:p>
        </p:txBody>
      </p:sp>
      <p:sp>
        <p:nvSpPr>
          <p:cNvPr id="19" name="Chave esquerda 18"/>
          <p:cNvSpPr/>
          <p:nvPr/>
        </p:nvSpPr>
        <p:spPr>
          <a:xfrm rot="16200000">
            <a:off x="1363833" y="2836773"/>
            <a:ext cx="146219" cy="1095448"/>
          </a:xfrm>
          <a:prstGeom prst="leftBrace">
            <a:avLst/>
          </a:prstGeom>
          <a:ln>
            <a:solidFill>
              <a:schemeClr val="tx2"/>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pt-BR"/>
          </a:p>
        </p:txBody>
      </p:sp>
      <p:sp>
        <p:nvSpPr>
          <p:cNvPr id="29" name="CaixaDeTexto 28"/>
          <p:cNvSpPr txBox="1"/>
          <p:nvPr/>
        </p:nvSpPr>
        <p:spPr>
          <a:xfrm>
            <a:off x="2355490" y="3579803"/>
            <a:ext cx="512369" cy="230832"/>
          </a:xfrm>
          <a:prstGeom prst="rect">
            <a:avLst/>
          </a:prstGeom>
          <a:noFill/>
          <a:scene3d>
            <a:camera prst="orthographicFront"/>
            <a:lightRig rig="threePt" dir="t"/>
          </a:scene3d>
          <a:sp3d>
            <a:bevelT w="114300" prst="artDeco"/>
            <a:bevelB/>
          </a:sp3d>
        </p:spPr>
        <p:txBody>
          <a:bodyPr wrap="square" rtlCol="0">
            <a:spAutoFit/>
          </a:bodyPr>
          <a:lstStyle/>
          <a:p>
            <a:pPr algn="ctr"/>
            <a:r>
              <a:rPr lang="pt-BR" sz="900" b="1" dirty="0">
                <a:solidFill>
                  <a:srgbClr val="00B050"/>
                </a:solidFill>
              </a:rPr>
              <a:t>-9,2%</a:t>
            </a:r>
          </a:p>
        </p:txBody>
      </p:sp>
      <p:sp>
        <p:nvSpPr>
          <p:cNvPr id="31" name="CaixaDeTexto 30"/>
          <p:cNvSpPr txBox="1"/>
          <p:nvPr/>
        </p:nvSpPr>
        <p:spPr>
          <a:xfrm>
            <a:off x="3545408" y="3579803"/>
            <a:ext cx="512369" cy="230832"/>
          </a:xfrm>
          <a:prstGeom prst="rect">
            <a:avLst/>
          </a:prstGeom>
          <a:noFill/>
          <a:scene3d>
            <a:camera prst="orthographicFront"/>
            <a:lightRig rig="threePt" dir="t"/>
          </a:scene3d>
          <a:sp3d>
            <a:bevelT w="114300" prst="artDeco"/>
            <a:bevelB/>
          </a:sp3d>
        </p:spPr>
        <p:txBody>
          <a:bodyPr wrap="square" rtlCol="0">
            <a:spAutoFit/>
          </a:bodyPr>
          <a:lstStyle/>
          <a:p>
            <a:pPr algn="ctr"/>
            <a:r>
              <a:rPr lang="pt-BR" sz="900" b="1" dirty="0">
                <a:solidFill>
                  <a:srgbClr val="FF0000"/>
                </a:solidFill>
              </a:rPr>
              <a:t>+7,5%</a:t>
            </a:r>
          </a:p>
        </p:txBody>
      </p:sp>
      <p:sp>
        <p:nvSpPr>
          <p:cNvPr id="33" name="CaixaDeTexto 32"/>
          <p:cNvSpPr txBox="1"/>
          <p:nvPr/>
        </p:nvSpPr>
        <p:spPr>
          <a:xfrm>
            <a:off x="4748766" y="3579803"/>
            <a:ext cx="512369" cy="230832"/>
          </a:xfrm>
          <a:prstGeom prst="rect">
            <a:avLst/>
          </a:prstGeom>
          <a:noFill/>
          <a:scene3d>
            <a:camera prst="orthographicFront"/>
            <a:lightRig rig="threePt" dir="t"/>
          </a:scene3d>
          <a:sp3d>
            <a:bevelT w="114300" prst="artDeco"/>
            <a:bevelB/>
          </a:sp3d>
        </p:spPr>
        <p:txBody>
          <a:bodyPr wrap="square" rtlCol="0">
            <a:spAutoFit/>
          </a:bodyPr>
          <a:lstStyle/>
          <a:p>
            <a:pPr algn="ctr"/>
            <a:r>
              <a:rPr lang="pt-BR" sz="900" b="1" dirty="0">
                <a:solidFill>
                  <a:srgbClr val="00B050"/>
                </a:solidFill>
              </a:rPr>
              <a:t>-3,6%</a:t>
            </a:r>
          </a:p>
        </p:txBody>
      </p:sp>
      <p:sp>
        <p:nvSpPr>
          <p:cNvPr id="35" name="CaixaDeTexto 34"/>
          <p:cNvSpPr txBox="1"/>
          <p:nvPr/>
        </p:nvSpPr>
        <p:spPr>
          <a:xfrm>
            <a:off x="5936890" y="3579672"/>
            <a:ext cx="512369" cy="230832"/>
          </a:xfrm>
          <a:prstGeom prst="rect">
            <a:avLst/>
          </a:prstGeom>
          <a:noFill/>
          <a:scene3d>
            <a:camera prst="orthographicFront"/>
            <a:lightRig rig="threePt" dir="t"/>
          </a:scene3d>
          <a:sp3d>
            <a:bevelT w="114300" prst="artDeco"/>
            <a:bevelB/>
          </a:sp3d>
        </p:spPr>
        <p:txBody>
          <a:bodyPr wrap="square" rtlCol="0">
            <a:spAutoFit/>
          </a:bodyPr>
          <a:lstStyle/>
          <a:p>
            <a:pPr algn="ctr"/>
            <a:r>
              <a:rPr lang="pt-BR" sz="900" b="1" dirty="0">
                <a:solidFill>
                  <a:srgbClr val="00B050"/>
                </a:solidFill>
              </a:rPr>
              <a:t>-2,6%</a:t>
            </a:r>
          </a:p>
        </p:txBody>
      </p:sp>
      <p:sp>
        <p:nvSpPr>
          <p:cNvPr id="40" name="Chave esquerda 39"/>
          <p:cNvSpPr/>
          <p:nvPr/>
        </p:nvSpPr>
        <p:spPr>
          <a:xfrm rot="16200000">
            <a:off x="2537924" y="2820784"/>
            <a:ext cx="147503" cy="1126142"/>
          </a:xfrm>
          <a:prstGeom prst="leftBrace">
            <a:avLst/>
          </a:prstGeom>
          <a:ln>
            <a:solidFill>
              <a:schemeClr val="tx2"/>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pt-BR"/>
          </a:p>
        </p:txBody>
      </p:sp>
      <p:sp>
        <p:nvSpPr>
          <p:cNvPr id="41" name="Chave esquerda 40"/>
          <p:cNvSpPr/>
          <p:nvPr/>
        </p:nvSpPr>
        <p:spPr>
          <a:xfrm rot="16200000">
            <a:off x="3727842" y="2820784"/>
            <a:ext cx="147503" cy="1126142"/>
          </a:xfrm>
          <a:prstGeom prst="leftBrace">
            <a:avLst/>
          </a:prstGeom>
          <a:ln>
            <a:solidFill>
              <a:schemeClr val="tx2"/>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pt-BR"/>
          </a:p>
        </p:txBody>
      </p:sp>
      <p:sp>
        <p:nvSpPr>
          <p:cNvPr id="42" name="Chave esquerda 41"/>
          <p:cNvSpPr/>
          <p:nvPr/>
        </p:nvSpPr>
        <p:spPr>
          <a:xfrm rot="16200000">
            <a:off x="4931200" y="2820784"/>
            <a:ext cx="147503" cy="1126142"/>
          </a:xfrm>
          <a:prstGeom prst="leftBrace">
            <a:avLst/>
          </a:prstGeom>
          <a:ln>
            <a:solidFill>
              <a:schemeClr val="tx2"/>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pt-BR"/>
          </a:p>
        </p:txBody>
      </p:sp>
      <p:sp>
        <p:nvSpPr>
          <p:cNvPr id="43" name="Chave esquerda 42"/>
          <p:cNvSpPr/>
          <p:nvPr/>
        </p:nvSpPr>
        <p:spPr>
          <a:xfrm rot="16200000">
            <a:off x="6119324" y="2820784"/>
            <a:ext cx="147503" cy="1126142"/>
          </a:xfrm>
          <a:prstGeom prst="leftBrace">
            <a:avLst/>
          </a:prstGeom>
          <a:ln>
            <a:solidFill>
              <a:schemeClr val="tx2"/>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pt-BR"/>
          </a:p>
        </p:txBody>
      </p:sp>
      <p:sp>
        <p:nvSpPr>
          <p:cNvPr id="22" name="CaixaDeTexto 21"/>
          <p:cNvSpPr txBox="1"/>
          <p:nvPr/>
        </p:nvSpPr>
        <p:spPr>
          <a:xfrm>
            <a:off x="7171743" y="3579672"/>
            <a:ext cx="512369" cy="230832"/>
          </a:xfrm>
          <a:prstGeom prst="rect">
            <a:avLst/>
          </a:prstGeom>
          <a:noFill/>
          <a:scene3d>
            <a:camera prst="orthographicFront"/>
            <a:lightRig rig="threePt" dir="t"/>
          </a:scene3d>
          <a:sp3d>
            <a:bevelT w="114300" prst="artDeco"/>
            <a:bevelB/>
          </a:sp3d>
        </p:spPr>
        <p:txBody>
          <a:bodyPr wrap="square" rtlCol="0">
            <a:spAutoFit/>
          </a:bodyPr>
          <a:lstStyle/>
          <a:p>
            <a:pPr algn="ctr"/>
            <a:r>
              <a:rPr lang="pt-BR" sz="900" b="1" dirty="0" smtClean="0">
                <a:solidFill>
                  <a:srgbClr val="00B050"/>
                </a:solidFill>
              </a:rPr>
              <a:t>-37,8%</a:t>
            </a:r>
            <a:endParaRPr lang="pt-BR" sz="900" b="1" dirty="0">
              <a:solidFill>
                <a:srgbClr val="00B050"/>
              </a:solidFill>
            </a:endParaRPr>
          </a:p>
        </p:txBody>
      </p:sp>
      <p:sp>
        <p:nvSpPr>
          <p:cNvPr id="24" name="Chave esquerda 23"/>
          <p:cNvSpPr/>
          <p:nvPr/>
        </p:nvSpPr>
        <p:spPr>
          <a:xfrm rot="16200000">
            <a:off x="7354177" y="2820784"/>
            <a:ext cx="147503" cy="1126142"/>
          </a:xfrm>
          <a:prstGeom prst="leftBrace">
            <a:avLst/>
          </a:prstGeom>
          <a:ln>
            <a:solidFill>
              <a:schemeClr val="tx2"/>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pt-BR"/>
          </a:p>
        </p:txBody>
      </p:sp>
      <p:pic>
        <p:nvPicPr>
          <p:cNvPr id="29699"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55548" y="3961734"/>
            <a:ext cx="4333875" cy="866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5" name="CaixaDeTexto 24"/>
          <p:cNvSpPr txBox="1"/>
          <p:nvPr/>
        </p:nvSpPr>
        <p:spPr>
          <a:xfrm>
            <a:off x="1" y="4902655"/>
            <a:ext cx="5871160" cy="246221"/>
          </a:xfrm>
          <a:prstGeom prst="rect">
            <a:avLst/>
          </a:prstGeom>
          <a:noFill/>
          <a:scene3d>
            <a:camera prst="orthographicFront"/>
            <a:lightRig rig="threePt" dir="t"/>
          </a:scene3d>
          <a:sp3d>
            <a:bevelT w="114300" prst="artDeco"/>
            <a:bevelB/>
          </a:sp3d>
        </p:spPr>
        <p:txBody>
          <a:bodyPr wrap="square" rtlCol="0">
            <a:spAutoFit/>
          </a:bodyPr>
          <a:lstStyle/>
          <a:p>
            <a:pPr algn="just"/>
            <a:r>
              <a:rPr lang="pt-BR" sz="1000" dirty="0">
                <a:solidFill>
                  <a:schemeClr val="bg1">
                    <a:lumMod val="65000"/>
                  </a:schemeClr>
                </a:solidFill>
              </a:rPr>
              <a:t>Informações retiradas dos indicadores de SLA e </a:t>
            </a:r>
            <a:r>
              <a:rPr lang="pt-BR" sz="1000" dirty="0" err="1">
                <a:solidFill>
                  <a:schemeClr val="bg1">
                    <a:lumMod val="65000"/>
                  </a:schemeClr>
                </a:solidFill>
              </a:rPr>
              <a:t>tProcess</a:t>
            </a:r>
            <a:r>
              <a:rPr lang="pt-BR" sz="1000" dirty="0">
                <a:solidFill>
                  <a:schemeClr val="bg1">
                    <a:lumMod val="65000"/>
                  </a:schemeClr>
                </a:solidFill>
              </a:rPr>
              <a:t>! referentes ao período de </a:t>
            </a:r>
            <a:r>
              <a:rPr lang="pt-BR" sz="1000" dirty="0" smtClean="0">
                <a:solidFill>
                  <a:schemeClr val="bg1">
                    <a:lumMod val="65000"/>
                  </a:schemeClr>
                </a:solidFill>
              </a:rPr>
              <a:t>01/06 </a:t>
            </a:r>
            <a:r>
              <a:rPr lang="pt-BR" sz="1000" dirty="0">
                <a:solidFill>
                  <a:schemeClr val="bg1">
                    <a:lumMod val="65000"/>
                  </a:schemeClr>
                </a:solidFill>
              </a:rPr>
              <a:t>a </a:t>
            </a:r>
            <a:r>
              <a:rPr lang="pt-BR" sz="1000" dirty="0" smtClean="0">
                <a:solidFill>
                  <a:schemeClr val="bg1">
                    <a:lumMod val="65000"/>
                  </a:schemeClr>
                </a:solidFill>
              </a:rPr>
              <a:t>20/06.</a:t>
            </a:r>
            <a:endParaRPr lang="pt-BR" dirty="0">
              <a:solidFill>
                <a:schemeClr val="bg1">
                  <a:lumMod val="65000"/>
                </a:schemeClr>
              </a:solidFill>
            </a:endParaRPr>
          </a:p>
        </p:txBody>
      </p:sp>
    </p:spTree>
    <p:extLst>
      <p:ext uri="{BB962C8B-B14F-4D97-AF65-F5344CB8AC3E}">
        <p14:creationId xmlns:p14="http://schemas.microsoft.com/office/powerpoint/2010/main" val="1516348494"/>
      </p:ext>
    </p:extLst>
  </p:cSld>
  <p:clrMapOvr>
    <a:masterClrMapping/>
  </p:clrMapOvr>
  <mc:AlternateContent xmlns:mc="http://schemas.openxmlformats.org/markup-compatibility/2006">
    <mc:Choice xmlns:p14="http://schemas.microsoft.com/office/powerpoint/2010/main" Requires="p14">
      <p:transition p14:dur="250">
        <p14:reveal/>
      </p:transition>
    </mc:Choice>
    <mc:Fallback>
      <p:transition>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aixaDeTexto 5"/>
          <p:cNvSpPr txBox="1"/>
          <p:nvPr/>
        </p:nvSpPr>
        <p:spPr>
          <a:xfrm>
            <a:off x="2039092" y="302231"/>
            <a:ext cx="184731" cy="368990"/>
          </a:xfrm>
          <a:prstGeom prst="rect">
            <a:avLst/>
          </a:prstGeom>
          <a:noFill/>
          <a:scene3d>
            <a:camera prst="orthographicFront"/>
            <a:lightRig rig="threePt" dir="t"/>
          </a:scene3d>
          <a:sp3d>
            <a:bevelT w="114300" prst="artDeco"/>
            <a:bevelB/>
          </a:sp3d>
        </p:spPr>
        <p:txBody>
          <a:bodyPr wrap="none" rtlCol="0">
            <a:spAutoFit/>
          </a:bodyPr>
          <a:lstStyle/>
          <a:p>
            <a:endParaRPr lang="pt-BR" dirty="0">
              <a:solidFill>
                <a:prstClr val="black"/>
              </a:solidFill>
              <a:latin typeface="Calibri"/>
            </a:endParaRPr>
          </a:p>
        </p:txBody>
      </p:sp>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76780" t="78172" r="18395" b="12686"/>
          <a:stretch/>
        </p:blipFill>
        <p:spPr bwMode="auto">
          <a:xfrm>
            <a:off x="8188662" y="4382644"/>
            <a:ext cx="955343" cy="763238"/>
          </a:xfrm>
          <a:prstGeom prst="rect">
            <a:avLst/>
          </a:prstGeom>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23" name="Gráfico 22"/>
          <p:cNvGraphicFramePr/>
          <p:nvPr>
            <p:extLst/>
          </p:nvPr>
        </p:nvGraphicFramePr>
        <p:xfrm>
          <a:off x="328642" y="1221844"/>
          <a:ext cx="3886341" cy="2396208"/>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7" name="Gráfico 26"/>
          <p:cNvGraphicFramePr/>
          <p:nvPr>
            <p:extLst/>
          </p:nvPr>
        </p:nvGraphicFramePr>
        <p:xfrm>
          <a:off x="4692234" y="1242052"/>
          <a:ext cx="3888000" cy="2376000"/>
        </p:xfrm>
        <a:graphic>
          <a:graphicData uri="http://schemas.openxmlformats.org/drawingml/2006/chart">
            <c:chart xmlns:c="http://schemas.openxmlformats.org/drawingml/2006/chart" xmlns:r="http://schemas.openxmlformats.org/officeDocument/2006/relationships" r:id="rId5"/>
          </a:graphicData>
        </a:graphic>
      </p:graphicFrame>
      <p:pic>
        <p:nvPicPr>
          <p:cNvPr id="4" name="Imagem 3"/>
          <p:cNvPicPr>
            <a:picLocks noChangeAspect="1"/>
          </p:cNvPicPr>
          <p:nvPr/>
        </p:nvPicPr>
        <p:blipFill>
          <a:blip r:embed="rId6"/>
          <a:stretch>
            <a:fillRect/>
          </a:stretch>
        </p:blipFill>
        <p:spPr>
          <a:xfrm>
            <a:off x="0" y="4817"/>
            <a:ext cx="786452" cy="773543"/>
          </a:xfrm>
          <a:prstGeom prst="rect">
            <a:avLst/>
          </a:prstGeom>
        </p:spPr>
      </p:pic>
      <p:pic>
        <p:nvPicPr>
          <p:cNvPr id="21" name="Picture 7"/>
          <p:cNvPicPr>
            <a:picLocks noChangeAspect="1"/>
          </p:cNvPicPr>
          <p:nvPr/>
        </p:nvPicPr>
        <p:blipFill>
          <a:blip r:embed="rId7"/>
          <a:stretch>
            <a:fillRect/>
          </a:stretch>
        </p:blipFill>
        <p:spPr>
          <a:xfrm>
            <a:off x="7331777" y="260136"/>
            <a:ext cx="1473556" cy="356326"/>
          </a:xfrm>
          <a:prstGeom prst="rect">
            <a:avLst/>
          </a:prstGeom>
        </p:spPr>
      </p:pic>
      <p:sp>
        <p:nvSpPr>
          <p:cNvPr id="29" name="TextBox 4"/>
          <p:cNvSpPr txBox="1">
            <a:spLocks noChangeArrowheads="1"/>
          </p:cNvSpPr>
          <p:nvPr/>
        </p:nvSpPr>
        <p:spPr bwMode="auto">
          <a:xfrm>
            <a:off x="518672" y="52325"/>
            <a:ext cx="70075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cs typeface="Arial" pitchFamily="34" charset="0"/>
              </a:defRPr>
            </a:lvl1pPr>
            <a:lvl2pPr marL="742950" indent="-285750" eaLnBrk="0" hangingPunct="0">
              <a:defRPr>
                <a:solidFill>
                  <a:schemeClr val="tx1"/>
                </a:solidFill>
                <a:latin typeface="Calibri" pitchFamily="34" charset="0"/>
                <a:cs typeface="Arial" pitchFamily="34" charset="0"/>
              </a:defRPr>
            </a:lvl2pPr>
            <a:lvl3pPr marL="1143000" indent="-228600" eaLnBrk="0" hangingPunct="0">
              <a:defRPr>
                <a:solidFill>
                  <a:schemeClr val="tx1"/>
                </a:solidFill>
                <a:latin typeface="Calibri" pitchFamily="34" charset="0"/>
                <a:cs typeface="Arial" pitchFamily="34" charset="0"/>
              </a:defRPr>
            </a:lvl3pPr>
            <a:lvl4pPr marL="1600200" indent="-228600" eaLnBrk="0" hangingPunct="0">
              <a:defRPr>
                <a:solidFill>
                  <a:schemeClr val="tx1"/>
                </a:solidFill>
                <a:latin typeface="Calibri" pitchFamily="34" charset="0"/>
                <a:cs typeface="Arial" pitchFamily="34" charset="0"/>
              </a:defRPr>
            </a:lvl4pPr>
            <a:lvl5pPr marL="2057400" indent="-228600" eaLnBrk="0" hangingPunct="0">
              <a:defRPr>
                <a:solidFill>
                  <a:schemeClr val="tx1"/>
                </a:solidFill>
                <a:latin typeface="Calibri" pitchFamily="34" charset="0"/>
                <a:cs typeface="Arial" pitchFamily="34" charset="0"/>
              </a:defRPr>
            </a:lvl5pPr>
            <a:lvl6pPr marL="2514600" indent="-228600" defTabSz="457200" eaLnBrk="0" fontAlgn="base" hangingPunct="0">
              <a:spcBef>
                <a:spcPct val="0"/>
              </a:spcBef>
              <a:spcAft>
                <a:spcPct val="0"/>
              </a:spcAft>
              <a:defRPr>
                <a:solidFill>
                  <a:schemeClr val="tx1"/>
                </a:solidFill>
                <a:latin typeface="Calibri" pitchFamily="34" charset="0"/>
                <a:cs typeface="Arial" pitchFamily="34" charset="0"/>
              </a:defRPr>
            </a:lvl6pPr>
            <a:lvl7pPr marL="2971800" indent="-228600" defTabSz="457200" eaLnBrk="0" fontAlgn="base" hangingPunct="0">
              <a:spcBef>
                <a:spcPct val="0"/>
              </a:spcBef>
              <a:spcAft>
                <a:spcPct val="0"/>
              </a:spcAft>
              <a:defRPr>
                <a:solidFill>
                  <a:schemeClr val="tx1"/>
                </a:solidFill>
                <a:latin typeface="Calibri" pitchFamily="34" charset="0"/>
                <a:cs typeface="Arial" pitchFamily="34" charset="0"/>
              </a:defRPr>
            </a:lvl7pPr>
            <a:lvl8pPr marL="3429000" indent="-228600" defTabSz="457200" eaLnBrk="0" fontAlgn="base" hangingPunct="0">
              <a:spcBef>
                <a:spcPct val="0"/>
              </a:spcBef>
              <a:spcAft>
                <a:spcPct val="0"/>
              </a:spcAft>
              <a:defRPr>
                <a:solidFill>
                  <a:schemeClr val="tx1"/>
                </a:solidFill>
                <a:latin typeface="Calibri" pitchFamily="34" charset="0"/>
                <a:cs typeface="Arial" pitchFamily="34" charset="0"/>
              </a:defRPr>
            </a:lvl8pPr>
            <a:lvl9pPr marL="3886200" indent="-228600" defTabSz="457200" eaLnBrk="0" fontAlgn="base" hangingPunct="0">
              <a:spcBef>
                <a:spcPct val="0"/>
              </a:spcBef>
              <a:spcAft>
                <a:spcPct val="0"/>
              </a:spcAft>
              <a:defRPr>
                <a:solidFill>
                  <a:schemeClr val="tx1"/>
                </a:solidFill>
                <a:latin typeface="Calibri" pitchFamily="34" charset="0"/>
                <a:cs typeface="Arial" pitchFamily="34" charset="0"/>
              </a:defRPr>
            </a:lvl9pPr>
          </a:lstStyle>
          <a:p>
            <a:pPr eaLnBrk="1" hangingPunct="1"/>
            <a:r>
              <a:rPr lang="pt-BR" sz="2400" b="1" dirty="0">
                <a:solidFill>
                  <a:schemeClr val="accent1">
                    <a:lumMod val="50000"/>
                  </a:schemeClr>
                </a:solidFill>
              </a:rPr>
              <a:t>2</a:t>
            </a:r>
            <a:r>
              <a:rPr lang="pt-BR" sz="2400" b="1" dirty="0" smtClean="0">
                <a:solidFill>
                  <a:schemeClr val="accent1">
                    <a:lumMod val="50000"/>
                  </a:schemeClr>
                </a:solidFill>
              </a:rPr>
              <a:t>. Gerenciamento </a:t>
            </a:r>
            <a:r>
              <a:rPr lang="pt-BR" sz="2400" b="1" dirty="0">
                <a:solidFill>
                  <a:schemeClr val="accent1">
                    <a:lumMod val="50000"/>
                  </a:schemeClr>
                </a:solidFill>
              </a:rPr>
              <a:t>de Incidentes - Alto Impacto</a:t>
            </a:r>
          </a:p>
        </p:txBody>
      </p:sp>
      <p:grpSp>
        <p:nvGrpSpPr>
          <p:cNvPr id="3" name="Grupo 2"/>
          <p:cNvGrpSpPr/>
          <p:nvPr/>
        </p:nvGrpSpPr>
        <p:grpSpPr>
          <a:xfrm>
            <a:off x="518672" y="3545491"/>
            <a:ext cx="3486049" cy="840691"/>
            <a:chOff x="295379" y="3311565"/>
            <a:chExt cx="3486049" cy="840691"/>
          </a:xfrm>
        </p:grpSpPr>
        <p:sp>
          <p:nvSpPr>
            <p:cNvPr id="35" name="CaixaDeTexto 34"/>
            <p:cNvSpPr txBox="1"/>
            <p:nvPr/>
          </p:nvSpPr>
          <p:spPr>
            <a:xfrm>
              <a:off x="321807" y="3449618"/>
              <a:ext cx="576000" cy="216000"/>
            </a:xfrm>
            <a:prstGeom prst="rect">
              <a:avLst/>
            </a:prstGeom>
            <a:noFill/>
            <a:scene3d>
              <a:camera prst="orthographicFront"/>
              <a:lightRig rig="threePt" dir="t"/>
            </a:scene3d>
            <a:sp3d>
              <a:bevelT w="114300" prst="artDeco"/>
              <a:bevelB/>
            </a:sp3d>
          </p:spPr>
          <p:txBody>
            <a:bodyPr wrap="square" rtlCol="0">
              <a:spAutoFit/>
            </a:bodyPr>
            <a:lstStyle/>
            <a:p>
              <a:pPr algn="ctr"/>
              <a:r>
                <a:rPr lang="pt-BR" sz="1000" b="1" dirty="0">
                  <a:solidFill>
                    <a:srgbClr val="00B050"/>
                  </a:solidFill>
                  <a:latin typeface="Calibri"/>
                </a:rPr>
                <a:t>-85,9%</a:t>
              </a:r>
            </a:p>
          </p:txBody>
        </p:sp>
        <p:sp>
          <p:nvSpPr>
            <p:cNvPr id="36" name="CaixaDeTexto 35"/>
            <p:cNvSpPr txBox="1"/>
            <p:nvPr/>
          </p:nvSpPr>
          <p:spPr>
            <a:xfrm>
              <a:off x="928865" y="3449618"/>
              <a:ext cx="576000" cy="216000"/>
            </a:xfrm>
            <a:prstGeom prst="rect">
              <a:avLst/>
            </a:prstGeom>
            <a:noFill/>
            <a:scene3d>
              <a:camera prst="orthographicFront"/>
              <a:lightRig rig="threePt" dir="t"/>
            </a:scene3d>
            <a:sp3d>
              <a:bevelT w="114300" prst="artDeco"/>
              <a:bevelB/>
            </a:sp3d>
          </p:spPr>
          <p:txBody>
            <a:bodyPr wrap="square" rtlCol="0">
              <a:spAutoFit/>
            </a:bodyPr>
            <a:lstStyle/>
            <a:p>
              <a:pPr algn="ctr"/>
              <a:r>
                <a:rPr lang="pt-BR" sz="1000" b="1" dirty="0">
                  <a:solidFill>
                    <a:srgbClr val="00B050"/>
                  </a:solidFill>
                  <a:latin typeface="Calibri"/>
                </a:rPr>
                <a:t>-2,9%</a:t>
              </a:r>
            </a:p>
          </p:txBody>
        </p:sp>
        <p:sp>
          <p:nvSpPr>
            <p:cNvPr id="37" name="CaixaDeTexto 36"/>
            <p:cNvSpPr txBox="1"/>
            <p:nvPr/>
          </p:nvSpPr>
          <p:spPr>
            <a:xfrm>
              <a:off x="1504865" y="3449618"/>
              <a:ext cx="576000" cy="216000"/>
            </a:xfrm>
            <a:prstGeom prst="rect">
              <a:avLst/>
            </a:prstGeom>
            <a:noFill/>
            <a:scene3d>
              <a:camera prst="orthographicFront"/>
              <a:lightRig rig="threePt" dir="t"/>
            </a:scene3d>
            <a:sp3d>
              <a:bevelT w="114300" prst="artDeco"/>
              <a:bevelB/>
            </a:sp3d>
          </p:spPr>
          <p:txBody>
            <a:bodyPr wrap="square" rtlCol="0">
              <a:spAutoFit/>
            </a:bodyPr>
            <a:lstStyle/>
            <a:p>
              <a:pPr algn="ctr"/>
              <a:r>
                <a:rPr lang="pt-BR" sz="1000" b="1" dirty="0">
                  <a:solidFill>
                    <a:srgbClr val="00B050"/>
                  </a:solidFill>
                  <a:latin typeface="Calibri"/>
                </a:rPr>
                <a:t>-11,8%</a:t>
              </a:r>
            </a:p>
          </p:txBody>
        </p:sp>
        <p:sp>
          <p:nvSpPr>
            <p:cNvPr id="2" name="Chave esquerda 1"/>
            <p:cNvSpPr/>
            <p:nvPr/>
          </p:nvSpPr>
          <p:spPr>
            <a:xfrm rot="16200000">
              <a:off x="606904" y="3097889"/>
              <a:ext cx="45719" cy="473075"/>
            </a:xfrm>
            <a:prstGeom prst="leftBrace">
              <a:avLst/>
            </a:prstGeom>
            <a:ln>
              <a:solidFill>
                <a:schemeClr val="tx2"/>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pt-BR"/>
            </a:p>
          </p:txBody>
        </p:sp>
        <p:sp>
          <p:nvSpPr>
            <p:cNvPr id="43" name="Chave esquerda 42"/>
            <p:cNvSpPr/>
            <p:nvPr/>
          </p:nvSpPr>
          <p:spPr>
            <a:xfrm rot="16200000">
              <a:off x="1999397" y="2054568"/>
              <a:ext cx="78014" cy="3486049"/>
            </a:xfrm>
            <a:prstGeom prst="leftBrace">
              <a:avLst/>
            </a:prstGeom>
            <a:ln>
              <a:solidFill>
                <a:schemeClr val="tx2"/>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pt-BR"/>
            </a:p>
          </p:txBody>
        </p:sp>
        <p:sp>
          <p:nvSpPr>
            <p:cNvPr id="44" name="CaixaDeTexto 43"/>
            <p:cNvSpPr txBox="1"/>
            <p:nvPr/>
          </p:nvSpPr>
          <p:spPr>
            <a:xfrm>
              <a:off x="1731136" y="3906035"/>
              <a:ext cx="615911" cy="246221"/>
            </a:xfrm>
            <a:prstGeom prst="rect">
              <a:avLst/>
            </a:prstGeom>
            <a:noFill/>
            <a:scene3d>
              <a:camera prst="orthographicFront"/>
              <a:lightRig rig="threePt" dir="t"/>
            </a:scene3d>
            <a:sp3d>
              <a:bevelT w="114300" prst="artDeco"/>
              <a:bevelB/>
            </a:sp3d>
          </p:spPr>
          <p:txBody>
            <a:bodyPr wrap="square" rtlCol="0">
              <a:spAutoFit/>
            </a:bodyPr>
            <a:lstStyle/>
            <a:p>
              <a:pPr algn="ctr"/>
              <a:r>
                <a:rPr lang="pt-BR" sz="1000" b="1" dirty="0" smtClean="0">
                  <a:solidFill>
                    <a:srgbClr val="00B050"/>
                  </a:solidFill>
                  <a:latin typeface="Calibri"/>
                </a:rPr>
                <a:t>-92,6%</a:t>
              </a:r>
              <a:endParaRPr lang="pt-BR" sz="1000" b="1" dirty="0">
                <a:solidFill>
                  <a:srgbClr val="00B050"/>
                </a:solidFill>
                <a:latin typeface="Calibri"/>
              </a:endParaRPr>
            </a:p>
          </p:txBody>
        </p:sp>
        <p:sp>
          <p:nvSpPr>
            <p:cNvPr id="47" name="Chave esquerda 46"/>
            <p:cNvSpPr/>
            <p:nvPr/>
          </p:nvSpPr>
          <p:spPr>
            <a:xfrm rot="16200000">
              <a:off x="1182051" y="3097889"/>
              <a:ext cx="45719" cy="473075"/>
            </a:xfrm>
            <a:prstGeom prst="leftBrace">
              <a:avLst/>
            </a:prstGeom>
            <a:ln>
              <a:solidFill>
                <a:schemeClr val="tx2"/>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pt-BR"/>
            </a:p>
          </p:txBody>
        </p:sp>
        <p:sp>
          <p:nvSpPr>
            <p:cNvPr id="54" name="Chave esquerda 53"/>
            <p:cNvSpPr/>
            <p:nvPr/>
          </p:nvSpPr>
          <p:spPr>
            <a:xfrm rot="16200000">
              <a:off x="1753551" y="3097890"/>
              <a:ext cx="45719" cy="473075"/>
            </a:xfrm>
            <a:prstGeom prst="leftBrace">
              <a:avLst/>
            </a:prstGeom>
            <a:ln>
              <a:solidFill>
                <a:schemeClr val="tx2"/>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pt-BR"/>
            </a:p>
          </p:txBody>
        </p:sp>
        <p:sp>
          <p:nvSpPr>
            <p:cNvPr id="55" name="Chave esquerda 54"/>
            <p:cNvSpPr/>
            <p:nvPr/>
          </p:nvSpPr>
          <p:spPr>
            <a:xfrm rot="16200000">
              <a:off x="2279270" y="3097891"/>
              <a:ext cx="45719" cy="473075"/>
            </a:xfrm>
            <a:prstGeom prst="leftBrace">
              <a:avLst/>
            </a:prstGeom>
            <a:ln>
              <a:solidFill>
                <a:schemeClr val="tx2"/>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pt-BR"/>
            </a:p>
          </p:txBody>
        </p:sp>
        <p:sp>
          <p:nvSpPr>
            <p:cNvPr id="56" name="Chave esquerda 55"/>
            <p:cNvSpPr/>
            <p:nvPr/>
          </p:nvSpPr>
          <p:spPr>
            <a:xfrm rot="16200000">
              <a:off x="2852101" y="3097888"/>
              <a:ext cx="45719" cy="473075"/>
            </a:xfrm>
            <a:prstGeom prst="leftBrace">
              <a:avLst/>
            </a:prstGeom>
            <a:ln>
              <a:solidFill>
                <a:schemeClr val="tx2"/>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pt-BR"/>
            </a:p>
          </p:txBody>
        </p:sp>
        <p:sp>
          <p:nvSpPr>
            <p:cNvPr id="58" name="CaixaDeTexto 57"/>
            <p:cNvSpPr txBox="1"/>
            <p:nvPr/>
          </p:nvSpPr>
          <p:spPr>
            <a:xfrm>
              <a:off x="2014129" y="3449618"/>
              <a:ext cx="576000" cy="246221"/>
            </a:xfrm>
            <a:prstGeom prst="rect">
              <a:avLst/>
            </a:prstGeom>
            <a:noFill/>
            <a:scene3d>
              <a:camera prst="orthographicFront"/>
              <a:lightRig rig="threePt" dir="t"/>
            </a:scene3d>
            <a:sp3d>
              <a:bevelT w="114300" prst="artDeco"/>
              <a:bevelB/>
            </a:sp3d>
          </p:spPr>
          <p:txBody>
            <a:bodyPr wrap="square" rtlCol="0">
              <a:spAutoFit/>
            </a:bodyPr>
            <a:lstStyle/>
            <a:p>
              <a:pPr algn="ctr"/>
              <a:r>
                <a:rPr lang="pt-BR" sz="1000" b="1" dirty="0" smtClean="0">
                  <a:solidFill>
                    <a:srgbClr val="FF0000"/>
                  </a:solidFill>
                  <a:latin typeface="Calibri"/>
                </a:rPr>
                <a:t>+1,7%</a:t>
              </a:r>
              <a:endParaRPr lang="pt-BR" sz="1000" b="1" dirty="0">
                <a:solidFill>
                  <a:srgbClr val="FF0000"/>
                </a:solidFill>
                <a:latin typeface="Calibri"/>
              </a:endParaRPr>
            </a:p>
          </p:txBody>
        </p:sp>
        <p:sp>
          <p:nvSpPr>
            <p:cNvPr id="59" name="CaixaDeTexto 58"/>
            <p:cNvSpPr txBox="1"/>
            <p:nvPr/>
          </p:nvSpPr>
          <p:spPr>
            <a:xfrm>
              <a:off x="2586283" y="3446390"/>
              <a:ext cx="576000" cy="246221"/>
            </a:xfrm>
            <a:prstGeom prst="rect">
              <a:avLst/>
            </a:prstGeom>
            <a:noFill/>
            <a:scene3d>
              <a:camera prst="orthographicFront"/>
              <a:lightRig rig="threePt" dir="t"/>
            </a:scene3d>
            <a:sp3d>
              <a:bevelT w="114300" prst="artDeco"/>
              <a:bevelB/>
            </a:sp3d>
          </p:spPr>
          <p:txBody>
            <a:bodyPr wrap="square" rtlCol="0">
              <a:spAutoFit/>
            </a:bodyPr>
            <a:lstStyle/>
            <a:p>
              <a:pPr algn="ctr"/>
              <a:r>
                <a:rPr lang="pt-BR" sz="1000" b="1" dirty="0" smtClean="0">
                  <a:solidFill>
                    <a:srgbClr val="00B050"/>
                  </a:solidFill>
                  <a:latin typeface="Calibri"/>
                </a:rPr>
                <a:t>0%</a:t>
              </a:r>
              <a:endParaRPr lang="pt-BR" sz="1000" b="1" dirty="0">
                <a:solidFill>
                  <a:srgbClr val="00B050"/>
                </a:solidFill>
                <a:latin typeface="Calibri"/>
              </a:endParaRPr>
            </a:p>
          </p:txBody>
        </p:sp>
        <p:sp>
          <p:nvSpPr>
            <p:cNvPr id="61" name="Chave esquerda 60"/>
            <p:cNvSpPr/>
            <p:nvPr/>
          </p:nvSpPr>
          <p:spPr>
            <a:xfrm rot="16200000">
              <a:off x="3420426" y="3097887"/>
              <a:ext cx="45719" cy="473075"/>
            </a:xfrm>
            <a:prstGeom prst="leftBrace">
              <a:avLst/>
            </a:prstGeom>
            <a:ln>
              <a:solidFill>
                <a:schemeClr val="tx2"/>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pt-BR"/>
            </a:p>
          </p:txBody>
        </p:sp>
        <p:sp>
          <p:nvSpPr>
            <p:cNvPr id="62" name="CaixaDeTexto 61"/>
            <p:cNvSpPr txBox="1"/>
            <p:nvPr/>
          </p:nvSpPr>
          <p:spPr>
            <a:xfrm>
              <a:off x="3155285" y="3438816"/>
              <a:ext cx="576000" cy="246221"/>
            </a:xfrm>
            <a:prstGeom prst="rect">
              <a:avLst/>
            </a:prstGeom>
            <a:noFill/>
            <a:scene3d>
              <a:camera prst="orthographicFront"/>
              <a:lightRig rig="threePt" dir="t"/>
            </a:scene3d>
            <a:sp3d>
              <a:bevelT w="114300" prst="artDeco"/>
              <a:bevelB/>
            </a:sp3d>
          </p:spPr>
          <p:txBody>
            <a:bodyPr wrap="square" rtlCol="0">
              <a:spAutoFit/>
            </a:bodyPr>
            <a:lstStyle/>
            <a:p>
              <a:pPr algn="ctr"/>
              <a:r>
                <a:rPr lang="pt-BR" sz="1000" b="1" dirty="0" smtClean="0">
                  <a:solidFill>
                    <a:srgbClr val="00B050"/>
                  </a:solidFill>
                  <a:latin typeface="Calibri"/>
                </a:rPr>
                <a:t>-39,9%</a:t>
              </a:r>
              <a:endParaRPr lang="pt-BR" sz="1000" b="1" dirty="0">
                <a:solidFill>
                  <a:srgbClr val="00B050"/>
                </a:solidFill>
                <a:latin typeface="Calibri"/>
              </a:endParaRPr>
            </a:p>
          </p:txBody>
        </p:sp>
      </p:grpSp>
      <p:grpSp>
        <p:nvGrpSpPr>
          <p:cNvPr id="63" name="Grupo 62"/>
          <p:cNvGrpSpPr/>
          <p:nvPr/>
        </p:nvGrpSpPr>
        <p:grpSpPr>
          <a:xfrm>
            <a:off x="4945361" y="3545491"/>
            <a:ext cx="3486049" cy="840691"/>
            <a:chOff x="295379" y="3311565"/>
            <a:chExt cx="3486049" cy="840691"/>
          </a:xfrm>
        </p:grpSpPr>
        <p:sp>
          <p:nvSpPr>
            <p:cNvPr id="64" name="CaixaDeTexto 63"/>
            <p:cNvSpPr txBox="1"/>
            <p:nvPr/>
          </p:nvSpPr>
          <p:spPr>
            <a:xfrm>
              <a:off x="321807" y="3449618"/>
              <a:ext cx="576000" cy="246221"/>
            </a:xfrm>
            <a:prstGeom prst="rect">
              <a:avLst/>
            </a:prstGeom>
            <a:noFill/>
            <a:scene3d>
              <a:camera prst="orthographicFront"/>
              <a:lightRig rig="threePt" dir="t"/>
            </a:scene3d>
            <a:sp3d>
              <a:bevelT w="114300" prst="artDeco"/>
              <a:bevelB/>
            </a:sp3d>
          </p:spPr>
          <p:txBody>
            <a:bodyPr wrap="square" rtlCol="0">
              <a:spAutoFit/>
            </a:bodyPr>
            <a:lstStyle/>
            <a:p>
              <a:pPr algn="ctr"/>
              <a:r>
                <a:rPr lang="pt-BR" sz="1000" b="1" dirty="0" smtClean="0">
                  <a:solidFill>
                    <a:srgbClr val="00B050"/>
                  </a:solidFill>
                  <a:latin typeface="Calibri"/>
                </a:rPr>
                <a:t>-86%</a:t>
              </a:r>
              <a:endParaRPr lang="pt-BR" sz="1000" b="1" dirty="0">
                <a:solidFill>
                  <a:srgbClr val="00B050"/>
                </a:solidFill>
                <a:latin typeface="Calibri"/>
              </a:endParaRPr>
            </a:p>
          </p:txBody>
        </p:sp>
        <p:sp>
          <p:nvSpPr>
            <p:cNvPr id="65" name="CaixaDeTexto 64"/>
            <p:cNvSpPr txBox="1"/>
            <p:nvPr/>
          </p:nvSpPr>
          <p:spPr>
            <a:xfrm>
              <a:off x="928865" y="3449618"/>
              <a:ext cx="576000" cy="246221"/>
            </a:xfrm>
            <a:prstGeom prst="rect">
              <a:avLst/>
            </a:prstGeom>
            <a:noFill/>
            <a:scene3d>
              <a:camera prst="orthographicFront"/>
              <a:lightRig rig="threePt" dir="t"/>
            </a:scene3d>
            <a:sp3d>
              <a:bevelT w="114300" prst="artDeco"/>
              <a:bevelB/>
            </a:sp3d>
          </p:spPr>
          <p:txBody>
            <a:bodyPr wrap="square" rtlCol="0">
              <a:spAutoFit/>
            </a:bodyPr>
            <a:lstStyle/>
            <a:p>
              <a:pPr algn="ctr"/>
              <a:r>
                <a:rPr lang="pt-BR" sz="1000" b="1" dirty="0" smtClean="0">
                  <a:solidFill>
                    <a:srgbClr val="FF0000"/>
                  </a:solidFill>
                  <a:latin typeface="Calibri"/>
                </a:rPr>
                <a:t>+3,8%</a:t>
              </a:r>
              <a:endParaRPr lang="pt-BR" sz="1000" b="1" dirty="0">
                <a:solidFill>
                  <a:srgbClr val="FF0000"/>
                </a:solidFill>
                <a:latin typeface="Calibri"/>
              </a:endParaRPr>
            </a:p>
          </p:txBody>
        </p:sp>
        <p:sp>
          <p:nvSpPr>
            <p:cNvPr id="66" name="CaixaDeTexto 65"/>
            <p:cNvSpPr txBox="1"/>
            <p:nvPr/>
          </p:nvSpPr>
          <p:spPr>
            <a:xfrm>
              <a:off x="1504865" y="3449618"/>
              <a:ext cx="576000" cy="246221"/>
            </a:xfrm>
            <a:prstGeom prst="rect">
              <a:avLst/>
            </a:prstGeom>
            <a:noFill/>
            <a:scene3d>
              <a:camera prst="orthographicFront"/>
              <a:lightRig rig="threePt" dir="t"/>
            </a:scene3d>
            <a:sp3d>
              <a:bevelT w="114300" prst="artDeco"/>
              <a:bevelB/>
            </a:sp3d>
          </p:spPr>
          <p:txBody>
            <a:bodyPr wrap="square" rtlCol="0">
              <a:spAutoFit/>
            </a:bodyPr>
            <a:lstStyle/>
            <a:p>
              <a:pPr algn="ctr"/>
              <a:r>
                <a:rPr lang="pt-BR" sz="1000" b="1" dirty="0" smtClean="0">
                  <a:solidFill>
                    <a:srgbClr val="00B050"/>
                  </a:solidFill>
                  <a:latin typeface="Calibri"/>
                </a:rPr>
                <a:t>-17,4%</a:t>
              </a:r>
              <a:endParaRPr lang="pt-BR" sz="1000" b="1" dirty="0">
                <a:solidFill>
                  <a:srgbClr val="00B050"/>
                </a:solidFill>
                <a:latin typeface="Calibri"/>
              </a:endParaRPr>
            </a:p>
          </p:txBody>
        </p:sp>
        <p:sp>
          <p:nvSpPr>
            <p:cNvPr id="67" name="Chave esquerda 66"/>
            <p:cNvSpPr/>
            <p:nvPr/>
          </p:nvSpPr>
          <p:spPr>
            <a:xfrm rot="16200000">
              <a:off x="606904" y="3097889"/>
              <a:ext cx="45719" cy="473075"/>
            </a:xfrm>
            <a:prstGeom prst="leftBrace">
              <a:avLst/>
            </a:prstGeom>
            <a:ln>
              <a:solidFill>
                <a:schemeClr val="tx2"/>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pt-BR"/>
            </a:p>
          </p:txBody>
        </p:sp>
        <p:sp>
          <p:nvSpPr>
            <p:cNvPr id="68" name="Chave esquerda 67"/>
            <p:cNvSpPr/>
            <p:nvPr/>
          </p:nvSpPr>
          <p:spPr>
            <a:xfrm rot="16200000">
              <a:off x="1999397" y="2054568"/>
              <a:ext cx="78014" cy="3486049"/>
            </a:xfrm>
            <a:prstGeom prst="leftBrace">
              <a:avLst/>
            </a:prstGeom>
            <a:ln>
              <a:solidFill>
                <a:schemeClr val="tx2"/>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pt-BR"/>
            </a:p>
          </p:txBody>
        </p:sp>
        <p:sp>
          <p:nvSpPr>
            <p:cNvPr id="69" name="CaixaDeTexto 68"/>
            <p:cNvSpPr txBox="1"/>
            <p:nvPr/>
          </p:nvSpPr>
          <p:spPr>
            <a:xfrm>
              <a:off x="1731136" y="3906035"/>
              <a:ext cx="615911" cy="246221"/>
            </a:xfrm>
            <a:prstGeom prst="rect">
              <a:avLst/>
            </a:prstGeom>
            <a:noFill/>
            <a:scene3d>
              <a:camera prst="orthographicFront"/>
              <a:lightRig rig="threePt" dir="t"/>
            </a:scene3d>
            <a:sp3d>
              <a:bevelT w="114300" prst="artDeco"/>
              <a:bevelB/>
            </a:sp3d>
          </p:spPr>
          <p:txBody>
            <a:bodyPr wrap="square" rtlCol="0">
              <a:spAutoFit/>
            </a:bodyPr>
            <a:lstStyle/>
            <a:p>
              <a:pPr algn="ctr"/>
              <a:r>
                <a:rPr lang="pt-BR" sz="1000" b="1" dirty="0" smtClean="0">
                  <a:solidFill>
                    <a:srgbClr val="00B050"/>
                  </a:solidFill>
                  <a:latin typeface="Calibri"/>
                </a:rPr>
                <a:t>-92,4%</a:t>
              </a:r>
              <a:endParaRPr lang="pt-BR" sz="1000" b="1" dirty="0">
                <a:solidFill>
                  <a:srgbClr val="00B050"/>
                </a:solidFill>
                <a:latin typeface="Calibri"/>
              </a:endParaRPr>
            </a:p>
          </p:txBody>
        </p:sp>
        <p:sp>
          <p:nvSpPr>
            <p:cNvPr id="70" name="Chave esquerda 69"/>
            <p:cNvSpPr/>
            <p:nvPr/>
          </p:nvSpPr>
          <p:spPr>
            <a:xfrm rot="16200000">
              <a:off x="1182051" y="3097889"/>
              <a:ext cx="45719" cy="473075"/>
            </a:xfrm>
            <a:prstGeom prst="leftBrace">
              <a:avLst/>
            </a:prstGeom>
            <a:ln>
              <a:solidFill>
                <a:schemeClr val="tx2"/>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pt-BR"/>
            </a:p>
          </p:txBody>
        </p:sp>
        <p:sp>
          <p:nvSpPr>
            <p:cNvPr id="71" name="Chave esquerda 70"/>
            <p:cNvSpPr/>
            <p:nvPr/>
          </p:nvSpPr>
          <p:spPr>
            <a:xfrm rot="16200000">
              <a:off x="1753551" y="3097890"/>
              <a:ext cx="45719" cy="473075"/>
            </a:xfrm>
            <a:prstGeom prst="leftBrace">
              <a:avLst/>
            </a:prstGeom>
            <a:ln>
              <a:solidFill>
                <a:schemeClr val="tx2"/>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pt-BR"/>
            </a:p>
          </p:txBody>
        </p:sp>
        <p:sp>
          <p:nvSpPr>
            <p:cNvPr id="72" name="Chave esquerda 71"/>
            <p:cNvSpPr/>
            <p:nvPr/>
          </p:nvSpPr>
          <p:spPr>
            <a:xfrm rot="16200000">
              <a:off x="2279270" y="3097891"/>
              <a:ext cx="45719" cy="473075"/>
            </a:xfrm>
            <a:prstGeom prst="leftBrace">
              <a:avLst/>
            </a:prstGeom>
            <a:ln>
              <a:solidFill>
                <a:schemeClr val="tx2"/>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pt-BR"/>
            </a:p>
          </p:txBody>
        </p:sp>
        <p:sp>
          <p:nvSpPr>
            <p:cNvPr id="73" name="Chave esquerda 72"/>
            <p:cNvSpPr/>
            <p:nvPr/>
          </p:nvSpPr>
          <p:spPr>
            <a:xfrm rot="16200000">
              <a:off x="2852101" y="3097888"/>
              <a:ext cx="45719" cy="473075"/>
            </a:xfrm>
            <a:prstGeom prst="leftBrace">
              <a:avLst/>
            </a:prstGeom>
            <a:ln>
              <a:solidFill>
                <a:schemeClr val="tx2"/>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pt-BR"/>
            </a:p>
          </p:txBody>
        </p:sp>
        <p:sp>
          <p:nvSpPr>
            <p:cNvPr id="74" name="CaixaDeTexto 73"/>
            <p:cNvSpPr txBox="1"/>
            <p:nvPr/>
          </p:nvSpPr>
          <p:spPr>
            <a:xfrm>
              <a:off x="2014129" y="3449618"/>
              <a:ext cx="576000" cy="246221"/>
            </a:xfrm>
            <a:prstGeom prst="rect">
              <a:avLst/>
            </a:prstGeom>
            <a:noFill/>
            <a:scene3d>
              <a:camera prst="orthographicFront"/>
              <a:lightRig rig="threePt" dir="t"/>
            </a:scene3d>
            <a:sp3d>
              <a:bevelT w="114300" prst="artDeco"/>
              <a:bevelB/>
            </a:sp3d>
          </p:spPr>
          <p:txBody>
            <a:bodyPr wrap="square" rtlCol="0">
              <a:spAutoFit/>
            </a:bodyPr>
            <a:lstStyle/>
            <a:p>
              <a:pPr algn="ctr"/>
              <a:r>
                <a:rPr lang="pt-BR" sz="1000" b="1" dirty="0" smtClean="0">
                  <a:solidFill>
                    <a:srgbClr val="FF0000"/>
                  </a:solidFill>
                  <a:latin typeface="Calibri"/>
                </a:rPr>
                <a:t>+5%</a:t>
              </a:r>
              <a:endParaRPr lang="pt-BR" sz="1000" b="1" dirty="0">
                <a:solidFill>
                  <a:srgbClr val="FF0000"/>
                </a:solidFill>
                <a:latin typeface="Calibri"/>
              </a:endParaRPr>
            </a:p>
          </p:txBody>
        </p:sp>
        <p:sp>
          <p:nvSpPr>
            <p:cNvPr id="75" name="CaixaDeTexto 74"/>
            <p:cNvSpPr txBox="1"/>
            <p:nvPr/>
          </p:nvSpPr>
          <p:spPr>
            <a:xfrm>
              <a:off x="2586283" y="3446390"/>
              <a:ext cx="576000" cy="246221"/>
            </a:xfrm>
            <a:prstGeom prst="rect">
              <a:avLst/>
            </a:prstGeom>
            <a:noFill/>
            <a:scene3d>
              <a:camera prst="orthographicFront"/>
              <a:lightRig rig="threePt" dir="t"/>
            </a:scene3d>
            <a:sp3d>
              <a:bevelT w="114300" prst="artDeco"/>
              <a:bevelB/>
            </a:sp3d>
          </p:spPr>
          <p:txBody>
            <a:bodyPr wrap="square" rtlCol="0">
              <a:spAutoFit/>
            </a:bodyPr>
            <a:lstStyle/>
            <a:p>
              <a:pPr algn="ctr"/>
              <a:r>
                <a:rPr lang="pt-BR" sz="1000" b="1" dirty="0" smtClean="0">
                  <a:solidFill>
                    <a:srgbClr val="00B050"/>
                  </a:solidFill>
                  <a:latin typeface="Calibri"/>
                </a:rPr>
                <a:t>-3,3%</a:t>
              </a:r>
              <a:endParaRPr lang="pt-BR" sz="1000" b="1" dirty="0">
                <a:solidFill>
                  <a:srgbClr val="00B050"/>
                </a:solidFill>
                <a:latin typeface="Calibri"/>
              </a:endParaRPr>
            </a:p>
          </p:txBody>
        </p:sp>
        <p:sp>
          <p:nvSpPr>
            <p:cNvPr id="76" name="Chave esquerda 75"/>
            <p:cNvSpPr/>
            <p:nvPr/>
          </p:nvSpPr>
          <p:spPr>
            <a:xfrm rot="16200000">
              <a:off x="3420426" y="3097887"/>
              <a:ext cx="45719" cy="473075"/>
            </a:xfrm>
            <a:prstGeom prst="leftBrace">
              <a:avLst/>
            </a:prstGeom>
            <a:ln>
              <a:solidFill>
                <a:schemeClr val="tx2"/>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pt-BR"/>
            </a:p>
          </p:txBody>
        </p:sp>
        <p:sp>
          <p:nvSpPr>
            <p:cNvPr id="77" name="CaixaDeTexto 76"/>
            <p:cNvSpPr txBox="1"/>
            <p:nvPr/>
          </p:nvSpPr>
          <p:spPr>
            <a:xfrm>
              <a:off x="3155285" y="3438816"/>
              <a:ext cx="576000" cy="246221"/>
            </a:xfrm>
            <a:prstGeom prst="rect">
              <a:avLst/>
            </a:prstGeom>
            <a:noFill/>
            <a:scene3d>
              <a:camera prst="orthographicFront"/>
              <a:lightRig rig="threePt" dir="t"/>
            </a:scene3d>
            <a:sp3d>
              <a:bevelT w="114300" prst="artDeco"/>
              <a:bevelB/>
            </a:sp3d>
          </p:spPr>
          <p:txBody>
            <a:bodyPr wrap="square" rtlCol="0">
              <a:spAutoFit/>
            </a:bodyPr>
            <a:lstStyle/>
            <a:p>
              <a:pPr algn="ctr"/>
              <a:r>
                <a:rPr lang="pt-BR" sz="1000" b="1" dirty="0" smtClean="0">
                  <a:solidFill>
                    <a:srgbClr val="00B050"/>
                  </a:solidFill>
                  <a:latin typeface="Calibri"/>
                </a:rPr>
                <a:t>-37,8%</a:t>
              </a:r>
              <a:endParaRPr lang="pt-BR" sz="1000" b="1" dirty="0">
                <a:solidFill>
                  <a:srgbClr val="00B050"/>
                </a:solidFill>
                <a:latin typeface="Calibri"/>
              </a:endParaRPr>
            </a:p>
          </p:txBody>
        </p:sp>
      </p:grpSp>
      <p:sp>
        <p:nvSpPr>
          <p:cNvPr id="39" name="CaixaDeTexto 38"/>
          <p:cNvSpPr txBox="1"/>
          <p:nvPr/>
        </p:nvSpPr>
        <p:spPr>
          <a:xfrm>
            <a:off x="1" y="4848225"/>
            <a:ext cx="5871160" cy="246221"/>
          </a:xfrm>
          <a:prstGeom prst="rect">
            <a:avLst/>
          </a:prstGeom>
          <a:noFill/>
          <a:scene3d>
            <a:camera prst="orthographicFront"/>
            <a:lightRig rig="threePt" dir="t"/>
          </a:scene3d>
          <a:sp3d>
            <a:bevelT w="114300" prst="artDeco"/>
            <a:bevelB/>
          </a:sp3d>
        </p:spPr>
        <p:txBody>
          <a:bodyPr wrap="square" rtlCol="0">
            <a:spAutoFit/>
          </a:bodyPr>
          <a:lstStyle/>
          <a:p>
            <a:pPr algn="just"/>
            <a:r>
              <a:rPr lang="pt-BR" sz="1000" dirty="0">
                <a:solidFill>
                  <a:schemeClr val="bg1">
                    <a:lumMod val="65000"/>
                  </a:schemeClr>
                </a:solidFill>
              </a:rPr>
              <a:t>Informações retiradas dos indicadores de SLA e </a:t>
            </a:r>
            <a:r>
              <a:rPr lang="pt-BR" sz="1000" dirty="0" err="1">
                <a:solidFill>
                  <a:schemeClr val="bg1">
                    <a:lumMod val="65000"/>
                  </a:schemeClr>
                </a:solidFill>
              </a:rPr>
              <a:t>tProcess</a:t>
            </a:r>
            <a:r>
              <a:rPr lang="pt-BR" sz="1000" dirty="0">
                <a:solidFill>
                  <a:schemeClr val="bg1">
                    <a:lumMod val="65000"/>
                  </a:schemeClr>
                </a:solidFill>
              </a:rPr>
              <a:t>! referentes ao período de </a:t>
            </a:r>
            <a:r>
              <a:rPr lang="pt-BR" sz="1000" dirty="0" smtClean="0">
                <a:solidFill>
                  <a:schemeClr val="bg1">
                    <a:lumMod val="65000"/>
                  </a:schemeClr>
                </a:solidFill>
              </a:rPr>
              <a:t>01/06 </a:t>
            </a:r>
            <a:r>
              <a:rPr lang="pt-BR" sz="1000" dirty="0">
                <a:solidFill>
                  <a:schemeClr val="bg1">
                    <a:lumMod val="65000"/>
                  </a:schemeClr>
                </a:solidFill>
              </a:rPr>
              <a:t>a </a:t>
            </a:r>
            <a:r>
              <a:rPr lang="pt-BR" sz="1000" dirty="0" smtClean="0">
                <a:solidFill>
                  <a:schemeClr val="bg1">
                    <a:lumMod val="65000"/>
                  </a:schemeClr>
                </a:solidFill>
              </a:rPr>
              <a:t>20/06.</a:t>
            </a:r>
            <a:endParaRPr lang="pt-BR" dirty="0">
              <a:solidFill>
                <a:schemeClr val="bg1">
                  <a:lumMod val="65000"/>
                </a:schemeClr>
              </a:solidFill>
            </a:endParaRPr>
          </a:p>
        </p:txBody>
      </p:sp>
    </p:spTree>
    <p:extLst>
      <p:ext uri="{BB962C8B-B14F-4D97-AF65-F5344CB8AC3E}">
        <p14:creationId xmlns:p14="http://schemas.microsoft.com/office/powerpoint/2010/main" val="597568602"/>
      </p:ext>
    </p:extLst>
  </p:cSld>
  <p:clrMapOvr>
    <a:masterClrMapping/>
  </p:clrMapOvr>
  <mc:AlternateContent xmlns:mc="http://schemas.openxmlformats.org/markup-compatibility/2006">
    <mc:Choice xmlns:p14="http://schemas.microsoft.com/office/powerpoint/2010/main" Requires="p14">
      <p:transition p14:dur="250">
        <p14:reveal/>
      </p:transition>
    </mc:Choice>
    <mc:Fallback>
      <p:transition>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aixaDeTexto 5"/>
          <p:cNvSpPr txBox="1"/>
          <p:nvPr/>
        </p:nvSpPr>
        <p:spPr>
          <a:xfrm>
            <a:off x="2039092" y="302231"/>
            <a:ext cx="184731" cy="368990"/>
          </a:xfrm>
          <a:prstGeom prst="rect">
            <a:avLst/>
          </a:prstGeom>
          <a:noFill/>
          <a:scene3d>
            <a:camera prst="orthographicFront"/>
            <a:lightRig rig="threePt" dir="t"/>
          </a:scene3d>
          <a:sp3d>
            <a:bevelT w="114300" prst="artDeco"/>
            <a:bevelB/>
          </a:sp3d>
        </p:spPr>
        <p:txBody>
          <a:bodyPr wrap="none" rtlCol="0">
            <a:spAutoFit/>
          </a:bodyPr>
          <a:lstStyle/>
          <a:p>
            <a:endParaRPr lang="pt-BR" dirty="0">
              <a:solidFill>
                <a:prstClr val="black"/>
              </a:solidFill>
              <a:latin typeface="Calibri"/>
            </a:endParaRPr>
          </a:p>
        </p:txBody>
      </p:sp>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76780" t="78172" r="18395" b="12686"/>
          <a:stretch/>
        </p:blipFill>
        <p:spPr bwMode="auto">
          <a:xfrm>
            <a:off x="8188662" y="4382644"/>
            <a:ext cx="955343" cy="763238"/>
          </a:xfrm>
          <a:prstGeom prst="rect">
            <a:avLst/>
          </a:prstGeom>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23" name="Gráfico 22"/>
          <p:cNvGraphicFramePr/>
          <p:nvPr>
            <p:extLst/>
          </p:nvPr>
        </p:nvGraphicFramePr>
        <p:xfrm>
          <a:off x="84083" y="797171"/>
          <a:ext cx="5455480" cy="3494273"/>
        </p:xfrm>
        <a:graphic>
          <a:graphicData uri="http://schemas.openxmlformats.org/drawingml/2006/chart">
            <c:chart xmlns:c="http://schemas.openxmlformats.org/drawingml/2006/chart" xmlns:r="http://schemas.openxmlformats.org/officeDocument/2006/relationships" r:id="rId4"/>
          </a:graphicData>
        </a:graphic>
      </p:graphicFrame>
      <p:pic>
        <p:nvPicPr>
          <p:cNvPr id="4" name="Imagem 3"/>
          <p:cNvPicPr>
            <a:picLocks noChangeAspect="1"/>
          </p:cNvPicPr>
          <p:nvPr/>
        </p:nvPicPr>
        <p:blipFill>
          <a:blip r:embed="rId5"/>
          <a:stretch>
            <a:fillRect/>
          </a:stretch>
        </p:blipFill>
        <p:spPr>
          <a:xfrm>
            <a:off x="0" y="4817"/>
            <a:ext cx="786452" cy="773543"/>
          </a:xfrm>
          <a:prstGeom prst="rect">
            <a:avLst/>
          </a:prstGeom>
        </p:spPr>
      </p:pic>
      <p:pic>
        <p:nvPicPr>
          <p:cNvPr id="21" name="Picture 7"/>
          <p:cNvPicPr>
            <a:picLocks noChangeAspect="1"/>
          </p:cNvPicPr>
          <p:nvPr/>
        </p:nvPicPr>
        <p:blipFill>
          <a:blip r:embed="rId6"/>
          <a:stretch>
            <a:fillRect/>
          </a:stretch>
        </p:blipFill>
        <p:spPr>
          <a:xfrm>
            <a:off x="7331777" y="260136"/>
            <a:ext cx="1473556" cy="356326"/>
          </a:xfrm>
          <a:prstGeom prst="rect">
            <a:avLst/>
          </a:prstGeom>
        </p:spPr>
      </p:pic>
      <p:graphicFrame>
        <p:nvGraphicFramePr>
          <p:cNvPr id="8" name="Gráfico 7"/>
          <p:cNvGraphicFramePr/>
          <p:nvPr>
            <p:extLst/>
          </p:nvPr>
        </p:nvGraphicFramePr>
        <p:xfrm>
          <a:off x="5736503" y="1543291"/>
          <a:ext cx="3439396" cy="2493186"/>
        </p:xfrm>
        <a:graphic>
          <a:graphicData uri="http://schemas.openxmlformats.org/drawingml/2006/chart">
            <c:chart xmlns:c="http://schemas.openxmlformats.org/drawingml/2006/chart" xmlns:r="http://schemas.openxmlformats.org/officeDocument/2006/relationships" r:id="rId7"/>
          </a:graphicData>
        </a:graphic>
      </p:graphicFrame>
      <p:sp>
        <p:nvSpPr>
          <p:cNvPr id="9" name="CaixaDeTexto 8"/>
          <p:cNvSpPr txBox="1"/>
          <p:nvPr/>
        </p:nvSpPr>
        <p:spPr>
          <a:xfrm>
            <a:off x="1182107" y="1127924"/>
            <a:ext cx="2962478" cy="307777"/>
          </a:xfrm>
          <a:prstGeom prst="rect">
            <a:avLst/>
          </a:prstGeom>
          <a:noFill/>
        </p:spPr>
        <p:txBody>
          <a:bodyPr wrap="none">
            <a:spAutoFit/>
          </a:bodyPr>
          <a:lstStyle/>
          <a:p>
            <a:pPr algn="ctr">
              <a:defRPr/>
            </a:pPr>
            <a:r>
              <a:rPr lang="pt-BR" sz="1400" dirty="0" smtClean="0">
                <a:solidFill>
                  <a:schemeClr val="accent2">
                    <a:lumMod val="75000"/>
                  </a:schemeClr>
                </a:solidFill>
              </a:rPr>
              <a:t>Volume de Incidentes </a:t>
            </a:r>
            <a:r>
              <a:rPr lang="pt-BR" sz="1400" dirty="0">
                <a:solidFill>
                  <a:schemeClr val="accent2">
                    <a:lumMod val="75000"/>
                  </a:schemeClr>
                </a:solidFill>
              </a:rPr>
              <a:t>de Alto </a:t>
            </a:r>
            <a:r>
              <a:rPr lang="pt-BR" sz="1400" dirty="0" smtClean="0">
                <a:solidFill>
                  <a:schemeClr val="accent2">
                    <a:lumMod val="75000"/>
                  </a:schemeClr>
                </a:solidFill>
              </a:rPr>
              <a:t>Impacto</a:t>
            </a:r>
            <a:endParaRPr lang="pt-BR" sz="1400" dirty="0">
              <a:solidFill>
                <a:schemeClr val="accent2">
                  <a:lumMod val="75000"/>
                </a:schemeClr>
              </a:solidFill>
            </a:endParaRPr>
          </a:p>
        </p:txBody>
      </p:sp>
      <p:sp>
        <p:nvSpPr>
          <p:cNvPr id="10" name="CaixaDeTexto 9"/>
          <p:cNvSpPr txBox="1"/>
          <p:nvPr/>
        </p:nvSpPr>
        <p:spPr>
          <a:xfrm>
            <a:off x="6049503" y="1127924"/>
            <a:ext cx="2564548" cy="307777"/>
          </a:xfrm>
          <a:prstGeom prst="rect">
            <a:avLst/>
          </a:prstGeom>
          <a:noFill/>
        </p:spPr>
        <p:txBody>
          <a:bodyPr wrap="none">
            <a:spAutoFit/>
          </a:bodyPr>
          <a:lstStyle/>
          <a:p>
            <a:pPr algn="ctr">
              <a:defRPr/>
            </a:pPr>
            <a:r>
              <a:rPr lang="pt-BR" sz="1400" dirty="0" smtClean="0">
                <a:solidFill>
                  <a:schemeClr val="accent2">
                    <a:lumMod val="75000"/>
                  </a:schemeClr>
                </a:solidFill>
              </a:rPr>
              <a:t>Responsabilidade </a:t>
            </a:r>
            <a:r>
              <a:rPr lang="pt-BR" sz="1400" dirty="0">
                <a:solidFill>
                  <a:schemeClr val="accent2">
                    <a:lumMod val="75000"/>
                  </a:schemeClr>
                </a:solidFill>
              </a:rPr>
              <a:t>pela resolução</a:t>
            </a:r>
          </a:p>
        </p:txBody>
      </p:sp>
      <p:cxnSp>
        <p:nvCxnSpPr>
          <p:cNvPr id="3" name="Conector de seta reta 2"/>
          <p:cNvCxnSpPr/>
          <p:nvPr/>
        </p:nvCxnSpPr>
        <p:spPr>
          <a:xfrm>
            <a:off x="5411972" y="2895182"/>
            <a:ext cx="829340" cy="0"/>
          </a:xfrm>
          <a:prstGeom prst="straightConnector1">
            <a:avLst/>
          </a:prstGeom>
          <a:ln>
            <a:solidFill>
              <a:schemeClr val="tx2"/>
            </a:solidFill>
            <a:tailEnd type="arrow"/>
          </a:ln>
        </p:spPr>
        <p:style>
          <a:lnRef idx="3">
            <a:schemeClr val="accent1"/>
          </a:lnRef>
          <a:fillRef idx="0">
            <a:schemeClr val="accent1"/>
          </a:fillRef>
          <a:effectRef idx="2">
            <a:schemeClr val="accent1"/>
          </a:effectRef>
          <a:fontRef idx="minor">
            <a:schemeClr val="tx1"/>
          </a:fontRef>
        </p:style>
      </p:cxnSp>
      <p:sp>
        <p:nvSpPr>
          <p:cNvPr id="17" name="TextBox 4"/>
          <p:cNvSpPr txBox="1">
            <a:spLocks noChangeArrowheads="1"/>
          </p:cNvSpPr>
          <p:nvPr/>
        </p:nvSpPr>
        <p:spPr bwMode="auto">
          <a:xfrm>
            <a:off x="518672" y="52325"/>
            <a:ext cx="70075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cs typeface="Arial" pitchFamily="34" charset="0"/>
              </a:defRPr>
            </a:lvl1pPr>
            <a:lvl2pPr marL="742950" indent="-285750" eaLnBrk="0" hangingPunct="0">
              <a:defRPr>
                <a:solidFill>
                  <a:schemeClr val="tx1"/>
                </a:solidFill>
                <a:latin typeface="Calibri" pitchFamily="34" charset="0"/>
                <a:cs typeface="Arial" pitchFamily="34" charset="0"/>
              </a:defRPr>
            </a:lvl2pPr>
            <a:lvl3pPr marL="1143000" indent="-228600" eaLnBrk="0" hangingPunct="0">
              <a:defRPr>
                <a:solidFill>
                  <a:schemeClr val="tx1"/>
                </a:solidFill>
                <a:latin typeface="Calibri" pitchFamily="34" charset="0"/>
                <a:cs typeface="Arial" pitchFamily="34" charset="0"/>
              </a:defRPr>
            </a:lvl3pPr>
            <a:lvl4pPr marL="1600200" indent="-228600" eaLnBrk="0" hangingPunct="0">
              <a:defRPr>
                <a:solidFill>
                  <a:schemeClr val="tx1"/>
                </a:solidFill>
                <a:latin typeface="Calibri" pitchFamily="34" charset="0"/>
                <a:cs typeface="Arial" pitchFamily="34" charset="0"/>
              </a:defRPr>
            </a:lvl4pPr>
            <a:lvl5pPr marL="2057400" indent="-228600" eaLnBrk="0" hangingPunct="0">
              <a:defRPr>
                <a:solidFill>
                  <a:schemeClr val="tx1"/>
                </a:solidFill>
                <a:latin typeface="Calibri" pitchFamily="34" charset="0"/>
                <a:cs typeface="Arial" pitchFamily="34" charset="0"/>
              </a:defRPr>
            </a:lvl5pPr>
            <a:lvl6pPr marL="2514600" indent="-228600" defTabSz="457200" eaLnBrk="0" fontAlgn="base" hangingPunct="0">
              <a:spcBef>
                <a:spcPct val="0"/>
              </a:spcBef>
              <a:spcAft>
                <a:spcPct val="0"/>
              </a:spcAft>
              <a:defRPr>
                <a:solidFill>
                  <a:schemeClr val="tx1"/>
                </a:solidFill>
                <a:latin typeface="Calibri" pitchFamily="34" charset="0"/>
                <a:cs typeface="Arial" pitchFamily="34" charset="0"/>
              </a:defRPr>
            </a:lvl6pPr>
            <a:lvl7pPr marL="2971800" indent="-228600" defTabSz="457200" eaLnBrk="0" fontAlgn="base" hangingPunct="0">
              <a:spcBef>
                <a:spcPct val="0"/>
              </a:spcBef>
              <a:spcAft>
                <a:spcPct val="0"/>
              </a:spcAft>
              <a:defRPr>
                <a:solidFill>
                  <a:schemeClr val="tx1"/>
                </a:solidFill>
                <a:latin typeface="Calibri" pitchFamily="34" charset="0"/>
                <a:cs typeface="Arial" pitchFamily="34" charset="0"/>
              </a:defRPr>
            </a:lvl7pPr>
            <a:lvl8pPr marL="3429000" indent="-228600" defTabSz="457200" eaLnBrk="0" fontAlgn="base" hangingPunct="0">
              <a:spcBef>
                <a:spcPct val="0"/>
              </a:spcBef>
              <a:spcAft>
                <a:spcPct val="0"/>
              </a:spcAft>
              <a:defRPr>
                <a:solidFill>
                  <a:schemeClr val="tx1"/>
                </a:solidFill>
                <a:latin typeface="Calibri" pitchFamily="34" charset="0"/>
                <a:cs typeface="Arial" pitchFamily="34" charset="0"/>
              </a:defRPr>
            </a:lvl8pPr>
            <a:lvl9pPr marL="3886200" indent="-228600" defTabSz="457200" eaLnBrk="0" fontAlgn="base" hangingPunct="0">
              <a:spcBef>
                <a:spcPct val="0"/>
              </a:spcBef>
              <a:spcAft>
                <a:spcPct val="0"/>
              </a:spcAft>
              <a:defRPr>
                <a:solidFill>
                  <a:schemeClr val="tx1"/>
                </a:solidFill>
                <a:latin typeface="Calibri" pitchFamily="34" charset="0"/>
                <a:cs typeface="Arial" pitchFamily="34" charset="0"/>
              </a:defRPr>
            </a:lvl9pPr>
          </a:lstStyle>
          <a:p>
            <a:pPr eaLnBrk="1" hangingPunct="1"/>
            <a:r>
              <a:rPr lang="pt-BR" sz="2400" b="1" dirty="0">
                <a:solidFill>
                  <a:schemeClr val="accent1">
                    <a:lumMod val="50000"/>
                  </a:schemeClr>
                </a:solidFill>
              </a:rPr>
              <a:t>2</a:t>
            </a:r>
            <a:r>
              <a:rPr lang="pt-BR" sz="2400" b="1" dirty="0" smtClean="0">
                <a:solidFill>
                  <a:schemeClr val="accent1">
                    <a:lumMod val="50000"/>
                  </a:schemeClr>
                </a:solidFill>
              </a:rPr>
              <a:t>. Gerenciamento </a:t>
            </a:r>
            <a:r>
              <a:rPr lang="pt-BR" sz="2400" b="1" dirty="0">
                <a:solidFill>
                  <a:schemeClr val="accent1">
                    <a:lumMod val="50000"/>
                  </a:schemeClr>
                </a:solidFill>
              </a:rPr>
              <a:t>de Incidentes - Alto Impacto</a:t>
            </a:r>
          </a:p>
        </p:txBody>
      </p:sp>
      <p:sp>
        <p:nvSpPr>
          <p:cNvPr id="12" name="CaixaDeTexto 11"/>
          <p:cNvSpPr txBox="1"/>
          <p:nvPr/>
        </p:nvSpPr>
        <p:spPr>
          <a:xfrm>
            <a:off x="1" y="4848225"/>
            <a:ext cx="5871160" cy="246221"/>
          </a:xfrm>
          <a:prstGeom prst="rect">
            <a:avLst/>
          </a:prstGeom>
          <a:noFill/>
          <a:scene3d>
            <a:camera prst="orthographicFront"/>
            <a:lightRig rig="threePt" dir="t"/>
          </a:scene3d>
          <a:sp3d>
            <a:bevelT w="114300" prst="artDeco"/>
            <a:bevelB/>
          </a:sp3d>
        </p:spPr>
        <p:txBody>
          <a:bodyPr wrap="square" rtlCol="0">
            <a:spAutoFit/>
          </a:bodyPr>
          <a:lstStyle/>
          <a:p>
            <a:pPr algn="just"/>
            <a:r>
              <a:rPr lang="pt-BR" sz="1000" dirty="0">
                <a:solidFill>
                  <a:schemeClr val="bg1">
                    <a:lumMod val="65000"/>
                  </a:schemeClr>
                </a:solidFill>
              </a:rPr>
              <a:t>Informações retiradas dos indicadores de SLA e </a:t>
            </a:r>
            <a:r>
              <a:rPr lang="pt-BR" sz="1000" dirty="0" err="1">
                <a:solidFill>
                  <a:schemeClr val="bg1">
                    <a:lumMod val="65000"/>
                  </a:schemeClr>
                </a:solidFill>
              </a:rPr>
              <a:t>tProcess</a:t>
            </a:r>
            <a:r>
              <a:rPr lang="pt-BR" sz="1000" dirty="0">
                <a:solidFill>
                  <a:schemeClr val="bg1">
                    <a:lumMod val="65000"/>
                  </a:schemeClr>
                </a:solidFill>
              </a:rPr>
              <a:t>! referentes ao período de </a:t>
            </a:r>
            <a:r>
              <a:rPr lang="pt-BR" sz="1000" dirty="0" smtClean="0">
                <a:solidFill>
                  <a:schemeClr val="bg1">
                    <a:lumMod val="65000"/>
                  </a:schemeClr>
                </a:solidFill>
              </a:rPr>
              <a:t>01/06 </a:t>
            </a:r>
            <a:r>
              <a:rPr lang="pt-BR" sz="1000" dirty="0">
                <a:solidFill>
                  <a:schemeClr val="bg1">
                    <a:lumMod val="65000"/>
                  </a:schemeClr>
                </a:solidFill>
              </a:rPr>
              <a:t>a </a:t>
            </a:r>
            <a:r>
              <a:rPr lang="pt-BR" sz="1000" dirty="0" smtClean="0">
                <a:solidFill>
                  <a:schemeClr val="bg1">
                    <a:lumMod val="65000"/>
                  </a:schemeClr>
                </a:solidFill>
              </a:rPr>
              <a:t>20/06.</a:t>
            </a:r>
            <a:endParaRPr lang="pt-BR" dirty="0">
              <a:solidFill>
                <a:schemeClr val="bg1">
                  <a:lumMod val="65000"/>
                </a:schemeClr>
              </a:solidFill>
            </a:endParaRPr>
          </a:p>
        </p:txBody>
      </p:sp>
    </p:spTree>
    <p:extLst>
      <p:ext uri="{BB962C8B-B14F-4D97-AF65-F5344CB8AC3E}">
        <p14:creationId xmlns:p14="http://schemas.microsoft.com/office/powerpoint/2010/main" val="1616055452"/>
      </p:ext>
    </p:extLst>
  </p:cSld>
  <p:clrMapOvr>
    <a:masterClrMapping/>
  </p:clrMapOvr>
  <mc:AlternateContent xmlns:mc="http://schemas.openxmlformats.org/markup-compatibility/2006">
    <mc:Choice xmlns:p14="http://schemas.microsoft.com/office/powerpoint/2010/main" Requires="p14">
      <p:transition p14:dur="250">
        <p14:reveal/>
      </p:transition>
    </mc:Choice>
    <mc:Fallback>
      <p:transition>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Gráfico 1"/>
          <p:cNvGraphicFramePr/>
          <p:nvPr>
            <p:extLst/>
          </p:nvPr>
        </p:nvGraphicFramePr>
        <p:xfrm>
          <a:off x="236539" y="2028031"/>
          <a:ext cx="5030787" cy="2584450"/>
        </p:xfrm>
        <a:graphic>
          <a:graphicData uri="http://schemas.openxmlformats.org/drawingml/2006/chart">
            <c:chart xmlns:c="http://schemas.openxmlformats.org/drawingml/2006/chart" xmlns:r="http://schemas.openxmlformats.org/officeDocument/2006/relationships" r:id="rId3"/>
          </a:graphicData>
        </a:graphic>
      </p:graphicFrame>
      <p:pic>
        <p:nvPicPr>
          <p:cNvPr id="6146" name="Picture 9"/>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021514" y="291307"/>
            <a:ext cx="1603375"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7" name="Picture 2"/>
          <p:cNvPicPr>
            <a:picLocks noChangeAspect="1" noChangeArrowheads="1"/>
          </p:cNvPicPr>
          <p:nvPr/>
        </p:nvPicPr>
        <p:blipFill>
          <a:blip r:embed="rId5">
            <a:extLst>
              <a:ext uri="{28A0092B-C50C-407E-A947-70E740481C1C}">
                <a14:useLocalDpi xmlns:a14="http://schemas.microsoft.com/office/drawing/2010/main" val="0"/>
              </a:ext>
            </a:extLst>
          </a:blip>
          <a:srcRect l="76781" t="78172" r="18394" b="12686"/>
          <a:stretch>
            <a:fillRect/>
          </a:stretch>
        </p:blipFill>
        <p:spPr bwMode="auto">
          <a:xfrm>
            <a:off x="8188326" y="4377531"/>
            <a:ext cx="955675" cy="7635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8" name="Picture 1" descr="t03-02.jpg"/>
          <p:cNvPicPr>
            <a:picLocks noChangeAspect="1"/>
          </p:cNvPicPr>
          <p:nvPr/>
        </p:nvPicPr>
        <p:blipFill>
          <a:blip r:embed="rId6">
            <a:extLst>
              <a:ext uri="{28A0092B-C50C-407E-A947-70E740481C1C}">
                <a14:useLocalDpi xmlns:a14="http://schemas.microsoft.com/office/drawing/2010/main" val="0"/>
              </a:ext>
            </a:extLst>
          </a:blip>
          <a:srcRect r="91368" b="84909"/>
          <a:stretch>
            <a:fillRect/>
          </a:stretch>
        </p:blipFill>
        <p:spPr bwMode="auto">
          <a:xfrm>
            <a:off x="0" y="2381"/>
            <a:ext cx="788988" cy="77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1" name="CaixaDeTexto 14"/>
          <p:cNvSpPr txBox="1">
            <a:spLocks noChangeArrowheads="1"/>
          </p:cNvSpPr>
          <p:nvPr/>
        </p:nvSpPr>
        <p:spPr bwMode="auto">
          <a:xfrm>
            <a:off x="6007101" y="677069"/>
            <a:ext cx="213699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cs typeface="Arial" pitchFamily="34" charset="0"/>
              </a:defRPr>
            </a:lvl1pPr>
            <a:lvl2pPr marL="742950" indent="-285750" eaLnBrk="0" hangingPunct="0">
              <a:defRPr>
                <a:solidFill>
                  <a:schemeClr val="tx1"/>
                </a:solidFill>
                <a:latin typeface="Calibri" pitchFamily="34" charset="0"/>
                <a:cs typeface="Arial" pitchFamily="34" charset="0"/>
              </a:defRPr>
            </a:lvl2pPr>
            <a:lvl3pPr marL="1143000" indent="-228600" eaLnBrk="0" hangingPunct="0">
              <a:defRPr>
                <a:solidFill>
                  <a:schemeClr val="tx1"/>
                </a:solidFill>
                <a:latin typeface="Calibri" pitchFamily="34" charset="0"/>
                <a:cs typeface="Arial" pitchFamily="34" charset="0"/>
              </a:defRPr>
            </a:lvl3pPr>
            <a:lvl4pPr marL="1600200" indent="-228600" eaLnBrk="0" hangingPunct="0">
              <a:defRPr>
                <a:solidFill>
                  <a:schemeClr val="tx1"/>
                </a:solidFill>
                <a:latin typeface="Calibri" pitchFamily="34" charset="0"/>
                <a:cs typeface="Arial" pitchFamily="34" charset="0"/>
              </a:defRPr>
            </a:lvl4pPr>
            <a:lvl5pPr marL="2057400" indent="-228600" eaLnBrk="0" hangingPunct="0">
              <a:defRPr>
                <a:solidFill>
                  <a:schemeClr val="tx1"/>
                </a:solidFill>
                <a:latin typeface="Calibri" pitchFamily="34" charset="0"/>
                <a:cs typeface="Arial" pitchFamily="34" charset="0"/>
              </a:defRPr>
            </a:lvl5pPr>
            <a:lvl6pPr marL="2514600" indent="-228600" defTabSz="457200" eaLnBrk="0" fontAlgn="base" hangingPunct="0">
              <a:spcBef>
                <a:spcPct val="0"/>
              </a:spcBef>
              <a:spcAft>
                <a:spcPct val="0"/>
              </a:spcAft>
              <a:defRPr>
                <a:solidFill>
                  <a:schemeClr val="tx1"/>
                </a:solidFill>
                <a:latin typeface="Calibri" pitchFamily="34" charset="0"/>
                <a:cs typeface="Arial" pitchFamily="34" charset="0"/>
              </a:defRPr>
            </a:lvl6pPr>
            <a:lvl7pPr marL="2971800" indent="-228600" defTabSz="457200" eaLnBrk="0" fontAlgn="base" hangingPunct="0">
              <a:spcBef>
                <a:spcPct val="0"/>
              </a:spcBef>
              <a:spcAft>
                <a:spcPct val="0"/>
              </a:spcAft>
              <a:defRPr>
                <a:solidFill>
                  <a:schemeClr val="tx1"/>
                </a:solidFill>
                <a:latin typeface="Calibri" pitchFamily="34" charset="0"/>
                <a:cs typeface="Arial" pitchFamily="34" charset="0"/>
              </a:defRPr>
            </a:lvl7pPr>
            <a:lvl8pPr marL="3429000" indent="-228600" defTabSz="457200" eaLnBrk="0" fontAlgn="base" hangingPunct="0">
              <a:spcBef>
                <a:spcPct val="0"/>
              </a:spcBef>
              <a:spcAft>
                <a:spcPct val="0"/>
              </a:spcAft>
              <a:defRPr>
                <a:solidFill>
                  <a:schemeClr val="tx1"/>
                </a:solidFill>
                <a:latin typeface="Calibri" pitchFamily="34" charset="0"/>
                <a:cs typeface="Arial" pitchFamily="34" charset="0"/>
              </a:defRPr>
            </a:lvl8pPr>
            <a:lvl9pPr marL="3886200" indent="-228600" defTabSz="457200" eaLnBrk="0" fontAlgn="base" hangingPunct="0">
              <a:spcBef>
                <a:spcPct val="0"/>
              </a:spcBef>
              <a:spcAft>
                <a:spcPct val="0"/>
              </a:spcAft>
              <a:defRPr>
                <a:solidFill>
                  <a:schemeClr val="tx1"/>
                </a:solidFill>
                <a:latin typeface="Calibri" pitchFamily="34" charset="0"/>
                <a:cs typeface="Arial" pitchFamily="34" charset="0"/>
              </a:defRPr>
            </a:lvl9pPr>
          </a:lstStyle>
          <a:p>
            <a:pPr eaLnBrk="1" hangingPunct="1"/>
            <a:r>
              <a:rPr lang="pt-BR" sz="1200" b="1" dirty="0">
                <a:solidFill>
                  <a:schemeClr val="accent2"/>
                </a:solidFill>
              </a:rPr>
              <a:t>Responsabilidade da TI Contax</a:t>
            </a:r>
          </a:p>
        </p:txBody>
      </p:sp>
      <p:sp>
        <p:nvSpPr>
          <p:cNvPr id="6152" name="CaixaDeTexto 15"/>
          <p:cNvSpPr txBox="1">
            <a:spLocks noChangeArrowheads="1"/>
          </p:cNvSpPr>
          <p:nvPr/>
        </p:nvSpPr>
        <p:spPr bwMode="auto">
          <a:xfrm>
            <a:off x="5762625" y="2112169"/>
            <a:ext cx="273568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cs typeface="Arial" pitchFamily="34" charset="0"/>
              </a:defRPr>
            </a:lvl1pPr>
            <a:lvl2pPr marL="742950" indent="-285750" eaLnBrk="0" hangingPunct="0">
              <a:defRPr>
                <a:solidFill>
                  <a:schemeClr val="tx1"/>
                </a:solidFill>
                <a:latin typeface="Calibri" pitchFamily="34" charset="0"/>
                <a:cs typeface="Arial" pitchFamily="34" charset="0"/>
              </a:defRPr>
            </a:lvl2pPr>
            <a:lvl3pPr marL="1143000" indent="-228600" eaLnBrk="0" hangingPunct="0">
              <a:defRPr>
                <a:solidFill>
                  <a:schemeClr val="tx1"/>
                </a:solidFill>
                <a:latin typeface="Calibri" pitchFamily="34" charset="0"/>
                <a:cs typeface="Arial" pitchFamily="34" charset="0"/>
              </a:defRPr>
            </a:lvl3pPr>
            <a:lvl4pPr marL="1600200" indent="-228600" eaLnBrk="0" hangingPunct="0">
              <a:defRPr>
                <a:solidFill>
                  <a:schemeClr val="tx1"/>
                </a:solidFill>
                <a:latin typeface="Calibri" pitchFamily="34" charset="0"/>
                <a:cs typeface="Arial" pitchFamily="34" charset="0"/>
              </a:defRPr>
            </a:lvl4pPr>
            <a:lvl5pPr marL="2057400" indent="-228600" eaLnBrk="0" hangingPunct="0">
              <a:defRPr>
                <a:solidFill>
                  <a:schemeClr val="tx1"/>
                </a:solidFill>
                <a:latin typeface="Calibri" pitchFamily="34" charset="0"/>
                <a:cs typeface="Arial" pitchFamily="34" charset="0"/>
              </a:defRPr>
            </a:lvl5pPr>
            <a:lvl6pPr marL="2514600" indent="-228600" defTabSz="457200" eaLnBrk="0" fontAlgn="base" hangingPunct="0">
              <a:spcBef>
                <a:spcPct val="0"/>
              </a:spcBef>
              <a:spcAft>
                <a:spcPct val="0"/>
              </a:spcAft>
              <a:defRPr>
                <a:solidFill>
                  <a:schemeClr val="tx1"/>
                </a:solidFill>
                <a:latin typeface="Calibri" pitchFamily="34" charset="0"/>
                <a:cs typeface="Arial" pitchFamily="34" charset="0"/>
              </a:defRPr>
            </a:lvl6pPr>
            <a:lvl7pPr marL="2971800" indent="-228600" defTabSz="457200" eaLnBrk="0" fontAlgn="base" hangingPunct="0">
              <a:spcBef>
                <a:spcPct val="0"/>
              </a:spcBef>
              <a:spcAft>
                <a:spcPct val="0"/>
              </a:spcAft>
              <a:defRPr>
                <a:solidFill>
                  <a:schemeClr val="tx1"/>
                </a:solidFill>
                <a:latin typeface="Calibri" pitchFamily="34" charset="0"/>
                <a:cs typeface="Arial" pitchFamily="34" charset="0"/>
              </a:defRPr>
            </a:lvl7pPr>
            <a:lvl8pPr marL="3429000" indent="-228600" defTabSz="457200" eaLnBrk="0" fontAlgn="base" hangingPunct="0">
              <a:spcBef>
                <a:spcPct val="0"/>
              </a:spcBef>
              <a:spcAft>
                <a:spcPct val="0"/>
              </a:spcAft>
              <a:defRPr>
                <a:solidFill>
                  <a:schemeClr val="tx1"/>
                </a:solidFill>
                <a:latin typeface="Calibri" pitchFamily="34" charset="0"/>
                <a:cs typeface="Arial" pitchFamily="34" charset="0"/>
              </a:defRPr>
            </a:lvl8pPr>
            <a:lvl9pPr marL="3886200" indent="-228600" defTabSz="457200" eaLnBrk="0" fontAlgn="base" hangingPunct="0">
              <a:spcBef>
                <a:spcPct val="0"/>
              </a:spcBef>
              <a:spcAft>
                <a:spcPct val="0"/>
              </a:spcAft>
              <a:defRPr>
                <a:solidFill>
                  <a:schemeClr val="tx1"/>
                </a:solidFill>
                <a:latin typeface="Calibri" pitchFamily="34" charset="0"/>
                <a:cs typeface="Arial" pitchFamily="34" charset="0"/>
              </a:defRPr>
            </a:lvl9pPr>
          </a:lstStyle>
          <a:p>
            <a:pPr eaLnBrk="1" hangingPunct="1"/>
            <a:r>
              <a:rPr lang="pt-BR" sz="1200" b="1" dirty="0">
                <a:solidFill>
                  <a:schemeClr val="accent2"/>
                </a:solidFill>
              </a:rPr>
              <a:t>Responsabilidade do Suporte do Cliente</a:t>
            </a:r>
          </a:p>
        </p:txBody>
      </p:sp>
      <p:sp>
        <p:nvSpPr>
          <p:cNvPr id="6153" name="CaixaDeTexto 16"/>
          <p:cNvSpPr txBox="1">
            <a:spLocks noChangeArrowheads="1"/>
          </p:cNvSpPr>
          <p:nvPr/>
        </p:nvSpPr>
        <p:spPr bwMode="auto">
          <a:xfrm>
            <a:off x="5756275" y="3561557"/>
            <a:ext cx="275549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cs typeface="Arial" pitchFamily="34" charset="0"/>
              </a:defRPr>
            </a:lvl1pPr>
            <a:lvl2pPr marL="742950" indent="-285750" eaLnBrk="0" hangingPunct="0">
              <a:defRPr>
                <a:solidFill>
                  <a:schemeClr val="tx1"/>
                </a:solidFill>
                <a:latin typeface="Calibri" pitchFamily="34" charset="0"/>
                <a:cs typeface="Arial" pitchFamily="34" charset="0"/>
              </a:defRPr>
            </a:lvl2pPr>
            <a:lvl3pPr marL="1143000" indent="-228600" eaLnBrk="0" hangingPunct="0">
              <a:defRPr>
                <a:solidFill>
                  <a:schemeClr val="tx1"/>
                </a:solidFill>
                <a:latin typeface="Calibri" pitchFamily="34" charset="0"/>
                <a:cs typeface="Arial" pitchFamily="34" charset="0"/>
              </a:defRPr>
            </a:lvl3pPr>
            <a:lvl4pPr marL="1600200" indent="-228600" eaLnBrk="0" hangingPunct="0">
              <a:defRPr>
                <a:solidFill>
                  <a:schemeClr val="tx1"/>
                </a:solidFill>
                <a:latin typeface="Calibri" pitchFamily="34" charset="0"/>
                <a:cs typeface="Arial" pitchFamily="34" charset="0"/>
              </a:defRPr>
            </a:lvl4pPr>
            <a:lvl5pPr marL="2057400" indent="-228600" eaLnBrk="0" hangingPunct="0">
              <a:defRPr>
                <a:solidFill>
                  <a:schemeClr val="tx1"/>
                </a:solidFill>
                <a:latin typeface="Calibri" pitchFamily="34" charset="0"/>
                <a:cs typeface="Arial" pitchFamily="34" charset="0"/>
              </a:defRPr>
            </a:lvl5pPr>
            <a:lvl6pPr marL="2514600" indent="-228600" defTabSz="457200" eaLnBrk="0" fontAlgn="base" hangingPunct="0">
              <a:spcBef>
                <a:spcPct val="0"/>
              </a:spcBef>
              <a:spcAft>
                <a:spcPct val="0"/>
              </a:spcAft>
              <a:defRPr>
                <a:solidFill>
                  <a:schemeClr val="tx1"/>
                </a:solidFill>
                <a:latin typeface="Calibri" pitchFamily="34" charset="0"/>
                <a:cs typeface="Arial" pitchFamily="34" charset="0"/>
              </a:defRPr>
            </a:lvl6pPr>
            <a:lvl7pPr marL="2971800" indent="-228600" defTabSz="457200" eaLnBrk="0" fontAlgn="base" hangingPunct="0">
              <a:spcBef>
                <a:spcPct val="0"/>
              </a:spcBef>
              <a:spcAft>
                <a:spcPct val="0"/>
              </a:spcAft>
              <a:defRPr>
                <a:solidFill>
                  <a:schemeClr val="tx1"/>
                </a:solidFill>
                <a:latin typeface="Calibri" pitchFamily="34" charset="0"/>
                <a:cs typeface="Arial" pitchFamily="34" charset="0"/>
              </a:defRPr>
            </a:lvl7pPr>
            <a:lvl8pPr marL="3429000" indent="-228600" defTabSz="457200" eaLnBrk="0" fontAlgn="base" hangingPunct="0">
              <a:spcBef>
                <a:spcPct val="0"/>
              </a:spcBef>
              <a:spcAft>
                <a:spcPct val="0"/>
              </a:spcAft>
              <a:defRPr>
                <a:solidFill>
                  <a:schemeClr val="tx1"/>
                </a:solidFill>
                <a:latin typeface="Calibri" pitchFamily="34" charset="0"/>
                <a:cs typeface="Arial" pitchFamily="34" charset="0"/>
              </a:defRPr>
            </a:lvl8pPr>
            <a:lvl9pPr marL="3886200" indent="-228600" defTabSz="457200" eaLnBrk="0" fontAlgn="base" hangingPunct="0">
              <a:spcBef>
                <a:spcPct val="0"/>
              </a:spcBef>
              <a:spcAft>
                <a:spcPct val="0"/>
              </a:spcAft>
              <a:defRPr>
                <a:solidFill>
                  <a:schemeClr val="tx1"/>
                </a:solidFill>
                <a:latin typeface="Calibri" pitchFamily="34" charset="0"/>
                <a:cs typeface="Arial" pitchFamily="34" charset="0"/>
              </a:defRPr>
            </a:lvl9pPr>
          </a:lstStyle>
          <a:p>
            <a:pPr eaLnBrk="1" hangingPunct="1"/>
            <a:r>
              <a:rPr lang="pt-BR" sz="1200" b="1" dirty="0">
                <a:solidFill>
                  <a:schemeClr val="accent2"/>
                </a:solidFill>
              </a:rPr>
              <a:t>Responsabilidade do Fornecedor Contax</a:t>
            </a:r>
          </a:p>
        </p:txBody>
      </p:sp>
      <p:graphicFrame>
        <p:nvGraphicFramePr>
          <p:cNvPr id="17" name="Gráfico 16"/>
          <p:cNvGraphicFramePr/>
          <p:nvPr>
            <p:extLst/>
          </p:nvPr>
        </p:nvGraphicFramePr>
        <p:xfrm>
          <a:off x="5505451" y="932658"/>
          <a:ext cx="3119437" cy="1165225"/>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8" name="Gráfico 17"/>
          <p:cNvGraphicFramePr/>
          <p:nvPr>
            <p:extLst/>
          </p:nvPr>
        </p:nvGraphicFramePr>
        <p:xfrm>
          <a:off x="5505451" y="2389982"/>
          <a:ext cx="3119437" cy="1165225"/>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19" name="Gráfico 18"/>
          <p:cNvGraphicFramePr/>
          <p:nvPr>
            <p:extLst/>
          </p:nvPr>
        </p:nvGraphicFramePr>
        <p:xfrm>
          <a:off x="5505451" y="3794919"/>
          <a:ext cx="3119437" cy="1165225"/>
        </p:xfrm>
        <a:graphic>
          <a:graphicData uri="http://schemas.openxmlformats.org/drawingml/2006/chart">
            <c:chart xmlns:c="http://schemas.openxmlformats.org/drawingml/2006/chart" xmlns:r="http://schemas.openxmlformats.org/officeDocument/2006/relationships" r:id="rId9"/>
          </a:graphicData>
        </a:graphic>
      </p:graphicFrame>
      <p:sp>
        <p:nvSpPr>
          <p:cNvPr id="14" name="CaixaDeTexto 16"/>
          <p:cNvSpPr txBox="1">
            <a:spLocks noChangeArrowheads="1"/>
          </p:cNvSpPr>
          <p:nvPr/>
        </p:nvSpPr>
        <p:spPr bwMode="auto">
          <a:xfrm>
            <a:off x="667058" y="1198960"/>
            <a:ext cx="452188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cs typeface="Arial" pitchFamily="34" charset="0"/>
              </a:defRPr>
            </a:lvl1pPr>
            <a:lvl2pPr marL="742950" indent="-285750" eaLnBrk="0" hangingPunct="0">
              <a:defRPr>
                <a:solidFill>
                  <a:schemeClr val="tx1"/>
                </a:solidFill>
                <a:latin typeface="Calibri" pitchFamily="34" charset="0"/>
                <a:cs typeface="Arial" pitchFamily="34" charset="0"/>
              </a:defRPr>
            </a:lvl2pPr>
            <a:lvl3pPr marL="1143000" indent="-228600" eaLnBrk="0" hangingPunct="0">
              <a:defRPr>
                <a:solidFill>
                  <a:schemeClr val="tx1"/>
                </a:solidFill>
                <a:latin typeface="Calibri" pitchFamily="34" charset="0"/>
                <a:cs typeface="Arial" pitchFamily="34" charset="0"/>
              </a:defRPr>
            </a:lvl3pPr>
            <a:lvl4pPr marL="1600200" indent="-228600" eaLnBrk="0" hangingPunct="0">
              <a:defRPr>
                <a:solidFill>
                  <a:schemeClr val="tx1"/>
                </a:solidFill>
                <a:latin typeface="Calibri" pitchFamily="34" charset="0"/>
                <a:cs typeface="Arial" pitchFamily="34" charset="0"/>
              </a:defRPr>
            </a:lvl4pPr>
            <a:lvl5pPr marL="2057400" indent="-228600" eaLnBrk="0" hangingPunct="0">
              <a:defRPr>
                <a:solidFill>
                  <a:schemeClr val="tx1"/>
                </a:solidFill>
                <a:latin typeface="Calibri" pitchFamily="34" charset="0"/>
                <a:cs typeface="Arial" pitchFamily="34" charset="0"/>
              </a:defRPr>
            </a:lvl5pPr>
            <a:lvl6pPr marL="2514600" indent="-228600" defTabSz="457200" eaLnBrk="0" fontAlgn="base" hangingPunct="0">
              <a:spcBef>
                <a:spcPct val="0"/>
              </a:spcBef>
              <a:spcAft>
                <a:spcPct val="0"/>
              </a:spcAft>
              <a:defRPr>
                <a:solidFill>
                  <a:schemeClr val="tx1"/>
                </a:solidFill>
                <a:latin typeface="Calibri" pitchFamily="34" charset="0"/>
                <a:cs typeface="Arial" pitchFamily="34" charset="0"/>
              </a:defRPr>
            </a:lvl6pPr>
            <a:lvl7pPr marL="2971800" indent="-228600" defTabSz="457200" eaLnBrk="0" fontAlgn="base" hangingPunct="0">
              <a:spcBef>
                <a:spcPct val="0"/>
              </a:spcBef>
              <a:spcAft>
                <a:spcPct val="0"/>
              </a:spcAft>
              <a:defRPr>
                <a:solidFill>
                  <a:schemeClr val="tx1"/>
                </a:solidFill>
                <a:latin typeface="Calibri" pitchFamily="34" charset="0"/>
                <a:cs typeface="Arial" pitchFamily="34" charset="0"/>
              </a:defRPr>
            </a:lvl7pPr>
            <a:lvl8pPr marL="3429000" indent="-228600" defTabSz="457200" eaLnBrk="0" fontAlgn="base" hangingPunct="0">
              <a:spcBef>
                <a:spcPct val="0"/>
              </a:spcBef>
              <a:spcAft>
                <a:spcPct val="0"/>
              </a:spcAft>
              <a:defRPr>
                <a:solidFill>
                  <a:schemeClr val="tx1"/>
                </a:solidFill>
                <a:latin typeface="Calibri" pitchFamily="34" charset="0"/>
                <a:cs typeface="Arial" pitchFamily="34" charset="0"/>
              </a:defRPr>
            </a:lvl8pPr>
            <a:lvl9pPr marL="3886200" indent="-228600" defTabSz="457200" eaLnBrk="0" fontAlgn="base" hangingPunct="0">
              <a:spcBef>
                <a:spcPct val="0"/>
              </a:spcBef>
              <a:spcAft>
                <a:spcPct val="0"/>
              </a:spcAft>
              <a:defRPr>
                <a:solidFill>
                  <a:schemeClr val="tx1"/>
                </a:solidFill>
                <a:latin typeface="Calibri" pitchFamily="34" charset="0"/>
                <a:cs typeface="Arial" pitchFamily="34" charset="0"/>
              </a:defRPr>
            </a:lvl9pPr>
          </a:lstStyle>
          <a:p>
            <a:pPr algn="ctr">
              <a:defRPr/>
            </a:pPr>
            <a:r>
              <a:rPr lang="pt-BR" sz="2000" b="1" dirty="0">
                <a:solidFill>
                  <a:schemeClr val="accent2"/>
                </a:solidFill>
              </a:rPr>
              <a:t>Incidentes Alto Impacto</a:t>
            </a:r>
          </a:p>
          <a:p>
            <a:pPr algn="ctr">
              <a:defRPr/>
            </a:pPr>
            <a:r>
              <a:rPr lang="pt-BR" sz="2000" b="1" dirty="0">
                <a:solidFill>
                  <a:schemeClr val="accent2"/>
                </a:solidFill>
              </a:rPr>
              <a:t>Tempo médio entre falhas em h:m:s</a:t>
            </a:r>
          </a:p>
        </p:txBody>
      </p:sp>
      <p:sp>
        <p:nvSpPr>
          <p:cNvPr id="16" name="TextBox 4"/>
          <p:cNvSpPr txBox="1">
            <a:spLocks noChangeArrowheads="1"/>
          </p:cNvSpPr>
          <p:nvPr/>
        </p:nvSpPr>
        <p:spPr bwMode="auto">
          <a:xfrm>
            <a:off x="518672" y="52325"/>
            <a:ext cx="70075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cs typeface="Arial" pitchFamily="34" charset="0"/>
              </a:defRPr>
            </a:lvl1pPr>
            <a:lvl2pPr marL="742950" indent="-285750" eaLnBrk="0" hangingPunct="0">
              <a:defRPr>
                <a:solidFill>
                  <a:schemeClr val="tx1"/>
                </a:solidFill>
                <a:latin typeface="Calibri" pitchFamily="34" charset="0"/>
                <a:cs typeface="Arial" pitchFamily="34" charset="0"/>
              </a:defRPr>
            </a:lvl2pPr>
            <a:lvl3pPr marL="1143000" indent="-228600" eaLnBrk="0" hangingPunct="0">
              <a:defRPr>
                <a:solidFill>
                  <a:schemeClr val="tx1"/>
                </a:solidFill>
                <a:latin typeface="Calibri" pitchFamily="34" charset="0"/>
                <a:cs typeface="Arial" pitchFamily="34" charset="0"/>
              </a:defRPr>
            </a:lvl3pPr>
            <a:lvl4pPr marL="1600200" indent="-228600" eaLnBrk="0" hangingPunct="0">
              <a:defRPr>
                <a:solidFill>
                  <a:schemeClr val="tx1"/>
                </a:solidFill>
                <a:latin typeface="Calibri" pitchFamily="34" charset="0"/>
                <a:cs typeface="Arial" pitchFamily="34" charset="0"/>
              </a:defRPr>
            </a:lvl4pPr>
            <a:lvl5pPr marL="2057400" indent="-228600" eaLnBrk="0" hangingPunct="0">
              <a:defRPr>
                <a:solidFill>
                  <a:schemeClr val="tx1"/>
                </a:solidFill>
                <a:latin typeface="Calibri" pitchFamily="34" charset="0"/>
                <a:cs typeface="Arial" pitchFamily="34" charset="0"/>
              </a:defRPr>
            </a:lvl5pPr>
            <a:lvl6pPr marL="2514600" indent="-228600" defTabSz="457200" eaLnBrk="0" fontAlgn="base" hangingPunct="0">
              <a:spcBef>
                <a:spcPct val="0"/>
              </a:spcBef>
              <a:spcAft>
                <a:spcPct val="0"/>
              </a:spcAft>
              <a:defRPr>
                <a:solidFill>
                  <a:schemeClr val="tx1"/>
                </a:solidFill>
                <a:latin typeface="Calibri" pitchFamily="34" charset="0"/>
                <a:cs typeface="Arial" pitchFamily="34" charset="0"/>
              </a:defRPr>
            </a:lvl6pPr>
            <a:lvl7pPr marL="2971800" indent="-228600" defTabSz="457200" eaLnBrk="0" fontAlgn="base" hangingPunct="0">
              <a:spcBef>
                <a:spcPct val="0"/>
              </a:spcBef>
              <a:spcAft>
                <a:spcPct val="0"/>
              </a:spcAft>
              <a:defRPr>
                <a:solidFill>
                  <a:schemeClr val="tx1"/>
                </a:solidFill>
                <a:latin typeface="Calibri" pitchFamily="34" charset="0"/>
                <a:cs typeface="Arial" pitchFamily="34" charset="0"/>
              </a:defRPr>
            </a:lvl7pPr>
            <a:lvl8pPr marL="3429000" indent="-228600" defTabSz="457200" eaLnBrk="0" fontAlgn="base" hangingPunct="0">
              <a:spcBef>
                <a:spcPct val="0"/>
              </a:spcBef>
              <a:spcAft>
                <a:spcPct val="0"/>
              </a:spcAft>
              <a:defRPr>
                <a:solidFill>
                  <a:schemeClr val="tx1"/>
                </a:solidFill>
                <a:latin typeface="Calibri" pitchFamily="34" charset="0"/>
                <a:cs typeface="Arial" pitchFamily="34" charset="0"/>
              </a:defRPr>
            </a:lvl8pPr>
            <a:lvl9pPr marL="3886200" indent="-228600" defTabSz="457200" eaLnBrk="0" fontAlgn="base" hangingPunct="0">
              <a:spcBef>
                <a:spcPct val="0"/>
              </a:spcBef>
              <a:spcAft>
                <a:spcPct val="0"/>
              </a:spcAft>
              <a:defRPr>
                <a:solidFill>
                  <a:schemeClr val="tx1"/>
                </a:solidFill>
                <a:latin typeface="Calibri" pitchFamily="34" charset="0"/>
                <a:cs typeface="Arial" pitchFamily="34" charset="0"/>
              </a:defRPr>
            </a:lvl9pPr>
          </a:lstStyle>
          <a:p>
            <a:pPr eaLnBrk="1" hangingPunct="1"/>
            <a:r>
              <a:rPr lang="pt-BR" sz="2400" b="1" dirty="0" smtClean="0">
                <a:solidFill>
                  <a:schemeClr val="accent1">
                    <a:lumMod val="50000"/>
                  </a:schemeClr>
                </a:solidFill>
              </a:rPr>
              <a:t>3. Tempo médio entre falhas e de resolução</a:t>
            </a:r>
            <a:endParaRPr lang="pt-BR" sz="2400" b="1" dirty="0">
              <a:solidFill>
                <a:schemeClr val="accent1">
                  <a:lumMod val="50000"/>
                </a:schemeClr>
              </a:solidFill>
            </a:endParaRPr>
          </a:p>
        </p:txBody>
      </p:sp>
      <p:sp>
        <p:nvSpPr>
          <p:cNvPr id="15" name="CaixaDeTexto 14"/>
          <p:cNvSpPr txBox="1"/>
          <p:nvPr/>
        </p:nvSpPr>
        <p:spPr>
          <a:xfrm>
            <a:off x="1" y="4848225"/>
            <a:ext cx="5871160" cy="246221"/>
          </a:xfrm>
          <a:prstGeom prst="rect">
            <a:avLst/>
          </a:prstGeom>
          <a:noFill/>
          <a:scene3d>
            <a:camera prst="orthographicFront"/>
            <a:lightRig rig="threePt" dir="t"/>
          </a:scene3d>
          <a:sp3d>
            <a:bevelT w="114300" prst="artDeco"/>
            <a:bevelB/>
          </a:sp3d>
        </p:spPr>
        <p:txBody>
          <a:bodyPr wrap="square" rtlCol="0">
            <a:spAutoFit/>
          </a:bodyPr>
          <a:lstStyle/>
          <a:p>
            <a:pPr algn="just"/>
            <a:r>
              <a:rPr lang="pt-BR" sz="1000" dirty="0">
                <a:solidFill>
                  <a:schemeClr val="bg1">
                    <a:lumMod val="65000"/>
                  </a:schemeClr>
                </a:solidFill>
              </a:rPr>
              <a:t>Informações retiradas dos indicadores de SLA e </a:t>
            </a:r>
            <a:r>
              <a:rPr lang="pt-BR" sz="1000" dirty="0" err="1">
                <a:solidFill>
                  <a:schemeClr val="bg1">
                    <a:lumMod val="65000"/>
                  </a:schemeClr>
                </a:solidFill>
              </a:rPr>
              <a:t>tProcess</a:t>
            </a:r>
            <a:r>
              <a:rPr lang="pt-BR" sz="1000" dirty="0">
                <a:solidFill>
                  <a:schemeClr val="bg1">
                    <a:lumMod val="65000"/>
                  </a:schemeClr>
                </a:solidFill>
              </a:rPr>
              <a:t>! referentes ao período de </a:t>
            </a:r>
            <a:r>
              <a:rPr lang="pt-BR" sz="1000" dirty="0" smtClean="0">
                <a:solidFill>
                  <a:schemeClr val="bg1">
                    <a:lumMod val="65000"/>
                  </a:schemeClr>
                </a:solidFill>
              </a:rPr>
              <a:t>01/06 </a:t>
            </a:r>
            <a:r>
              <a:rPr lang="pt-BR" sz="1000" dirty="0">
                <a:solidFill>
                  <a:schemeClr val="bg1">
                    <a:lumMod val="65000"/>
                  </a:schemeClr>
                </a:solidFill>
              </a:rPr>
              <a:t>a </a:t>
            </a:r>
            <a:r>
              <a:rPr lang="pt-BR" sz="1000" dirty="0" smtClean="0">
                <a:solidFill>
                  <a:schemeClr val="bg1">
                    <a:lumMod val="65000"/>
                  </a:schemeClr>
                </a:solidFill>
              </a:rPr>
              <a:t>20/06.</a:t>
            </a:r>
            <a:endParaRPr lang="pt-BR" dirty="0">
              <a:solidFill>
                <a:schemeClr val="bg1">
                  <a:lumMod val="65000"/>
                </a:schemeClr>
              </a:solidFill>
            </a:endParaRPr>
          </a:p>
        </p:txBody>
      </p:sp>
    </p:spTree>
    <p:extLst>
      <p:ext uri="{BB962C8B-B14F-4D97-AF65-F5344CB8AC3E}">
        <p14:creationId xmlns:p14="http://schemas.microsoft.com/office/powerpoint/2010/main" val="2351126383"/>
      </p:ext>
    </p:extLst>
  </p:cSld>
  <p:clrMapOvr>
    <a:masterClrMapping/>
  </p:clrMapOvr>
  <mc:AlternateContent xmlns:mc="http://schemas.openxmlformats.org/markup-compatibility/2006">
    <mc:Choice xmlns:p14="http://schemas.microsoft.com/office/powerpoint/2010/main" Requires="p14">
      <p:transition p14:dur="250">
        <p14:reveal/>
      </p:transition>
    </mc:Choice>
    <mc:Fallback>
      <p:transition>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1" name="Picture 9"/>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021514" y="291307"/>
            <a:ext cx="1603375"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2" name="Picture 2"/>
          <p:cNvPicPr>
            <a:picLocks noChangeAspect="1" noChangeArrowheads="1"/>
          </p:cNvPicPr>
          <p:nvPr/>
        </p:nvPicPr>
        <p:blipFill>
          <a:blip r:embed="rId3">
            <a:extLst>
              <a:ext uri="{28A0092B-C50C-407E-A947-70E740481C1C}">
                <a14:useLocalDpi xmlns:a14="http://schemas.microsoft.com/office/drawing/2010/main" val="0"/>
              </a:ext>
            </a:extLst>
          </a:blip>
          <a:srcRect l="76781" t="78172" r="18394" b="12686"/>
          <a:stretch>
            <a:fillRect/>
          </a:stretch>
        </p:blipFill>
        <p:spPr bwMode="auto">
          <a:xfrm>
            <a:off x="8188326" y="4382295"/>
            <a:ext cx="955675" cy="7635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3" name="Picture 1" descr="t03-02.jpg"/>
          <p:cNvPicPr>
            <a:picLocks noChangeAspect="1"/>
          </p:cNvPicPr>
          <p:nvPr/>
        </p:nvPicPr>
        <p:blipFill>
          <a:blip r:embed="rId4">
            <a:extLst>
              <a:ext uri="{28A0092B-C50C-407E-A947-70E740481C1C}">
                <a14:useLocalDpi xmlns:a14="http://schemas.microsoft.com/office/drawing/2010/main" val="0"/>
              </a:ext>
            </a:extLst>
          </a:blip>
          <a:srcRect r="91368" b="84909"/>
          <a:stretch>
            <a:fillRect/>
          </a:stretch>
        </p:blipFill>
        <p:spPr bwMode="auto">
          <a:xfrm>
            <a:off x="0" y="2381"/>
            <a:ext cx="788988" cy="77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CaixaDeTexto 5"/>
          <p:cNvSpPr txBox="1"/>
          <p:nvPr/>
        </p:nvSpPr>
        <p:spPr>
          <a:xfrm>
            <a:off x="554373" y="1262860"/>
            <a:ext cx="4093493" cy="707886"/>
          </a:xfrm>
          <a:prstGeom prst="rect">
            <a:avLst/>
          </a:prstGeom>
          <a:noFill/>
        </p:spPr>
        <p:txBody>
          <a:bodyPr wrap="none">
            <a:spAutoFit/>
          </a:bodyPr>
          <a:lstStyle/>
          <a:p>
            <a:pPr algn="ctr">
              <a:defRPr/>
            </a:pPr>
            <a:r>
              <a:rPr lang="pt-BR" sz="2000" b="1" dirty="0">
                <a:solidFill>
                  <a:schemeClr val="accent2"/>
                </a:solidFill>
              </a:rPr>
              <a:t>Incidentes Alto Impacto</a:t>
            </a:r>
          </a:p>
          <a:p>
            <a:pPr>
              <a:defRPr/>
            </a:pPr>
            <a:r>
              <a:rPr lang="pt-BR" sz="2000" b="1" dirty="0">
                <a:solidFill>
                  <a:schemeClr val="accent2"/>
                </a:solidFill>
              </a:rPr>
              <a:t>Tempo médio de resolução em h:m:s</a:t>
            </a:r>
          </a:p>
        </p:txBody>
      </p:sp>
      <p:sp>
        <p:nvSpPr>
          <p:cNvPr id="7176" name="CaixaDeTexto 1"/>
          <p:cNvSpPr txBox="1">
            <a:spLocks noChangeArrowheads="1"/>
          </p:cNvSpPr>
          <p:nvPr/>
        </p:nvSpPr>
        <p:spPr bwMode="auto">
          <a:xfrm>
            <a:off x="6199189" y="829472"/>
            <a:ext cx="174073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cs typeface="Arial" pitchFamily="34" charset="0"/>
              </a:defRPr>
            </a:lvl1pPr>
            <a:lvl2pPr marL="742950" indent="-285750" eaLnBrk="0" hangingPunct="0">
              <a:defRPr>
                <a:solidFill>
                  <a:schemeClr val="tx1"/>
                </a:solidFill>
                <a:latin typeface="Calibri" pitchFamily="34" charset="0"/>
                <a:cs typeface="Arial" pitchFamily="34" charset="0"/>
              </a:defRPr>
            </a:lvl2pPr>
            <a:lvl3pPr marL="1143000" indent="-228600" eaLnBrk="0" hangingPunct="0">
              <a:defRPr>
                <a:solidFill>
                  <a:schemeClr val="tx1"/>
                </a:solidFill>
                <a:latin typeface="Calibri" pitchFamily="34" charset="0"/>
                <a:cs typeface="Arial" pitchFamily="34" charset="0"/>
              </a:defRPr>
            </a:lvl3pPr>
            <a:lvl4pPr marL="1600200" indent="-228600" eaLnBrk="0" hangingPunct="0">
              <a:defRPr>
                <a:solidFill>
                  <a:schemeClr val="tx1"/>
                </a:solidFill>
                <a:latin typeface="Calibri" pitchFamily="34" charset="0"/>
                <a:cs typeface="Arial" pitchFamily="34" charset="0"/>
              </a:defRPr>
            </a:lvl4pPr>
            <a:lvl5pPr marL="2057400" indent="-228600" eaLnBrk="0" hangingPunct="0">
              <a:defRPr>
                <a:solidFill>
                  <a:schemeClr val="tx1"/>
                </a:solidFill>
                <a:latin typeface="Calibri" pitchFamily="34" charset="0"/>
                <a:cs typeface="Arial" pitchFamily="34" charset="0"/>
              </a:defRPr>
            </a:lvl5pPr>
            <a:lvl6pPr marL="2514600" indent="-228600" defTabSz="457200" eaLnBrk="0" fontAlgn="base" hangingPunct="0">
              <a:spcBef>
                <a:spcPct val="0"/>
              </a:spcBef>
              <a:spcAft>
                <a:spcPct val="0"/>
              </a:spcAft>
              <a:defRPr>
                <a:solidFill>
                  <a:schemeClr val="tx1"/>
                </a:solidFill>
                <a:latin typeface="Calibri" pitchFamily="34" charset="0"/>
                <a:cs typeface="Arial" pitchFamily="34" charset="0"/>
              </a:defRPr>
            </a:lvl6pPr>
            <a:lvl7pPr marL="2971800" indent="-228600" defTabSz="457200" eaLnBrk="0" fontAlgn="base" hangingPunct="0">
              <a:spcBef>
                <a:spcPct val="0"/>
              </a:spcBef>
              <a:spcAft>
                <a:spcPct val="0"/>
              </a:spcAft>
              <a:defRPr>
                <a:solidFill>
                  <a:schemeClr val="tx1"/>
                </a:solidFill>
                <a:latin typeface="Calibri" pitchFamily="34" charset="0"/>
                <a:cs typeface="Arial" pitchFamily="34" charset="0"/>
              </a:defRPr>
            </a:lvl7pPr>
            <a:lvl8pPr marL="3429000" indent="-228600" defTabSz="457200" eaLnBrk="0" fontAlgn="base" hangingPunct="0">
              <a:spcBef>
                <a:spcPct val="0"/>
              </a:spcBef>
              <a:spcAft>
                <a:spcPct val="0"/>
              </a:spcAft>
              <a:defRPr>
                <a:solidFill>
                  <a:schemeClr val="tx1"/>
                </a:solidFill>
                <a:latin typeface="Calibri" pitchFamily="34" charset="0"/>
                <a:cs typeface="Arial" pitchFamily="34" charset="0"/>
              </a:defRPr>
            </a:lvl8pPr>
            <a:lvl9pPr marL="3886200" indent="-228600" defTabSz="457200" eaLnBrk="0" fontAlgn="base" hangingPunct="0">
              <a:spcBef>
                <a:spcPct val="0"/>
              </a:spcBef>
              <a:spcAft>
                <a:spcPct val="0"/>
              </a:spcAft>
              <a:defRPr>
                <a:solidFill>
                  <a:schemeClr val="tx1"/>
                </a:solidFill>
                <a:latin typeface="Calibri" pitchFamily="34" charset="0"/>
                <a:cs typeface="Arial" pitchFamily="34" charset="0"/>
              </a:defRPr>
            </a:lvl9pPr>
          </a:lstStyle>
          <a:p>
            <a:pPr eaLnBrk="1" hangingPunct="1"/>
            <a:r>
              <a:rPr lang="pt-BR" sz="1200" b="1" dirty="0">
                <a:solidFill>
                  <a:schemeClr val="accent2"/>
                </a:solidFill>
              </a:rPr>
              <a:t>Realizado pela TI Contax</a:t>
            </a:r>
          </a:p>
        </p:txBody>
      </p:sp>
      <p:sp>
        <p:nvSpPr>
          <p:cNvPr id="7177" name="CaixaDeTexto 15"/>
          <p:cNvSpPr txBox="1">
            <a:spLocks noChangeArrowheads="1"/>
          </p:cNvSpPr>
          <p:nvPr/>
        </p:nvSpPr>
        <p:spPr bwMode="auto">
          <a:xfrm>
            <a:off x="6053138" y="2258223"/>
            <a:ext cx="213744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cs typeface="Arial" pitchFamily="34" charset="0"/>
              </a:defRPr>
            </a:lvl1pPr>
            <a:lvl2pPr marL="742950" indent="-285750" eaLnBrk="0" hangingPunct="0">
              <a:defRPr>
                <a:solidFill>
                  <a:schemeClr val="tx1"/>
                </a:solidFill>
                <a:latin typeface="Calibri" pitchFamily="34" charset="0"/>
                <a:cs typeface="Arial" pitchFamily="34" charset="0"/>
              </a:defRPr>
            </a:lvl2pPr>
            <a:lvl3pPr marL="1143000" indent="-228600" eaLnBrk="0" hangingPunct="0">
              <a:defRPr>
                <a:solidFill>
                  <a:schemeClr val="tx1"/>
                </a:solidFill>
                <a:latin typeface="Calibri" pitchFamily="34" charset="0"/>
                <a:cs typeface="Arial" pitchFamily="34" charset="0"/>
              </a:defRPr>
            </a:lvl3pPr>
            <a:lvl4pPr marL="1600200" indent="-228600" eaLnBrk="0" hangingPunct="0">
              <a:defRPr>
                <a:solidFill>
                  <a:schemeClr val="tx1"/>
                </a:solidFill>
                <a:latin typeface="Calibri" pitchFamily="34" charset="0"/>
                <a:cs typeface="Arial" pitchFamily="34" charset="0"/>
              </a:defRPr>
            </a:lvl4pPr>
            <a:lvl5pPr marL="2057400" indent="-228600" eaLnBrk="0" hangingPunct="0">
              <a:defRPr>
                <a:solidFill>
                  <a:schemeClr val="tx1"/>
                </a:solidFill>
                <a:latin typeface="Calibri" pitchFamily="34" charset="0"/>
                <a:cs typeface="Arial" pitchFamily="34" charset="0"/>
              </a:defRPr>
            </a:lvl5pPr>
            <a:lvl6pPr marL="2514600" indent="-228600" defTabSz="457200" eaLnBrk="0" fontAlgn="base" hangingPunct="0">
              <a:spcBef>
                <a:spcPct val="0"/>
              </a:spcBef>
              <a:spcAft>
                <a:spcPct val="0"/>
              </a:spcAft>
              <a:defRPr>
                <a:solidFill>
                  <a:schemeClr val="tx1"/>
                </a:solidFill>
                <a:latin typeface="Calibri" pitchFamily="34" charset="0"/>
                <a:cs typeface="Arial" pitchFamily="34" charset="0"/>
              </a:defRPr>
            </a:lvl6pPr>
            <a:lvl7pPr marL="2971800" indent="-228600" defTabSz="457200" eaLnBrk="0" fontAlgn="base" hangingPunct="0">
              <a:spcBef>
                <a:spcPct val="0"/>
              </a:spcBef>
              <a:spcAft>
                <a:spcPct val="0"/>
              </a:spcAft>
              <a:defRPr>
                <a:solidFill>
                  <a:schemeClr val="tx1"/>
                </a:solidFill>
                <a:latin typeface="Calibri" pitchFamily="34" charset="0"/>
                <a:cs typeface="Arial" pitchFamily="34" charset="0"/>
              </a:defRPr>
            </a:lvl7pPr>
            <a:lvl8pPr marL="3429000" indent="-228600" defTabSz="457200" eaLnBrk="0" fontAlgn="base" hangingPunct="0">
              <a:spcBef>
                <a:spcPct val="0"/>
              </a:spcBef>
              <a:spcAft>
                <a:spcPct val="0"/>
              </a:spcAft>
              <a:defRPr>
                <a:solidFill>
                  <a:schemeClr val="tx1"/>
                </a:solidFill>
                <a:latin typeface="Calibri" pitchFamily="34" charset="0"/>
                <a:cs typeface="Arial" pitchFamily="34" charset="0"/>
              </a:defRPr>
            </a:lvl8pPr>
            <a:lvl9pPr marL="3886200" indent="-228600" defTabSz="457200" eaLnBrk="0" fontAlgn="base" hangingPunct="0">
              <a:spcBef>
                <a:spcPct val="0"/>
              </a:spcBef>
              <a:spcAft>
                <a:spcPct val="0"/>
              </a:spcAft>
              <a:defRPr>
                <a:solidFill>
                  <a:schemeClr val="tx1"/>
                </a:solidFill>
                <a:latin typeface="Calibri" pitchFamily="34" charset="0"/>
                <a:cs typeface="Arial" pitchFamily="34" charset="0"/>
              </a:defRPr>
            </a:lvl9pPr>
          </a:lstStyle>
          <a:p>
            <a:pPr eaLnBrk="1" hangingPunct="1"/>
            <a:r>
              <a:rPr lang="pt-BR" sz="1200" b="1" dirty="0">
                <a:solidFill>
                  <a:schemeClr val="accent2"/>
                </a:solidFill>
              </a:rPr>
              <a:t>Realizado pelo Suporte Cliente</a:t>
            </a:r>
          </a:p>
        </p:txBody>
      </p:sp>
      <p:sp>
        <p:nvSpPr>
          <p:cNvPr id="7178" name="CaixaDeTexto 16"/>
          <p:cNvSpPr txBox="1">
            <a:spLocks noChangeArrowheads="1"/>
          </p:cNvSpPr>
          <p:nvPr/>
        </p:nvSpPr>
        <p:spPr bwMode="auto">
          <a:xfrm>
            <a:off x="6237289" y="3739360"/>
            <a:ext cx="188102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cs typeface="Arial" pitchFamily="34" charset="0"/>
              </a:defRPr>
            </a:lvl1pPr>
            <a:lvl2pPr marL="742950" indent="-285750" eaLnBrk="0" hangingPunct="0">
              <a:defRPr>
                <a:solidFill>
                  <a:schemeClr val="tx1"/>
                </a:solidFill>
                <a:latin typeface="Calibri" pitchFamily="34" charset="0"/>
                <a:cs typeface="Arial" pitchFamily="34" charset="0"/>
              </a:defRPr>
            </a:lvl2pPr>
            <a:lvl3pPr marL="1143000" indent="-228600" eaLnBrk="0" hangingPunct="0">
              <a:defRPr>
                <a:solidFill>
                  <a:schemeClr val="tx1"/>
                </a:solidFill>
                <a:latin typeface="Calibri" pitchFamily="34" charset="0"/>
                <a:cs typeface="Arial" pitchFamily="34" charset="0"/>
              </a:defRPr>
            </a:lvl3pPr>
            <a:lvl4pPr marL="1600200" indent="-228600" eaLnBrk="0" hangingPunct="0">
              <a:defRPr>
                <a:solidFill>
                  <a:schemeClr val="tx1"/>
                </a:solidFill>
                <a:latin typeface="Calibri" pitchFamily="34" charset="0"/>
                <a:cs typeface="Arial" pitchFamily="34" charset="0"/>
              </a:defRPr>
            </a:lvl4pPr>
            <a:lvl5pPr marL="2057400" indent="-228600" eaLnBrk="0" hangingPunct="0">
              <a:defRPr>
                <a:solidFill>
                  <a:schemeClr val="tx1"/>
                </a:solidFill>
                <a:latin typeface="Calibri" pitchFamily="34" charset="0"/>
                <a:cs typeface="Arial" pitchFamily="34" charset="0"/>
              </a:defRPr>
            </a:lvl5pPr>
            <a:lvl6pPr marL="2514600" indent="-228600" defTabSz="457200" eaLnBrk="0" fontAlgn="base" hangingPunct="0">
              <a:spcBef>
                <a:spcPct val="0"/>
              </a:spcBef>
              <a:spcAft>
                <a:spcPct val="0"/>
              </a:spcAft>
              <a:defRPr>
                <a:solidFill>
                  <a:schemeClr val="tx1"/>
                </a:solidFill>
                <a:latin typeface="Calibri" pitchFamily="34" charset="0"/>
                <a:cs typeface="Arial" pitchFamily="34" charset="0"/>
              </a:defRPr>
            </a:lvl6pPr>
            <a:lvl7pPr marL="2971800" indent="-228600" defTabSz="457200" eaLnBrk="0" fontAlgn="base" hangingPunct="0">
              <a:spcBef>
                <a:spcPct val="0"/>
              </a:spcBef>
              <a:spcAft>
                <a:spcPct val="0"/>
              </a:spcAft>
              <a:defRPr>
                <a:solidFill>
                  <a:schemeClr val="tx1"/>
                </a:solidFill>
                <a:latin typeface="Calibri" pitchFamily="34" charset="0"/>
                <a:cs typeface="Arial" pitchFamily="34" charset="0"/>
              </a:defRPr>
            </a:lvl7pPr>
            <a:lvl8pPr marL="3429000" indent="-228600" defTabSz="457200" eaLnBrk="0" fontAlgn="base" hangingPunct="0">
              <a:spcBef>
                <a:spcPct val="0"/>
              </a:spcBef>
              <a:spcAft>
                <a:spcPct val="0"/>
              </a:spcAft>
              <a:defRPr>
                <a:solidFill>
                  <a:schemeClr val="tx1"/>
                </a:solidFill>
                <a:latin typeface="Calibri" pitchFamily="34" charset="0"/>
                <a:cs typeface="Arial" pitchFamily="34" charset="0"/>
              </a:defRPr>
            </a:lvl8pPr>
            <a:lvl9pPr marL="3886200" indent="-228600" defTabSz="457200" eaLnBrk="0" fontAlgn="base" hangingPunct="0">
              <a:spcBef>
                <a:spcPct val="0"/>
              </a:spcBef>
              <a:spcAft>
                <a:spcPct val="0"/>
              </a:spcAft>
              <a:defRPr>
                <a:solidFill>
                  <a:schemeClr val="tx1"/>
                </a:solidFill>
                <a:latin typeface="Calibri" pitchFamily="34" charset="0"/>
                <a:cs typeface="Arial" pitchFamily="34" charset="0"/>
              </a:defRPr>
            </a:lvl9pPr>
          </a:lstStyle>
          <a:p>
            <a:pPr eaLnBrk="1" hangingPunct="1"/>
            <a:r>
              <a:rPr lang="pt-BR" sz="1200" b="1" dirty="0">
                <a:solidFill>
                  <a:schemeClr val="accent2"/>
                </a:solidFill>
              </a:rPr>
              <a:t>Realizado pelo Fornecedor</a:t>
            </a:r>
          </a:p>
        </p:txBody>
      </p:sp>
      <p:graphicFrame>
        <p:nvGraphicFramePr>
          <p:cNvPr id="16" name="Gráfico 15"/>
          <p:cNvGraphicFramePr/>
          <p:nvPr>
            <p:extLst>
              <p:ext uri="{D42A27DB-BD31-4B8C-83A1-F6EECF244321}">
                <p14:modId xmlns:p14="http://schemas.microsoft.com/office/powerpoint/2010/main" val="2114626442"/>
              </p:ext>
            </p:extLst>
          </p:nvPr>
        </p:nvGraphicFramePr>
        <p:xfrm>
          <a:off x="236539" y="2180434"/>
          <a:ext cx="5030787" cy="258445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7" name="Gráfico 16"/>
          <p:cNvGraphicFramePr/>
          <p:nvPr>
            <p:extLst>
              <p:ext uri="{D42A27DB-BD31-4B8C-83A1-F6EECF244321}">
                <p14:modId xmlns:p14="http://schemas.microsoft.com/office/powerpoint/2010/main" val="512439404"/>
              </p:ext>
            </p:extLst>
          </p:nvPr>
        </p:nvGraphicFramePr>
        <p:xfrm>
          <a:off x="5505451" y="1085061"/>
          <a:ext cx="3119437" cy="1165225"/>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8" name="Gráfico 17"/>
          <p:cNvGraphicFramePr/>
          <p:nvPr>
            <p:extLst>
              <p:ext uri="{D42A27DB-BD31-4B8C-83A1-F6EECF244321}">
                <p14:modId xmlns:p14="http://schemas.microsoft.com/office/powerpoint/2010/main" val="3842585314"/>
              </p:ext>
            </p:extLst>
          </p:nvPr>
        </p:nvGraphicFramePr>
        <p:xfrm>
          <a:off x="5505451" y="2542385"/>
          <a:ext cx="3119437" cy="1165225"/>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9" name="Gráfico 18"/>
          <p:cNvGraphicFramePr/>
          <p:nvPr>
            <p:extLst>
              <p:ext uri="{D42A27DB-BD31-4B8C-83A1-F6EECF244321}">
                <p14:modId xmlns:p14="http://schemas.microsoft.com/office/powerpoint/2010/main" val="1106692639"/>
              </p:ext>
            </p:extLst>
          </p:nvPr>
        </p:nvGraphicFramePr>
        <p:xfrm>
          <a:off x="5505451" y="3947322"/>
          <a:ext cx="3119437" cy="1165225"/>
        </p:xfrm>
        <a:graphic>
          <a:graphicData uri="http://schemas.openxmlformats.org/drawingml/2006/chart">
            <c:chart xmlns:c="http://schemas.openxmlformats.org/drawingml/2006/chart" xmlns:r="http://schemas.openxmlformats.org/officeDocument/2006/relationships" r:id="rId8"/>
          </a:graphicData>
        </a:graphic>
      </p:graphicFrame>
      <p:sp>
        <p:nvSpPr>
          <p:cNvPr id="14" name="TextBox 4"/>
          <p:cNvSpPr txBox="1">
            <a:spLocks noChangeArrowheads="1"/>
          </p:cNvSpPr>
          <p:nvPr/>
        </p:nvSpPr>
        <p:spPr bwMode="auto">
          <a:xfrm>
            <a:off x="518672" y="52325"/>
            <a:ext cx="70075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cs typeface="Arial" pitchFamily="34" charset="0"/>
              </a:defRPr>
            </a:lvl1pPr>
            <a:lvl2pPr marL="742950" indent="-285750" eaLnBrk="0" hangingPunct="0">
              <a:defRPr>
                <a:solidFill>
                  <a:schemeClr val="tx1"/>
                </a:solidFill>
                <a:latin typeface="Calibri" pitchFamily="34" charset="0"/>
                <a:cs typeface="Arial" pitchFamily="34" charset="0"/>
              </a:defRPr>
            </a:lvl2pPr>
            <a:lvl3pPr marL="1143000" indent="-228600" eaLnBrk="0" hangingPunct="0">
              <a:defRPr>
                <a:solidFill>
                  <a:schemeClr val="tx1"/>
                </a:solidFill>
                <a:latin typeface="Calibri" pitchFamily="34" charset="0"/>
                <a:cs typeface="Arial" pitchFamily="34" charset="0"/>
              </a:defRPr>
            </a:lvl3pPr>
            <a:lvl4pPr marL="1600200" indent="-228600" eaLnBrk="0" hangingPunct="0">
              <a:defRPr>
                <a:solidFill>
                  <a:schemeClr val="tx1"/>
                </a:solidFill>
                <a:latin typeface="Calibri" pitchFamily="34" charset="0"/>
                <a:cs typeface="Arial" pitchFamily="34" charset="0"/>
              </a:defRPr>
            </a:lvl4pPr>
            <a:lvl5pPr marL="2057400" indent="-228600" eaLnBrk="0" hangingPunct="0">
              <a:defRPr>
                <a:solidFill>
                  <a:schemeClr val="tx1"/>
                </a:solidFill>
                <a:latin typeface="Calibri" pitchFamily="34" charset="0"/>
                <a:cs typeface="Arial" pitchFamily="34" charset="0"/>
              </a:defRPr>
            </a:lvl5pPr>
            <a:lvl6pPr marL="2514600" indent="-228600" defTabSz="457200" eaLnBrk="0" fontAlgn="base" hangingPunct="0">
              <a:spcBef>
                <a:spcPct val="0"/>
              </a:spcBef>
              <a:spcAft>
                <a:spcPct val="0"/>
              </a:spcAft>
              <a:defRPr>
                <a:solidFill>
                  <a:schemeClr val="tx1"/>
                </a:solidFill>
                <a:latin typeface="Calibri" pitchFamily="34" charset="0"/>
                <a:cs typeface="Arial" pitchFamily="34" charset="0"/>
              </a:defRPr>
            </a:lvl6pPr>
            <a:lvl7pPr marL="2971800" indent="-228600" defTabSz="457200" eaLnBrk="0" fontAlgn="base" hangingPunct="0">
              <a:spcBef>
                <a:spcPct val="0"/>
              </a:spcBef>
              <a:spcAft>
                <a:spcPct val="0"/>
              </a:spcAft>
              <a:defRPr>
                <a:solidFill>
                  <a:schemeClr val="tx1"/>
                </a:solidFill>
                <a:latin typeface="Calibri" pitchFamily="34" charset="0"/>
                <a:cs typeface="Arial" pitchFamily="34" charset="0"/>
              </a:defRPr>
            </a:lvl7pPr>
            <a:lvl8pPr marL="3429000" indent="-228600" defTabSz="457200" eaLnBrk="0" fontAlgn="base" hangingPunct="0">
              <a:spcBef>
                <a:spcPct val="0"/>
              </a:spcBef>
              <a:spcAft>
                <a:spcPct val="0"/>
              </a:spcAft>
              <a:defRPr>
                <a:solidFill>
                  <a:schemeClr val="tx1"/>
                </a:solidFill>
                <a:latin typeface="Calibri" pitchFamily="34" charset="0"/>
                <a:cs typeface="Arial" pitchFamily="34" charset="0"/>
              </a:defRPr>
            </a:lvl8pPr>
            <a:lvl9pPr marL="3886200" indent="-228600" defTabSz="457200" eaLnBrk="0" fontAlgn="base" hangingPunct="0">
              <a:spcBef>
                <a:spcPct val="0"/>
              </a:spcBef>
              <a:spcAft>
                <a:spcPct val="0"/>
              </a:spcAft>
              <a:defRPr>
                <a:solidFill>
                  <a:schemeClr val="tx1"/>
                </a:solidFill>
                <a:latin typeface="Calibri" pitchFamily="34" charset="0"/>
                <a:cs typeface="Arial" pitchFamily="34" charset="0"/>
              </a:defRPr>
            </a:lvl9pPr>
          </a:lstStyle>
          <a:p>
            <a:pPr eaLnBrk="1" hangingPunct="1"/>
            <a:r>
              <a:rPr lang="pt-BR" sz="2400" b="1" dirty="0" smtClean="0">
                <a:solidFill>
                  <a:schemeClr val="accent1">
                    <a:lumMod val="50000"/>
                  </a:schemeClr>
                </a:solidFill>
              </a:rPr>
              <a:t>3. Tempo médio entre falhas e de resolução</a:t>
            </a:r>
            <a:endParaRPr lang="pt-BR" sz="2400" b="1" dirty="0">
              <a:solidFill>
                <a:schemeClr val="accent1">
                  <a:lumMod val="50000"/>
                </a:schemeClr>
              </a:solidFill>
            </a:endParaRPr>
          </a:p>
        </p:txBody>
      </p:sp>
      <p:sp>
        <p:nvSpPr>
          <p:cNvPr id="15" name="CaixaDeTexto 14"/>
          <p:cNvSpPr txBox="1"/>
          <p:nvPr/>
        </p:nvSpPr>
        <p:spPr>
          <a:xfrm>
            <a:off x="1" y="4848225"/>
            <a:ext cx="5871160" cy="246221"/>
          </a:xfrm>
          <a:prstGeom prst="rect">
            <a:avLst/>
          </a:prstGeom>
          <a:noFill/>
          <a:scene3d>
            <a:camera prst="orthographicFront"/>
            <a:lightRig rig="threePt" dir="t"/>
          </a:scene3d>
          <a:sp3d>
            <a:bevelT w="114300" prst="artDeco"/>
            <a:bevelB/>
          </a:sp3d>
        </p:spPr>
        <p:txBody>
          <a:bodyPr wrap="square" rtlCol="0">
            <a:spAutoFit/>
          </a:bodyPr>
          <a:lstStyle/>
          <a:p>
            <a:pPr algn="just"/>
            <a:r>
              <a:rPr lang="pt-BR" sz="1000" dirty="0">
                <a:solidFill>
                  <a:schemeClr val="bg1">
                    <a:lumMod val="65000"/>
                  </a:schemeClr>
                </a:solidFill>
              </a:rPr>
              <a:t>Informações retiradas dos indicadores de SLA e </a:t>
            </a:r>
            <a:r>
              <a:rPr lang="pt-BR" sz="1000" dirty="0" err="1">
                <a:solidFill>
                  <a:schemeClr val="bg1">
                    <a:lumMod val="65000"/>
                  </a:schemeClr>
                </a:solidFill>
              </a:rPr>
              <a:t>tProcess</a:t>
            </a:r>
            <a:r>
              <a:rPr lang="pt-BR" sz="1000" dirty="0">
                <a:solidFill>
                  <a:schemeClr val="bg1">
                    <a:lumMod val="65000"/>
                  </a:schemeClr>
                </a:solidFill>
              </a:rPr>
              <a:t>! referentes ao período de </a:t>
            </a:r>
            <a:r>
              <a:rPr lang="pt-BR" sz="1000" dirty="0" smtClean="0">
                <a:solidFill>
                  <a:schemeClr val="bg1">
                    <a:lumMod val="65000"/>
                  </a:schemeClr>
                </a:solidFill>
              </a:rPr>
              <a:t>01/06 </a:t>
            </a:r>
            <a:r>
              <a:rPr lang="pt-BR" sz="1000" dirty="0">
                <a:solidFill>
                  <a:schemeClr val="bg1">
                    <a:lumMod val="65000"/>
                  </a:schemeClr>
                </a:solidFill>
              </a:rPr>
              <a:t>a </a:t>
            </a:r>
            <a:r>
              <a:rPr lang="pt-BR" sz="1000" dirty="0" smtClean="0">
                <a:solidFill>
                  <a:schemeClr val="bg1">
                    <a:lumMod val="65000"/>
                  </a:schemeClr>
                </a:solidFill>
              </a:rPr>
              <a:t>20/06.</a:t>
            </a:r>
            <a:endParaRPr lang="pt-BR" dirty="0">
              <a:solidFill>
                <a:schemeClr val="bg1">
                  <a:lumMod val="65000"/>
                </a:schemeClr>
              </a:solidFill>
            </a:endParaRPr>
          </a:p>
        </p:txBody>
      </p:sp>
    </p:spTree>
    <p:extLst>
      <p:ext uri="{BB962C8B-B14F-4D97-AF65-F5344CB8AC3E}">
        <p14:creationId xmlns:p14="http://schemas.microsoft.com/office/powerpoint/2010/main" val="2602052319"/>
      </p:ext>
    </p:extLst>
  </p:cSld>
  <p:clrMapOvr>
    <a:masterClrMapping/>
  </p:clrMapOvr>
  <mc:AlternateContent xmlns:mc="http://schemas.openxmlformats.org/markup-compatibility/2006">
    <mc:Choice xmlns:p14="http://schemas.microsoft.com/office/powerpoint/2010/main" Requires="p14">
      <p:transition p14:dur="250">
        <p14:reveal/>
      </p:transition>
    </mc:Choice>
    <mc:Fallback>
      <p:transition>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1" name="Picture 9"/>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021514" y="291307"/>
            <a:ext cx="1603375"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2" name="Picture 2"/>
          <p:cNvPicPr>
            <a:picLocks noChangeAspect="1" noChangeArrowheads="1"/>
          </p:cNvPicPr>
          <p:nvPr/>
        </p:nvPicPr>
        <p:blipFill>
          <a:blip r:embed="rId3">
            <a:extLst>
              <a:ext uri="{28A0092B-C50C-407E-A947-70E740481C1C}">
                <a14:useLocalDpi xmlns:a14="http://schemas.microsoft.com/office/drawing/2010/main" val="0"/>
              </a:ext>
            </a:extLst>
          </a:blip>
          <a:srcRect l="76781" t="78172" r="18394" b="12686"/>
          <a:stretch>
            <a:fillRect/>
          </a:stretch>
        </p:blipFill>
        <p:spPr bwMode="auto">
          <a:xfrm>
            <a:off x="8188326" y="4382295"/>
            <a:ext cx="955675" cy="7635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3" name="Picture 1" descr="t03-02.jpg"/>
          <p:cNvPicPr>
            <a:picLocks noChangeAspect="1"/>
          </p:cNvPicPr>
          <p:nvPr/>
        </p:nvPicPr>
        <p:blipFill>
          <a:blip r:embed="rId4">
            <a:extLst>
              <a:ext uri="{28A0092B-C50C-407E-A947-70E740481C1C}">
                <a14:useLocalDpi xmlns:a14="http://schemas.microsoft.com/office/drawing/2010/main" val="0"/>
              </a:ext>
            </a:extLst>
          </a:blip>
          <a:srcRect r="91368" b="84909"/>
          <a:stretch>
            <a:fillRect/>
          </a:stretch>
        </p:blipFill>
        <p:spPr bwMode="auto">
          <a:xfrm>
            <a:off x="0" y="2381"/>
            <a:ext cx="788988" cy="77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83" name="TextBox 4"/>
          <p:cNvSpPr txBox="1">
            <a:spLocks noChangeArrowheads="1"/>
          </p:cNvSpPr>
          <p:nvPr/>
        </p:nvSpPr>
        <p:spPr bwMode="auto">
          <a:xfrm>
            <a:off x="525925" y="-31723"/>
            <a:ext cx="649559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cs typeface="Arial" pitchFamily="34" charset="0"/>
              </a:defRPr>
            </a:lvl1pPr>
            <a:lvl2pPr marL="742950" indent="-285750" eaLnBrk="0" hangingPunct="0">
              <a:defRPr>
                <a:solidFill>
                  <a:schemeClr val="tx1"/>
                </a:solidFill>
                <a:latin typeface="Calibri" pitchFamily="34" charset="0"/>
                <a:cs typeface="Arial" pitchFamily="34" charset="0"/>
              </a:defRPr>
            </a:lvl2pPr>
            <a:lvl3pPr marL="1143000" indent="-228600" eaLnBrk="0" hangingPunct="0">
              <a:defRPr>
                <a:solidFill>
                  <a:schemeClr val="tx1"/>
                </a:solidFill>
                <a:latin typeface="Calibri" pitchFamily="34" charset="0"/>
                <a:cs typeface="Arial" pitchFamily="34" charset="0"/>
              </a:defRPr>
            </a:lvl3pPr>
            <a:lvl4pPr marL="1600200" indent="-228600" eaLnBrk="0" hangingPunct="0">
              <a:defRPr>
                <a:solidFill>
                  <a:schemeClr val="tx1"/>
                </a:solidFill>
                <a:latin typeface="Calibri" pitchFamily="34" charset="0"/>
                <a:cs typeface="Arial" pitchFamily="34" charset="0"/>
              </a:defRPr>
            </a:lvl4pPr>
            <a:lvl5pPr marL="2057400" indent="-228600" eaLnBrk="0" hangingPunct="0">
              <a:defRPr>
                <a:solidFill>
                  <a:schemeClr val="tx1"/>
                </a:solidFill>
                <a:latin typeface="Calibri" pitchFamily="34" charset="0"/>
                <a:cs typeface="Arial" pitchFamily="34" charset="0"/>
              </a:defRPr>
            </a:lvl5pPr>
            <a:lvl6pPr marL="2514600" indent="-228600" defTabSz="457200" eaLnBrk="0" fontAlgn="base" hangingPunct="0">
              <a:spcBef>
                <a:spcPct val="0"/>
              </a:spcBef>
              <a:spcAft>
                <a:spcPct val="0"/>
              </a:spcAft>
              <a:defRPr>
                <a:solidFill>
                  <a:schemeClr val="tx1"/>
                </a:solidFill>
                <a:latin typeface="Calibri" pitchFamily="34" charset="0"/>
                <a:cs typeface="Arial" pitchFamily="34" charset="0"/>
              </a:defRPr>
            </a:lvl6pPr>
            <a:lvl7pPr marL="2971800" indent="-228600" defTabSz="457200" eaLnBrk="0" fontAlgn="base" hangingPunct="0">
              <a:spcBef>
                <a:spcPct val="0"/>
              </a:spcBef>
              <a:spcAft>
                <a:spcPct val="0"/>
              </a:spcAft>
              <a:defRPr>
                <a:solidFill>
                  <a:schemeClr val="tx1"/>
                </a:solidFill>
                <a:latin typeface="Calibri" pitchFamily="34" charset="0"/>
                <a:cs typeface="Arial" pitchFamily="34" charset="0"/>
              </a:defRPr>
            </a:lvl7pPr>
            <a:lvl8pPr marL="3429000" indent="-228600" defTabSz="457200" eaLnBrk="0" fontAlgn="base" hangingPunct="0">
              <a:spcBef>
                <a:spcPct val="0"/>
              </a:spcBef>
              <a:spcAft>
                <a:spcPct val="0"/>
              </a:spcAft>
              <a:defRPr>
                <a:solidFill>
                  <a:schemeClr val="tx1"/>
                </a:solidFill>
                <a:latin typeface="Calibri" pitchFamily="34" charset="0"/>
                <a:cs typeface="Arial" pitchFamily="34" charset="0"/>
              </a:defRPr>
            </a:lvl8pPr>
            <a:lvl9pPr marL="3886200" indent="-228600" defTabSz="457200" eaLnBrk="0" fontAlgn="base" hangingPunct="0">
              <a:spcBef>
                <a:spcPct val="0"/>
              </a:spcBef>
              <a:spcAft>
                <a:spcPct val="0"/>
              </a:spcAft>
              <a:defRPr>
                <a:solidFill>
                  <a:schemeClr val="tx1"/>
                </a:solidFill>
                <a:latin typeface="Calibri" pitchFamily="34" charset="0"/>
                <a:cs typeface="Arial" pitchFamily="34" charset="0"/>
              </a:defRPr>
            </a:lvl9pPr>
          </a:lstStyle>
          <a:p>
            <a:pPr eaLnBrk="1" hangingPunct="1"/>
            <a:r>
              <a:rPr lang="pt-BR" sz="2400" b="1" dirty="0" smtClean="0">
                <a:solidFill>
                  <a:schemeClr val="accent1">
                    <a:lumMod val="50000"/>
                  </a:schemeClr>
                </a:solidFill>
              </a:rPr>
              <a:t>4. Incidentes </a:t>
            </a:r>
            <a:r>
              <a:rPr lang="pt-BR" sz="2400" b="1" dirty="0">
                <a:solidFill>
                  <a:schemeClr val="accent1">
                    <a:lumMod val="50000"/>
                  </a:schemeClr>
                </a:solidFill>
              </a:rPr>
              <a:t>Alto </a:t>
            </a:r>
            <a:r>
              <a:rPr lang="pt-BR" sz="2400" b="1" dirty="0" smtClean="0">
                <a:solidFill>
                  <a:schemeClr val="accent1">
                    <a:lumMod val="50000"/>
                  </a:schemeClr>
                </a:solidFill>
              </a:rPr>
              <a:t>Impacto - por clientes</a:t>
            </a:r>
            <a:endParaRPr lang="pt-BR" sz="2400" b="1" dirty="0">
              <a:solidFill>
                <a:schemeClr val="accent1">
                  <a:lumMod val="50000"/>
                </a:schemeClr>
              </a:solidFill>
            </a:endParaRPr>
          </a:p>
        </p:txBody>
      </p:sp>
      <p:graphicFrame>
        <p:nvGraphicFramePr>
          <p:cNvPr id="8" name="Tabela 7"/>
          <p:cNvGraphicFramePr>
            <a:graphicFrameLocks noGrp="1"/>
          </p:cNvGraphicFramePr>
          <p:nvPr>
            <p:extLst>
              <p:ext uri="{D42A27DB-BD31-4B8C-83A1-F6EECF244321}">
                <p14:modId xmlns:p14="http://schemas.microsoft.com/office/powerpoint/2010/main" val="1490827675"/>
              </p:ext>
            </p:extLst>
          </p:nvPr>
        </p:nvGraphicFramePr>
        <p:xfrm>
          <a:off x="5081153" y="2896140"/>
          <a:ext cx="3200400" cy="800100"/>
        </p:xfrm>
        <a:graphic>
          <a:graphicData uri="http://schemas.openxmlformats.org/drawingml/2006/table">
            <a:tbl>
              <a:tblPr/>
              <a:tblGrid>
                <a:gridCol w="1295400"/>
                <a:gridCol w="1295400"/>
                <a:gridCol w="609600"/>
              </a:tblGrid>
              <a:tr h="200025">
                <a:tc>
                  <a:txBody>
                    <a:bodyPr/>
                    <a:lstStyle/>
                    <a:p>
                      <a:pPr algn="ctr" fontAlgn="ctr"/>
                      <a:r>
                        <a:rPr lang="pt-BR" sz="1000" b="1" i="0" u="none" strike="noStrike">
                          <a:solidFill>
                            <a:srgbClr val="FFFFFF"/>
                          </a:solidFill>
                          <a:effectLst/>
                          <a:latin typeface="Calibri"/>
                        </a:rPr>
                        <a:t>TAM</a:t>
                      </a:r>
                    </a:p>
                  </a:txBody>
                  <a:tcPr marL="0" marR="0"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184E82"/>
                    </a:solidFill>
                  </a:tcPr>
                </a:tc>
                <a:tc>
                  <a:txBody>
                    <a:bodyPr/>
                    <a:lstStyle/>
                    <a:p>
                      <a:pPr algn="ctr" fontAlgn="ctr"/>
                      <a:r>
                        <a:rPr lang="pt-BR" sz="1000" b="1" i="0" u="none" strike="noStrike">
                          <a:solidFill>
                            <a:srgbClr val="FFFFFF"/>
                          </a:solidFill>
                          <a:effectLst/>
                          <a:latin typeface="Calibri"/>
                        </a:rPr>
                        <a:t>Quantidade</a:t>
                      </a:r>
                    </a:p>
                  </a:txBody>
                  <a:tcPr marL="0" marR="0"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184E82"/>
                    </a:solidFill>
                  </a:tcPr>
                </a:tc>
                <a:tc>
                  <a:txBody>
                    <a:bodyPr/>
                    <a:lstStyle/>
                    <a:p>
                      <a:pPr algn="ctr" fontAlgn="ctr"/>
                      <a:r>
                        <a:rPr lang="pt-BR" sz="1000" b="0" i="0" u="none" strike="noStrike">
                          <a:solidFill>
                            <a:srgbClr val="FFFFFF"/>
                          </a:solidFill>
                          <a:effectLst/>
                          <a:latin typeface="Calibri"/>
                        </a:rPr>
                        <a:t>%</a:t>
                      </a:r>
                    </a:p>
                  </a:txBody>
                  <a:tcPr marL="0" marR="0"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184E82"/>
                    </a:solidFill>
                  </a:tcPr>
                </a:tc>
              </a:tr>
              <a:tr h="200025">
                <a:tc>
                  <a:txBody>
                    <a:bodyPr/>
                    <a:lstStyle/>
                    <a:p>
                      <a:pPr algn="l" fontAlgn="b"/>
                      <a:r>
                        <a:rPr lang="pt-BR" sz="1000" b="0" i="0" u="none" strike="noStrike">
                          <a:solidFill>
                            <a:srgbClr val="000000"/>
                          </a:solidFill>
                          <a:effectLst/>
                          <a:latin typeface="Calibri"/>
                        </a:rPr>
                        <a:t>Suporte Cliente</a:t>
                      </a:r>
                    </a:p>
                  </a:txBody>
                  <a:tcPr marL="0" marR="0" marT="0" marB="0" anchor="b">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ctr" fontAlgn="ctr"/>
                      <a:r>
                        <a:rPr lang="pt-BR" sz="1000" b="0" i="0" u="none" strike="noStrike">
                          <a:solidFill>
                            <a:srgbClr val="000000"/>
                          </a:solidFill>
                          <a:effectLst/>
                          <a:latin typeface="Calibri"/>
                        </a:rPr>
                        <a:t>4</a:t>
                      </a:r>
                    </a:p>
                  </a:txBody>
                  <a:tcPr marL="0" marR="0"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ctr" fontAlgn="ctr"/>
                      <a:r>
                        <a:rPr lang="pt-BR" sz="1000" b="0" i="0" u="none" strike="noStrike">
                          <a:solidFill>
                            <a:srgbClr val="000000"/>
                          </a:solidFill>
                          <a:effectLst/>
                          <a:latin typeface="Calibri"/>
                        </a:rPr>
                        <a:t>66,7%</a:t>
                      </a:r>
                    </a:p>
                  </a:txBody>
                  <a:tcPr marL="0" marR="0"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r>
              <a:tr h="200025">
                <a:tc>
                  <a:txBody>
                    <a:bodyPr/>
                    <a:lstStyle/>
                    <a:p>
                      <a:pPr algn="l" fontAlgn="b"/>
                      <a:r>
                        <a:rPr lang="pt-BR" sz="1000" b="0" i="0" u="none" strike="noStrike">
                          <a:solidFill>
                            <a:srgbClr val="000000"/>
                          </a:solidFill>
                          <a:effectLst/>
                          <a:latin typeface="Calibri"/>
                        </a:rPr>
                        <a:t>Contax</a:t>
                      </a:r>
                    </a:p>
                  </a:txBody>
                  <a:tcPr marL="0" marR="0" marT="0" marB="0" anchor="b">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ctr" fontAlgn="ctr"/>
                      <a:r>
                        <a:rPr lang="pt-BR" sz="1000" b="0" i="0" u="none" strike="noStrike">
                          <a:solidFill>
                            <a:srgbClr val="000000"/>
                          </a:solidFill>
                          <a:effectLst/>
                          <a:latin typeface="Calibri"/>
                        </a:rPr>
                        <a:t>2</a:t>
                      </a:r>
                    </a:p>
                  </a:txBody>
                  <a:tcPr marL="0" marR="0"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ctr" fontAlgn="ctr"/>
                      <a:r>
                        <a:rPr lang="pt-BR" sz="1000" b="0" i="0" u="none" strike="noStrike">
                          <a:solidFill>
                            <a:srgbClr val="000000"/>
                          </a:solidFill>
                          <a:effectLst/>
                          <a:latin typeface="Calibri"/>
                        </a:rPr>
                        <a:t>33,3%</a:t>
                      </a:r>
                    </a:p>
                  </a:txBody>
                  <a:tcPr marL="0" marR="0"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r>
              <a:tr h="200025">
                <a:tc>
                  <a:txBody>
                    <a:bodyPr/>
                    <a:lstStyle/>
                    <a:p>
                      <a:pPr algn="l" fontAlgn="b"/>
                      <a:r>
                        <a:rPr lang="pt-BR" sz="1000" b="1" i="0" u="none" strike="noStrike">
                          <a:solidFill>
                            <a:srgbClr val="000000"/>
                          </a:solidFill>
                          <a:effectLst/>
                          <a:latin typeface="Calibri"/>
                        </a:rPr>
                        <a:t>Total Geral</a:t>
                      </a:r>
                    </a:p>
                  </a:txBody>
                  <a:tcPr marL="0" marR="0" marT="0" marB="0" anchor="b">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8DB4E2"/>
                    </a:solidFill>
                  </a:tcPr>
                </a:tc>
                <a:tc>
                  <a:txBody>
                    <a:bodyPr/>
                    <a:lstStyle/>
                    <a:p>
                      <a:pPr algn="ctr" fontAlgn="b"/>
                      <a:r>
                        <a:rPr lang="pt-BR" sz="1000" b="1" i="0" u="none" strike="noStrike">
                          <a:solidFill>
                            <a:srgbClr val="000000"/>
                          </a:solidFill>
                          <a:effectLst/>
                          <a:latin typeface="Calibri"/>
                        </a:rPr>
                        <a:t>6</a:t>
                      </a:r>
                    </a:p>
                  </a:txBody>
                  <a:tcPr marL="0" marR="0" marT="0" marB="0" anchor="b">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8DB4E2"/>
                    </a:solidFill>
                  </a:tcPr>
                </a:tc>
                <a:tc>
                  <a:txBody>
                    <a:bodyPr/>
                    <a:lstStyle/>
                    <a:p>
                      <a:pPr algn="ctr" fontAlgn="ctr"/>
                      <a:r>
                        <a:rPr lang="pt-BR" sz="1000" b="1" i="0" u="none" strike="noStrike" dirty="0">
                          <a:solidFill>
                            <a:srgbClr val="000000"/>
                          </a:solidFill>
                          <a:effectLst/>
                          <a:latin typeface="Calibri"/>
                        </a:rPr>
                        <a:t>100,0%</a:t>
                      </a:r>
                    </a:p>
                  </a:txBody>
                  <a:tcPr marL="0" marR="0"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8DB4E2"/>
                    </a:solidFill>
                  </a:tcPr>
                </a:tc>
              </a:tr>
            </a:tbl>
          </a:graphicData>
        </a:graphic>
      </p:graphicFrame>
      <p:graphicFrame>
        <p:nvGraphicFramePr>
          <p:cNvPr id="9" name="Tabela 8"/>
          <p:cNvGraphicFramePr>
            <a:graphicFrameLocks noGrp="1"/>
          </p:cNvGraphicFramePr>
          <p:nvPr>
            <p:extLst>
              <p:ext uri="{D42A27DB-BD31-4B8C-83A1-F6EECF244321}">
                <p14:modId xmlns:p14="http://schemas.microsoft.com/office/powerpoint/2010/main" val="2790588663"/>
              </p:ext>
            </p:extLst>
          </p:nvPr>
        </p:nvGraphicFramePr>
        <p:xfrm>
          <a:off x="5081153" y="4198858"/>
          <a:ext cx="3200400" cy="800100"/>
        </p:xfrm>
        <a:graphic>
          <a:graphicData uri="http://schemas.openxmlformats.org/drawingml/2006/table">
            <a:tbl>
              <a:tblPr/>
              <a:tblGrid>
                <a:gridCol w="1295400"/>
                <a:gridCol w="1295400"/>
                <a:gridCol w="609600"/>
              </a:tblGrid>
              <a:tr h="200025">
                <a:tc>
                  <a:txBody>
                    <a:bodyPr/>
                    <a:lstStyle/>
                    <a:p>
                      <a:pPr algn="ctr" fontAlgn="ctr"/>
                      <a:r>
                        <a:rPr lang="pt-BR" sz="1000" b="1" i="0" u="none" strike="noStrike">
                          <a:solidFill>
                            <a:srgbClr val="FFFFFF"/>
                          </a:solidFill>
                          <a:effectLst/>
                          <a:latin typeface="Calibri"/>
                        </a:rPr>
                        <a:t>SANTANDER</a:t>
                      </a:r>
                    </a:p>
                  </a:txBody>
                  <a:tcPr marL="0" marR="0"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184E82"/>
                    </a:solidFill>
                  </a:tcPr>
                </a:tc>
                <a:tc>
                  <a:txBody>
                    <a:bodyPr/>
                    <a:lstStyle/>
                    <a:p>
                      <a:pPr algn="ctr" fontAlgn="ctr"/>
                      <a:r>
                        <a:rPr lang="pt-BR" sz="1000" b="1" i="0" u="none" strike="noStrike">
                          <a:solidFill>
                            <a:srgbClr val="FFFFFF"/>
                          </a:solidFill>
                          <a:effectLst/>
                          <a:latin typeface="Calibri"/>
                        </a:rPr>
                        <a:t>Quantidade</a:t>
                      </a:r>
                    </a:p>
                  </a:txBody>
                  <a:tcPr marL="0" marR="0"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184E82"/>
                    </a:solidFill>
                  </a:tcPr>
                </a:tc>
                <a:tc>
                  <a:txBody>
                    <a:bodyPr/>
                    <a:lstStyle/>
                    <a:p>
                      <a:pPr algn="ctr" fontAlgn="ctr"/>
                      <a:r>
                        <a:rPr lang="pt-BR" sz="1000" b="0" i="0" u="none" strike="noStrike">
                          <a:solidFill>
                            <a:srgbClr val="FFFFFF"/>
                          </a:solidFill>
                          <a:effectLst/>
                          <a:latin typeface="Calibri"/>
                        </a:rPr>
                        <a:t>%</a:t>
                      </a:r>
                    </a:p>
                  </a:txBody>
                  <a:tcPr marL="0" marR="0"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184E82"/>
                    </a:solidFill>
                  </a:tcPr>
                </a:tc>
              </a:tr>
              <a:tr h="200025">
                <a:tc>
                  <a:txBody>
                    <a:bodyPr/>
                    <a:lstStyle/>
                    <a:p>
                      <a:pPr algn="l" fontAlgn="b"/>
                      <a:r>
                        <a:rPr lang="pt-BR" sz="1000" b="0" i="0" u="none" strike="noStrike">
                          <a:solidFill>
                            <a:srgbClr val="000000"/>
                          </a:solidFill>
                          <a:effectLst/>
                          <a:latin typeface="Calibri"/>
                        </a:rPr>
                        <a:t>Suporte Cliente</a:t>
                      </a:r>
                    </a:p>
                  </a:txBody>
                  <a:tcPr marL="0" marR="0" marT="0" marB="0" anchor="b">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ctr" fontAlgn="ctr"/>
                      <a:r>
                        <a:rPr lang="pt-BR" sz="1000" b="0" i="0" u="none" strike="noStrike">
                          <a:solidFill>
                            <a:srgbClr val="000000"/>
                          </a:solidFill>
                          <a:effectLst/>
                          <a:latin typeface="Calibri"/>
                        </a:rPr>
                        <a:t>3</a:t>
                      </a:r>
                    </a:p>
                  </a:txBody>
                  <a:tcPr marL="0" marR="0"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ctr" fontAlgn="ctr"/>
                      <a:r>
                        <a:rPr lang="pt-BR" sz="1000" b="0" i="0" u="none" strike="noStrike">
                          <a:solidFill>
                            <a:srgbClr val="000000"/>
                          </a:solidFill>
                          <a:effectLst/>
                          <a:latin typeface="Calibri"/>
                        </a:rPr>
                        <a:t>60,0%</a:t>
                      </a:r>
                    </a:p>
                  </a:txBody>
                  <a:tcPr marL="0" marR="0"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r>
              <a:tr h="200025">
                <a:tc>
                  <a:txBody>
                    <a:bodyPr/>
                    <a:lstStyle/>
                    <a:p>
                      <a:pPr algn="l" fontAlgn="b"/>
                      <a:r>
                        <a:rPr lang="pt-BR" sz="1000" b="0" i="0" u="none" strike="noStrike">
                          <a:solidFill>
                            <a:srgbClr val="000000"/>
                          </a:solidFill>
                          <a:effectLst/>
                          <a:latin typeface="Calibri"/>
                        </a:rPr>
                        <a:t>Contax</a:t>
                      </a:r>
                    </a:p>
                  </a:txBody>
                  <a:tcPr marL="0" marR="0" marT="0" marB="0" anchor="b">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ctr" fontAlgn="ctr"/>
                      <a:r>
                        <a:rPr lang="pt-BR" sz="1000" b="0" i="0" u="none" strike="noStrike">
                          <a:solidFill>
                            <a:srgbClr val="000000"/>
                          </a:solidFill>
                          <a:effectLst/>
                          <a:latin typeface="Calibri"/>
                        </a:rPr>
                        <a:t>2</a:t>
                      </a:r>
                    </a:p>
                  </a:txBody>
                  <a:tcPr marL="0" marR="0"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ctr" fontAlgn="ctr"/>
                      <a:r>
                        <a:rPr lang="pt-BR" sz="1000" b="0" i="0" u="none" strike="noStrike">
                          <a:solidFill>
                            <a:srgbClr val="000000"/>
                          </a:solidFill>
                          <a:effectLst/>
                          <a:latin typeface="Calibri"/>
                        </a:rPr>
                        <a:t>40,0%</a:t>
                      </a:r>
                    </a:p>
                  </a:txBody>
                  <a:tcPr marL="0" marR="0"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r>
              <a:tr h="200025">
                <a:tc>
                  <a:txBody>
                    <a:bodyPr/>
                    <a:lstStyle/>
                    <a:p>
                      <a:pPr algn="l" fontAlgn="b"/>
                      <a:r>
                        <a:rPr lang="pt-BR" sz="1000" b="1" i="0" u="none" strike="noStrike">
                          <a:solidFill>
                            <a:srgbClr val="000000"/>
                          </a:solidFill>
                          <a:effectLst/>
                          <a:latin typeface="Calibri"/>
                        </a:rPr>
                        <a:t>Total Geral</a:t>
                      </a:r>
                    </a:p>
                  </a:txBody>
                  <a:tcPr marL="0" marR="0" marT="0" marB="0" anchor="b">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8DB4E2"/>
                    </a:solidFill>
                  </a:tcPr>
                </a:tc>
                <a:tc>
                  <a:txBody>
                    <a:bodyPr/>
                    <a:lstStyle/>
                    <a:p>
                      <a:pPr algn="ctr" fontAlgn="b"/>
                      <a:r>
                        <a:rPr lang="pt-BR" sz="1000" b="1" i="0" u="none" strike="noStrike">
                          <a:solidFill>
                            <a:srgbClr val="000000"/>
                          </a:solidFill>
                          <a:effectLst/>
                          <a:latin typeface="Calibri"/>
                        </a:rPr>
                        <a:t>5</a:t>
                      </a:r>
                    </a:p>
                  </a:txBody>
                  <a:tcPr marL="0" marR="0" marT="0" marB="0" anchor="b">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8DB4E2"/>
                    </a:solidFill>
                  </a:tcPr>
                </a:tc>
                <a:tc>
                  <a:txBody>
                    <a:bodyPr/>
                    <a:lstStyle/>
                    <a:p>
                      <a:pPr algn="ctr" fontAlgn="ctr"/>
                      <a:r>
                        <a:rPr lang="pt-BR" sz="1000" b="1" i="0" u="none" strike="noStrike" dirty="0">
                          <a:solidFill>
                            <a:srgbClr val="000000"/>
                          </a:solidFill>
                          <a:effectLst/>
                          <a:latin typeface="Calibri"/>
                        </a:rPr>
                        <a:t>100,0%</a:t>
                      </a:r>
                    </a:p>
                  </a:txBody>
                  <a:tcPr marL="0" marR="0"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8DB4E2"/>
                    </a:solidFill>
                  </a:tcPr>
                </a:tc>
              </a:tr>
            </a:tbl>
          </a:graphicData>
        </a:graphic>
      </p:graphicFrame>
      <p:cxnSp>
        <p:nvCxnSpPr>
          <p:cNvPr id="12" name="Conector de seta reta 11"/>
          <p:cNvCxnSpPr/>
          <p:nvPr/>
        </p:nvCxnSpPr>
        <p:spPr>
          <a:xfrm>
            <a:off x="3678382" y="1683822"/>
            <a:ext cx="1402771" cy="209636"/>
          </a:xfrm>
          <a:prstGeom prst="straightConnector1">
            <a:avLst/>
          </a:prstGeom>
          <a:ln>
            <a:solidFill>
              <a:schemeClr val="accent1">
                <a:lumMod val="50000"/>
              </a:schemeClr>
            </a:solidFill>
            <a:tailEnd type="arrow"/>
          </a:ln>
        </p:spPr>
        <p:style>
          <a:lnRef idx="3">
            <a:schemeClr val="accent1"/>
          </a:lnRef>
          <a:fillRef idx="0">
            <a:schemeClr val="accent1"/>
          </a:fillRef>
          <a:effectRef idx="2">
            <a:schemeClr val="accent1"/>
          </a:effectRef>
          <a:fontRef idx="minor">
            <a:schemeClr val="tx1"/>
          </a:fontRef>
        </p:style>
      </p:cxnSp>
      <p:cxnSp>
        <p:nvCxnSpPr>
          <p:cNvPr id="21" name="Conector de seta reta 20"/>
          <p:cNvCxnSpPr>
            <a:endCxn id="8" idx="1"/>
          </p:cNvCxnSpPr>
          <p:nvPr/>
        </p:nvCxnSpPr>
        <p:spPr>
          <a:xfrm>
            <a:off x="3678382" y="1893458"/>
            <a:ext cx="1402771" cy="1402732"/>
          </a:xfrm>
          <a:prstGeom prst="straightConnector1">
            <a:avLst/>
          </a:prstGeom>
          <a:ln>
            <a:solidFill>
              <a:schemeClr val="accent1">
                <a:lumMod val="50000"/>
              </a:schemeClr>
            </a:solidFill>
            <a:tailEnd type="arrow"/>
          </a:ln>
        </p:spPr>
        <p:style>
          <a:lnRef idx="3">
            <a:schemeClr val="accent1"/>
          </a:lnRef>
          <a:fillRef idx="0">
            <a:schemeClr val="accent1"/>
          </a:fillRef>
          <a:effectRef idx="2">
            <a:schemeClr val="accent1"/>
          </a:effectRef>
          <a:fontRef idx="minor">
            <a:schemeClr val="tx1"/>
          </a:fontRef>
        </p:style>
      </p:cxnSp>
      <p:cxnSp>
        <p:nvCxnSpPr>
          <p:cNvPr id="23" name="Conector de seta reta 22"/>
          <p:cNvCxnSpPr>
            <a:endCxn id="9" idx="1"/>
          </p:cNvCxnSpPr>
          <p:nvPr/>
        </p:nvCxnSpPr>
        <p:spPr>
          <a:xfrm>
            <a:off x="3678381" y="2053694"/>
            <a:ext cx="1402772" cy="2545214"/>
          </a:xfrm>
          <a:prstGeom prst="straightConnector1">
            <a:avLst/>
          </a:prstGeom>
          <a:ln>
            <a:solidFill>
              <a:schemeClr val="accent1">
                <a:lumMod val="50000"/>
              </a:schemeClr>
            </a:solidFill>
            <a:tailEnd type="arrow"/>
          </a:ln>
        </p:spPr>
        <p:style>
          <a:lnRef idx="3">
            <a:schemeClr val="accent1"/>
          </a:lnRef>
          <a:fillRef idx="0">
            <a:schemeClr val="accent1"/>
          </a:fillRef>
          <a:effectRef idx="2">
            <a:schemeClr val="accent1"/>
          </a:effectRef>
          <a:fontRef idx="minor">
            <a:schemeClr val="tx1"/>
          </a:fontRef>
        </p:style>
      </p:cxnSp>
      <p:sp>
        <p:nvSpPr>
          <p:cNvPr id="25" name="TextBox 4"/>
          <p:cNvSpPr txBox="1">
            <a:spLocks noChangeArrowheads="1"/>
          </p:cNvSpPr>
          <p:nvPr/>
        </p:nvSpPr>
        <p:spPr bwMode="auto">
          <a:xfrm>
            <a:off x="941388" y="1074038"/>
            <a:ext cx="215510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cs typeface="Arial" pitchFamily="34" charset="0"/>
              </a:defRPr>
            </a:lvl1pPr>
            <a:lvl2pPr marL="742950" indent="-285750" eaLnBrk="0" hangingPunct="0">
              <a:defRPr>
                <a:solidFill>
                  <a:schemeClr val="tx1"/>
                </a:solidFill>
                <a:latin typeface="Calibri" pitchFamily="34" charset="0"/>
                <a:cs typeface="Arial" pitchFamily="34" charset="0"/>
              </a:defRPr>
            </a:lvl2pPr>
            <a:lvl3pPr marL="1143000" indent="-228600" eaLnBrk="0" hangingPunct="0">
              <a:defRPr>
                <a:solidFill>
                  <a:schemeClr val="tx1"/>
                </a:solidFill>
                <a:latin typeface="Calibri" pitchFamily="34" charset="0"/>
                <a:cs typeface="Arial" pitchFamily="34" charset="0"/>
              </a:defRPr>
            </a:lvl3pPr>
            <a:lvl4pPr marL="1600200" indent="-228600" eaLnBrk="0" hangingPunct="0">
              <a:defRPr>
                <a:solidFill>
                  <a:schemeClr val="tx1"/>
                </a:solidFill>
                <a:latin typeface="Calibri" pitchFamily="34" charset="0"/>
                <a:cs typeface="Arial" pitchFamily="34" charset="0"/>
              </a:defRPr>
            </a:lvl4pPr>
            <a:lvl5pPr marL="2057400" indent="-228600" eaLnBrk="0" hangingPunct="0">
              <a:defRPr>
                <a:solidFill>
                  <a:schemeClr val="tx1"/>
                </a:solidFill>
                <a:latin typeface="Calibri" pitchFamily="34" charset="0"/>
                <a:cs typeface="Arial" pitchFamily="34" charset="0"/>
              </a:defRPr>
            </a:lvl5pPr>
            <a:lvl6pPr marL="2514600" indent="-228600" defTabSz="457200" eaLnBrk="0" fontAlgn="base" hangingPunct="0">
              <a:spcBef>
                <a:spcPct val="0"/>
              </a:spcBef>
              <a:spcAft>
                <a:spcPct val="0"/>
              </a:spcAft>
              <a:defRPr>
                <a:solidFill>
                  <a:schemeClr val="tx1"/>
                </a:solidFill>
                <a:latin typeface="Calibri" pitchFamily="34" charset="0"/>
                <a:cs typeface="Arial" pitchFamily="34" charset="0"/>
              </a:defRPr>
            </a:lvl6pPr>
            <a:lvl7pPr marL="2971800" indent="-228600" defTabSz="457200" eaLnBrk="0" fontAlgn="base" hangingPunct="0">
              <a:spcBef>
                <a:spcPct val="0"/>
              </a:spcBef>
              <a:spcAft>
                <a:spcPct val="0"/>
              </a:spcAft>
              <a:defRPr>
                <a:solidFill>
                  <a:schemeClr val="tx1"/>
                </a:solidFill>
                <a:latin typeface="Calibri" pitchFamily="34" charset="0"/>
                <a:cs typeface="Arial" pitchFamily="34" charset="0"/>
              </a:defRPr>
            </a:lvl7pPr>
            <a:lvl8pPr marL="3429000" indent="-228600" defTabSz="457200" eaLnBrk="0" fontAlgn="base" hangingPunct="0">
              <a:spcBef>
                <a:spcPct val="0"/>
              </a:spcBef>
              <a:spcAft>
                <a:spcPct val="0"/>
              </a:spcAft>
              <a:defRPr>
                <a:solidFill>
                  <a:schemeClr val="tx1"/>
                </a:solidFill>
                <a:latin typeface="Calibri" pitchFamily="34" charset="0"/>
                <a:cs typeface="Arial" pitchFamily="34" charset="0"/>
              </a:defRPr>
            </a:lvl8pPr>
            <a:lvl9pPr marL="3886200" indent="-228600" defTabSz="457200" eaLnBrk="0" fontAlgn="base" hangingPunct="0">
              <a:spcBef>
                <a:spcPct val="0"/>
              </a:spcBef>
              <a:spcAft>
                <a:spcPct val="0"/>
              </a:spcAft>
              <a:defRPr>
                <a:solidFill>
                  <a:schemeClr val="tx1"/>
                </a:solidFill>
                <a:latin typeface="Calibri" pitchFamily="34" charset="0"/>
                <a:cs typeface="Arial" pitchFamily="34" charset="0"/>
              </a:defRPr>
            </a:lvl9pPr>
          </a:lstStyle>
          <a:p>
            <a:pPr eaLnBrk="1" hangingPunct="1"/>
            <a:r>
              <a:rPr lang="pt-BR" sz="1600" b="1" dirty="0" smtClean="0">
                <a:solidFill>
                  <a:schemeClr val="accent2"/>
                </a:solidFill>
              </a:rPr>
              <a:t>Chamados por clientes</a:t>
            </a:r>
            <a:endParaRPr lang="pt-BR" sz="1600" b="1" dirty="0">
              <a:solidFill>
                <a:schemeClr val="accent2"/>
              </a:solidFill>
            </a:endParaRPr>
          </a:p>
        </p:txBody>
      </p:sp>
      <p:graphicFrame>
        <p:nvGraphicFramePr>
          <p:cNvPr id="17" name="Tabela 16"/>
          <p:cNvGraphicFramePr>
            <a:graphicFrameLocks noGrp="1"/>
          </p:cNvGraphicFramePr>
          <p:nvPr>
            <p:extLst>
              <p:ext uri="{D42A27DB-BD31-4B8C-83A1-F6EECF244321}">
                <p14:modId xmlns:p14="http://schemas.microsoft.com/office/powerpoint/2010/main" val="4205989330"/>
              </p:ext>
            </p:extLst>
          </p:nvPr>
        </p:nvGraphicFramePr>
        <p:xfrm>
          <a:off x="525924" y="1412592"/>
          <a:ext cx="3152456" cy="3590981"/>
        </p:xfrm>
        <a:graphic>
          <a:graphicData uri="http://schemas.openxmlformats.org/drawingml/2006/table">
            <a:tbl>
              <a:tblPr/>
              <a:tblGrid>
                <a:gridCol w="1275994"/>
                <a:gridCol w="1275994"/>
                <a:gridCol w="600468"/>
              </a:tblGrid>
              <a:tr h="188999">
                <a:tc>
                  <a:txBody>
                    <a:bodyPr/>
                    <a:lstStyle/>
                    <a:p>
                      <a:pPr algn="ctr" fontAlgn="ctr"/>
                      <a:r>
                        <a:rPr lang="pt-BR" sz="900" b="1" i="0" u="none" strike="noStrike" dirty="0">
                          <a:solidFill>
                            <a:srgbClr val="FFFFFF"/>
                          </a:solidFill>
                          <a:effectLst/>
                          <a:latin typeface="Calibri"/>
                        </a:rPr>
                        <a:t>Cliente Afetado</a:t>
                      </a:r>
                    </a:p>
                  </a:txBody>
                  <a:tcPr marL="0" marR="0"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184E82"/>
                    </a:solidFill>
                  </a:tcPr>
                </a:tc>
                <a:tc>
                  <a:txBody>
                    <a:bodyPr/>
                    <a:lstStyle/>
                    <a:p>
                      <a:pPr algn="ctr" fontAlgn="ctr"/>
                      <a:r>
                        <a:rPr lang="pt-BR" sz="900" b="1" i="0" u="none" strike="noStrike">
                          <a:solidFill>
                            <a:srgbClr val="FFFFFF"/>
                          </a:solidFill>
                          <a:effectLst/>
                          <a:latin typeface="Calibri"/>
                        </a:rPr>
                        <a:t>Quantidade</a:t>
                      </a:r>
                    </a:p>
                  </a:txBody>
                  <a:tcPr marL="0" marR="0"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184E82"/>
                    </a:solidFill>
                  </a:tcPr>
                </a:tc>
                <a:tc>
                  <a:txBody>
                    <a:bodyPr/>
                    <a:lstStyle/>
                    <a:p>
                      <a:pPr algn="ctr" fontAlgn="ctr"/>
                      <a:r>
                        <a:rPr lang="pt-BR" sz="900" b="0" i="0" u="none" strike="noStrike">
                          <a:solidFill>
                            <a:srgbClr val="FFFFFF"/>
                          </a:solidFill>
                          <a:effectLst/>
                          <a:latin typeface="Calibri"/>
                        </a:rPr>
                        <a:t>%</a:t>
                      </a:r>
                    </a:p>
                  </a:txBody>
                  <a:tcPr marL="0" marR="0"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184E82"/>
                    </a:solidFill>
                  </a:tcPr>
                </a:tc>
              </a:tr>
              <a:tr h="188999">
                <a:tc>
                  <a:txBody>
                    <a:bodyPr/>
                    <a:lstStyle/>
                    <a:p>
                      <a:pPr algn="l" fontAlgn="b"/>
                      <a:r>
                        <a:rPr lang="pt-BR" sz="900" b="0" i="0" u="none" strike="noStrike">
                          <a:solidFill>
                            <a:srgbClr val="000000"/>
                          </a:solidFill>
                          <a:effectLst/>
                          <a:latin typeface="Calibri"/>
                        </a:rPr>
                        <a:t>OI</a:t>
                      </a:r>
                    </a:p>
                  </a:txBody>
                  <a:tcPr marL="0" marR="0" marT="0" marB="0" anchor="b">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ctr" fontAlgn="ctr"/>
                      <a:r>
                        <a:rPr lang="pt-BR" sz="900" b="0" i="0" u="none" strike="noStrike">
                          <a:solidFill>
                            <a:srgbClr val="000000"/>
                          </a:solidFill>
                          <a:effectLst/>
                          <a:latin typeface="Calibri"/>
                        </a:rPr>
                        <a:t>62</a:t>
                      </a:r>
                    </a:p>
                  </a:txBody>
                  <a:tcPr marL="0" marR="0"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ctr" fontAlgn="ctr"/>
                      <a:r>
                        <a:rPr lang="pt-BR" sz="900" b="0" i="0" u="none" strike="noStrike">
                          <a:solidFill>
                            <a:srgbClr val="000000"/>
                          </a:solidFill>
                          <a:effectLst/>
                          <a:latin typeface="Calibri"/>
                        </a:rPr>
                        <a:t>56,4%</a:t>
                      </a:r>
                    </a:p>
                  </a:txBody>
                  <a:tcPr marL="0" marR="0"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r>
              <a:tr h="188999">
                <a:tc>
                  <a:txBody>
                    <a:bodyPr/>
                    <a:lstStyle/>
                    <a:p>
                      <a:pPr algn="l" fontAlgn="b"/>
                      <a:r>
                        <a:rPr lang="pt-BR" sz="900" b="0" i="0" u="none" strike="noStrike">
                          <a:solidFill>
                            <a:srgbClr val="000000"/>
                          </a:solidFill>
                          <a:effectLst/>
                          <a:latin typeface="Calibri"/>
                        </a:rPr>
                        <a:t>TAM</a:t>
                      </a:r>
                    </a:p>
                  </a:txBody>
                  <a:tcPr marL="0" marR="0" marT="0" marB="0" anchor="b">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ctr" fontAlgn="ctr"/>
                      <a:r>
                        <a:rPr lang="pt-BR" sz="900" b="0" i="0" u="none" strike="noStrike">
                          <a:solidFill>
                            <a:srgbClr val="000000"/>
                          </a:solidFill>
                          <a:effectLst/>
                          <a:latin typeface="Calibri"/>
                        </a:rPr>
                        <a:t>6</a:t>
                      </a:r>
                    </a:p>
                  </a:txBody>
                  <a:tcPr marL="0" marR="0"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ctr" fontAlgn="ctr"/>
                      <a:r>
                        <a:rPr lang="pt-BR" sz="900" b="0" i="0" u="none" strike="noStrike">
                          <a:solidFill>
                            <a:srgbClr val="000000"/>
                          </a:solidFill>
                          <a:effectLst/>
                          <a:latin typeface="Calibri"/>
                        </a:rPr>
                        <a:t>5,5%</a:t>
                      </a:r>
                    </a:p>
                  </a:txBody>
                  <a:tcPr marL="0" marR="0"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r>
              <a:tr h="188999">
                <a:tc>
                  <a:txBody>
                    <a:bodyPr/>
                    <a:lstStyle/>
                    <a:p>
                      <a:pPr algn="l" fontAlgn="b"/>
                      <a:r>
                        <a:rPr lang="pt-BR" sz="900" b="0" i="0" u="none" strike="noStrike">
                          <a:solidFill>
                            <a:srgbClr val="000000"/>
                          </a:solidFill>
                          <a:effectLst/>
                          <a:latin typeface="Calibri"/>
                        </a:rPr>
                        <a:t>SANTANDER</a:t>
                      </a:r>
                    </a:p>
                  </a:txBody>
                  <a:tcPr marL="0" marR="0" marT="0" marB="0" anchor="b">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ctr" fontAlgn="ctr"/>
                      <a:r>
                        <a:rPr lang="pt-BR" sz="900" b="0" i="0" u="none" strike="noStrike">
                          <a:solidFill>
                            <a:srgbClr val="000000"/>
                          </a:solidFill>
                          <a:effectLst/>
                          <a:latin typeface="Calibri"/>
                        </a:rPr>
                        <a:t>5</a:t>
                      </a:r>
                    </a:p>
                  </a:txBody>
                  <a:tcPr marL="0" marR="0"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ctr" fontAlgn="ctr"/>
                      <a:r>
                        <a:rPr lang="pt-BR" sz="900" b="0" i="0" u="none" strike="noStrike">
                          <a:solidFill>
                            <a:srgbClr val="000000"/>
                          </a:solidFill>
                          <a:effectLst/>
                          <a:latin typeface="Calibri"/>
                        </a:rPr>
                        <a:t>4,5%</a:t>
                      </a:r>
                    </a:p>
                  </a:txBody>
                  <a:tcPr marL="0" marR="0"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r>
              <a:tr h="188999">
                <a:tc>
                  <a:txBody>
                    <a:bodyPr/>
                    <a:lstStyle/>
                    <a:p>
                      <a:pPr algn="l" fontAlgn="b"/>
                      <a:r>
                        <a:rPr lang="pt-BR" sz="900" b="0" i="0" u="none" strike="noStrike">
                          <a:solidFill>
                            <a:srgbClr val="000000"/>
                          </a:solidFill>
                          <a:effectLst/>
                          <a:latin typeface="Calibri"/>
                        </a:rPr>
                        <a:t>BRADESCO</a:t>
                      </a:r>
                    </a:p>
                  </a:txBody>
                  <a:tcPr marL="0" marR="0" marT="0" marB="0" anchor="b">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ctr" fontAlgn="ctr"/>
                      <a:r>
                        <a:rPr lang="pt-BR" sz="900" b="0" i="0" u="none" strike="noStrike">
                          <a:solidFill>
                            <a:srgbClr val="000000"/>
                          </a:solidFill>
                          <a:effectLst/>
                          <a:latin typeface="Calibri"/>
                        </a:rPr>
                        <a:t>4</a:t>
                      </a:r>
                    </a:p>
                  </a:txBody>
                  <a:tcPr marL="0" marR="0"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ctr" fontAlgn="ctr"/>
                      <a:r>
                        <a:rPr lang="pt-BR" sz="900" b="0" i="0" u="none" strike="noStrike">
                          <a:solidFill>
                            <a:srgbClr val="000000"/>
                          </a:solidFill>
                          <a:effectLst/>
                          <a:latin typeface="Calibri"/>
                        </a:rPr>
                        <a:t>3,6%</a:t>
                      </a:r>
                    </a:p>
                  </a:txBody>
                  <a:tcPr marL="0" marR="0"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r>
              <a:tr h="188999">
                <a:tc>
                  <a:txBody>
                    <a:bodyPr/>
                    <a:lstStyle/>
                    <a:p>
                      <a:pPr algn="l" fontAlgn="b"/>
                      <a:r>
                        <a:rPr lang="pt-BR" sz="900" b="0" i="0" u="none" strike="noStrike">
                          <a:solidFill>
                            <a:srgbClr val="000000"/>
                          </a:solidFill>
                          <a:effectLst/>
                          <a:latin typeface="Calibri"/>
                        </a:rPr>
                        <a:t>BV</a:t>
                      </a:r>
                    </a:p>
                  </a:txBody>
                  <a:tcPr marL="0" marR="0" marT="0" marB="0" anchor="b">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ctr" fontAlgn="ctr"/>
                      <a:r>
                        <a:rPr lang="pt-BR" sz="900" b="0" i="0" u="none" strike="noStrike">
                          <a:solidFill>
                            <a:srgbClr val="000000"/>
                          </a:solidFill>
                          <a:effectLst/>
                          <a:latin typeface="Calibri"/>
                        </a:rPr>
                        <a:t>4</a:t>
                      </a:r>
                    </a:p>
                  </a:txBody>
                  <a:tcPr marL="0" marR="0"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ctr" fontAlgn="ctr"/>
                      <a:r>
                        <a:rPr lang="pt-BR" sz="900" b="0" i="0" u="none" strike="noStrike">
                          <a:solidFill>
                            <a:srgbClr val="000000"/>
                          </a:solidFill>
                          <a:effectLst/>
                          <a:latin typeface="Calibri"/>
                        </a:rPr>
                        <a:t>3,6%</a:t>
                      </a:r>
                    </a:p>
                  </a:txBody>
                  <a:tcPr marL="0" marR="0"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r>
              <a:tr h="188999">
                <a:tc>
                  <a:txBody>
                    <a:bodyPr/>
                    <a:lstStyle/>
                    <a:p>
                      <a:pPr algn="l" fontAlgn="b"/>
                      <a:r>
                        <a:rPr lang="pt-BR" sz="900" b="0" i="0" u="none" strike="noStrike">
                          <a:solidFill>
                            <a:srgbClr val="000000"/>
                          </a:solidFill>
                          <a:effectLst/>
                          <a:latin typeface="Calibri"/>
                        </a:rPr>
                        <a:t>CIELO</a:t>
                      </a:r>
                    </a:p>
                  </a:txBody>
                  <a:tcPr marL="0" marR="0" marT="0" marB="0" anchor="b">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ctr" fontAlgn="ctr"/>
                      <a:r>
                        <a:rPr lang="pt-BR" sz="900" b="0" i="0" u="none" strike="noStrike">
                          <a:solidFill>
                            <a:srgbClr val="000000"/>
                          </a:solidFill>
                          <a:effectLst/>
                          <a:latin typeface="Calibri"/>
                        </a:rPr>
                        <a:t>4</a:t>
                      </a:r>
                    </a:p>
                  </a:txBody>
                  <a:tcPr marL="0" marR="0"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ctr" fontAlgn="ctr"/>
                      <a:r>
                        <a:rPr lang="pt-BR" sz="900" b="0" i="0" u="none" strike="noStrike">
                          <a:solidFill>
                            <a:srgbClr val="000000"/>
                          </a:solidFill>
                          <a:effectLst/>
                          <a:latin typeface="Calibri"/>
                        </a:rPr>
                        <a:t>3,6%</a:t>
                      </a:r>
                    </a:p>
                  </a:txBody>
                  <a:tcPr marL="0" marR="0"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r>
              <a:tr h="188999">
                <a:tc>
                  <a:txBody>
                    <a:bodyPr/>
                    <a:lstStyle/>
                    <a:p>
                      <a:pPr algn="l" fontAlgn="b"/>
                      <a:r>
                        <a:rPr lang="pt-BR" sz="900" b="0" i="0" u="none" strike="noStrike">
                          <a:solidFill>
                            <a:srgbClr val="000000"/>
                          </a:solidFill>
                          <a:effectLst/>
                          <a:latin typeface="Calibri"/>
                        </a:rPr>
                        <a:t>ITAÚ</a:t>
                      </a:r>
                    </a:p>
                  </a:txBody>
                  <a:tcPr marL="0" marR="0" marT="0" marB="0" anchor="b">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ctr" fontAlgn="ctr"/>
                      <a:r>
                        <a:rPr lang="pt-BR" sz="900" b="0" i="0" u="none" strike="noStrike">
                          <a:solidFill>
                            <a:srgbClr val="000000"/>
                          </a:solidFill>
                          <a:effectLst/>
                          <a:latin typeface="Calibri"/>
                        </a:rPr>
                        <a:t>4</a:t>
                      </a:r>
                    </a:p>
                  </a:txBody>
                  <a:tcPr marL="0" marR="0"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ctr" fontAlgn="ctr"/>
                      <a:r>
                        <a:rPr lang="pt-BR" sz="900" b="0" i="0" u="none" strike="noStrike">
                          <a:solidFill>
                            <a:srgbClr val="000000"/>
                          </a:solidFill>
                          <a:effectLst/>
                          <a:latin typeface="Calibri"/>
                        </a:rPr>
                        <a:t>3,6%</a:t>
                      </a:r>
                    </a:p>
                  </a:txBody>
                  <a:tcPr marL="0" marR="0"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r>
              <a:tr h="188999">
                <a:tc>
                  <a:txBody>
                    <a:bodyPr/>
                    <a:lstStyle/>
                    <a:p>
                      <a:pPr algn="l" fontAlgn="b"/>
                      <a:r>
                        <a:rPr lang="pt-BR" sz="900" b="0" i="0" u="none" strike="noStrike">
                          <a:solidFill>
                            <a:srgbClr val="000000"/>
                          </a:solidFill>
                          <a:effectLst/>
                          <a:latin typeface="Calibri"/>
                        </a:rPr>
                        <a:t>REDECARD</a:t>
                      </a:r>
                    </a:p>
                  </a:txBody>
                  <a:tcPr marL="0" marR="0" marT="0" marB="0" anchor="b">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a:rPr>
                        <a:t>4</a:t>
                      </a:r>
                    </a:p>
                  </a:txBody>
                  <a:tcPr marL="0" marR="0" marT="0" marB="0" anchor="b">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ctr" fontAlgn="ctr"/>
                      <a:r>
                        <a:rPr lang="pt-BR" sz="900" b="0" i="0" u="none" strike="noStrike">
                          <a:solidFill>
                            <a:srgbClr val="000000"/>
                          </a:solidFill>
                          <a:effectLst/>
                          <a:latin typeface="Calibri"/>
                        </a:rPr>
                        <a:t>3,6%</a:t>
                      </a:r>
                    </a:p>
                  </a:txBody>
                  <a:tcPr marL="0" marR="0"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r>
              <a:tr h="188999">
                <a:tc>
                  <a:txBody>
                    <a:bodyPr/>
                    <a:lstStyle/>
                    <a:p>
                      <a:pPr algn="l" fontAlgn="b"/>
                      <a:r>
                        <a:rPr lang="pt-BR" sz="900" b="0" i="0" u="none" strike="noStrike">
                          <a:solidFill>
                            <a:srgbClr val="000000"/>
                          </a:solidFill>
                          <a:effectLst/>
                          <a:latin typeface="Calibri"/>
                        </a:rPr>
                        <a:t>NET</a:t>
                      </a:r>
                    </a:p>
                  </a:txBody>
                  <a:tcPr marL="0" marR="0" marT="0" marB="0" anchor="b">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a:rPr>
                        <a:t>3</a:t>
                      </a:r>
                    </a:p>
                  </a:txBody>
                  <a:tcPr marL="0" marR="0" marT="0" marB="0" anchor="b">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ctr" fontAlgn="ctr"/>
                      <a:r>
                        <a:rPr lang="pt-BR" sz="900" b="0" i="0" u="none" strike="noStrike">
                          <a:solidFill>
                            <a:srgbClr val="000000"/>
                          </a:solidFill>
                          <a:effectLst/>
                          <a:latin typeface="Calibri"/>
                        </a:rPr>
                        <a:t>2,7%</a:t>
                      </a:r>
                    </a:p>
                  </a:txBody>
                  <a:tcPr marL="0" marR="0"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r>
              <a:tr h="188999">
                <a:tc>
                  <a:txBody>
                    <a:bodyPr/>
                    <a:lstStyle/>
                    <a:p>
                      <a:pPr algn="l" fontAlgn="b"/>
                      <a:r>
                        <a:rPr lang="pt-BR" sz="900" b="0" i="0" u="none" strike="noStrike">
                          <a:solidFill>
                            <a:srgbClr val="000000"/>
                          </a:solidFill>
                          <a:effectLst/>
                          <a:latin typeface="Calibri"/>
                        </a:rPr>
                        <a:t>CLARO</a:t>
                      </a:r>
                    </a:p>
                  </a:txBody>
                  <a:tcPr marL="0" marR="0" marT="0" marB="0" anchor="b">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a:rPr>
                        <a:t>3</a:t>
                      </a:r>
                    </a:p>
                  </a:txBody>
                  <a:tcPr marL="0" marR="0" marT="0" marB="0" anchor="b">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ctr" fontAlgn="ctr"/>
                      <a:r>
                        <a:rPr lang="pt-BR" sz="900" b="0" i="0" u="none" strike="noStrike">
                          <a:solidFill>
                            <a:srgbClr val="000000"/>
                          </a:solidFill>
                          <a:effectLst/>
                          <a:latin typeface="Calibri"/>
                        </a:rPr>
                        <a:t>2,7%</a:t>
                      </a:r>
                    </a:p>
                  </a:txBody>
                  <a:tcPr marL="0" marR="0"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r>
              <a:tr h="188999">
                <a:tc>
                  <a:txBody>
                    <a:bodyPr/>
                    <a:lstStyle/>
                    <a:p>
                      <a:pPr algn="l" fontAlgn="b"/>
                      <a:r>
                        <a:rPr lang="pt-BR" sz="900" b="0" i="0" u="none" strike="noStrike">
                          <a:solidFill>
                            <a:srgbClr val="000000"/>
                          </a:solidFill>
                          <a:effectLst/>
                          <a:latin typeface="Calibri"/>
                        </a:rPr>
                        <a:t>VIVO</a:t>
                      </a:r>
                    </a:p>
                  </a:txBody>
                  <a:tcPr marL="0" marR="0" marT="0" marB="0" anchor="b">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a:rPr>
                        <a:t>3</a:t>
                      </a:r>
                    </a:p>
                  </a:txBody>
                  <a:tcPr marL="0" marR="0" marT="0" marB="0" anchor="b">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ctr" fontAlgn="ctr"/>
                      <a:r>
                        <a:rPr lang="pt-BR" sz="900" b="0" i="0" u="none" strike="noStrike">
                          <a:solidFill>
                            <a:srgbClr val="000000"/>
                          </a:solidFill>
                          <a:effectLst/>
                          <a:latin typeface="Calibri"/>
                        </a:rPr>
                        <a:t>2,7%</a:t>
                      </a:r>
                    </a:p>
                  </a:txBody>
                  <a:tcPr marL="0" marR="0"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r>
              <a:tr h="188999">
                <a:tc>
                  <a:txBody>
                    <a:bodyPr/>
                    <a:lstStyle/>
                    <a:p>
                      <a:pPr algn="l" fontAlgn="b"/>
                      <a:r>
                        <a:rPr lang="pt-BR" sz="900" b="0" i="0" u="none" strike="noStrike">
                          <a:solidFill>
                            <a:srgbClr val="000000"/>
                          </a:solidFill>
                          <a:effectLst/>
                          <a:latin typeface="Calibri"/>
                        </a:rPr>
                        <a:t>TOYOTA</a:t>
                      </a:r>
                    </a:p>
                  </a:txBody>
                  <a:tcPr marL="0" marR="0" marT="0" marB="0" anchor="b">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a:rPr>
                        <a:t>2</a:t>
                      </a:r>
                    </a:p>
                  </a:txBody>
                  <a:tcPr marL="0" marR="0" marT="0" marB="0" anchor="b">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ctr" fontAlgn="ctr"/>
                      <a:r>
                        <a:rPr lang="pt-BR" sz="900" b="0" i="0" u="none" strike="noStrike">
                          <a:solidFill>
                            <a:srgbClr val="000000"/>
                          </a:solidFill>
                          <a:effectLst/>
                          <a:latin typeface="Calibri"/>
                        </a:rPr>
                        <a:t>1,8%</a:t>
                      </a:r>
                    </a:p>
                  </a:txBody>
                  <a:tcPr marL="0" marR="0"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r>
              <a:tr h="188999">
                <a:tc>
                  <a:txBody>
                    <a:bodyPr/>
                    <a:lstStyle/>
                    <a:p>
                      <a:pPr algn="l" fontAlgn="b"/>
                      <a:r>
                        <a:rPr lang="pt-BR" sz="900" b="0" i="0" u="none" strike="noStrike">
                          <a:solidFill>
                            <a:srgbClr val="000000"/>
                          </a:solidFill>
                          <a:effectLst/>
                          <a:latin typeface="Calibri"/>
                        </a:rPr>
                        <a:t>VOLKSWAGEN</a:t>
                      </a:r>
                    </a:p>
                  </a:txBody>
                  <a:tcPr marL="0" marR="0" marT="0" marB="0" anchor="b">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a:rPr>
                        <a:t>2</a:t>
                      </a:r>
                    </a:p>
                  </a:txBody>
                  <a:tcPr marL="0" marR="0" marT="0" marB="0" anchor="b">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ctr" fontAlgn="ctr"/>
                      <a:r>
                        <a:rPr lang="pt-BR" sz="900" b="0" i="0" u="none" strike="noStrike">
                          <a:solidFill>
                            <a:srgbClr val="000000"/>
                          </a:solidFill>
                          <a:effectLst/>
                          <a:latin typeface="Calibri"/>
                        </a:rPr>
                        <a:t>1,8%</a:t>
                      </a:r>
                    </a:p>
                  </a:txBody>
                  <a:tcPr marL="0" marR="0"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r>
              <a:tr h="188999">
                <a:tc>
                  <a:txBody>
                    <a:bodyPr/>
                    <a:lstStyle/>
                    <a:p>
                      <a:pPr algn="l" fontAlgn="b"/>
                      <a:r>
                        <a:rPr lang="pt-BR" sz="900" b="0" i="0" u="none" strike="noStrike">
                          <a:solidFill>
                            <a:srgbClr val="000000"/>
                          </a:solidFill>
                          <a:effectLst/>
                          <a:latin typeface="Calibri"/>
                        </a:rPr>
                        <a:t>TICKET</a:t>
                      </a:r>
                    </a:p>
                  </a:txBody>
                  <a:tcPr marL="0" marR="0" marT="0" marB="0" anchor="b">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a:rPr>
                        <a:t>1</a:t>
                      </a:r>
                    </a:p>
                  </a:txBody>
                  <a:tcPr marL="0" marR="0" marT="0" marB="0" anchor="b">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ctr" fontAlgn="ctr"/>
                      <a:r>
                        <a:rPr lang="pt-BR" sz="900" b="0" i="0" u="none" strike="noStrike">
                          <a:solidFill>
                            <a:srgbClr val="000000"/>
                          </a:solidFill>
                          <a:effectLst/>
                          <a:latin typeface="Calibri"/>
                        </a:rPr>
                        <a:t>0,9%</a:t>
                      </a:r>
                    </a:p>
                  </a:txBody>
                  <a:tcPr marL="0" marR="0"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r>
              <a:tr h="188999">
                <a:tc>
                  <a:txBody>
                    <a:bodyPr/>
                    <a:lstStyle/>
                    <a:p>
                      <a:pPr algn="l" fontAlgn="b"/>
                      <a:r>
                        <a:rPr lang="pt-BR" sz="900" b="0" i="0" u="none" strike="noStrike">
                          <a:solidFill>
                            <a:srgbClr val="000000"/>
                          </a:solidFill>
                          <a:effectLst/>
                          <a:latin typeface="Calibri"/>
                        </a:rPr>
                        <a:t>CITIBANK</a:t>
                      </a:r>
                    </a:p>
                  </a:txBody>
                  <a:tcPr marL="0" marR="0" marT="0" marB="0" anchor="b">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a:rPr>
                        <a:t>1</a:t>
                      </a:r>
                    </a:p>
                  </a:txBody>
                  <a:tcPr marL="0" marR="0" marT="0" marB="0" anchor="b">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ctr" fontAlgn="ctr"/>
                      <a:r>
                        <a:rPr lang="pt-BR" sz="900" b="0" i="0" u="none" strike="noStrike">
                          <a:solidFill>
                            <a:srgbClr val="000000"/>
                          </a:solidFill>
                          <a:effectLst/>
                          <a:latin typeface="Calibri"/>
                        </a:rPr>
                        <a:t>0,9%</a:t>
                      </a:r>
                    </a:p>
                  </a:txBody>
                  <a:tcPr marL="0" marR="0"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r>
              <a:tr h="188999">
                <a:tc>
                  <a:txBody>
                    <a:bodyPr/>
                    <a:lstStyle/>
                    <a:p>
                      <a:pPr algn="l" fontAlgn="b"/>
                      <a:r>
                        <a:rPr lang="pt-BR" sz="900" b="0" i="0" u="none" strike="noStrike">
                          <a:solidFill>
                            <a:srgbClr val="000000"/>
                          </a:solidFill>
                          <a:effectLst/>
                          <a:latin typeface="Calibri"/>
                        </a:rPr>
                        <a:t>SOUZACRUZ</a:t>
                      </a:r>
                    </a:p>
                  </a:txBody>
                  <a:tcPr marL="0" marR="0" marT="0" marB="0" anchor="b">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a:rPr>
                        <a:t>1</a:t>
                      </a:r>
                    </a:p>
                  </a:txBody>
                  <a:tcPr marL="0" marR="0" marT="0" marB="0" anchor="b">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ctr" fontAlgn="ctr"/>
                      <a:r>
                        <a:rPr lang="pt-BR" sz="900" b="0" i="0" u="none" strike="noStrike">
                          <a:solidFill>
                            <a:srgbClr val="000000"/>
                          </a:solidFill>
                          <a:effectLst/>
                          <a:latin typeface="Calibri"/>
                        </a:rPr>
                        <a:t>0,9%</a:t>
                      </a:r>
                    </a:p>
                  </a:txBody>
                  <a:tcPr marL="0" marR="0"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r>
              <a:tr h="188999">
                <a:tc>
                  <a:txBody>
                    <a:bodyPr/>
                    <a:lstStyle/>
                    <a:p>
                      <a:pPr algn="l" fontAlgn="b"/>
                      <a:r>
                        <a:rPr lang="pt-BR" sz="900" b="0" i="0" u="none" strike="noStrike">
                          <a:solidFill>
                            <a:srgbClr val="000000"/>
                          </a:solidFill>
                          <a:effectLst/>
                          <a:latin typeface="Calibri"/>
                        </a:rPr>
                        <a:t>PREFEITURA RJ</a:t>
                      </a:r>
                    </a:p>
                  </a:txBody>
                  <a:tcPr marL="0" marR="0" marT="0" marB="0" anchor="b">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ctr" fontAlgn="b"/>
                      <a:r>
                        <a:rPr lang="pt-BR" sz="900" b="0" i="0" u="none" strike="noStrike">
                          <a:solidFill>
                            <a:srgbClr val="000000"/>
                          </a:solidFill>
                          <a:effectLst/>
                          <a:latin typeface="Calibri"/>
                        </a:rPr>
                        <a:t>1</a:t>
                      </a:r>
                    </a:p>
                  </a:txBody>
                  <a:tcPr marL="0" marR="0" marT="0" marB="0" anchor="b">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ctr" fontAlgn="ctr"/>
                      <a:r>
                        <a:rPr lang="pt-BR" sz="900" b="0" i="0" u="none" strike="noStrike">
                          <a:solidFill>
                            <a:srgbClr val="000000"/>
                          </a:solidFill>
                          <a:effectLst/>
                          <a:latin typeface="Calibri"/>
                        </a:rPr>
                        <a:t>0,9%</a:t>
                      </a:r>
                    </a:p>
                  </a:txBody>
                  <a:tcPr marL="0" marR="0"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r>
              <a:tr h="188999">
                <a:tc>
                  <a:txBody>
                    <a:bodyPr/>
                    <a:lstStyle/>
                    <a:p>
                      <a:pPr algn="l" fontAlgn="b"/>
                      <a:r>
                        <a:rPr lang="pt-BR" sz="900" b="1" i="0" u="none" strike="noStrike">
                          <a:solidFill>
                            <a:srgbClr val="000000"/>
                          </a:solidFill>
                          <a:effectLst/>
                          <a:latin typeface="Calibri"/>
                        </a:rPr>
                        <a:t>Total Geral</a:t>
                      </a:r>
                    </a:p>
                  </a:txBody>
                  <a:tcPr marL="0" marR="0" marT="0" marB="0" anchor="b">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8DB4E2"/>
                    </a:solidFill>
                  </a:tcPr>
                </a:tc>
                <a:tc>
                  <a:txBody>
                    <a:bodyPr/>
                    <a:lstStyle/>
                    <a:p>
                      <a:pPr algn="ctr" fontAlgn="b"/>
                      <a:r>
                        <a:rPr lang="pt-BR" sz="900" b="1" i="0" u="none" strike="noStrike" dirty="0">
                          <a:solidFill>
                            <a:srgbClr val="000000"/>
                          </a:solidFill>
                          <a:effectLst/>
                          <a:latin typeface="Calibri"/>
                        </a:rPr>
                        <a:t>110</a:t>
                      </a:r>
                    </a:p>
                  </a:txBody>
                  <a:tcPr marL="0" marR="0" marT="0" marB="0" anchor="b">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8DB4E2"/>
                    </a:solidFill>
                  </a:tcPr>
                </a:tc>
                <a:tc>
                  <a:txBody>
                    <a:bodyPr/>
                    <a:lstStyle/>
                    <a:p>
                      <a:pPr algn="ctr" fontAlgn="ctr"/>
                      <a:r>
                        <a:rPr lang="pt-BR" sz="900" b="1" i="0" u="none" strike="noStrike" dirty="0">
                          <a:solidFill>
                            <a:srgbClr val="000000"/>
                          </a:solidFill>
                          <a:effectLst/>
                          <a:latin typeface="Calibri"/>
                        </a:rPr>
                        <a:t>100,0%</a:t>
                      </a:r>
                    </a:p>
                  </a:txBody>
                  <a:tcPr marL="0" marR="0"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8DB4E2"/>
                    </a:solidFill>
                  </a:tcPr>
                </a:tc>
              </a:tr>
            </a:tbl>
          </a:graphicData>
        </a:graphic>
      </p:graphicFrame>
      <p:graphicFrame>
        <p:nvGraphicFramePr>
          <p:cNvPr id="3" name="Tabela 2"/>
          <p:cNvGraphicFramePr>
            <a:graphicFrameLocks noGrp="1"/>
          </p:cNvGraphicFramePr>
          <p:nvPr>
            <p:extLst>
              <p:ext uri="{D42A27DB-BD31-4B8C-83A1-F6EECF244321}">
                <p14:modId xmlns:p14="http://schemas.microsoft.com/office/powerpoint/2010/main" val="3366755985"/>
              </p:ext>
            </p:extLst>
          </p:nvPr>
        </p:nvGraphicFramePr>
        <p:xfrm>
          <a:off x="5081153" y="1553631"/>
          <a:ext cx="3200400" cy="1000125"/>
        </p:xfrm>
        <a:graphic>
          <a:graphicData uri="http://schemas.openxmlformats.org/drawingml/2006/table">
            <a:tbl>
              <a:tblPr/>
              <a:tblGrid>
                <a:gridCol w="1295400"/>
                <a:gridCol w="1295400"/>
                <a:gridCol w="609600"/>
              </a:tblGrid>
              <a:tr h="200025">
                <a:tc>
                  <a:txBody>
                    <a:bodyPr/>
                    <a:lstStyle/>
                    <a:p>
                      <a:pPr algn="ctr" fontAlgn="ctr"/>
                      <a:r>
                        <a:rPr lang="pt-BR" sz="1000" b="1" i="0" u="none" strike="noStrike">
                          <a:solidFill>
                            <a:srgbClr val="FFFFFF"/>
                          </a:solidFill>
                          <a:effectLst/>
                          <a:latin typeface="Calibri"/>
                        </a:rPr>
                        <a:t>OI</a:t>
                      </a:r>
                    </a:p>
                  </a:txBody>
                  <a:tcPr marL="0" marR="0"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184E82"/>
                    </a:solidFill>
                  </a:tcPr>
                </a:tc>
                <a:tc>
                  <a:txBody>
                    <a:bodyPr/>
                    <a:lstStyle/>
                    <a:p>
                      <a:pPr algn="ctr" fontAlgn="ctr"/>
                      <a:r>
                        <a:rPr lang="pt-BR" sz="1000" b="1" i="0" u="none" strike="noStrike">
                          <a:solidFill>
                            <a:srgbClr val="FFFFFF"/>
                          </a:solidFill>
                          <a:effectLst/>
                          <a:latin typeface="Calibri"/>
                        </a:rPr>
                        <a:t>Quantidade</a:t>
                      </a:r>
                    </a:p>
                  </a:txBody>
                  <a:tcPr marL="0" marR="0"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184E82"/>
                    </a:solidFill>
                  </a:tcPr>
                </a:tc>
                <a:tc>
                  <a:txBody>
                    <a:bodyPr/>
                    <a:lstStyle/>
                    <a:p>
                      <a:pPr algn="ctr" fontAlgn="ctr"/>
                      <a:r>
                        <a:rPr lang="pt-BR" sz="1000" b="0" i="0" u="none" strike="noStrike">
                          <a:solidFill>
                            <a:srgbClr val="FFFFFF"/>
                          </a:solidFill>
                          <a:effectLst/>
                          <a:latin typeface="Calibri"/>
                        </a:rPr>
                        <a:t>%</a:t>
                      </a:r>
                    </a:p>
                  </a:txBody>
                  <a:tcPr marL="0" marR="0"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184E82"/>
                    </a:solidFill>
                  </a:tcPr>
                </a:tc>
              </a:tr>
              <a:tr h="200025">
                <a:tc>
                  <a:txBody>
                    <a:bodyPr/>
                    <a:lstStyle/>
                    <a:p>
                      <a:pPr algn="l" fontAlgn="b"/>
                      <a:r>
                        <a:rPr lang="pt-BR" sz="1000" b="0" i="0" u="none" strike="noStrike">
                          <a:solidFill>
                            <a:srgbClr val="000000"/>
                          </a:solidFill>
                          <a:effectLst/>
                          <a:latin typeface="Calibri"/>
                        </a:rPr>
                        <a:t>Contax</a:t>
                      </a:r>
                    </a:p>
                  </a:txBody>
                  <a:tcPr marL="0" marR="0" marT="0" marB="0" anchor="b">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ctr" fontAlgn="ctr"/>
                      <a:r>
                        <a:rPr lang="pt-BR" sz="1000" b="0" i="0" u="none" strike="noStrike">
                          <a:solidFill>
                            <a:srgbClr val="000000"/>
                          </a:solidFill>
                          <a:effectLst/>
                          <a:latin typeface="Calibri"/>
                        </a:rPr>
                        <a:t>32</a:t>
                      </a:r>
                    </a:p>
                  </a:txBody>
                  <a:tcPr marL="0" marR="0"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ctr" fontAlgn="ctr"/>
                      <a:r>
                        <a:rPr lang="pt-BR" sz="1000" b="0" i="0" u="none" strike="noStrike">
                          <a:solidFill>
                            <a:srgbClr val="000000"/>
                          </a:solidFill>
                          <a:effectLst/>
                          <a:latin typeface="Calibri"/>
                        </a:rPr>
                        <a:t>51,6%</a:t>
                      </a:r>
                    </a:p>
                  </a:txBody>
                  <a:tcPr marL="0" marR="0"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r>
              <a:tr h="200025">
                <a:tc>
                  <a:txBody>
                    <a:bodyPr/>
                    <a:lstStyle/>
                    <a:p>
                      <a:pPr algn="l" fontAlgn="b"/>
                      <a:r>
                        <a:rPr lang="pt-BR" sz="1000" b="0" i="0" u="none" strike="noStrike">
                          <a:solidFill>
                            <a:srgbClr val="000000"/>
                          </a:solidFill>
                          <a:effectLst/>
                          <a:latin typeface="Calibri"/>
                        </a:rPr>
                        <a:t>Suporte Cliente</a:t>
                      </a:r>
                    </a:p>
                  </a:txBody>
                  <a:tcPr marL="0" marR="0" marT="0" marB="0" anchor="b">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ctr" fontAlgn="ctr"/>
                      <a:r>
                        <a:rPr lang="pt-BR" sz="1000" b="0" i="0" u="none" strike="noStrike">
                          <a:solidFill>
                            <a:srgbClr val="000000"/>
                          </a:solidFill>
                          <a:effectLst/>
                          <a:latin typeface="Calibri"/>
                        </a:rPr>
                        <a:t>25</a:t>
                      </a:r>
                    </a:p>
                  </a:txBody>
                  <a:tcPr marL="0" marR="0"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ctr" fontAlgn="ctr"/>
                      <a:r>
                        <a:rPr lang="pt-BR" sz="1000" b="0" i="0" u="none" strike="noStrike">
                          <a:solidFill>
                            <a:srgbClr val="000000"/>
                          </a:solidFill>
                          <a:effectLst/>
                          <a:latin typeface="Calibri"/>
                        </a:rPr>
                        <a:t>40,3%</a:t>
                      </a:r>
                    </a:p>
                  </a:txBody>
                  <a:tcPr marL="0" marR="0"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r>
              <a:tr h="200025">
                <a:tc>
                  <a:txBody>
                    <a:bodyPr/>
                    <a:lstStyle/>
                    <a:p>
                      <a:pPr algn="l" fontAlgn="b"/>
                      <a:r>
                        <a:rPr lang="pt-BR" sz="1000" b="0" i="0" u="none" strike="noStrike">
                          <a:solidFill>
                            <a:srgbClr val="000000"/>
                          </a:solidFill>
                          <a:effectLst/>
                          <a:latin typeface="Calibri"/>
                        </a:rPr>
                        <a:t>Fornecedor Contax</a:t>
                      </a:r>
                    </a:p>
                  </a:txBody>
                  <a:tcPr marL="0" marR="0" marT="0" marB="0" anchor="b">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ctr" fontAlgn="ctr"/>
                      <a:r>
                        <a:rPr lang="pt-BR" sz="1000" b="0" i="0" u="none" strike="noStrike">
                          <a:solidFill>
                            <a:srgbClr val="000000"/>
                          </a:solidFill>
                          <a:effectLst/>
                          <a:latin typeface="Calibri"/>
                        </a:rPr>
                        <a:t>5</a:t>
                      </a:r>
                    </a:p>
                  </a:txBody>
                  <a:tcPr marL="0" marR="0"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gn="ctr" fontAlgn="ctr"/>
                      <a:r>
                        <a:rPr lang="pt-BR" sz="1000" b="0" i="0" u="none" strike="noStrike">
                          <a:solidFill>
                            <a:srgbClr val="000000"/>
                          </a:solidFill>
                          <a:effectLst/>
                          <a:latin typeface="Calibri"/>
                        </a:rPr>
                        <a:t>8,1%</a:t>
                      </a:r>
                    </a:p>
                  </a:txBody>
                  <a:tcPr marL="0" marR="0"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r>
              <a:tr h="200025">
                <a:tc>
                  <a:txBody>
                    <a:bodyPr/>
                    <a:lstStyle/>
                    <a:p>
                      <a:pPr algn="l" fontAlgn="b"/>
                      <a:r>
                        <a:rPr lang="pt-BR" sz="1000" b="1" i="0" u="none" strike="noStrike">
                          <a:solidFill>
                            <a:srgbClr val="000000"/>
                          </a:solidFill>
                          <a:effectLst/>
                          <a:latin typeface="Calibri"/>
                        </a:rPr>
                        <a:t>Total Geral</a:t>
                      </a:r>
                    </a:p>
                  </a:txBody>
                  <a:tcPr marL="0" marR="0" marT="0" marB="0" anchor="b">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8DB4E2"/>
                    </a:solidFill>
                  </a:tcPr>
                </a:tc>
                <a:tc>
                  <a:txBody>
                    <a:bodyPr/>
                    <a:lstStyle/>
                    <a:p>
                      <a:pPr algn="ctr" fontAlgn="b"/>
                      <a:r>
                        <a:rPr lang="pt-BR" sz="1000" b="1" i="0" u="none" strike="noStrike">
                          <a:solidFill>
                            <a:srgbClr val="000000"/>
                          </a:solidFill>
                          <a:effectLst/>
                          <a:latin typeface="Calibri"/>
                        </a:rPr>
                        <a:t>62</a:t>
                      </a:r>
                    </a:p>
                  </a:txBody>
                  <a:tcPr marL="0" marR="0" marT="0" marB="0" anchor="b">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8DB4E2"/>
                    </a:solidFill>
                  </a:tcPr>
                </a:tc>
                <a:tc>
                  <a:txBody>
                    <a:bodyPr/>
                    <a:lstStyle/>
                    <a:p>
                      <a:pPr algn="ctr" fontAlgn="ctr"/>
                      <a:r>
                        <a:rPr lang="pt-BR" sz="1000" b="1" i="0" u="none" strike="noStrike" dirty="0">
                          <a:solidFill>
                            <a:srgbClr val="000000"/>
                          </a:solidFill>
                          <a:effectLst/>
                          <a:latin typeface="Calibri"/>
                        </a:rPr>
                        <a:t>100,0%</a:t>
                      </a:r>
                    </a:p>
                  </a:txBody>
                  <a:tcPr marL="0" marR="0"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8DB4E2"/>
                    </a:solidFill>
                  </a:tcPr>
                </a:tc>
              </a:tr>
            </a:tbl>
          </a:graphicData>
        </a:graphic>
      </p:graphicFrame>
      <p:sp>
        <p:nvSpPr>
          <p:cNvPr id="14" name="Title 1"/>
          <p:cNvSpPr txBox="1">
            <a:spLocks/>
          </p:cNvSpPr>
          <p:nvPr/>
        </p:nvSpPr>
        <p:spPr>
          <a:xfrm>
            <a:off x="1606309" y="649041"/>
            <a:ext cx="5723417" cy="432259"/>
          </a:xfrm>
          <a:prstGeom prst="roundRect">
            <a:avLst/>
          </a:prstGeom>
          <a:effectLst>
            <a:outerShdw blurRad="50800" dist="38100" dir="2700000" algn="tl" rotWithShape="0">
              <a:prstClr val="black">
                <a:alpha val="40000"/>
              </a:prstClr>
            </a:outerShdw>
          </a:effectLst>
        </p:spPr>
        <p:style>
          <a:lnRef idx="1">
            <a:schemeClr val="accent4"/>
          </a:lnRef>
          <a:fillRef idx="2">
            <a:schemeClr val="accent4"/>
          </a:fillRef>
          <a:effectRef idx="1">
            <a:schemeClr val="accent4"/>
          </a:effectRef>
          <a:fontRef idx="minor">
            <a:schemeClr val="dk1"/>
          </a:fontRef>
        </p:style>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buClr>
                <a:srgbClr val="800000"/>
              </a:buClr>
            </a:pPr>
            <a:r>
              <a:rPr lang="pt-BR" sz="2000" b="1" dirty="0" smtClean="0">
                <a:latin typeface="Arial" pitchFamily="34" charset="0"/>
                <a:cs typeface="Arial" pitchFamily="34" charset="0"/>
              </a:rPr>
              <a:t>Dados para suportar Plano Estratégico de TI</a:t>
            </a:r>
            <a:endParaRPr lang="pt-BR" sz="1400" b="1" dirty="0">
              <a:latin typeface="Arial" pitchFamily="34" charset="0"/>
              <a:cs typeface="Arial" pitchFamily="34" charset="0"/>
            </a:endParaRPr>
          </a:p>
        </p:txBody>
      </p:sp>
    </p:spTree>
    <p:extLst>
      <p:ext uri="{BB962C8B-B14F-4D97-AF65-F5344CB8AC3E}">
        <p14:creationId xmlns:p14="http://schemas.microsoft.com/office/powerpoint/2010/main" val="1680928617"/>
      </p:ext>
    </p:extLst>
  </p:cSld>
  <p:clrMapOvr>
    <a:masterClrMapping/>
  </p:clrMapOvr>
  <mc:AlternateContent xmlns:mc="http://schemas.openxmlformats.org/markup-compatibility/2006">
    <mc:Choice xmlns:p14="http://schemas.microsoft.com/office/powerpoint/2010/main" Requires="p14">
      <p:transition p14:dur="250">
        <p14:reveal/>
      </p:transition>
    </mc:Choice>
    <mc:Fallback>
      <p:transition>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 name="Gráfico 19"/>
          <p:cNvGraphicFramePr/>
          <p:nvPr>
            <p:extLst/>
          </p:nvPr>
        </p:nvGraphicFramePr>
        <p:xfrm>
          <a:off x="2463615" y="482729"/>
          <a:ext cx="3952678" cy="2530238"/>
        </p:xfrm>
        <a:graphic>
          <a:graphicData uri="http://schemas.openxmlformats.org/drawingml/2006/chart">
            <c:chart xmlns:c="http://schemas.openxmlformats.org/drawingml/2006/chart" xmlns:r="http://schemas.openxmlformats.org/officeDocument/2006/relationships" r:id="rId3"/>
          </a:graphicData>
        </a:graphic>
      </p:graphicFrame>
      <p:pic>
        <p:nvPicPr>
          <p:cNvPr id="7171" name="Picture 9"/>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021514" y="291307"/>
            <a:ext cx="1603375"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2" name="Picture 2"/>
          <p:cNvPicPr>
            <a:picLocks noChangeAspect="1" noChangeArrowheads="1"/>
          </p:cNvPicPr>
          <p:nvPr/>
        </p:nvPicPr>
        <p:blipFill>
          <a:blip r:embed="rId5">
            <a:extLst>
              <a:ext uri="{28A0092B-C50C-407E-A947-70E740481C1C}">
                <a14:useLocalDpi xmlns:a14="http://schemas.microsoft.com/office/drawing/2010/main" val="0"/>
              </a:ext>
            </a:extLst>
          </a:blip>
          <a:srcRect l="76781" t="78172" r="18394" b="12686"/>
          <a:stretch>
            <a:fillRect/>
          </a:stretch>
        </p:blipFill>
        <p:spPr bwMode="auto">
          <a:xfrm>
            <a:off x="8188326" y="4382295"/>
            <a:ext cx="955675" cy="7635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3" name="Picture 1" descr="t03-02.jpg"/>
          <p:cNvPicPr>
            <a:picLocks noChangeAspect="1"/>
          </p:cNvPicPr>
          <p:nvPr/>
        </p:nvPicPr>
        <p:blipFill>
          <a:blip r:embed="rId6">
            <a:extLst>
              <a:ext uri="{28A0092B-C50C-407E-A947-70E740481C1C}">
                <a14:useLocalDpi xmlns:a14="http://schemas.microsoft.com/office/drawing/2010/main" val="0"/>
              </a:ext>
            </a:extLst>
          </a:blip>
          <a:srcRect r="91368" b="84909"/>
          <a:stretch>
            <a:fillRect/>
          </a:stretch>
        </p:blipFill>
        <p:spPr bwMode="auto">
          <a:xfrm>
            <a:off x="0" y="2381"/>
            <a:ext cx="788988" cy="77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2" name="Picture 2">
            <a:hlinkClick r:id="rId7" action="ppaction://hlinksldjump"/>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11574" y="3345774"/>
            <a:ext cx="2529124" cy="16279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603" name="Picture 3">
            <a:hlinkClick r:id="rId9" action="ppaction://hlinksldjump"/>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41911" y="3345774"/>
            <a:ext cx="2340488" cy="10410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604" name="Picture 4">
            <a:hlinkClick r:id="rId11" action="ppaction://hlinksldjump"/>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83611" y="3345675"/>
            <a:ext cx="2529124" cy="89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 name="Conector angulado 5"/>
          <p:cNvCxnSpPr>
            <a:endCxn id="25602" idx="0"/>
          </p:cNvCxnSpPr>
          <p:nvPr/>
        </p:nvCxnSpPr>
        <p:spPr>
          <a:xfrm>
            <a:off x="5682399" y="1776845"/>
            <a:ext cx="1593737" cy="1568929"/>
          </a:xfrm>
          <a:prstGeom prst="bentConnector2">
            <a:avLst/>
          </a:prstGeom>
          <a:ln>
            <a:solidFill>
              <a:schemeClr val="accent1">
                <a:lumMod val="50000"/>
              </a:schemeClr>
            </a:solidFill>
            <a:tailEnd type="arrow"/>
          </a:ln>
        </p:spPr>
        <p:style>
          <a:lnRef idx="3">
            <a:schemeClr val="accent1"/>
          </a:lnRef>
          <a:fillRef idx="0">
            <a:schemeClr val="accent1"/>
          </a:fillRef>
          <a:effectRef idx="2">
            <a:schemeClr val="accent1"/>
          </a:effectRef>
          <a:fontRef idx="minor">
            <a:schemeClr val="tx1"/>
          </a:fontRef>
        </p:style>
      </p:cxnSp>
      <p:cxnSp>
        <p:nvCxnSpPr>
          <p:cNvPr id="8" name="Conector angulado 7"/>
          <p:cNvCxnSpPr>
            <a:endCxn id="25604" idx="0"/>
          </p:cNvCxnSpPr>
          <p:nvPr/>
        </p:nvCxnSpPr>
        <p:spPr>
          <a:xfrm rot="10800000" flipV="1">
            <a:off x="1748173" y="1776845"/>
            <a:ext cx="1593738" cy="1568830"/>
          </a:xfrm>
          <a:prstGeom prst="bentConnector2">
            <a:avLst/>
          </a:prstGeom>
          <a:ln>
            <a:solidFill>
              <a:srgbClr val="FF0000"/>
            </a:solidFill>
            <a:tailEnd type="arrow"/>
          </a:ln>
        </p:spPr>
        <p:style>
          <a:lnRef idx="3">
            <a:schemeClr val="accent1"/>
          </a:lnRef>
          <a:fillRef idx="0">
            <a:schemeClr val="accent1"/>
          </a:fillRef>
          <a:effectRef idx="2">
            <a:schemeClr val="accent1"/>
          </a:effectRef>
          <a:fontRef idx="minor">
            <a:schemeClr val="tx1"/>
          </a:fontRef>
        </p:style>
      </p:cxnSp>
      <p:cxnSp>
        <p:nvCxnSpPr>
          <p:cNvPr id="12" name="Conector de seta reta 11"/>
          <p:cNvCxnSpPr>
            <a:endCxn id="25603" idx="0"/>
          </p:cNvCxnSpPr>
          <p:nvPr/>
        </p:nvCxnSpPr>
        <p:spPr>
          <a:xfrm>
            <a:off x="4512155" y="3012967"/>
            <a:ext cx="0" cy="332807"/>
          </a:xfrm>
          <a:prstGeom prst="straightConnector1">
            <a:avLst/>
          </a:prstGeom>
          <a:ln>
            <a:solidFill>
              <a:schemeClr val="bg1">
                <a:lumMod val="50000"/>
              </a:schemeClr>
            </a:solidFill>
            <a:tailEnd type="arrow"/>
          </a:ln>
        </p:spPr>
        <p:style>
          <a:lnRef idx="3">
            <a:schemeClr val="accent1"/>
          </a:lnRef>
          <a:fillRef idx="0">
            <a:schemeClr val="accent1"/>
          </a:fillRef>
          <a:effectRef idx="2">
            <a:schemeClr val="accent1"/>
          </a:effectRef>
          <a:fontRef idx="minor">
            <a:schemeClr val="tx1"/>
          </a:fontRef>
        </p:style>
      </p:cxnSp>
      <p:sp>
        <p:nvSpPr>
          <p:cNvPr id="32" name="TextBox 4"/>
          <p:cNvSpPr txBox="1">
            <a:spLocks noChangeArrowheads="1"/>
          </p:cNvSpPr>
          <p:nvPr/>
        </p:nvSpPr>
        <p:spPr bwMode="auto">
          <a:xfrm>
            <a:off x="525925" y="-31723"/>
            <a:ext cx="649559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cs typeface="Arial" pitchFamily="34" charset="0"/>
              </a:defRPr>
            </a:lvl1pPr>
            <a:lvl2pPr marL="742950" indent="-285750" eaLnBrk="0" hangingPunct="0">
              <a:defRPr>
                <a:solidFill>
                  <a:schemeClr val="tx1"/>
                </a:solidFill>
                <a:latin typeface="Calibri" pitchFamily="34" charset="0"/>
                <a:cs typeface="Arial" pitchFamily="34" charset="0"/>
              </a:defRPr>
            </a:lvl2pPr>
            <a:lvl3pPr marL="1143000" indent="-228600" eaLnBrk="0" hangingPunct="0">
              <a:defRPr>
                <a:solidFill>
                  <a:schemeClr val="tx1"/>
                </a:solidFill>
                <a:latin typeface="Calibri" pitchFamily="34" charset="0"/>
                <a:cs typeface="Arial" pitchFamily="34" charset="0"/>
              </a:defRPr>
            </a:lvl3pPr>
            <a:lvl4pPr marL="1600200" indent="-228600" eaLnBrk="0" hangingPunct="0">
              <a:defRPr>
                <a:solidFill>
                  <a:schemeClr val="tx1"/>
                </a:solidFill>
                <a:latin typeface="Calibri" pitchFamily="34" charset="0"/>
                <a:cs typeface="Arial" pitchFamily="34" charset="0"/>
              </a:defRPr>
            </a:lvl4pPr>
            <a:lvl5pPr marL="2057400" indent="-228600" eaLnBrk="0" hangingPunct="0">
              <a:defRPr>
                <a:solidFill>
                  <a:schemeClr val="tx1"/>
                </a:solidFill>
                <a:latin typeface="Calibri" pitchFamily="34" charset="0"/>
                <a:cs typeface="Arial" pitchFamily="34" charset="0"/>
              </a:defRPr>
            </a:lvl5pPr>
            <a:lvl6pPr marL="2514600" indent="-228600" defTabSz="457200" eaLnBrk="0" fontAlgn="base" hangingPunct="0">
              <a:spcBef>
                <a:spcPct val="0"/>
              </a:spcBef>
              <a:spcAft>
                <a:spcPct val="0"/>
              </a:spcAft>
              <a:defRPr>
                <a:solidFill>
                  <a:schemeClr val="tx1"/>
                </a:solidFill>
                <a:latin typeface="Calibri" pitchFamily="34" charset="0"/>
                <a:cs typeface="Arial" pitchFamily="34" charset="0"/>
              </a:defRPr>
            </a:lvl6pPr>
            <a:lvl7pPr marL="2971800" indent="-228600" defTabSz="457200" eaLnBrk="0" fontAlgn="base" hangingPunct="0">
              <a:spcBef>
                <a:spcPct val="0"/>
              </a:spcBef>
              <a:spcAft>
                <a:spcPct val="0"/>
              </a:spcAft>
              <a:defRPr>
                <a:solidFill>
                  <a:schemeClr val="tx1"/>
                </a:solidFill>
                <a:latin typeface="Calibri" pitchFamily="34" charset="0"/>
                <a:cs typeface="Arial" pitchFamily="34" charset="0"/>
              </a:defRPr>
            </a:lvl7pPr>
            <a:lvl8pPr marL="3429000" indent="-228600" defTabSz="457200" eaLnBrk="0" fontAlgn="base" hangingPunct="0">
              <a:spcBef>
                <a:spcPct val="0"/>
              </a:spcBef>
              <a:spcAft>
                <a:spcPct val="0"/>
              </a:spcAft>
              <a:defRPr>
                <a:solidFill>
                  <a:schemeClr val="tx1"/>
                </a:solidFill>
                <a:latin typeface="Calibri" pitchFamily="34" charset="0"/>
                <a:cs typeface="Arial" pitchFamily="34" charset="0"/>
              </a:defRPr>
            </a:lvl8pPr>
            <a:lvl9pPr marL="3886200" indent="-228600" defTabSz="457200" eaLnBrk="0" fontAlgn="base" hangingPunct="0">
              <a:spcBef>
                <a:spcPct val="0"/>
              </a:spcBef>
              <a:spcAft>
                <a:spcPct val="0"/>
              </a:spcAft>
              <a:defRPr>
                <a:solidFill>
                  <a:schemeClr val="tx1"/>
                </a:solidFill>
                <a:latin typeface="Calibri" pitchFamily="34" charset="0"/>
                <a:cs typeface="Arial" pitchFamily="34" charset="0"/>
              </a:defRPr>
            </a:lvl9pPr>
          </a:lstStyle>
          <a:p>
            <a:pPr eaLnBrk="1" hangingPunct="1"/>
            <a:r>
              <a:rPr lang="pt-BR" sz="2400" b="1" dirty="0">
                <a:solidFill>
                  <a:schemeClr val="accent1">
                    <a:lumMod val="50000"/>
                  </a:schemeClr>
                </a:solidFill>
              </a:rPr>
              <a:t>5</a:t>
            </a:r>
            <a:r>
              <a:rPr lang="pt-BR" sz="2400" b="1" dirty="0" smtClean="0">
                <a:solidFill>
                  <a:schemeClr val="accent1">
                    <a:lumMod val="50000"/>
                  </a:schemeClr>
                </a:solidFill>
              </a:rPr>
              <a:t>. Incidentes </a:t>
            </a:r>
            <a:r>
              <a:rPr lang="pt-BR" sz="2400" b="1" dirty="0">
                <a:solidFill>
                  <a:schemeClr val="accent1">
                    <a:lumMod val="50000"/>
                  </a:schemeClr>
                </a:solidFill>
              </a:rPr>
              <a:t>Alto </a:t>
            </a:r>
            <a:r>
              <a:rPr lang="pt-BR" sz="2400" b="1" dirty="0" smtClean="0">
                <a:solidFill>
                  <a:schemeClr val="accent1">
                    <a:lumMod val="50000"/>
                  </a:schemeClr>
                </a:solidFill>
              </a:rPr>
              <a:t>Impacto - por </a:t>
            </a:r>
            <a:r>
              <a:rPr lang="pt-BR" sz="2400" b="1" dirty="0" err="1" smtClean="0">
                <a:solidFill>
                  <a:schemeClr val="accent1">
                    <a:lumMod val="50000"/>
                  </a:schemeClr>
                </a:solidFill>
              </a:rPr>
              <a:t>resolvedor</a:t>
            </a:r>
            <a:endParaRPr lang="pt-BR" sz="2400" b="1" dirty="0">
              <a:solidFill>
                <a:schemeClr val="accent1">
                  <a:lumMod val="50000"/>
                </a:schemeClr>
              </a:solidFill>
            </a:endParaRPr>
          </a:p>
        </p:txBody>
      </p:sp>
      <p:sp>
        <p:nvSpPr>
          <p:cNvPr id="13" name="CaixaDeTexto 12"/>
          <p:cNvSpPr txBox="1"/>
          <p:nvPr/>
        </p:nvSpPr>
        <p:spPr>
          <a:xfrm>
            <a:off x="1" y="4880883"/>
            <a:ext cx="5871160" cy="246221"/>
          </a:xfrm>
          <a:prstGeom prst="rect">
            <a:avLst/>
          </a:prstGeom>
          <a:noFill/>
          <a:scene3d>
            <a:camera prst="orthographicFront"/>
            <a:lightRig rig="threePt" dir="t"/>
          </a:scene3d>
          <a:sp3d>
            <a:bevelT w="114300" prst="artDeco"/>
            <a:bevelB/>
          </a:sp3d>
        </p:spPr>
        <p:txBody>
          <a:bodyPr wrap="square" rtlCol="0">
            <a:spAutoFit/>
          </a:bodyPr>
          <a:lstStyle/>
          <a:p>
            <a:pPr algn="just"/>
            <a:r>
              <a:rPr lang="pt-BR" sz="1000" dirty="0">
                <a:solidFill>
                  <a:schemeClr val="bg1">
                    <a:lumMod val="65000"/>
                  </a:schemeClr>
                </a:solidFill>
              </a:rPr>
              <a:t>Informações retiradas dos indicadores de SLA e </a:t>
            </a:r>
            <a:r>
              <a:rPr lang="pt-BR" sz="1000" dirty="0" err="1">
                <a:solidFill>
                  <a:schemeClr val="bg1">
                    <a:lumMod val="65000"/>
                  </a:schemeClr>
                </a:solidFill>
              </a:rPr>
              <a:t>tProcess</a:t>
            </a:r>
            <a:r>
              <a:rPr lang="pt-BR" sz="1000" dirty="0">
                <a:solidFill>
                  <a:schemeClr val="bg1">
                    <a:lumMod val="65000"/>
                  </a:schemeClr>
                </a:solidFill>
              </a:rPr>
              <a:t>! referentes ao período de </a:t>
            </a:r>
            <a:r>
              <a:rPr lang="pt-BR" sz="1000" dirty="0" smtClean="0">
                <a:solidFill>
                  <a:schemeClr val="bg1">
                    <a:lumMod val="65000"/>
                  </a:schemeClr>
                </a:solidFill>
              </a:rPr>
              <a:t>01/06 </a:t>
            </a:r>
            <a:r>
              <a:rPr lang="pt-BR" sz="1000" dirty="0">
                <a:solidFill>
                  <a:schemeClr val="bg1">
                    <a:lumMod val="65000"/>
                  </a:schemeClr>
                </a:solidFill>
              </a:rPr>
              <a:t>a </a:t>
            </a:r>
            <a:r>
              <a:rPr lang="pt-BR" sz="1000" dirty="0" smtClean="0">
                <a:solidFill>
                  <a:schemeClr val="bg1">
                    <a:lumMod val="65000"/>
                  </a:schemeClr>
                </a:solidFill>
              </a:rPr>
              <a:t>20/06.</a:t>
            </a:r>
            <a:endParaRPr lang="pt-BR" dirty="0">
              <a:solidFill>
                <a:schemeClr val="bg1">
                  <a:lumMod val="65000"/>
                </a:schemeClr>
              </a:solidFill>
            </a:endParaRPr>
          </a:p>
        </p:txBody>
      </p:sp>
    </p:spTree>
    <p:extLst>
      <p:ext uri="{BB962C8B-B14F-4D97-AF65-F5344CB8AC3E}">
        <p14:creationId xmlns:p14="http://schemas.microsoft.com/office/powerpoint/2010/main" val="4099817385"/>
      </p:ext>
    </p:extLst>
  </p:cSld>
  <p:clrMapOvr>
    <a:masterClrMapping/>
  </p:clrMapOvr>
  <mc:AlternateContent xmlns:mc="http://schemas.openxmlformats.org/markup-compatibility/2006">
    <mc:Choice xmlns:p14="http://schemas.microsoft.com/office/powerpoint/2010/main" Requires="p14">
      <p:transition p14:dur="250">
        <p14:reveal/>
      </p:transition>
    </mc:Choice>
    <mc:Fallback>
      <p:transition>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1" name="Picture 9"/>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021514" y="291307"/>
            <a:ext cx="1603375"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2" name="Picture 2"/>
          <p:cNvPicPr>
            <a:picLocks noChangeAspect="1" noChangeArrowheads="1"/>
          </p:cNvPicPr>
          <p:nvPr/>
        </p:nvPicPr>
        <p:blipFill>
          <a:blip r:embed="rId3">
            <a:extLst>
              <a:ext uri="{28A0092B-C50C-407E-A947-70E740481C1C}">
                <a14:useLocalDpi xmlns:a14="http://schemas.microsoft.com/office/drawing/2010/main" val="0"/>
              </a:ext>
            </a:extLst>
          </a:blip>
          <a:srcRect l="76781" t="78172" r="18394" b="12686"/>
          <a:stretch>
            <a:fillRect/>
          </a:stretch>
        </p:blipFill>
        <p:spPr bwMode="auto">
          <a:xfrm>
            <a:off x="8188326" y="4382295"/>
            <a:ext cx="955675" cy="7635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3" name="Picture 1" descr="t03-02.jpg"/>
          <p:cNvPicPr>
            <a:picLocks noChangeAspect="1"/>
          </p:cNvPicPr>
          <p:nvPr/>
        </p:nvPicPr>
        <p:blipFill>
          <a:blip r:embed="rId4">
            <a:extLst>
              <a:ext uri="{28A0092B-C50C-407E-A947-70E740481C1C}">
                <a14:useLocalDpi xmlns:a14="http://schemas.microsoft.com/office/drawing/2010/main" val="0"/>
              </a:ext>
            </a:extLst>
          </a:blip>
          <a:srcRect r="91368" b="84909"/>
          <a:stretch>
            <a:fillRect/>
          </a:stretch>
        </p:blipFill>
        <p:spPr bwMode="auto">
          <a:xfrm>
            <a:off x="0" y="2381"/>
            <a:ext cx="788988" cy="77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69" name="Botão de ação: Voltar ou Anterior 7168">
            <a:hlinkClick r:id="" action="ppaction://hlinkshowjump?jump=previousslide" highlightClick="1"/>
          </p:cNvPr>
          <p:cNvSpPr>
            <a:spLocks noChangeAspect="1"/>
          </p:cNvSpPr>
          <p:nvPr/>
        </p:nvSpPr>
        <p:spPr>
          <a:xfrm>
            <a:off x="7418718" y="4808073"/>
            <a:ext cx="745306" cy="192494"/>
          </a:xfrm>
          <a:prstGeom prst="actionButtonBackPrevious">
            <a:avLst/>
          </a:prstGeom>
          <a:scene3d>
            <a:camera prst="orthographicFront"/>
            <a:lightRig rig="threePt" dir="t"/>
          </a:scene3d>
          <a:sp3d>
            <a:bevelT w="0" h="0"/>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23" name="Retângulo 22">
            <a:hlinkClick r:id="" action="ppaction://noaction"/>
          </p:cNvPr>
          <p:cNvSpPr/>
          <p:nvPr/>
        </p:nvSpPr>
        <p:spPr>
          <a:xfrm>
            <a:off x="3286242" y="2951034"/>
            <a:ext cx="569493" cy="96603"/>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pic>
        <p:nvPicPr>
          <p:cNvPr id="2662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9828" y="2644527"/>
            <a:ext cx="2529124" cy="22147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628" name="Picture 4">
            <a:hlinkClick r:id="rId6" action="ppaction://hlinksldjump"/>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76583" y="2644527"/>
            <a:ext cx="2340488" cy="1334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629" name="Picture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94702" y="2644527"/>
            <a:ext cx="2529124" cy="1481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3" name="Conector angulado 2"/>
          <p:cNvCxnSpPr>
            <a:endCxn id="26627" idx="0"/>
          </p:cNvCxnSpPr>
          <p:nvPr/>
        </p:nvCxnSpPr>
        <p:spPr>
          <a:xfrm rot="5400000">
            <a:off x="2614523" y="715625"/>
            <a:ext cx="1048770" cy="2809035"/>
          </a:xfrm>
          <a:prstGeom prst="bentConnector3">
            <a:avLst/>
          </a:prstGeom>
          <a:ln>
            <a:solidFill>
              <a:srgbClr val="19345B"/>
            </a:solidFill>
            <a:tailEnd type="arrow"/>
          </a:ln>
        </p:spPr>
        <p:style>
          <a:lnRef idx="3">
            <a:schemeClr val="accent1"/>
          </a:lnRef>
          <a:fillRef idx="0">
            <a:schemeClr val="accent1"/>
          </a:fillRef>
          <a:effectRef idx="2">
            <a:schemeClr val="accent1"/>
          </a:effectRef>
          <a:fontRef idx="minor">
            <a:schemeClr val="tx1"/>
          </a:fontRef>
        </p:style>
      </p:cxnSp>
      <p:cxnSp>
        <p:nvCxnSpPr>
          <p:cNvPr id="5" name="Conector angulado 4"/>
          <p:cNvCxnSpPr>
            <a:endCxn id="26629" idx="0"/>
          </p:cNvCxnSpPr>
          <p:nvPr/>
        </p:nvCxnSpPr>
        <p:spPr>
          <a:xfrm rot="16200000" flipH="1">
            <a:off x="5426959" y="712222"/>
            <a:ext cx="1048770" cy="2815839"/>
          </a:xfrm>
          <a:prstGeom prst="bentConnector3">
            <a:avLst/>
          </a:prstGeom>
          <a:ln>
            <a:solidFill>
              <a:srgbClr val="19345B"/>
            </a:solidFill>
            <a:tailEnd type="arrow"/>
          </a:ln>
        </p:spPr>
        <p:style>
          <a:lnRef idx="3">
            <a:schemeClr val="accent1"/>
          </a:lnRef>
          <a:fillRef idx="0">
            <a:schemeClr val="accent1"/>
          </a:fillRef>
          <a:effectRef idx="2">
            <a:schemeClr val="accent1"/>
          </a:effectRef>
          <a:fontRef idx="minor">
            <a:schemeClr val="tx1"/>
          </a:fontRef>
        </p:style>
      </p:cxnSp>
      <p:cxnSp>
        <p:nvCxnSpPr>
          <p:cNvPr id="7" name="Conector angulado 6"/>
          <p:cNvCxnSpPr>
            <a:endCxn id="26628" idx="0"/>
          </p:cNvCxnSpPr>
          <p:nvPr/>
        </p:nvCxnSpPr>
        <p:spPr>
          <a:xfrm rot="16200000" flipH="1">
            <a:off x="4020741" y="2118441"/>
            <a:ext cx="1048770" cy="3402"/>
          </a:xfrm>
          <a:prstGeom prst="bentConnector3">
            <a:avLst/>
          </a:prstGeom>
          <a:ln>
            <a:solidFill>
              <a:srgbClr val="19345B"/>
            </a:solidFill>
            <a:tailEnd type="arrow"/>
          </a:ln>
        </p:spPr>
        <p:style>
          <a:lnRef idx="3">
            <a:schemeClr val="accent1"/>
          </a:lnRef>
          <a:fillRef idx="0">
            <a:schemeClr val="accent1"/>
          </a:fillRef>
          <a:effectRef idx="2">
            <a:schemeClr val="accent1"/>
          </a:effectRef>
          <a:fontRef idx="minor">
            <a:schemeClr val="tx1"/>
          </a:fontRef>
        </p:style>
      </p:cxnSp>
      <p:pic>
        <p:nvPicPr>
          <p:cNvPr id="26630" name="Picture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33661" y="1386207"/>
            <a:ext cx="3819525" cy="209550"/>
          </a:xfrm>
          <a:prstGeom prst="rect">
            <a:avLst/>
          </a:prstGeom>
          <a:noFill/>
          <a:ln>
            <a:noFill/>
          </a:ln>
          <a:effectLst/>
          <a:scene3d>
            <a:camera prst="orthographicFront">
              <a:rot lat="0" lon="0" rev="0"/>
            </a:camera>
            <a:lightRig rig="contrasting" dir="t">
              <a:rot lat="0" lon="0" rev="7800000"/>
            </a:lightRig>
          </a:scene3d>
          <a:sp3d>
            <a:bevelT w="139700" h="139700"/>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8" name="Title 1"/>
          <p:cNvSpPr txBox="1">
            <a:spLocks/>
          </p:cNvSpPr>
          <p:nvPr/>
        </p:nvSpPr>
        <p:spPr>
          <a:xfrm>
            <a:off x="758032" y="44006"/>
            <a:ext cx="6254098" cy="432259"/>
          </a:xfrm>
          <a:prstGeom prst="rect">
            <a:avLst/>
          </a:prstGeom>
          <a:scene3d>
            <a:camera prst="orthographicFront"/>
            <a:lightRig rig="threePt" dir="t"/>
          </a:scene3d>
          <a:sp3d>
            <a:bevelT w="114300" prst="artDeco"/>
            <a:bevelB/>
          </a:sp3d>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buClr>
                <a:srgbClr val="800000"/>
              </a:buClr>
            </a:pPr>
            <a:r>
              <a:rPr lang="pt-BR" sz="2400" b="1" dirty="0" smtClean="0">
                <a:solidFill>
                  <a:schemeClr val="tx2"/>
                </a:solidFill>
                <a:latin typeface="Arial" pitchFamily="34" charset="0"/>
                <a:cs typeface="Arial" pitchFamily="34" charset="0"/>
              </a:rPr>
              <a:t>5.1. Contax</a:t>
            </a:r>
            <a:endParaRPr lang="pt-BR" sz="1600" b="1" dirty="0">
              <a:solidFill>
                <a:schemeClr val="tx2"/>
              </a:solidFill>
              <a:latin typeface="Arial" pitchFamily="34" charset="0"/>
              <a:cs typeface="Arial" pitchFamily="34" charset="0"/>
            </a:endParaRPr>
          </a:p>
        </p:txBody>
      </p:sp>
      <p:sp>
        <p:nvSpPr>
          <p:cNvPr id="15" name="CaixaDeTexto 14"/>
          <p:cNvSpPr txBox="1"/>
          <p:nvPr/>
        </p:nvSpPr>
        <p:spPr>
          <a:xfrm>
            <a:off x="1" y="4848225"/>
            <a:ext cx="5871160" cy="246221"/>
          </a:xfrm>
          <a:prstGeom prst="rect">
            <a:avLst/>
          </a:prstGeom>
          <a:noFill/>
          <a:scene3d>
            <a:camera prst="orthographicFront"/>
            <a:lightRig rig="threePt" dir="t"/>
          </a:scene3d>
          <a:sp3d>
            <a:bevelT w="114300" prst="artDeco"/>
            <a:bevelB/>
          </a:sp3d>
        </p:spPr>
        <p:txBody>
          <a:bodyPr wrap="square" rtlCol="0">
            <a:spAutoFit/>
          </a:bodyPr>
          <a:lstStyle/>
          <a:p>
            <a:pPr algn="just"/>
            <a:r>
              <a:rPr lang="pt-BR" sz="1000" dirty="0">
                <a:solidFill>
                  <a:schemeClr val="bg1">
                    <a:lumMod val="65000"/>
                  </a:schemeClr>
                </a:solidFill>
              </a:rPr>
              <a:t>Informações retiradas dos indicadores de SLA e </a:t>
            </a:r>
            <a:r>
              <a:rPr lang="pt-BR" sz="1000" dirty="0" err="1">
                <a:solidFill>
                  <a:schemeClr val="bg1">
                    <a:lumMod val="65000"/>
                  </a:schemeClr>
                </a:solidFill>
              </a:rPr>
              <a:t>tProcess</a:t>
            </a:r>
            <a:r>
              <a:rPr lang="pt-BR" sz="1000" dirty="0">
                <a:solidFill>
                  <a:schemeClr val="bg1">
                    <a:lumMod val="65000"/>
                  </a:schemeClr>
                </a:solidFill>
              </a:rPr>
              <a:t>! referentes ao período de </a:t>
            </a:r>
            <a:r>
              <a:rPr lang="pt-BR" sz="1000" dirty="0" smtClean="0">
                <a:solidFill>
                  <a:schemeClr val="bg1">
                    <a:lumMod val="65000"/>
                  </a:schemeClr>
                </a:solidFill>
              </a:rPr>
              <a:t>01/06 </a:t>
            </a:r>
            <a:r>
              <a:rPr lang="pt-BR" sz="1000" dirty="0">
                <a:solidFill>
                  <a:schemeClr val="bg1">
                    <a:lumMod val="65000"/>
                  </a:schemeClr>
                </a:solidFill>
              </a:rPr>
              <a:t>a </a:t>
            </a:r>
            <a:r>
              <a:rPr lang="pt-BR" sz="1000" dirty="0" smtClean="0">
                <a:solidFill>
                  <a:schemeClr val="bg1">
                    <a:lumMod val="65000"/>
                  </a:schemeClr>
                </a:solidFill>
              </a:rPr>
              <a:t>20/06.</a:t>
            </a:r>
            <a:endParaRPr lang="pt-BR" dirty="0">
              <a:solidFill>
                <a:schemeClr val="bg1">
                  <a:lumMod val="65000"/>
                </a:schemeClr>
              </a:solidFill>
            </a:endParaRPr>
          </a:p>
        </p:txBody>
      </p:sp>
      <p:sp>
        <p:nvSpPr>
          <p:cNvPr id="17" name="Title 1"/>
          <p:cNvSpPr txBox="1">
            <a:spLocks/>
          </p:cNvSpPr>
          <p:nvPr/>
        </p:nvSpPr>
        <p:spPr>
          <a:xfrm>
            <a:off x="1955459" y="673703"/>
            <a:ext cx="5723417" cy="432259"/>
          </a:xfrm>
          <a:prstGeom prst="roundRect">
            <a:avLst/>
          </a:prstGeom>
          <a:effectLst>
            <a:outerShdw blurRad="50800" dist="38100" dir="2700000" algn="tl" rotWithShape="0">
              <a:prstClr val="black">
                <a:alpha val="40000"/>
              </a:prstClr>
            </a:outerShdw>
          </a:effectLst>
        </p:spPr>
        <p:style>
          <a:lnRef idx="1">
            <a:schemeClr val="accent4"/>
          </a:lnRef>
          <a:fillRef idx="2">
            <a:schemeClr val="accent4"/>
          </a:fillRef>
          <a:effectRef idx="1">
            <a:schemeClr val="accent4"/>
          </a:effectRef>
          <a:fontRef idx="minor">
            <a:schemeClr val="dk1"/>
          </a:fontRef>
        </p:style>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buClr>
                <a:srgbClr val="800000"/>
              </a:buClr>
            </a:pPr>
            <a:r>
              <a:rPr lang="pt-BR" sz="2000" b="1" dirty="0" smtClean="0">
                <a:latin typeface="Arial" pitchFamily="34" charset="0"/>
                <a:cs typeface="Arial" pitchFamily="34" charset="0"/>
              </a:rPr>
              <a:t>Dados para suportar Plano Estratégico de TI</a:t>
            </a:r>
            <a:endParaRPr lang="pt-BR" sz="1400" b="1" dirty="0">
              <a:latin typeface="Arial" pitchFamily="34" charset="0"/>
              <a:cs typeface="Arial" pitchFamily="34" charset="0"/>
            </a:endParaRPr>
          </a:p>
        </p:txBody>
      </p:sp>
    </p:spTree>
    <p:extLst>
      <p:ext uri="{BB962C8B-B14F-4D97-AF65-F5344CB8AC3E}">
        <p14:creationId xmlns:p14="http://schemas.microsoft.com/office/powerpoint/2010/main" val="2716128312"/>
      </p:ext>
    </p:extLst>
  </p:cSld>
  <p:clrMapOvr>
    <a:masterClrMapping/>
  </p:clrMapOvr>
  <mc:AlternateContent xmlns:mc="http://schemas.openxmlformats.org/markup-compatibility/2006">
    <mc:Choice xmlns:p14="http://schemas.microsoft.com/office/powerpoint/2010/main" Requires="p14">
      <p:transition p14:dur="250">
        <p14:reveal/>
      </p:transition>
    </mc:Choice>
    <mc:Fallback>
      <p:transition>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1" name="Picture 9"/>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021514" y="291307"/>
            <a:ext cx="1603375"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2" name="Picture 2"/>
          <p:cNvPicPr>
            <a:picLocks noChangeAspect="1" noChangeArrowheads="1"/>
          </p:cNvPicPr>
          <p:nvPr/>
        </p:nvPicPr>
        <p:blipFill>
          <a:blip r:embed="rId3">
            <a:extLst>
              <a:ext uri="{28A0092B-C50C-407E-A947-70E740481C1C}">
                <a14:useLocalDpi xmlns:a14="http://schemas.microsoft.com/office/drawing/2010/main" val="0"/>
              </a:ext>
            </a:extLst>
          </a:blip>
          <a:srcRect l="76781" t="78172" r="18394" b="12686"/>
          <a:stretch>
            <a:fillRect/>
          </a:stretch>
        </p:blipFill>
        <p:spPr bwMode="auto">
          <a:xfrm>
            <a:off x="8188326" y="4382295"/>
            <a:ext cx="955675" cy="7635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3" name="Picture 1" descr="t03-02.jpg"/>
          <p:cNvPicPr>
            <a:picLocks noChangeAspect="1"/>
          </p:cNvPicPr>
          <p:nvPr/>
        </p:nvPicPr>
        <p:blipFill>
          <a:blip r:embed="rId4">
            <a:extLst>
              <a:ext uri="{28A0092B-C50C-407E-A947-70E740481C1C}">
                <a14:useLocalDpi xmlns:a14="http://schemas.microsoft.com/office/drawing/2010/main" val="0"/>
              </a:ext>
            </a:extLst>
          </a:blip>
          <a:srcRect r="91368" b="84909"/>
          <a:stretch>
            <a:fillRect/>
          </a:stretch>
        </p:blipFill>
        <p:spPr bwMode="auto">
          <a:xfrm>
            <a:off x="0" y="2381"/>
            <a:ext cx="788988" cy="77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69" name="Botão de ação: Voltar ou Anterior 7168">
            <a:hlinkClick r:id="" action="ppaction://hlinkshowjump?jump=previousslide" highlightClick="1"/>
          </p:cNvPr>
          <p:cNvSpPr>
            <a:spLocks noChangeAspect="1"/>
          </p:cNvSpPr>
          <p:nvPr/>
        </p:nvSpPr>
        <p:spPr>
          <a:xfrm>
            <a:off x="7418718" y="4808073"/>
            <a:ext cx="745306" cy="192494"/>
          </a:xfrm>
          <a:prstGeom prst="actionButtonBackPrevious">
            <a:avLst/>
          </a:prstGeom>
          <a:scene3d>
            <a:camera prst="orthographicFront"/>
            <a:lightRig rig="threePt" dir="t"/>
          </a:scene3d>
          <a:sp3d>
            <a:bevelT w="0" h="0"/>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28" name="Title 1"/>
          <p:cNvSpPr txBox="1">
            <a:spLocks/>
          </p:cNvSpPr>
          <p:nvPr/>
        </p:nvSpPr>
        <p:spPr>
          <a:xfrm>
            <a:off x="758032" y="44006"/>
            <a:ext cx="6254098" cy="432259"/>
          </a:xfrm>
          <a:prstGeom prst="rect">
            <a:avLst/>
          </a:prstGeom>
          <a:scene3d>
            <a:camera prst="orthographicFront"/>
            <a:lightRig rig="threePt" dir="t"/>
          </a:scene3d>
          <a:sp3d>
            <a:bevelT w="114300" prst="artDeco"/>
            <a:bevelB/>
          </a:sp3d>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buClr>
                <a:srgbClr val="800000"/>
              </a:buClr>
            </a:pPr>
            <a:r>
              <a:rPr lang="pt-BR" sz="2400" b="1" dirty="0" smtClean="0">
                <a:solidFill>
                  <a:schemeClr val="tx2"/>
                </a:solidFill>
                <a:latin typeface="Arial" pitchFamily="34" charset="0"/>
                <a:cs typeface="Arial" pitchFamily="34" charset="0"/>
              </a:rPr>
              <a:t>5.1. Gestão de Mudanças</a:t>
            </a:r>
            <a:endParaRPr lang="pt-BR" sz="1600" b="1" dirty="0">
              <a:solidFill>
                <a:schemeClr val="tx2"/>
              </a:solidFill>
              <a:latin typeface="Arial" pitchFamily="34" charset="0"/>
              <a:cs typeface="Arial" pitchFamily="34" charset="0"/>
            </a:endParaRPr>
          </a:p>
        </p:txBody>
      </p:sp>
      <p:pic>
        <p:nvPicPr>
          <p:cNvPr id="2" name="Imagem 1"/>
          <p:cNvPicPr>
            <a:picLocks noChangeAspect="1"/>
          </p:cNvPicPr>
          <p:nvPr/>
        </p:nvPicPr>
        <p:blipFill>
          <a:blip r:embed="rId5"/>
          <a:stretch>
            <a:fillRect/>
          </a:stretch>
        </p:blipFill>
        <p:spPr>
          <a:xfrm>
            <a:off x="70554" y="1394714"/>
            <a:ext cx="8997246" cy="3045542"/>
          </a:xfrm>
          <a:prstGeom prst="rect">
            <a:avLst/>
          </a:prstGeom>
        </p:spPr>
      </p:pic>
      <p:sp>
        <p:nvSpPr>
          <p:cNvPr id="8" name="Retângulo 7"/>
          <p:cNvSpPr/>
          <p:nvPr/>
        </p:nvSpPr>
        <p:spPr>
          <a:xfrm>
            <a:off x="2025701" y="923115"/>
            <a:ext cx="4771306" cy="369332"/>
          </a:xfrm>
          <a:prstGeom prst="rect">
            <a:avLst/>
          </a:prstGeom>
        </p:spPr>
        <p:txBody>
          <a:bodyPr wrap="none">
            <a:spAutoFit/>
          </a:bodyPr>
          <a:lstStyle/>
          <a:p>
            <a:r>
              <a:rPr lang="pt-BR" b="1" dirty="0">
                <a:solidFill>
                  <a:schemeClr val="tx2"/>
                </a:solidFill>
                <a:latin typeface="Arial" pitchFamily="34" charset="0"/>
                <a:ea typeface="+mj-ea"/>
                <a:cs typeface="Arial" pitchFamily="34" charset="0"/>
              </a:rPr>
              <a:t>Controle de Alerta no Ambiente Produtivo</a:t>
            </a:r>
          </a:p>
        </p:txBody>
      </p:sp>
    </p:spTree>
    <p:extLst>
      <p:ext uri="{BB962C8B-B14F-4D97-AF65-F5344CB8AC3E}">
        <p14:creationId xmlns:p14="http://schemas.microsoft.com/office/powerpoint/2010/main" val="2144896137"/>
      </p:ext>
    </p:extLst>
  </p:cSld>
  <p:clrMapOvr>
    <a:masterClrMapping/>
  </p:clrMapOvr>
  <mc:AlternateContent xmlns:mc="http://schemas.openxmlformats.org/markup-compatibility/2006">
    <mc:Choice xmlns:p14="http://schemas.microsoft.com/office/powerpoint/2010/main" Requires="p14">
      <p:transition p14:dur="250">
        <p14:reveal/>
      </p:transition>
    </mc:Choice>
    <mc:Fallback>
      <p:transition>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1" name="Picture 9"/>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021514" y="291307"/>
            <a:ext cx="1603375"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2" name="Picture 2"/>
          <p:cNvPicPr>
            <a:picLocks noChangeAspect="1" noChangeArrowheads="1"/>
          </p:cNvPicPr>
          <p:nvPr/>
        </p:nvPicPr>
        <p:blipFill>
          <a:blip r:embed="rId3">
            <a:extLst>
              <a:ext uri="{28A0092B-C50C-407E-A947-70E740481C1C}">
                <a14:useLocalDpi xmlns:a14="http://schemas.microsoft.com/office/drawing/2010/main" val="0"/>
              </a:ext>
            </a:extLst>
          </a:blip>
          <a:srcRect l="76781" t="78172" r="18394" b="12686"/>
          <a:stretch>
            <a:fillRect/>
          </a:stretch>
        </p:blipFill>
        <p:spPr bwMode="auto">
          <a:xfrm>
            <a:off x="8188326" y="4382295"/>
            <a:ext cx="955675" cy="7635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3" name="Picture 1" descr="t03-02.jpg"/>
          <p:cNvPicPr>
            <a:picLocks noChangeAspect="1"/>
          </p:cNvPicPr>
          <p:nvPr/>
        </p:nvPicPr>
        <p:blipFill>
          <a:blip r:embed="rId4">
            <a:extLst>
              <a:ext uri="{28A0092B-C50C-407E-A947-70E740481C1C}">
                <a14:useLocalDpi xmlns:a14="http://schemas.microsoft.com/office/drawing/2010/main" val="0"/>
              </a:ext>
            </a:extLst>
          </a:blip>
          <a:srcRect r="91368" b="84909"/>
          <a:stretch>
            <a:fillRect/>
          </a:stretch>
        </p:blipFill>
        <p:spPr bwMode="auto">
          <a:xfrm>
            <a:off x="0" y="2381"/>
            <a:ext cx="788988" cy="77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69" name="Botão de ação: Voltar ou Anterior 7168">
            <a:hlinkClick r:id="" action="ppaction://hlinkshowjump?jump=lastslideviewed" highlightClick="1"/>
          </p:cNvPr>
          <p:cNvSpPr>
            <a:spLocks noChangeAspect="1"/>
          </p:cNvSpPr>
          <p:nvPr/>
        </p:nvSpPr>
        <p:spPr>
          <a:xfrm>
            <a:off x="7418722" y="4876318"/>
            <a:ext cx="533476" cy="158373"/>
          </a:xfrm>
          <a:prstGeom prst="actionButtonBackPrevious">
            <a:avLst/>
          </a:prstGeom>
          <a:scene3d>
            <a:camera prst="orthographicFront"/>
            <a:lightRig rig="threePt" dir="t"/>
          </a:scene3d>
          <a:sp3d>
            <a:bevelT w="0" h="0"/>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pic>
        <p:nvPicPr>
          <p:cNvPr id="2765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00903" y="886066"/>
            <a:ext cx="3819525" cy="209550"/>
          </a:xfrm>
          <a:prstGeom prst="rect">
            <a:avLst/>
          </a:prstGeom>
          <a:noFill/>
          <a:ln>
            <a:noFill/>
          </a:ln>
          <a:effectLst/>
          <a:scene3d>
            <a:camera prst="orthographicFront">
              <a:rot lat="0" lon="0" rev="0"/>
            </a:camera>
            <a:lightRig rig="contrasting" dir="t">
              <a:rot lat="0" lon="0" rev="7800000"/>
            </a:lightRig>
          </a:scene3d>
          <a:sp3d>
            <a:bevelT w="139700" h="139700"/>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7653"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4340" y="2103860"/>
            <a:ext cx="2069284" cy="2772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7654"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46806" y="2103860"/>
            <a:ext cx="2127717" cy="546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7655"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70772" y="2103860"/>
            <a:ext cx="2299204" cy="546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4" name="Conector angulado 3"/>
          <p:cNvCxnSpPr>
            <a:stCxn id="27650" idx="2"/>
            <a:endCxn id="27653" idx="0"/>
          </p:cNvCxnSpPr>
          <p:nvPr/>
        </p:nvCxnSpPr>
        <p:spPr>
          <a:xfrm rot="5400000">
            <a:off x="2490702" y="83896"/>
            <a:ext cx="1008244" cy="3031684"/>
          </a:xfrm>
          <a:prstGeom prst="bentConnector3">
            <a:avLst/>
          </a:prstGeom>
          <a:ln>
            <a:solidFill>
              <a:srgbClr val="FF0000"/>
            </a:solidFill>
            <a:tailEnd type="arrow"/>
          </a:ln>
        </p:spPr>
        <p:style>
          <a:lnRef idx="3">
            <a:schemeClr val="accent1"/>
          </a:lnRef>
          <a:fillRef idx="0">
            <a:schemeClr val="accent1"/>
          </a:fillRef>
          <a:effectRef idx="2">
            <a:schemeClr val="accent1"/>
          </a:effectRef>
          <a:fontRef idx="minor">
            <a:schemeClr val="tx1"/>
          </a:fontRef>
        </p:style>
      </p:cxnSp>
      <p:cxnSp>
        <p:nvCxnSpPr>
          <p:cNvPr id="9" name="Conector angulado 8"/>
          <p:cNvCxnSpPr>
            <a:endCxn id="27654" idx="0"/>
          </p:cNvCxnSpPr>
          <p:nvPr/>
        </p:nvCxnSpPr>
        <p:spPr>
          <a:xfrm rot="16200000" flipH="1">
            <a:off x="4006542" y="1599737"/>
            <a:ext cx="1008244" cy="1"/>
          </a:xfrm>
          <a:prstGeom prst="bentConnector3">
            <a:avLst/>
          </a:prstGeom>
          <a:ln>
            <a:solidFill>
              <a:srgbClr val="FF0000"/>
            </a:solidFill>
            <a:tailEnd type="arrow"/>
          </a:ln>
        </p:spPr>
        <p:style>
          <a:lnRef idx="3">
            <a:schemeClr val="accent1"/>
          </a:lnRef>
          <a:fillRef idx="0">
            <a:schemeClr val="accent1"/>
          </a:fillRef>
          <a:effectRef idx="2">
            <a:schemeClr val="accent1"/>
          </a:effectRef>
          <a:fontRef idx="minor">
            <a:schemeClr val="tx1"/>
          </a:fontRef>
        </p:style>
      </p:cxnSp>
      <p:cxnSp>
        <p:nvCxnSpPr>
          <p:cNvPr id="12" name="Conector angulado 11"/>
          <p:cNvCxnSpPr>
            <a:stCxn id="27650" idx="2"/>
            <a:endCxn id="27655" idx="0"/>
          </p:cNvCxnSpPr>
          <p:nvPr/>
        </p:nvCxnSpPr>
        <p:spPr>
          <a:xfrm rot="16200000" flipH="1">
            <a:off x="5561398" y="44884"/>
            <a:ext cx="1008244" cy="3109708"/>
          </a:xfrm>
          <a:prstGeom prst="bentConnector3">
            <a:avLst/>
          </a:prstGeom>
          <a:ln>
            <a:solidFill>
              <a:srgbClr val="FF0000"/>
            </a:solidFill>
            <a:tailEnd type="arrow"/>
          </a:ln>
        </p:spPr>
        <p:style>
          <a:lnRef idx="3">
            <a:schemeClr val="accent1"/>
          </a:lnRef>
          <a:fillRef idx="0">
            <a:schemeClr val="accent1"/>
          </a:fillRef>
          <a:effectRef idx="2">
            <a:schemeClr val="accent1"/>
          </a:effectRef>
          <a:fontRef idx="minor">
            <a:schemeClr val="tx1"/>
          </a:fontRef>
        </p:style>
      </p:cxnSp>
      <p:sp>
        <p:nvSpPr>
          <p:cNvPr id="33" name="Title 1"/>
          <p:cNvSpPr txBox="1">
            <a:spLocks/>
          </p:cNvSpPr>
          <p:nvPr/>
        </p:nvSpPr>
        <p:spPr>
          <a:xfrm>
            <a:off x="758032" y="44006"/>
            <a:ext cx="6254098" cy="432259"/>
          </a:xfrm>
          <a:prstGeom prst="rect">
            <a:avLst/>
          </a:prstGeom>
          <a:scene3d>
            <a:camera prst="orthographicFront"/>
            <a:lightRig rig="threePt" dir="t"/>
          </a:scene3d>
          <a:sp3d>
            <a:bevelT w="114300" prst="artDeco"/>
            <a:bevelB/>
          </a:sp3d>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buClr>
                <a:srgbClr val="800000"/>
              </a:buClr>
            </a:pPr>
            <a:r>
              <a:rPr lang="pt-BR" sz="2400" b="1" dirty="0" smtClean="0">
                <a:solidFill>
                  <a:schemeClr val="tx2"/>
                </a:solidFill>
                <a:latin typeface="Arial" pitchFamily="34" charset="0"/>
                <a:cs typeface="Arial" pitchFamily="34" charset="0"/>
              </a:rPr>
              <a:t>5.2. Suporte Cliente</a:t>
            </a:r>
            <a:endParaRPr lang="pt-BR" sz="1600" b="1" dirty="0">
              <a:solidFill>
                <a:schemeClr val="tx2"/>
              </a:solidFill>
              <a:latin typeface="Arial" pitchFamily="34" charset="0"/>
              <a:cs typeface="Arial" pitchFamily="34" charset="0"/>
            </a:endParaRPr>
          </a:p>
        </p:txBody>
      </p:sp>
      <p:sp>
        <p:nvSpPr>
          <p:cNvPr id="14" name="CaixaDeTexto 13"/>
          <p:cNvSpPr txBox="1"/>
          <p:nvPr/>
        </p:nvSpPr>
        <p:spPr>
          <a:xfrm>
            <a:off x="1" y="4869997"/>
            <a:ext cx="5871160" cy="246221"/>
          </a:xfrm>
          <a:prstGeom prst="rect">
            <a:avLst/>
          </a:prstGeom>
          <a:noFill/>
          <a:scene3d>
            <a:camera prst="orthographicFront"/>
            <a:lightRig rig="threePt" dir="t"/>
          </a:scene3d>
          <a:sp3d>
            <a:bevelT w="114300" prst="artDeco"/>
            <a:bevelB/>
          </a:sp3d>
        </p:spPr>
        <p:txBody>
          <a:bodyPr wrap="square" rtlCol="0">
            <a:spAutoFit/>
          </a:bodyPr>
          <a:lstStyle/>
          <a:p>
            <a:pPr algn="just"/>
            <a:r>
              <a:rPr lang="pt-BR" sz="1000" dirty="0">
                <a:solidFill>
                  <a:schemeClr val="bg1">
                    <a:lumMod val="65000"/>
                  </a:schemeClr>
                </a:solidFill>
              </a:rPr>
              <a:t>Informações retiradas dos indicadores de SLA e </a:t>
            </a:r>
            <a:r>
              <a:rPr lang="pt-BR" sz="1000" dirty="0" err="1">
                <a:solidFill>
                  <a:schemeClr val="bg1">
                    <a:lumMod val="65000"/>
                  </a:schemeClr>
                </a:solidFill>
              </a:rPr>
              <a:t>tProcess</a:t>
            </a:r>
            <a:r>
              <a:rPr lang="pt-BR" sz="1000" dirty="0">
                <a:solidFill>
                  <a:schemeClr val="bg1">
                    <a:lumMod val="65000"/>
                  </a:schemeClr>
                </a:solidFill>
              </a:rPr>
              <a:t>! referentes ao período de </a:t>
            </a:r>
            <a:r>
              <a:rPr lang="pt-BR" sz="1000" dirty="0" smtClean="0">
                <a:solidFill>
                  <a:schemeClr val="bg1">
                    <a:lumMod val="65000"/>
                  </a:schemeClr>
                </a:solidFill>
              </a:rPr>
              <a:t>01/06 </a:t>
            </a:r>
            <a:r>
              <a:rPr lang="pt-BR" sz="1000" dirty="0">
                <a:solidFill>
                  <a:schemeClr val="bg1">
                    <a:lumMod val="65000"/>
                  </a:schemeClr>
                </a:solidFill>
              </a:rPr>
              <a:t>a </a:t>
            </a:r>
            <a:r>
              <a:rPr lang="pt-BR" sz="1000" dirty="0" smtClean="0">
                <a:solidFill>
                  <a:schemeClr val="bg1">
                    <a:lumMod val="65000"/>
                  </a:schemeClr>
                </a:solidFill>
              </a:rPr>
              <a:t>20/06.</a:t>
            </a:r>
            <a:endParaRPr lang="pt-BR" dirty="0">
              <a:solidFill>
                <a:schemeClr val="bg1">
                  <a:lumMod val="65000"/>
                </a:schemeClr>
              </a:solidFill>
            </a:endParaRPr>
          </a:p>
        </p:txBody>
      </p:sp>
    </p:spTree>
    <p:extLst>
      <p:ext uri="{BB962C8B-B14F-4D97-AF65-F5344CB8AC3E}">
        <p14:creationId xmlns:p14="http://schemas.microsoft.com/office/powerpoint/2010/main" val="1125964181"/>
      </p:ext>
    </p:extLst>
  </p:cSld>
  <p:clrMapOvr>
    <a:masterClrMapping/>
  </p:clrMapOvr>
  <mc:AlternateContent xmlns:mc="http://schemas.openxmlformats.org/markup-compatibility/2006">
    <mc:Choice xmlns:p14="http://schemas.microsoft.com/office/powerpoint/2010/main" Requires="p14">
      <p:transition p14:dur="250">
        <p14:reveal/>
      </p:transition>
    </mc:Choice>
    <mc:Fallback>
      <p:transition>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1" name="Picture 9"/>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021514" y="291307"/>
            <a:ext cx="1603375"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2" name="Picture 2"/>
          <p:cNvPicPr>
            <a:picLocks noChangeAspect="1" noChangeArrowheads="1"/>
          </p:cNvPicPr>
          <p:nvPr/>
        </p:nvPicPr>
        <p:blipFill>
          <a:blip r:embed="rId3">
            <a:extLst>
              <a:ext uri="{28A0092B-C50C-407E-A947-70E740481C1C}">
                <a14:useLocalDpi xmlns:a14="http://schemas.microsoft.com/office/drawing/2010/main" val="0"/>
              </a:ext>
            </a:extLst>
          </a:blip>
          <a:srcRect l="76781" t="78172" r="18394" b="12686"/>
          <a:stretch>
            <a:fillRect/>
          </a:stretch>
        </p:blipFill>
        <p:spPr bwMode="auto">
          <a:xfrm>
            <a:off x="8188326" y="4382295"/>
            <a:ext cx="955675" cy="7635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3" name="Picture 1" descr="t03-02.jpg"/>
          <p:cNvPicPr>
            <a:picLocks noChangeAspect="1"/>
          </p:cNvPicPr>
          <p:nvPr/>
        </p:nvPicPr>
        <p:blipFill>
          <a:blip r:embed="rId4">
            <a:extLst>
              <a:ext uri="{28A0092B-C50C-407E-A947-70E740481C1C}">
                <a14:useLocalDpi xmlns:a14="http://schemas.microsoft.com/office/drawing/2010/main" val="0"/>
              </a:ext>
            </a:extLst>
          </a:blip>
          <a:srcRect r="91368" b="84909"/>
          <a:stretch>
            <a:fillRect/>
          </a:stretch>
        </p:blipFill>
        <p:spPr bwMode="auto">
          <a:xfrm>
            <a:off x="0" y="2381"/>
            <a:ext cx="788988" cy="77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69" name="Botão de ação: Voltar ou Anterior 7168">
            <a:hlinkClick r:id="rId5" action="ppaction://hlinksldjump" highlightClick="1"/>
          </p:cNvPr>
          <p:cNvSpPr>
            <a:spLocks noChangeAspect="1"/>
          </p:cNvSpPr>
          <p:nvPr/>
        </p:nvSpPr>
        <p:spPr>
          <a:xfrm>
            <a:off x="7418722" y="4876318"/>
            <a:ext cx="533476" cy="158373"/>
          </a:xfrm>
          <a:prstGeom prst="actionButtonBackPrevious">
            <a:avLst/>
          </a:prstGeom>
          <a:scene3d>
            <a:camera prst="orthographicFront"/>
            <a:lightRig rig="threePt" dir="t"/>
          </a:scene3d>
          <a:sp3d>
            <a:bevelT w="0" h="0"/>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pic>
        <p:nvPicPr>
          <p:cNvPr id="28674"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94580" y="1855892"/>
            <a:ext cx="3819525" cy="209550"/>
          </a:xfrm>
          <a:prstGeom prst="rect">
            <a:avLst/>
          </a:prstGeom>
          <a:noFill/>
          <a:ln>
            <a:noFill/>
          </a:ln>
          <a:effectLst/>
          <a:scene3d>
            <a:camera prst="orthographicFront">
              <a:rot lat="0" lon="0" rev="0"/>
            </a:camera>
            <a:lightRig rig="contrasting" dir="t">
              <a:rot lat="0" lon="0" rev="7800000"/>
            </a:lightRig>
          </a:scene3d>
          <a:sp3d>
            <a:bevelT w="139700" h="139700"/>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8675"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4258" y="2811588"/>
            <a:ext cx="2529124" cy="6008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8677" name="Picture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93170" y="2811588"/>
            <a:ext cx="2529124" cy="6008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3" name="Conector angulado 2"/>
          <p:cNvCxnSpPr>
            <a:stCxn id="28674" idx="2"/>
          </p:cNvCxnSpPr>
          <p:nvPr/>
        </p:nvCxnSpPr>
        <p:spPr>
          <a:xfrm rot="5400000">
            <a:off x="4230685" y="2437930"/>
            <a:ext cx="746146" cy="1170"/>
          </a:xfrm>
          <a:prstGeom prst="bentConnector3">
            <a:avLst/>
          </a:prstGeom>
          <a:ln>
            <a:solidFill>
              <a:schemeClr val="bg1">
                <a:lumMod val="50000"/>
              </a:schemeClr>
            </a:solidFill>
            <a:tailEnd type="arrow"/>
          </a:ln>
        </p:spPr>
        <p:style>
          <a:lnRef idx="3">
            <a:schemeClr val="accent1"/>
          </a:lnRef>
          <a:fillRef idx="0">
            <a:schemeClr val="accent1"/>
          </a:fillRef>
          <a:effectRef idx="2">
            <a:schemeClr val="accent1"/>
          </a:effectRef>
          <a:fontRef idx="minor">
            <a:schemeClr val="tx1"/>
          </a:fontRef>
        </p:style>
      </p:cxnSp>
      <p:cxnSp>
        <p:nvCxnSpPr>
          <p:cNvPr id="10" name="Conector angulado 9"/>
          <p:cNvCxnSpPr>
            <a:stCxn id="28674" idx="2"/>
            <a:endCxn id="28675" idx="0"/>
          </p:cNvCxnSpPr>
          <p:nvPr/>
        </p:nvCxnSpPr>
        <p:spPr>
          <a:xfrm rot="5400000">
            <a:off x="2723509" y="930754"/>
            <a:ext cx="746146" cy="3015523"/>
          </a:xfrm>
          <a:prstGeom prst="bentConnector3">
            <a:avLst/>
          </a:prstGeom>
          <a:ln>
            <a:solidFill>
              <a:schemeClr val="bg1">
                <a:lumMod val="50000"/>
              </a:schemeClr>
            </a:solidFill>
            <a:tailEnd type="arrow"/>
          </a:ln>
        </p:spPr>
        <p:style>
          <a:lnRef idx="3">
            <a:schemeClr val="accent1"/>
          </a:lnRef>
          <a:fillRef idx="0">
            <a:schemeClr val="accent1"/>
          </a:fillRef>
          <a:effectRef idx="2">
            <a:schemeClr val="accent1"/>
          </a:effectRef>
          <a:fontRef idx="minor">
            <a:schemeClr val="tx1"/>
          </a:fontRef>
        </p:style>
      </p:cxnSp>
      <p:cxnSp>
        <p:nvCxnSpPr>
          <p:cNvPr id="15" name="Conector angulado 14"/>
          <p:cNvCxnSpPr>
            <a:stCxn id="28674" idx="2"/>
            <a:endCxn id="28677" idx="0"/>
          </p:cNvCxnSpPr>
          <p:nvPr/>
        </p:nvCxnSpPr>
        <p:spPr>
          <a:xfrm rot="16200000" flipH="1">
            <a:off x="5657964" y="1011820"/>
            <a:ext cx="746146" cy="2853389"/>
          </a:xfrm>
          <a:prstGeom prst="bentConnector3">
            <a:avLst/>
          </a:prstGeom>
          <a:ln>
            <a:solidFill>
              <a:schemeClr val="bg1">
                <a:lumMod val="50000"/>
              </a:schemeClr>
            </a:solidFill>
            <a:tailEnd type="arrow"/>
          </a:ln>
        </p:spPr>
        <p:style>
          <a:lnRef idx="3">
            <a:schemeClr val="accent1"/>
          </a:lnRef>
          <a:fillRef idx="0">
            <a:schemeClr val="accent1"/>
          </a:fillRef>
          <a:effectRef idx="2">
            <a:schemeClr val="accent1"/>
          </a:effectRef>
          <a:fontRef idx="minor">
            <a:schemeClr val="tx1"/>
          </a:fontRef>
        </p:style>
      </p:cxnSp>
      <p:cxnSp>
        <p:nvCxnSpPr>
          <p:cNvPr id="17" name="Conector de seta reta 16"/>
          <p:cNvCxnSpPr/>
          <p:nvPr/>
        </p:nvCxnSpPr>
        <p:spPr>
          <a:xfrm>
            <a:off x="3193138" y="2438515"/>
            <a:ext cx="0" cy="1615066"/>
          </a:xfrm>
          <a:prstGeom prst="straightConnector1">
            <a:avLst/>
          </a:prstGeom>
          <a:ln>
            <a:solidFill>
              <a:schemeClr val="bg1">
                <a:lumMod val="50000"/>
              </a:schemeClr>
            </a:solidFill>
            <a:tailEnd type="arrow"/>
          </a:ln>
        </p:spPr>
        <p:style>
          <a:lnRef idx="3">
            <a:schemeClr val="accent1"/>
          </a:lnRef>
          <a:fillRef idx="0">
            <a:schemeClr val="accent1"/>
          </a:fillRef>
          <a:effectRef idx="2">
            <a:schemeClr val="accent1"/>
          </a:effectRef>
          <a:fontRef idx="minor">
            <a:schemeClr val="tx1"/>
          </a:fontRef>
        </p:style>
      </p:cxnSp>
      <p:pic>
        <p:nvPicPr>
          <p:cNvPr id="25602" name="Picture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28576" y="4053581"/>
            <a:ext cx="2529124" cy="6008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603" name="Picture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34100" y="2811589"/>
            <a:ext cx="2340488" cy="6008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 name="TextBox 4"/>
          <p:cNvSpPr txBox="1">
            <a:spLocks noChangeArrowheads="1"/>
          </p:cNvSpPr>
          <p:nvPr/>
        </p:nvSpPr>
        <p:spPr bwMode="auto">
          <a:xfrm>
            <a:off x="525925" y="-31723"/>
            <a:ext cx="649559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cs typeface="Arial" pitchFamily="34" charset="0"/>
              </a:defRPr>
            </a:lvl1pPr>
            <a:lvl2pPr marL="742950" indent="-285750" eaLnBrk="0" hangingPunct="0">
              <a:defRPr>
                <a:solidFill>
                  <a:schemeClr val="tx1"/>
                </a:solidFill>
                <a:latin typeface="Calibri" pitchFamily="34" charset="0"/>
                <a:cs typeface="Arial" pitchFamily="34" charset="0"/>
              </a:defRPr>
            </a:lvl2pPr>
            <a:lvl3pPr marL="1143000" indent="-228600" eaLnBrk="0" hangingPunct="0">
              <a:defRPr>
                <a:solidFill>
                  <a:schemeClr val="tx1"/>
                </a:solidFill>
                <a:latin typeface="Calibri" pitchFamily="34" charset="0"/>
                <a:cs typeface="Arial" pitchFamily="34" charset="0"/>
              </a:defRPr>
            </a:lvl3pPr>
            <a:lvl4pPr marL="1600200" indent="-228600" eaLnBrk="0" hangingPunct="0">
              <a:defRPr>
                <a:solidFill>
                  <a:schemeClr val="tx1"/>
                </a:solidFill>
                <a:latin typeface="Calibri" pitchFamily="34" charset="0"/>
                <a:cs typeface="Arial" pitchFamily="34" charset="0"/>
              </a:defRPr>
            </a:lvl4pPr>
            <a:lvl5pPr marL="2057400" indent="-228600" eaLnBrk="0" hangingPunct="0">
              <a:defRPr>
                <a:solidFill>
                  <a:schemeClr val="tx1"/>
                </a:solidFill>
                <a:latin typeface="Calibri" pitchFamily="34" charset="0"/>
                <a:cs typeface="Arial" pitchFamily="34" charset="0"/>
              </a:defRPr>
            </a:lvl5pPr>
            <a:lvl6pPr marL="2514600" indent="-228600" defTabSz="457200" eaLnBrk="0" fontAlgn="base" hangingPunct="0">
              <a:spcBef>
                <a:spcPct val="0"/>
              </a:spcBef>
              <a:spcAft>
                <a:spcPct val="0"/>
              </a:spcAft>
              <a:defRPr>
                <a:solidFill>
                  <a:schemeClr val="tx1"/>
                </a:solidFill>
                <a:latin typeface="Calibri" pitchFamily="34" charset="0"/>
                <a:cs typeface="Arial" pitchFamily="34" charset="0"/>
              </a:defRPr>
            </a:lvl6pPr>
            <a:lvl7pPr marL="2971800" indent="-228600" defTabSz="457200" eaLnBrk="0" fontAlgn="base" hangingPunct="0">
              <a:spcBef>
                <a:spcPct val="0"/>
              </a:spcBef>
              <a:spcAft>
                <a:spcPct val="0"/>
              </a:spcAft>
              <a:defRPr>
                <a:solidFill>
                  <a:schemeClr val="tx1"/>
                </a:solidFill>
                <a:latin typeface="Calibri" pitchFamily="34" charset="0"/>
                <a:cs typeface="Arial" pitchFamily="34" charset="0"/>
              </a:defRPr>
            </a:lvl7pPr>
            <a:lvl8pPr marL="3429000" indent="-228600" defTabSz="457200" eaLnBrk="0" fontAlgn="base" hangingPunct="0">
              <a:spcBef>
                <a:spcPct val="0"/>
              </a:spcBef>
              <a:spcAft>
                <a:spcPct val="0"/>
              </a:spcAft>
              <a:defRPr>
                <a:solidFill>
                  <a:schemeClr val="tx1"/>
                </a:solidFill>
                <a:latin typeface="Calibri" pitchFamily="34" charset="0"/>
                <a:cs typeface="Arial" pitchFamily="34" charset="0"/>
              </a:defRPr>
            </a:lvl8pPr>
            <a:lvl9pPr marL="3886200" indent="-228600" defTabSz="457200" eaLnBrk="0" fontAlgn="base" hangingPunct="0">
              <a:spcBef>
                <a:spcPct val="0"/>
              </a:spcBef>
              <a:spcAft>
                <a:spcPct val="0"/>
              </a:spcAft>
              <a:defRPr>
                <a:solidFill>
                  <a:schemeClr val="tx1"/>
                </a:solidFill>
                <a:latin typeface="Calibri" pitchFamily="34" charset="0"/>
                <a:cs typeface="Arial" pitchFamily="34" charset="0"/>
              </a:defRPr>
            </a:lvl9pPr>
          </a:lstStyle>
          <a:p>
            <a:pPr eaLnBrk="1" hangingPunct="1"/>
            <a:r>
              <a:rPr lang="pt-BR" sz="2400" b="1" dirty="0" smtClean="0">
                <a:solidFill>
                  <a:schemeClr val="accent1">
                    <a:lumMod val="50000"/>
                  </a:schemeClr>
                </a:solidFill>
              </a:rPr>
              <a:t>4. Incidentes </a:t>
            </a:r>
            <a:r>
              <a:rPr lang="pt-BR" sz="2400" b="1" dirty="0">
                <a:solidFill>
                  <a:schemeClr val="accent1">
                    <a:lumMod val="50000"/>
                  </a:schemeClr>
                </a:solidFill>
              </a:rPr>
              <a:t>Alto </a:t>
            </a:r>
            <a:r>
              <a:rPr lang="pt-BR" sz="2400" b="1" dirty="0" smtClean="0">
                <a:solidFill>
                  <a:schemeClr val="accent1">
                    <a:lumMod val="50000"/>
                  </a:schemeClr>
                </a:solidFill>
              </a:rPr>
              <a:t>Impacto - Fornecedor</a:t>
            </a:r>
            <a:endParaRPr lang="pt-BR" sz="2400" b="1" dirty="0">
              <a:solidFill>
                <a:schemeClr val="accent1">
                  <a:lumMod val="50000"/>
                </a:schemeClr>
              </a:solidFill>
            </a:endParaRPr>
          </a:p>
        </p:txBody>
      </p:sp>
      <p:sp>
        <p:nvSpPr>
          <p:cNvPr id="16" name="Title 1"/>
          <p:cNvSpPr txBox="1">
            <a:spLocks/>
          </p:cNvSpPr>
          <p:nvPr/>
        </p:nvSpPr>
        <p:spPr>
          <a:xfrm>
            <a:off x="1734315" y="860275"/>
            <a:ext cx="5723417" cy="432259"/>
          </a:xfrm>
          <a:prstGeom prst="roundRect">
            <a:avLst/>
          </a:prstGeom>
          <a:effectLst>
            <a:outerShdw blurRad="50800" dist="38100" dir="2700000" algn="tl" rotWithShape="0">
              <a:prstClr val="black">
                <a:alpha val="40000"/>
              </a:prstClr>
            </a:outerShdw>
          </a:effectLst>
        </p:spPr>
        <p:style>
          <a:lnRef idx="1">
            <a:schemeClr val="accent4"/>
          </a:lnRef>
          <a:fillRef idx="2">
            <a:schemeClr val="accent4"/>
          </a:fillRef>
          <a:effectRef idx="1">
            <a:schemeClr val="accent4"/>
          </a:effectRef>
          <a:fontRef idx="minor">
            <a:schemeClr val="dk1"/>
          </a:fontRef>
        </p:style>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buClr>
                <a:srgbClr val="800000"/>
              </a:buClr>
            </a:pPr>
            <a:r>
              <a:rPr lang="pt-BR" sz="2000" b="1" dirty="0" smtClean="0">
                <a:latin typeface="Arial" pitchFamily="34" charset="0"/>
                <a:cs typeface="Arial" pitchFamily="34" charset="0"/>
              </a:rPr>
              <a:t>Dados para suportar Plano Estratégico de TI</a:t>
            </a:r>
            <a:endParaRPr lang="pt-BR" sz="1400" b="1" dirty="0">
              <a:latin typeface="Arial" pitchFamily="34" charset="0"/>
              <a:cs typeface="Arial" pitchFamily="34" charset="0"/>
            </a:endParaRPr>
          </a:p>
        </p:txBody>
      </p:sp>
      <p:sp>
        <p:nvSpPr>
          <p:cNvPr id="19" name="CaixaDeTexto 18"/>
          <p:cNvSpPr txBox="1"/>
          <p:nvPr/>
        </p:nvSpPr>
        <p:spPr>
          <a:xfrm>
            <a:off x="1" y="4869997"/>
            <a:ext cx="5871160" cy="246221"/>
          </a:xfrm>
          <a:prstGeom prst="rect">
            <a:avLst/>
          </a:prstGeom>
          <a:noFill/>
          <a:scene3d>
            <a:camera prst="orthographicFront"/>
            <a:lightRig rig="threePt" dir="t"/>
          </a:scene3d>
          <a:sp3d>
            <a:bevelT w="114300" prst="artDeco"/>
            <a:bevelB/>
          </a:sp3d>
        </p:spPr>
        <p:txBody>
          <a:bodyPr wrap="square" rtlCol="0">
            <a:spAutoFit/>
          </a:bodyPr>
          <a:lstStyle/>
          <a:p>
            <a:pPr algn="just"/>
            <a:r>
              <a:rPr lang="pt-BR" sz="1000" dirty="0">
                <a:solidFill>
                  <a:schemeClr val="bg1">
                    <a:lumMod val="65000"/>
                  </a:schemeClr>
                </a:solidFill>
              </a:rPr>
              <a:t>Informações retiradas dos indicadores de SLA e </a:t>
            </a:r>
            <a:r>
              <a:rPr lang="pt-BR" sz="1000" dirty="0" err="1">
                <a:solidFill>
                  <a:schemeClr val="bg1">
                    <a:lumMod val="65000"/>
                  </a:schemeClr>
                </a:solidFill>
              </a:rPr>
              <a:t>tProcess</a:t>
            </a:r>
            <a:r>
              <a:rPr lang="pt-BR" sz="1000" dirty="0">
                <a:solidFill>
                  <a:schemeClr val="bg1">
                    <a:lumMod val="65000"/>
                  </a:schemeClr>
                </a:solidFill>
              </a:rPr>
              <a:t>! referentes ao período de </a:t>
            </a:r>
            <a:r>
              <a:rPr lang="pt-BR" sz="1000" dirty="0" smtClean="0">
                <a:solidFill>
                  <a:schemeClr val="bg1">
                    <a:lumMod val="65000"/>
                  </a:schemeClr>
                </a:solidFill>
              </a:rPr>
              <a:t>01/06 </a:t>
            </a:r>
            <a:r>
              <a:rPr lang="pt-BR" sz="1000" dirty="0">
                <a:solidFill>
                  <a:schemeClr val="bg1">
                    <a:lumMod val="65000"/>
                  </a:schemeClr>
                </a:solidFill>
              </a:rPr>
              <a:t>a </a:t>
            </a:r>
            <a:r>
              <a:rPr lang="pt-BR" sz="1000" dirty="0" smtClean="0">
                <a:solidFill>
                  <a:schemeClr val="bg1">
                    <a:lumMod val="65000"/>
                  </a:schemeClr>
                </a:solidFill>
              </a:rPr>
              <a:t>20/06.</a:t>
            </a:r>
            <a:endParaRPr lang="pt-BR" dirty="0">
              <a:solidFill>
                <a:schemeClr val="bg1">
                  <a:lumMod val="65000"/>
                </a:schemeClr>
              </a:solidFill>
            </a:endParaRPr>
          </a:p>
        </p:txBody>
      </p:sp>
    </p:spTree>
    <p:extLst>
      <p:ext uri="{BB962C8B-B14F-4D97-AF65-F5344CB8AC3E}">
        <p14:creationId xmlns:p14="http://schemas.microsoft.com/office/powerpoint/2010/main" val="1111068608"/>
      </p:ext>
    </p:extLst>
  </p:cSld>
  <p:clrMapOvr>
    <a:masterClrMapping/>
  </p:clrMapOvr>
  <mc:AlternateContent xmlns:mc="http://schemas.openxmlformats.org/markup-compatibility/2006">
    <mc:Choice xmlns:p14="http://schemas.microsoft.com/office/powerpoint/2010/main" Requires="p14">
      <p:transition p14:dur="250">
        <p14:reveal/>
      </p:transition>
    </mc:Choice>
    <mc:Fallback>
      <p:transition>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1" name="Picture 9"/>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021514" y="291307"/>
            <a:ext cx="1603375"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2" name="Picture 2"/>
          <p:cNvPicPr>
            <a:picLocks noChangeAspect="1" noChangeArrowheads="1"/>
          </p:cNvPicPr>
          <p:nvPr/>
        </p:nvPicPr>
        <p:blipFill>
          <a:blip r:embed="rId3">
            <a:extLst>
              <a:ext uri="{28A0092B-C50C-407E-A947-70E740481C1C}">
                <a14:useLocalDpi xmlns:a14="http://schemas.microsoft.com/office/drawing/2010/main" val="0"/>
              </a:ext>
            </a:extLst>
          </a:blip>
          <a:srcRect l="76781" t="78172" r="18394" b="12686"/>
          <a:stretch>
            <a:fillRect/>
          </a:stretch>
        </p:blipFill>
        <p:spPr bwMode="auto">
          <a:xfrm>
            <a:off x="8188326" y="4382295"/>
            <a:ext cx="955675" cy="7635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3" name="Picture 1" descr="t03-02.jpg"/>
          <p:cNvPicPr>
            <a:picLocks noChangeAspect="1"/>
          </p:cNvPicPr>
          <p:nvPr/>
        </p:nvPicPr>
        <p:blipFill>
          <a:blip r:embed="rId4">
            <a:extLst>
              <a:ext uri="{28A0092B-C50C-407E-A947-70E740481C1C}">
                <a14:useLocalDpi xmlns:a14="http://schemas.microsoft.com/office/drawing/2010/main" val="0"/>
              </a:ext>
            </a:extLst>
          </a:blip>
          <a:srcRect r="91368" b="84909"/>
          <a:stretch>
            <a:fillRect/>
          </a:stretch>
        </p:blipFill>
        <p:spPr bwMode="auto">
          <a:xfrm>
            <a:off x="0" y="2381"/>
            <a:ext cx="788988" cy="77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45807" y="1979228"/>
            <a:ext cx="2133019" cy="1645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Box 4"/>
          <p:cNvSpPr txBox="1">
            <a:spLocks noChangeArrowheads="1"/>
          </p:cNvSpPr>
          <p:nvPr/>
        </p:nvSpPr>
        <p:spPr bwMode="auto">
          <a:xfrm>
            <a:off x="525925" y="-31723"/>
            <a:ext cx="649559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cs typeface="Arial" pitchFamily="34" charset="0"/>
              </a:defRPr>
            </a:lvl1pPr>
            <a:lvl2pPr marL="742950" indent="-285750" eaLnBrk="0" hangingPunct="0">
              <a:defRPr>
                <a:solidFill>
                  <a:schemeClr val="tx1"/>
                </a:solidFill>
                <a:latin typeface="Calibri" pitchFamily="34" charset="0"/>
                <a:cs typeface="Arial" pitchFamily="34" charset="0"/>
              </a:defRPr>
            </a:lvl2pPr>
            <a:lvl3pPr marL="1143000" indent="-228600" eaLnBrk="0" hangingPunct="0">
              <a:defRPr>
                <a:solidFill>
                  <a:schemeClr val="tx1"/>
                </a:solidFill>
                <a:latin typeface="Calibri" pitchFamily="34" charset="0"/>
                <a:cs typeface="Arial" pitchFamily="34" charset="0"/>
              </a:defRPr>
            </a:lvl3pPr>
            <a:lvl4pPr marL="1600200" indent="-228600" eaLnBrk="0" hangingPunct="0">
              <a:defRPr>
                <a:solidFill>
                  <a:schemeClr val="tx1"/>
                </a:solidFill>
                <a:latin typeface="Calibri" pitchFamily="34" charset="0"/>
                <a:cs typeface="Arial" pitchFamily="34" charset="0"/>
              </a:defRPr>
            </a:lvl4pPr>
            <a:lvl5pPr marL="2057400" indent="-228600" eaLnBrk="0" hangingPunct="0">
              <a:defRPr>
                <a:solidFill>
                  <a:schemeClr val="tx1"/>
                </a:solidFill>
                <a:latin typeface="Calibri" pitchFamily="34" charset="0"/>
                <a:cs typeface="Arial" pitchFamily="34" charset="0"/>
              </a:defRPr>
            </a:lvl5pPr>
            <a:lvl6pPr marL="2514600" indent="-228600" defTabSz="457200" eaLnBrk="0" fontAlgn="base" hangingPunct="0">
              <a:spcBef>
                <a:spcPct val="0"/>
              </a:spcBef>
              <a:spcAft>
                <a:spcPct val="0"/>
              </a:spcAft>
              <a:defRPr>
                <a:solidFill>
                  <a:schemeClr val="tx1"/>
                </a:solidFill>
                <a:latin typeface="Calibri" pitchFamily="34" charset="0"/>
                <a:cs typeface="Arial" pitchFamily="34" charset="0"/>
              </a:defRPr>
            </a:lvl6pPr>
            <a:lvl7pPr marL="2971800" indent="-228600" defTabSz="457200" eaLnBrk="0" fontAlgn="base" hangingPunct="0">
              <a:spcBef>
                <a:spcPct val="0"/>
              </a:spcBef>
              <a:spcAft>
                <a:spcPct val="0"/>
              </a:spcAft>
              <a:defRPr>
                <a:solidFill>
                  <a:schemeClr val="tx1"/>
                </a:solidFill>
                <a:latin typeface="Calibri" pitchFamily="34" charset="0"/>
                <a:cs typeface="Arial" pitchFamily="34" charset="0"/>
              </a:defRPr>
            </a:lvl7pPr>
            <a:lvl8pPr marL="3429000" indent="-228600" defTabSz="457200" eaLnBrk="0" fontAlgn="base" hangingPunct="0">
              <a:spcBef>
                <a:spcPct val="0"/>
              </a:spcBef>
              <a:spcAft>
                <a:spcPct val="0"/>
              </a:spcAft>
              <a:defRPr>
                <a:solidFill>
                  <a:schemeClr val="tx1"/>
                </a:solidFill>
                <a:latin typeface="Calibri" pitchFamily="34" charset="0"/>
                <a:cs typeface="Arial" pitchFamily="34" charset="0"/>
              </a:defRPr>
            </a:lvl8pPr>
            <a:lvl9pPr marL="3886200" indent="-228600" defTabSz="457200" eaLnBrk="0" fontAlgn="base" hangingPunct="0">
              <a:spcBef>
                <a:spcPct val="0"/>
              </a:spcBef>
              <a:spcAft>
                <a:spcPct val="0"/>
              </a:spcAft>
              <a:defRPr>
                <a:solidFill>
                  <a:schemeClr val="tx1"/>
                </a:solidFill>
                <a:latin typeface="Calibri" pitchFamily="34" charset="0"/>
                <a:cs typeface="Arial" pitchFamily="34" charset="0"/>
              </a:defRPr>
            </a:lvl9pPr>
          </a:lstStyle>
          <a:p>
            <a:pPr eaLnBrk="1" hangingPunct="1"/>
            <a:r>
              <a:rPr lang="pt-BR" sz="2400" b="1" dirty="0" smtClean="0">
                <a:solidFill>
                  <a:schemeClr val="accent1">
                    <a:lumMod val="50000"/>
                  </a:schemeClr>
                </a:solidFill>
              </a:rPr>
              <a:t>6. Incidentes Médio /Baixo Impacto</a:t>
            </a:r>
            <a:endParaRPr lang="pt-BR" sz="2400" b="1" dirty="0">
              <a:solidFill>
                <a:schemeClr val="accent1">
                  <a:lumMod val="50000"/>
                </a:schemeClr>
              </a:solidFill>
            </a:endParaRPr>
          </a:p>
        </p:txBody>
      </p:sp>
      <p:sp>
        <p:nvSpPr>
          <p:cNvPr id="8" name="CaixaDeTexto 7"/>
          <p:cNvSpPr txBox="1"/>
          <p:nvPr/>
        </p:nvSpPr>
        <p:spPr>
          <a:xfrm>
            <a:off x="1" y="4869997"/>
            <a:ext cx="5871160" cy="246221"/>
          </a:xfrm>
          <a:prstGeom prst="rect">
            <a:avLst/>
          </a:prstGeom>
          <a:noFill/>
          <a:scene3d>
            <a:camera prst="orthographicFront"/>
            <a:lightRig rig="threePt" dir="t"/>
          </a:scene3d>
          <a:sp3d>
            <a:bevelT w="114300" prst="artDeco"/>
            <a:bevelB/>
          </a:sp3d>
        </p:spPr>
        <p:txBody>
          <a:bodyPr wrap="square" rtlCol="0">
            <a:spAutoFit/>
          </a:bodyPr>
          <a:lstStyle/>
          <a:p>
            <a:pPr algn="just"/>
            <a:r>
              <a:rPr lang="pt-BR" sz="1000" dirty="0">
                <a:solidFill>
                  <a:schemeClr val="bg1">
                    <a:lumMod val="65000"/>
                  </a:schemeClr>
                </a:solidFill>
              </a:rPr>
              <a:t>Informações retiradas dos indicadores de SLA e </a:t>
            </a:r>
            <a:r>
              <a:rPr lang="pt-BR" sz="1000" dirty="0" err="1">
                <a:solidFill>
                  <a:schemeClr val="bg1">
                    <a:lumMod val="65000"/>
                  </a:schemeClr>
                </a:solidFill>
              </a:rPr>
              <a:t>tProcess</a:t>
            </a:r>
            <a:r>
              <a:rPr lang="pt-BR" sz="1000" dirty="0">
                <a:solidFill>
                  <a:schemeClr val="bg1">
                    <a:lumMod val="65000"/>
                  </a:schemeClr>
                </a:solidFill>
              </a:rPr>
              <a:t>! referentes ao período de </a:t>
            </a:r>
            <a:r>
              <a:rPr lang="pt-BR" sz="1000" dirty="0" smtClean="0">
                <a:solidFill>
                  <a:schemeClr val="bg1">
                    <a:lumMod val="65000"/>
                  </a:schemeClr>
                </a:solidFill>
              </a:rPr>
              <a:t>01/06 </a:t>
            </a:r>
            <a:r>
              <a:rPr lang="pt-BR" sz="1000" dirty="0">
                <a:solidFill>
                  <a:schemeClr val="bg1">
                    <a:lumMod val="65000"/>
                  </a:schemeClr>
                </a:solidFill>
              </a:rPr>
              <a:t>a </a:t>
            </a:r>
            <a:r>
              <a:rPr lang="pt-BR" sz="1000" dirty="0" smtClean="0">
                <a:solidFill>
                  <a:schemeClr val="bg1">
                    <a:lumMod val="65000"/>
                  </a:schemeClr>
                </a:solidFill>
              </a:rPr>
              <a:t>20/06.</a:t>
            </a:r>
            <a:endParaRPr lang="pt-BR" dirty="0">
              <a:solidFill>
                <a:schemeClr val="bg1">
                  <a:lumMod val="65000"/>
                </a:schemeClr>
              </a:solidFill>
            </a:endParaRPr>
          </a:p>
        </p:txBody>
      </p:sp>
      <p:pic>
        <p:nvPicPr>
          <p:cNvPr id="3" name="Imagem 2"/>
          <p:cNvPicPr>
            <a:picLocks noChangeAspect="1"/>
          </p:cNvPicPr>
          <p:nvPr/>
        </p:nvPicPr>
        <p:blipFill>
          <a:blip r:embed="rId6"/>
          <a:stretch>
            <a:fillRect/>
          </a:stretch>
        </p:blipFill>
        <p:spPr>
          <a:xfrm>
            <a:off x="174370" y="1282093"/>
            <a:ext cx="5794879" cy="2995992"/>
          </a:xfrm>
          <a:prstGeom prst="rect">
            <a:avLst/>
          </a:prstGeom>
        </p:spPr>
      </p:pic>
    </p:spTree>
    <p:extLst>
      <p:ext uri="{BB962C8B-B14F-4D97-AF65-F5344CB8AC3E}">
        <p14:creationId xmlns:p14="http://schemas.microsoft.com/office/powerpoint/2010/main" val="3960339830"/>
      </p:ext>
    </p:extLst>
  </p:cSld>
  <p:clrMapOvr>
    <a:masterClrMapping/>
  </p:clrMapOvr>
  <mc:AlternateContent xmlns:mc="http://schemas.openxmlformats.org/markup-compatibility/2006">
    <mc:Choice xmlns:p14="http://schemas.microsoft.com/office/powerpoint/2010/main" Requires="p14">
      <p:transition p14:dur="250">
        <p14:reveal/>
      </p:transition>
    </mc:Choice>
    <mc:Fallback>
      <p:transition>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Gráfico 10"/>
          <p:cNvGraphicFramePr>
            <a:graphicFrameLocks/>
          </p:cNvGraphicFramePr>
          <p:nvPr>
            <p:extLst>
              <p:ext uri="{D42A27DB-BD31-4B8C-83A1-F6EECF244321}">
                <p14:modId xmlns:p14="http://schemas.microsoft.com/office/powerpoint/2010/main" val="2215948320"/>
              </p:ext>
            </p:extLst>
          </p:nvPr>
        </p:nvGraphicFramePr>
        <p:xfrm>
          <a:off x="2089151" y="864515"/>
          <a:ext cx="4572000" cy="2743200"/>
        </p:xfrm>
        <a:graphic>
          <a:graphicData uri="http://schemas.openxmlformats.org/drawingml/2006/chart">
            <c:chart xmlns:c="http://schemas.openxmlformats.org/drawingml/2006/chart" xmlns:r="http://schemas.openxmlformats.org/officeDocument/2006/relationships" r:id="rId3"/>
          </a:graphicData>
        </a:graphic>
      </p:graphicFrame>
      <p:pic>
        <p:nvPicPr>
          <p:cNvPr id="7171" name="Picture 9"/>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021514" y="291307"/>
            <a:ext cx="1603375"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2" name="Picture 2"/>
          <p:cNvPicPr>
            <a:picLocks noChangeAspect="1" noChangeArrowheads="1"/>
          </p:cNvPicPr>
          <p:nvPr/>
        </p:nvPicPr>
        <p:blipFill>
          <a:blip r:embed="rId5">
            <a:extLst>
              <a:ext uri="{28A0092B-C50C-407E-A947-70E740481C1C}">
                <a14:useLocalDpi xmlns:a14="http://schemas.microsoft.com/office/drawing/2010/main" val="0"/>
              </a:ext>
            </a:extLst>
          </a:blip>
          <a:srcRect l="76781" t="78172" r="18394" b="12686"/>
          <a:stretch>
            <a:fillRect/>
          </a:stretch>
        </p:blipFill>
        <p:spPr bwMode="auto">
          <a:xfrm>
            <a:off x="8188326" y="4382295"/>
            <a:ext cx="955675" cy="7635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3" name="Picture 1" descr="t03-02.jpg"/>
          <p:cNvPicPr>
            <a:picLocks noChangeAspect="1"/>
          </p:cNvPicPr>
          <p:nvPr/>
        </p:nvPicPr>
        <p:blipFill>
          <a:blip r:embed="rId6">
            <a:extLst>
              <a:ext uri="{28A0092B-C50C-407E-A947-70E740481C1C}">
                <a14:useLocalDpi xmlns:a14="http://schemas.microsoft.com/office/drawing/2010/main" val="0"/>
              </a:ext>
            </a:extLst>
          </a:blip>
          <a:srcRect r="91368" b="84909"/>
          <a:stretch>
            <a:fillRect/>
          </a:stretch>
        </p:blipFill>
        <p:spPr bwMode="auto">
          <a:xfrm>
            <a:off x="0" y="2381"/>
            <a:ext cx="788988" cy="77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6" name="Conector angulado 15"/>
          <p:cNvCxnSpPr>
            <a:endCxn id="24" idx="0"/>
          </p:cNvCxnSpPr>
          <p:nvPr/>
        </p:nvCxnSpPr>
        <p:spPr>
          <a:xfrm rot="10800000" flipV="1">
            <a:off x="1664495" y="2051964"/>
            <a:ext cx="1916913" cy="1092387"/>
          </a:xfrm>
          <a:prstGeom prst="bentConnector2">
            <a:avLst/>
          </a:prstGeom>
          <a:ln>
            <a:solidFill>
              <a:srgbClr val="FF0000"/>
            </a:solidFill>
            <a:tailEnd type="arrow"/>
          </a:ln>
        </p:spPr>
        <p:style>
          <a:lnRef idx="3">
            <a:schemeClr val="accent2"/>
          </a:lnRef>
          <a:fillRef idx="0">
            <a:schemeClr val="accent2"/>
          </a:fillRef>
          <a:effectRef idx="2">
            <a:schemeClr val="accent2"/>
          </a:effectRef>
          <a:fontRef idx="minor">
            <a:schemeClr val="tx1"/>
          </a:fontRef>
        </p:style>
      </p:cxnSp>
      <p:cxnSp>
        <p:nvCxnSpPr>
          <p:cNvPr id="18" name="Conector angulado 17"/>
          <p:cNvCxnSpPr>
            <a:endCxn id="12" idx="0"/>
          </p:cNvCxnSpPr>
          <p:nvPr/>
        </p:nvCxnSpPr>
        <p:spPr>
          <a:xfrm>
            <a:off x="4837167" y="2023389"/>
            <a:ext cx="2290708" cy="759013"/>
          </a:xfrm>
          <a:prstGeom prst="bentConnector2">
            <a:avLst/>
          </a:prstGeom>
          <a:ln>
            <a:solidFill>
              <a:srgbClr val="19345B"/>
            </a:solidFill>
            <a:tailEnd type="arrow"/>
          </a:ln>
        </p:spPr>
        <p:style>
          <a:lnRef idx="3">
            <a:schemeClr val="accent5"/>
          </a:lnRef>
          <a:fillRef idx="0">
            <a:schemeClr val="accent5"/>
          </a:fillRef>
          <a:effectRef idx="2">
            <a:schemeClr val="accent5"/>
          </a:effectRef>
          <a:fontRef idx="minor">
            <a:schemeClr val="tx1"/>
          </a:fontRef>
        </p:style>
      </p:cxnSp>
      <p:graphicFrame>
        <p:nvGraphicFramePr>
          <p:cNvPr id="24" name="Tabela 23"/>
          <p:cNvGraphicFramePr>
            <a:graphicFrameLocks noGrp="1"/>
          </p:cNvGraphicFramePr>
          <p:nvPr>
            <p:extLst>
              <p:ext uri="{D42A27DB-BD31-4B8C-83A1-F6EECF244321}">
                <p14:modId xmlns:p14="http://schemas.microsoft.com/office/powerpoint/2010/main" val="1997910429"/>
              </p:ext>
            </p:extLst>
          </p:nvPr>
        </p:nvGraphicFramePr>
        <p:xfrm>
          <a:off x="394494" y="3144352"/>
          <a:ext cx="2540000" cy="1714500"/>
        </p:xfrm>
        <a:graphic>
          <a:graphicData uri="http://schemas.openxmlformats.org/drawingml/2006/table">
            <a:tbl>
              <a:tblPr/>
              <a:tblGrid>
                <a:gridCol w="1141573"/>
                <a:gridCol w="789588"/>
                <a:gridCol w="608839"/>
              </a:tblGrid>
              <a:tr h="190500">
                <a:tc>
                  <a:txBody>
                    <a:bodyPr/>
                    <a:lstStyle/>
                    <a:p>
                      <a:pPr algn="ctr" fontAlgn="ctr"/>
                      <a:r>
                        <a:rPr lang="pt-BR" sz="1100" b="1" i="0" u="none" strike="noStrike" dirty="0" smtClean="0">
                          <a:solidFill>
                            <a:srgbClr val="FFFFFF"/>
                          </a:solidFill>
                          <a:effectLst/>
                          <a:latin typeface="Calibri"/>
                        </a:rPr>
                        <a:t>Hardware</a:t>
                      </a:r>
                      <a:endParaRPr lang="pt-BR" sz="1100" b="1" i="0" u="none" strike="noStrike" dirty="0">
                        <a:solidFill>
                          <a:srgbClr val="FFFFFF"/>
                        </a:solidFill>
                        <a:effectLst/>
                        <a:latin typeface="Calibri"/>
                      </a:endParaRPr>
                    </a:p>
                  </a:txBody>
                  <a:tcPr marL="9525" marR="9525" marT="9525" marB="0" anchor="ctr">
                    <a:lnL w="6350" cap="flat" cmpd="sng" algn="ctr">
                      <a:solidFill>
                        <a:srgbClr val="FF0000"/>
                      </a:solidFill>
                      <a:prstDash val="solid"/>
                      <a:round/>
                      <a:headEnd type="none" w="med" len="med"/>
                      <a:tailEnd type="none" w="med" len="med"/>
                    </a:lnL>
                    <a:lnR w="6350" cap="flat" cmpd="sng" algn="ctr">
                      <a:solidFill>
                        <a:srgbClr val="FF0000"/>
                      </a:solidFill>
                      <a:prstDash val="solid"/>
                      <a:round/>
                      <a:headEnd type="none" w="med" len="med"/>
                      <a:tailEnd type="none" w="med" len="med"/>
                    </a:lnR>
                    <a:lnT w="6350" cap="flat" cmpd="sng" algn="ctr">
                      <a:solidFill>
                        <a:srgbClr val="FF0000"/>
                      </a:solidFill>
                      <a:prstDash val="solid"/>
                      <a:round/>
                      <a:headEnd type="none" w="med" len="med"/>
                      <a:tailEnd type="none" w="med" len="med"/>
                    </a:lnT>
                    <a:lnB w="6350" cap="flat" cmpd="sng" algn="ctr">
                      <a:solidFill>
                        <a:srgbClr val="FF0000"/>
                      </a:solidFill>
                      <a:prstDash val="solid"/>
                      <a:round/>
                      <a:headEnd type="none" w="med" len="med"/>
                      <a:tailEnd type="none" w="med" len="med"/>
                    </a:lnB>
                    <a:solidFill>
                      <a:srgbClr val="FF0000"/>
                    </a:solidFill>
                  </a:tcPr>
                </a:tc>
                <a:tc>
                  <a:txBody>
                    <a:bodyPr/>
                    <a:lstStyle/>
                    <a:p>
                      <a:pPr algn="ctr" fontAlgn="ctr"/>
                      <a:r>
                        <a:rPr lang="pt-BR" sz="1100" b="1" i="0" u="none" strike="noStrike">
                          <a:solidFill>
                            <a:srgbClr val="FFFFFF"/>
                          </a:solidFill>
                          <a:effectLst/>
                          <a:latin typeface="Calibri"/>
                        </a:rPr>
                        <a:t>Quantidade</a:t>
                      </a:r>
                    </a:p>
                  </a:txBody>
                  <a:tcPr marL="9525" marR="9525" marT="9525" marB="0" anchor="ctr">
                    <a:lnL w="6350" cap="flat" cmpd="sng" algn="ctr">
                      <a:solidFill>
                        <a:srgbClr val="FF0000"/>
                      </a:solidFill>
                      <a:prstDash val="solid"/>
                      <a:round/>
                      <a:headEnd type="none" w="med" len="med"/>
                      <a:tailEnd type="none" w="med" len="med"/>
                    </a:lnL>
                    <a:lnR w="6350" cap="flat" cmpd="sng" algn="ctr">
                      <a:solidFill>
                        <a:srgbClr val="FF0000"/>
                      </a:solidFill>
                      <a:prstDash val="solid"/>
                      <a:round/>
                      <a:headEnd type="none" w="med" len="med"/>
                      <a:tailEnd type="none" w="med" len="med"/>
                    </a:lnR>
                    <a:lnT w="6350" cap="flat" cmpd="sng" algn="ctr">
                      <a:solidFill>
                        <a:srgbClr val="FF0000"/>
                      </a:solidFill>
                      <a:prstDash val="solid"/>
                      <a:round/>
                      <a:headEnd type="none" w="med" len="med"/>
                      <a:tailEnd type="none" w="med" len="med"/>
                    </a:lnT>
                    <a:lnB w="6350" cap="flat" cmpd="sng" algn="ctr">
                      <a:solidFill>
                        <a:srgbClr val="FF0000"/>
                      </a:solidFill>
                      <a:prstDash val="solid"/>
                      <a:round/>
                      <a:headEnd type="none" w="med" len="med"/>
                      <a:tailEnd type="none" w="med" len="med"/>
                    </a:lnB>
                    <a:solidFill>
                      <a:srgbClr val="FF0000"/>
                    </a:solidFill>
                  </a:tcPr>
                </a:tc>
                <a:tc>
                  <a:txBody>
                    <a:bodyPr/>
                    <a:lstStyle/>
                    <a:p>
                      <a:pPr algn="ctr" fontAlgn="ctr"/>
                      <a:r>
                        <a:rPr lang="pt-BR" sz="1100" b="1" i="0" u="none" strike="noStrike">
                          <a:solidFill>
                            <a:srgbClr val="FFFFFF"/>
                          </a:solidFill>
                          <a:effectLst/>
                          <a:latin typeface="Calibri"/>
                        </a:rPr>
                        <a:t>%</a:t>
                      </a:r>
                    </a:p>
                  </a:txBody>
                  <a:tcPr marL="9525" marR="9525" marT="9525" marB="0" anchor="ctr">
                    <a:lnL w="6350" cap="flat" cmpd="sng" algn="ctr">
                      <a:solidFill>
                        <a:srgbClr val="FF0000"/>
                      </a:solidFill>
                      <a:prstDash val="solid"/>
                      <a:round/>
                      <a:headEnd type="none" w="med" len="med"/>
                      <a:tailEnd type="none" w="med" len="med"/>
                    </a:lnL>
                    <a:lnR w="6350" cap="flat" cmpd="sng" algn="ctr">
                      <a:solidFill>
                        <a:srgbClr val="FF0000"/>
                      </a:solidFill>
                      <a:prstDash val="solid"/>
                      <a:round/>
                      <a:headEnd type="none" w="med" len="med"/>
                      <a:tailEnd type="none" w="med" len="med"/>
                    </a:lnR>
                    <a:lnT w="6350" cap="flat" cmpd="sng" algn="ctr">
                      <a:solidFill>
                        <a:srgbClr val="FF0000"/>
                      </a:solidFill>
                      <a:prstDash val="solid"/>
                      <a:round/>
                      <a:headEnd type="none" w="med" len="med"/>
                      <a:tailEnd type="none" w="med" len="med"/>
                    </a:lnT>
                    <a:lnB w="6350" cap="flat" cmpd="sng" algn="ctr">
                      <a:solidFill>
                        <a:srgbClr val="FF0000"/>
                      </a:solidFill>
                      <a:prstDash val="solid"/>
                      <a:round/>
                      <a:headEnd type="none" w="med" len="med"/>
                      <a:tailEnd type="none" w="med" len="med"/>
                    </a:lnB>
                    <a:solidFill>
                      <a:srgbClr val="FF0000"/>
                    </a:solidFill>
                  </a:tcPr>
                </a:tc>
              </a:tr>
              <a:tr h="190500">
                <a:tc>
                  <a:txBody>
                    <a:bodyPr/>
                    <a:lstStyle/>
                    <a:p>
                      <a:pPr algn="l" fontAlgn="b"/>
                      <a:r>
                        <a:rPr lang="pt-BR" sz="1100" b="0" i="0" u="none" strike="noStrike" dirty="0" err="1">
                          <a:solidFill>
                            <a:srgbClr val="000000"/>
                          </a:solidFill>
                          <a:effectLst/>
                          <a:latin typeface="Calibri"/>
                        </a:rPr>
                        <a:t>Headset</a:t>
                      </a:r>
                      <a:endParaRPr lang="pt-BR" sz="1100" b="0" i="0" u="none" strike="noStrike" dirty="0">
                        <a:solidFill>
                          <a:srgbClr val="000000"/>
                        </a:solidFill>
                        <a:effectLst/>
                        <a:latin typeface="Calibri"/>
                      </a:endParaRPr>
                    </a:p>
                  </a:txBody>
                  <a:tcPr marL="9525" marR="9525" marT="9525" marB="0" anchor="b">
                    <a:lnL w="6350" cap="flat" cmpd="sng" algn="ctr">
                      <a:solidFill>
                        <a:srgbClr val="FF0000"/>
                      </a:solidFill>
                      <a:prstDash val="solid"/>
                      <a:round/>
                      <a:headEnd type="none" w="med" len="med"/>
                      <a:tailEnd type="none" w="med" len="med"/>
                    </a:lnL>
                    <a:lnR w="6350" cap="flat" cmpd="sng" algn="ctr">
                      <a:solidFill>
                        <a:srgbClr val="FF0000"/>
                      </a:solidFill>
                      <a:prstDash val="solid"/>
                      <a:round/>
                      <a:headEnd type="none" w="med" len="med"/>
                      <a:tailEnd type="none" w="med" len="med"/>
                    </a:lnR>
                    <a:lnT w="6350" cap="flat" cmpd="sng" algn="ctr">
                      <a:solidFill>
                        <a:srgbClr val="FF0000"/>
                      </a:solidFill>
                      <a:prstDash val="solid"/>
                      <a:round/>
                      <a:headEnd type="none" w="med" len="med"/>
                      <a:tailEnd type="none" w="med" len="med"/>
                    </a:lnT>
                    <a:lnB w="6350" cap="flat" cmpd="sng" algn="ctr">
                      <a:solidFill>
                        <a:srgbClr val="FF0000"/>
                      </a:solidFill>
                      <a:prstDash val="solid"/>
                      <a:round/>
                      <a:headEnd type="none" w="med" len="med"/>
                      <a:tailEnd type="none" w="med" len="med"/>
                    </a:lnB>
                  </a:tcPr>
                </a:tc>
                <a:tc>
                  <a:txBody>
                    <a:bodyPr/>
                    <a:lstStyle/>
                    <a:p>
                      <a:pPr algn="ctr" fontAlgn="ctr"/>
                      <a:r>
                        <a:rPr lang="pt-BR" sz="1100" b="0" i="0" u="none" strike="noStrike">
                          <a:solidFill>
                            <a:srgbClr val="000000"/>
                          </a:solidFill>
                          <a:effectLst/>
                          <a:latin typeface="Calibri"/>
                        </a:rPr>
                        <a:t>1735</a:t>
                      </a:r>
                    </a:p>
                  </a:txBody>
                  <a:tcPr marL="9525" marR="9525" marT="9525" marB="0" anchor="ctr">
                    <a:lnL w="6350" cap="flat" cmpd="sng" algn="ctr">
                      <a:solidFill>
                        <a:srgbClr val="FF0000"/>
                      </a:solidFill>
                      <a:prstDash val="solid"/>
                      <a:round/>
                      <a:headEnd type="none" w="med" len="med"/>
                      <a:tailEnd type="none" w="med" len="med"/>
                    </a:lnL>
                    <a:lnR w="6350" cap="flat" cmpd="sng" algn="ctr">
                      <a:solidFill>
                        <a:srgbClr val="FF0000"/>
                      </a:solidFill>
                      <a:prstDash val="solid"/>
                      <a:round/>
                      <a:headEnd type="none" w="med" len="med"/>
                      <a:tailEnd type="none" w="med" len="med"/>
                    </a:lnR>
                    <a:lnT w="6350" cap="flat" cmpd="sng" algn="ctr">
                      <a:solidFill>
                        <a:srgbClr val="FF0000"/>
                      </a:solidFill>
                      <a:prstDash val="solid"/>
                      <a:round/>
                      <a:headEnd type="none" w="med" len="med"/>
                      <a:tailEnd type="none" w="med" len="med"/>
                    </a:lnT>
                    <a:lnB w="6350" cap="flat" cmpd="sng" algn="ctr">
                      <a:solidFill>
                        <a:srgbClr val="FF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a:rPr>
                        <a:t>39%</a:t>
                      </a:r>
                    </a:p>
                  </a:txBody>
                  <a:tcPr marL="9525" marR="9525" marT="9525" marB="0" anchor="b">
                    <a:lnL w="6350" cap="flat" cmpd="sng" algn="ctr">
                      <a:solidFill>
                        <a:srgbClr val="FF0000"/>
                      </a:solidFill>
                      <a:prstDash val="solid"/>
                      <a:round/>
                      <a:headEnd type="none" w="med" len="med"/>
                      <a:tailEnd type="none" w="med" len="med"/>
                    </a:lnL>
                    <a:lnR w="6350" cap="flat" cmpd="sng" algn="ctr">
                      <a:solidFill>
                        <a:srgbClr val="FF0000"/>
                      </a:solidFill>
                      <a:prstDash val="solid"/>
                      <a:round/>
                      <a:headEnd type="none" w="med" len="med"/>
                      <a:tailEnd type="none" w="med" len="med"/>
                    </a:lnR>
                    <a:lnT w="6350" cap="flat" cmpd="sng" algn="ctr">
                      <a:solidFill>
                        <a:srgbClr val="FF0000"/>
                      </a:solidFill>
                      <a:prstDash val="solid"/>
                      <a:round/>
                      <a:headEnd type="none" w="med" len="med"/>
                      <a:tailEnd type="none" w="med" len="med"/>
                    </a:lnT>
                    <a:lnB w="6350" cap="flat" cmpd="sng" algn="ctr">
                      <a:solidFill>
                        <a:srgbClr val="FF0000"/>
                      </a:solidFill>
                      <a:prstDash val="solid"/>
                      <a:round/>
                      <a:headEnd type="none" w="med" len="med"/>
                      <a:tailEnd type="none" w="med" len="med"/>
                    </a:lnB>
                  </a:tcPr>
                </a:tc>
              </a:tr>
              <a:tr h="190500">
                <a:tc>
                  <a:txBody>
                    <a:bodyPr/>
                    <a:lstStyle/>
                    <a:p>
                      <a:pPr algn="l" fontAlgn="b"/>
                      <a:r>
                        <a:rPr lang="pt-BR" sz="1100" b="0" i="0" u="none" strike="noStrike">
                          <a:solidFill>
                            <a:srgbClr val="000000"/>
                          </a:solidFill>
                          <a:effectLst/>
                          <a:latin typeface="Calibri"/>
                        </a:rPr>
                        <a:t>Computador</a:t>
                      </a:r>
                    </a:p>
                  </a:txBody>
                  <a:tcPr marL="9525" marR="9525" marT="9525" marB="0" anchor="b">
                    <a:lnL w="6350" cap="flat" cmpd="sng" algn="ctr">
                      <a:solidFill>
                        <a:srgbClr val="FF0000"/>
                      </a:solidFill>
                      <a:prstDash val="solid"/>
                      <a:round/>
                      <a:headEnd type="none" w="med" len="med"/>
                      <a:tailEnd type="none" w="med" len="med"/>
                    </a:lnL>
                    <a:lnR w="6350" cap="flat" cmpd="sng" algn="ctr">
                      <a:solidFill>
                        <a:srgbClr val="FF0000"/>
                      </a:solidFill>
                      <a:prstDash val="solid"/>
                      <a:round/>
                      <a:headEnd type="none" w="med" len="med"/>
                      <a:tailEnd type="none" w="med" len="med"/>
                    </a:lnR>
                    <a:lnT w="6350" cap="flat" cmpd="sng" algn="ctr">
                      <a:solidFill>
                        <a:srgbClr val="FF0000"/>
                      </a:solidFill>
                      <a:prstDash val="solid"/>
                      <a:round/>
                      <a:headEnd type="none" w="med" len="med"/>
                      <a:tailEnd type="none" w="med" len="med"/>
                    </a:lnT>
                    <a:lnB w="6350" cap="flat" cmpd="sng" algn="ctr">
                      <a:solidFill>
                        <a:srgbClr val="FF0000"/>
                      </a:solidFill>
                      <a:prstDash val="solid"/>
                      <a:round/>
                      <a:headEnd type="none" w="med" len="med"/>
                      <a:tailEnd type="none" w="med" len="med"/>
                    </a:lnB>
                  </a:tcPr>
                </a:tc>
                <a:tc>
                  <a:txBody>
                    <a:bodyPr/>
                    <a:lstStyle/>
                    <a:p>
                      <a:pPr algn="ctr" fontAlgn="ctr"/>
                      <a:r>
                        <a:rPr lang="pt-BR" sz="1100" b="0" i="0" u="none" strike="noStrike" dirty="0">
                          <a:solidFill>
                            <a:srgbClr val="000000"/>
                          </a:solidFill>
                          <a:effectLst/>
                          <a:latin typeface="Calibri"/>
                        </a:rPr>
                        <a:t>1295</a:t>
                      </a:r>
                    </a:p>
                  </a:txBody>
                  <a:tcPr marL="9525" marR="9525" marT="9525" marB="0" anchor="ctr">
                    <a:lnL w="6350" cap="flat" cmpd="sng" algn="ctr">
                      <a:solidFill>
                        <a:srgbClr val="FF0000"/>
                      </a:solidFill>
                      <a:prstDash val="solid"/>
                      <a:round/>
                      <a:headEnd type="none" w="med" len="med"/>
                      <a:tailEnd type="none" w="med" len="med"/>
                    </a:lnL>
                    <a:lnR w="6350" cap="flat" cmpd="sng" algn="ctr">
                      <a:solidFill>
                        <a:srgbClr val="FF0000"/>
                      </a:solidFill>
                      <a:prstDash val="solid"/>
                      <a:round/>
                      <a:headEnd type="none" w="med" len="med"/>
                      <a:tailEnd type="none" w="med" len="med"/>
                    </a:lnR>
                    <a:lnT w="6350" cap="flat" cmpd="sng" algn="ctr">
                      <a:solidFill>
                        <a:srgbClr val="FF0000"/>
                      </a:solidFill>
                      <a:prstDash val="solid"/>
                      <a:round/>
                      <a:headEnd type="none" w="med" len="med"/>
                      <a:tailEnd type="none" w="med" len="med"/>
                    </a:lnT>
                    <a:lnB w="6350" cap="flat" cmpd="sng" algn="ctr">
                      <a:solidFill>
                        <a:srgbClr val="FF0000"/>
                      </a:solidFill>
                      <a:prstDash val="solid"/>
                      <a:round/>
                      <a:headEnd type="none" w="med" len="med"/>
                      <a:tailEnd type="none" w="med" len="med"/>
                    </a:lnB>
                  </a:tcPr>
                </a:tc>
                <a:tc>
                  <a:txBody>
                    <a:bodyPr/>
                    <a:lstStyle/>
                    <a:p>
                      <a:pPr algn="ctr" fontAlgn="b"/>
                      <a:r>
                        <a:rPr lang="pt-BR" sz="1100" b="0" i="0" u="none" strike="noStrike">
                          <a:solidFill>
                            <a:srgbClr val="000000"/>
                          </a:solidFill>
                          <a:effectLst/>
                          <a:latin typeface="Calibri"/>
                        </a:rPr>
                        <a:t>29%</a:t>
                      </a:r>
                    </a:p>
                  </a:txBody>
                  <a:tcPr marL="9525" marR="9525" marT="9525" marB="0" anchor="b">
                    <a:lnL w="6350" cap="flat" cmpd="sng" algn="ctr">
                      <a:solidFill>
                        <a:srgbClr val="FF0000"/>
                      </a:solidFill>
                      <a:prstDash val="solid"/>
                      <a:round/>
                      <a:headEnd type="none" w="med" len="med"/>
                      <a:tailEnd type="none" w="med" len="med"/>
                    </a:lnL>
                    <a:lnR w="6350" cap="flat" cmpd="sng" algn="ctr">
                      <a:solidFill>
                        <a:srgbClr val="FF0000"/>
                      </a:solidFill>
                      <a:prstDash val="solid"/>
                      <a:round/>
                      <a:headEnd type="none" w="med" len="med"/>
                      <a:tailEnd type="none" w="med" len="med"/>
                    </a:lnR>
                    <a:lnT w="6350" cap="flat" cmpd="sng" algn="ctr">
                      <a:solidFill>
                        <a:srgbClr val="FF0000"/>
                      </a:solidFill>
                      <a:prstDash val="solid"/>
                      <a:round/>
                      <a:headEnd type="none" w="med" len="med"/>
                      <a:tailEnd type="none" w="med" len="med"/>
                    </a:lnT>
                    <a:lnB w="6350" cap="flat" cmpd="sng" algn="ctr">
                      <a:solidFill>
                        <a:srgbClr val="FF0000"/>
                      </a:solidFill>
                      <a:prstDash val="solid"/>
                      <a:round/>
                      <a:headEnd type="none" w="med" len="med"/>
                      <a:tailEnd type="none" w="med" len="med"/>
                    </a:lnB>
                  </a:tcPr>
                </a:tc>
              </a:tr>
              <a:tr h="190500">
                <a:tc>
                  <a:txBody>
                    <a:bodyPr/>
                    <a:lstStyle/>
                    <a:p>
                      <a:pPr algn="l" fontAlgn="b"/>
                      <a:r>
                        <a:rPr lang="pt-BR" sz="1100" b="0" i="0" u="none" strike="noStrike">
                          <a:solidFill>
                            <a:srgbClr val="000000"/>
                          </a:solidFill>
                          <a:effectLst/>
                          <a:latin typeface="Calibri"/>
                        </a:rPr>
                        <a:t>Mouse</a:t>
                      </a:r>
                    </a:p>
                  </a:txBody>
                  <a:tcPr marL="9525" marR="9525" marT="9525" marB="0" anchor="b">
                    <a:lnL w="6350" cap="flat" cmpd="sng" algn="ctr">
                      <a:solidFill>
                        <a:srgbClr val="FF0000"/>
                      </a:solidFill>
                      <a:prstDash val="solid"/>
                      <a:round/>
                      <a:headEnd type="none" w="med" len="med"/>
                      <a:tailEnd type="none" w="med" len="med"/>
                    </a:lnL>
                    <a:lnR w="6350" cap="flat" cmpd="sng" algn="ctr">
                      <a:solidFill>
                        <a:srgbClr val="FF0000"/>
                      </a:solidFill>
                      <a:prstDash val="solid"/>
                      <a:round/>
                      <a:headEnd type="none" w="med" len="med"/>
                      <a:tailEnd type="none" w="med" len="med"/>
                    </a:lnR>
                    <a:lnT w="6350" cap="flat" cmpd="sng" algn="ctr">
                      <a:solidFill>
                        <a:srgbClr val="FF0000"/>
                      </a:solidFill>
                      <a:prstDash val="solid"/>
                      <a:round/>
                      <a:headEnd type="none" w="med" len="med"/>
                      <a:tailEnd type="none" w="med" len="med"/>
                    </a:lnT>
                    <a:lnB w="6350" cap="flat" cmpd="sng" algn="ctr">
                      <a:solidFill>
                        <a:srgbClr val="FF0000"/>
                      </a:solidFill>
                      <a:prstDash val="solid"/>
                      <a:round/>
                      <a:headEnd type="none" w="med" len="med"/>
                      <a:tailEnd type="none" w="med" len="med"/>
                    </a:lnB>
                  </a:tcPr>
                </a:tc>
                <a:tc>
                  <a:txBody>
                    <a:bodyPr/>
                    <a:lstStyle/>
                    <a:p>
                      <a:pPr algn="ctr" fontAlgn="ctr"/>
                      <a:r>
                        <a:rPr lang="pt-BR" sz="1100" b="0" i="0" u="none" strike="noStrike">
                          <a:solidFill>
                            <a:srgbClr val="000000"/>
                          </a:solidFill>
                          <a:effectLst/>
                          <a:latin typeface="Calibri"/>
                        </a:rPr>
                        <a:t>562</a:t>
                      </a:r>
                    </a:p>
                  </a:txBody>
                  <a:tcPr marL="9525" marR="9525" marT="9525" marB="0" anchor="ctr">
                    <a:lnL w="6350" cap="flat" cmpd="sng" algn="ctr">
                      <a:solidFill>
                        <a:srgbClr val="FF0000"/>
                      </a:solidFill>
                      <a:prstDash val="solid"/>
                      <a:round/>
                      <a:headEnd type="none" w="med" len="med"/>
                      <a:tailEnd type="none" w="med" len="med"/>
                    </a:lnL>
                    <a:lnR w="6350" cap="flat" cmpd="sng" algn="ctr">
                      <a:solidFill>
                        <a:srgbClr val="FF0000"/>
                      </a:solidFill>
                      <a:prstDash val="solid"/>
                      <a:round/>
                      <a:headEnd type="none" w="med" len="med"/>
                      <a:tailEnd type="none" w="med" len="med"/>
                    </a:lnR>
                    <a:lnT w="6350" cap="flat" cmpd="sng" algn="ctr">
                      <a:solidFill>
                        <a:srgbClr val="FF0000"/>
                      </a:solidFill>
                      <a:prstDash val="solid"/>
                      <a:round/>
                      <a:headEnd type="none" w="med" len="med"/>
                      <a:tailEnd type="none" w="med" len="med"/>
                    </a:lnT>
                    <a:lnB w="6350" cap="flat" cmpd="sng" algn="ctr">
                      <a:solidFill>
                        <a:srgbClr val="FF0000"/>
                      </a:solidFill>
                      <a:prstDash val="solid"/>
                      <a:round/>
                      <a:headEnd type="none" w="med" len="med"/>
                      <a:tailEnd type="none" w="med" len="med"/>
                    </a:lnB>
                  </a:tcPr>
                </a:tc>
                <a:tc>
                  <a:txBody>
                    <a:bodyPr/>
                    <a:lstStyle/>
                    <a:p>
                      <a:pPr algn="ctr" fontAlgn="b"/>
                      <a:r>
                        <a:rPr lang="pt-BR" sz="1100" b="0" i="0" u="none" strike="noStrike">
                          <a:solidFill>
                            <a:srgbClr val="000000"/>
                          </a:solidFill>
                          <a:effectLst/>
                          <a:latin typeface="Calibri"/>
                        </a:rPr>
                        <a:t>13%</a:t>
                      </a:r>
                    </a:p>
                  </a:txBody>
                  <a:tcPr marL="9525" marR="9525" marT="9525" marB="0" anchor="b">
                    <a:lnL w="6350" cap="flat" cmpd="sng" algn="ctr">
                      <a:solidFill>
                        <a:srgbClr val="FF0000"/>
                      </a:solidFill>
                      <a:prstDash val="solid"/>
                      <a:round/>
                      <a:headEnd type="none" w="med" len="med"/>
                      <a:tailEnd type="none" w="med" len="med"/>
                    </a:lnL>
                    <a:lnR w="6350" cap="flat" cmpd="sng" algn="ctr">
                      <a:solidFill>
                        <a:srgbClr val="FF0000"/>
                      </a:solidFill>
                      <a:prstDash val="solid"/>
                      <a:round/>
                      <a:headEnd type="none" w="med" len="med"/>
                      <a:tailEnd type="none" w="med" len="med"/>
                    </a:lnR>
                    <a:lnT w="6350" cap="flat" cmpd="sng" algn="ctr">
                      <a:solidFill>
                        <a:srgbClr val="FF0000"/>
                      </a:solidFill>
                      <a:prstDash val="solid"/>
                      <a:round/>
                      <a:headEnd type="none" w="med" len="med"/>
                      <a:tailEnd type="none" w="med" len="med"/>
                    </a:lnT>
                    <a:lnB w="6350" cap="flat" cmpd="sng" algn="ctr">
                      <a:solidFill>
                        <a:srgbClr val="FF0000"/>
                      </a:solidFill>
                      <a:prstDash val="solid"/>
                      <a:round/>
                      <a:headEnd type="none" w="med" len="med"/>
                      <a:tailEnd type="none" w="med" len="med"/>
                    </a:lnB>
                  </a:tcPr>
                </a:tc>
              </a:tr>
              <a:tr h="190500">
                <a:tc>
                  <a:txBody>
                    <a:bodyPr/>
                    <a:lstStyle/>
                    <a:p>
                      <a:pPr algn="l" fontAlgn="b"/>
                      <a:r>
                        <a:rPr lang="pt-BR" sz="1100" b="0" i="0" u="none" strike="noStrike">
                          <a:solidFill>
                            <a:srgbClr val="000000"/>
                          </a:solidFill>
                          <a:effectLst/>
                          <a:latin typeface="Calibri"/>
                        </a:rPr>
                        <a:t>Teclado</a:t>
                      </a:r>
                    </a:p>
                  </a:txBody>
                  <a:tcPr marL="9525" marR="9525" marT="9525" marB="0" anchor="b">
                    <a:lnL w="6350" cap="flat" cmpd="sng" algn="ctr">
                      <a:solidFill>
                        <a:srgbClr val="FF0000"/>
                      </a:solidFill>
                      <a:prstDash val="solid"/>
                      <a:round/>
                      <a:headEnd type="none" w="med" len="med"/>
                      <a:tailEnd type="none" w="med" len="med"/>
                    </a:lnL>
                    <a:lnR w="6350" cap="flat" cmpd="sng" algn="ctr">
                      <a:solidFill>
                        <a:srgbClr val="FF0000"/>
                      </a:solidFill>
                      <a:prstDash val="solid"/>
                      <a:round/>
                      <a:headEnd type="none" w="med" len="med"/>
                      <a:tailEnd type="none" w="med" len="med"/>
                    </a:lnR>
                    <a:lnT w="6350" cap="flat" cmpd="sng" algn="ctr">
                      <a:solidFill>
                        <a:srgbClr val="FF0000"/>
                      </a:solidFill>
                      <a:prstDash val="solid"/>
                      <a:round/>
                      <a:headEnd type="none" w="med" len="med"/>
                      <a:tailEnd type="none" w="med" len="med"/>
                    </a:lnT>
                    <a:lnB w="6350" cap="flat" cmpd="sng" algn="ctr">
                      <a:solidFill>
                        <a:srgbClr val="FF0000"/>
                      </a:solidFill>
                      <a:prstDash val="solid"/>
                      <a:round/>
                      <a:headEnd type="none" w="med" len="med"/>
                      <a:tailEnd type="none" w="med" len="med"/>
                    </a:lnB>
                  </a:tcPr>
                </a:tc>
                <a:tc>
                  <a:txBody>
                    <a:bodyPr/>
                    <a:lstStyle/>
                    <a:p>
                      <a:pPr algn="ctr" fontAlgn="ctr"/>
                      <a:r>
                        <a:rPr lang="pt-BR" sz="1100" b="0" i="0" u="none" strike="noStrike">
                          <a:solidFill>
                            <a:srgbClr val="000000"/>
                          </a:solidFill>
                          <a:effectLst/>
                          <a:latin typeface="Calibri"/>
                        </a:rPr>
                        <a:t>288</a:t>
                      </a:r>
                    </a:p>
                  </a:txBody>
                  <a:tcPr marL="9525" marR="9525" marT="9525" marB="0" anchor="ctr">
                    <a:lnL w="6350" cap="flat" cmpd="sng" algn="ctr">
                      <a:solidFill>
                        <a:srgbClr val="FF0000"/>
                      </a:solidFill>
                      <a:prstDash val="solid"/>
                      <a:round/>
                      <a:headEnd type="none" w="med" len="med"/>
                      <a:tailEnd type="none" w="med" len="med"/>
                    </a:lnL>
                    <a:lnR w="6350" cap="flat" cmpd="sng" algn="ctr">
                      <a:solidFill>
                        <a:srgbClr val="FF0000"/>
                      </a:solidFill>
                      <a:prstDash val="solid"/>
                      <a:round/>
                      <a:headEnd type="none" w="med" len="med"/>
                      <a:tailEnd type="none" w="med" len="med"/>
                    </a:lnR>
                    <a:lnT w="6350" cap="flat" cmpd="sng" algn="ctr">
                      <a:solidFill>
                        <a:srgbClr val="FF0000"/>
                      </a:solidFill>
                      <a:prstDash val="solid"/>
                      <a:round/>
                      <a:headEnd type="none" w="med" len="med"/>
                      <a:tailEnd type="none" w="med" len="med"/>
                    </a:lnT>
                    <a:lnB w="6350" cap="flat" cmpd="sng" algn="ctr">
                      <a:solidFill>
                        <a:srgbClr val="FF0000"/>
                      </a:solidFill>
                      <a:prstDash val="solid"/>
                      <a:round/>
                      <a:headEnd type="none" w="med" len="med"/>
                      <a:tailEnd type="none" w="med" len="med"/>
                    </a:lnB>
                  </a:tcPr>
                </a:tc>
                <a:tc>
                  <a:txBody>
                    <a:bodyPr/>
                    <a:lstStyle/>
                    <a:p>
                      <a:pPr algn="ctr" fontAlgn="b"/>
                      <a:r>
                        <a:rPr lang="pt-BR" sz="1100" b="0" i="0" u="none" strike="noStrike">
                          <a:solidFill>
                            <a:srgbClr val="000000"/>
                          </a:solidFill>
                          <a:effectLst/>
                          <a:latin typeface="Calibri"/>
                        </a:rPr>
                        <a:t>7%</a:t>
                      </a:r>
                    </a:p>
                  </a:txBody>
                  <a:tcPr marL="9525" marR="9525" marT="9525" marB="0" anchor="b">
                    <a:lnL w="6350" cap="flat" cmpd="sng" algn="ctr">
                      <a:solidFill>
                        <a:srgbClr val="FF0000"/>
                      </a:solidFill>
                      <a:prstDash val="solid"/>
                      <a:round/>
                      <a:headEnd type="none" w="med" len="med"/>
                      <a:tailEnd type="none" w="med" len="med"/>
                    </a:lnL>
                    <a:lnR w="6350" cap="flat" cmpd="sng" algn="ctr">
                      <a:solidFill>
                        <a:srgbClr val="FF0000"/>
                      </a:solidFill>
                      <a:prstDash val="solid"/>
                      <a:round/>
                      <a:headEnd type="none" w="med" len="med"/>
                      <a:tailEnd type="none" w="med" len="med"/>
                    </a:lnR>
                    <a:lnT w="6350" cap="flat" cmpd="sng" algn="ctr">
                      <a:solidFill>
                        <a:srgbClr val="FF0000"/>
                      </a:solidFill>
                      <a:prstDash val="solid"/>
                      <a:round/>
                      <a:headEnd type="none" w="med" len="med"/>
                      <a:tailEnd type="none" w="med" len="med"/>
                    </a:lnT>
                    <a:lnB w="6350" cap="flat" cmpd="sng" algn="ctr">
                      <a:solidFill>
                        <a:srgbClr val="FF0000"/>
                      </a:solidFill>
                      <a:prstDash val="solid"/>
                      <a:round/>
                      <a:headEnd type="none" w="med" len="med"/>
                      <a:tailEnd type="none" w="med" len="med"/>
                    </a:lnB>
                  </a:tcPr>
                </a:tc>
              </a:tr>
              <a:tr h="190500">
                <a:tc>
                  <a:txBody>
                    <a:bodyPr/>
                    <a:lstStyle/>
                    <a:p>
                      <a:pPr algn="l" fontAlgn="b"/>
                      <a:r>
                        <a:rPr lang="pt-BR" sz="1100" b="0" i="0" u="none" strike="noStrike">
                          <a:solidFill>
                            <a:srgbClr val="000000"/>
                          </a:solidFill>
                          <a:effectLst/>
                          <a:latin typeface="Calibri"/>
                        </a:rPr>
                        <a:t>Telefone</a:t>
                      </a:r>
                    </a:p>
                  </a:txBody>
                  <a:tcPr marL="9525" marR="9525" marT="9525" marB="0" anchor="b">
                    <a:lnL w="6350" cap="flat" cmpd="sng" algn="ctr">
                      <a:solidFill>
                        <a:srgbClr val="FF0000"/>
                      </a:solidFill>
                      <a:prstDash val="solid"/>
                      <a:round/>
                      <a:headEnd type="none" w="med" len="med"/>
                      <a:tailEnd type="none" w="med" len="med"/>
                    </a:lnL>
                    <a:lnR w="6350" cap="flat" cmpd="sng" algn="ctr">
                      <a:solidFill>
                        <a:srgbClr val="FF0000"/>
                      </a:solidFill>
                      <a:prstDash val="solid"/>
                      <a:round/>
                      <a:headEnd type="none" w="med" len="med"/>
                      <a:tailEnd type="none" w="med" len="med"/>
                    </a:lnR>
                    <a:lnT w="6350" cap="flat" cmpd="sng" algn="ctr">
                      <a:solidFill>
                        <a:srgbClr val="FF0000"/>
                      </a:solidFill>
                      <a:prstDash val="solid"/>
                      <a:round/>
                      <a:headEnd type="none" w="med" len="med"/>
                      <a:tailEnd type="none" w="med" len="med"/>
                    </a:lnT>
                    <a:lnB w="6350" cap="flat" cmpd="sng" algn="ctr">
                      <a:solidFill>
                        <a:srgbClr val="FF0000"/>
                      </a:solidFill>
                      <a:prstDash val="solid"/>
                      <a:round/>
                      <a:headEnd type="none" w="med" len="med"/>
                      <a:tailEnd type="none" w="med" len="med"/>
                    </a:lnB>
                  </a:tcPr>
                </a:tc>
                <a:tc>
                  <a:txBody>
                    <a:bodyPr/>
                    <a:lstStyle/>
                    <a:p>
                      <a:pPr algn="ctr" fontAlgn="ctr"/>
                      <a:r>
                        <a:rPr lang="pt-BR" sz="1100" b="0" i="0" u="none" strike="noStrike">
                          <a:solidFill>
                            <a:srgbClr val="000000"/>
                          </a:solidFill>
                          <a:effectLst/>
                          <a:latin typeface="Calibri"/>
                        </a:rPr>
                        <a:t>258</a:t>
                      </a:r>
                    </a:p>
                  </a:txBody>
                  <a:tcPr marL="9525" marR="9525" marT="9525" marB="0" anchor="ctr">
                    <a:lnL w="6350" cap="flat" cmpd="sng" algn="ctr">
                      <a:solidFill>
                        <a:srgbClr val="FF0000"/>
                      </a:solidFill>
                      <a:prstDash val="solid"/>
                      <a:round/>
                      <a:headEnd type="none" w="med" len="med"/>
                      <a:tailEnd type="none" w="med" len="med"/>
                    </a:lnL>
                    <a:lnR w="6350" cap="flat" cmpd="sng" algn="ctr">
                      <a:solidFill>
                        <a:srgbClr val="FF0000"/>
                      </a:solidFill>
                      <a:prstDash val="solid"/>
                      <a:round/>
                      <a:headEnd type="none" w="med" len="med"/>
                      <a:tailEnd type="none" w="med" len="med"/>
                    </a:lnR>
                    <a:lnT w="6350" cap="flat" cmpd="sng" algn="ctr">
                      <a:solidFill>
                        <a:srgbClr val="FF0000"/>
                      </a:solidFill>
                      <a:prstDash val="solid"/>
                      <a:round/>
                      <a:headEnd type="none" w="med" len="med"/>
                      <a:tailEnd type="none" w="med" len="med"/>
                    </a:lnT>
                    <a:lnB w="6350" cap="flat" cmpd="sng" algn="ctr">
                      <a:solidFill>
                        <a:srgbClr val="FF0000"/>
                      </a:solidFill>
                      <a:prstDash val="solid"/>
                      <a:round/>
                      <a:headEnd type="none" w="med" len="med"/>
                      <a:tailEnd type="none" w="med" len="med"/>
                    </a:lnB>
                  </a:tcPr>
                </a:tc>
                <a:tc>
                  <a:txBody>
                    <a:bodyPr/>
                    <a:lstStyle/>
                    <a:p>
                      <a:pPr algn="ctr" fontAlgn="b"/>
                      <a:r>
                        <a:rPr lang="pt-BR" sz="1100" b="0" i="0" u="none" strike="noStrike">
                          <a:solidFill>
                            <a:srgbClr val="000000"/>
                          </a:solidFill>
                          <a:effectLst/>
                          <a:latin typeface="Calibri"/>
                        </a:rPr>
                        <a:t>6%</a:t>
                      </a:r>
                    </a:p>
                  </a:txBody>
                  <a:tcPr marL="9525" marR="9525" marT="9525" marB="0" anchor="b">
                    <a:lnL w="6350" cap="flat" cmpd="sng" algn="ctr">
                      <a:solidFill>
                        <a:srgbClr val="FF0000"/>
                      </a:solidFill>
                      <a:prstDash val="solid"/>
                      <a:round/>
                      <a:headEnd type="none" w="med" len="med"/>
                      <a:tailEnd type="none" w="med" len="med"/>
                    </a:lnL>
                    <a:lnR w="6350" cap="flat" cmpd="sng" algn="ctr">
                      <a:solidFill>
                        <a:srgbClr val="FF0000"/>
                      </a:solidFill>
                      <a:prstDash val="solid"/>
                      <a:round/>
                      <a:headEnd type="none" w="med" len="med"/>
                      <a:tailEnd type="none" w="med" len="med"/>
                    </a:lnR>
                    <a:lnT w="6350" cap="flat" cmpd="sng" algn="ctr">
                      <a:solidFill>
                        <a:srgbClr val="FF0000"/>
                      </a:solidFill>
                      <a:prstDash val="solid"/>
                      <a:round/>
                      <a:headEnd type="none" w="med" len="med"/>
                      <a:tailEnd type="none" w="med" len="med"/>
                    </a:lnT>
                    <a:lnB w="6350" cap="flat" cmpd="sng" algn="ctr">
                      <a:solidFill>
                        <a:srgbClr val="FF0000"/>
                      </a:solidFill>
                      <a:prstDash val="solid"/>
                      <a:round/>
                      <a:headEnd type="none" w="med" len="med"/>
                      <a:tailEnd type="none" w="med" len="med"/>
                    </a:lnB>
                  </a:tcPr>
                </a:tc>
              </a:tr>
              <a:tr h="190500">
                <a:tc>
                  <a:txBody>
                    <a:bodyPr/>
                    <a:lstStyle/>
                    <a:p>
                      <a:pPr algn="l" fontAlgn="b"/>
                      <a:r>
                        <a:rPr lang="pt-BR" sz="1100" b="0" i="0" u="none" strike="noStrike">
                          <a:solidFill>
                            <a:srgbClr val="000000"/>
                          </a:solidFill>
                          <a:effectLst/>
                          <a:latin typeface="Calibri"/>
                        </a:rPr>
                        <a:t>Monitor</a:t>
                      </a:r>
                    </a:p>
                  </a:txBody>
                  <a:tcPr marL="9525" marR="9525" marT="9525" marB="0" anchor="b">
                    <a:lnL w="6350" cap="flat" cmpd="sng" algn="ctr">
                      <a:solidFill>
                        <a:srgbClr val="FF0000"/>
                      </a:solidFill>
                      <a:prstDash val="solid"/>
                      <a:round/>
                      <a:headEnd type="none" w="med" len="med"/>
                      <a:tailEnd type="none" w="med" len="med"/>
                    </a:lnL>
                    <a:lnR w="6350" cap="flat" cmpd="sng" algn="ctr">
                      <a:solidFill>
                        <a:srgbClr val="FF0000"/>
                      </a:solidFill>
                      <a:prstDash val="solid"/>
                      <a:round/>
                      <a:headEnd type="none" w="med" len="med"/>
                      <a:tailEnd type="none" w="med" len="med"/>
                    </a:lnR>
                    <a:lnT w="6350" cap="flat" cmpd="sng" algn="ctr">
                      <a:solidFill>
                        <a:srgbClr val="FF0000"/>
                      </a:solidFill>
                      <a:prstDash val="solid"/>
                      <a:round/>
                      <a:headEnd type="none" w="med" len="med"/>
                      <a:tailEnd type="none" w="med" len="med"/>
                    </a:lnT>
                    <a:lnB w="6350" cap="flat" cmpd="sng" algn="ctr">
                      <a:solidFill>
                        <a:srgbClr val="FF0000"/>
                      </a:solidFill>
                      <a:prstDash val="solid"/>
                      <a:round/>
                      <a:headEnd type="none" w="med" len="med"/>
                      <a:tailEnd type="none" w="med" len="med"/>
                    </a:lnB>
                  </a:tcPr>
                </a:tc>
                <a:tc>
                  <a:txBody>
                    <a:bodyPr/>
                    <a:lstStyle/>
                    <a:p>
                      <a:pPr algn="ctr" fontAlgn="ctr"/>
                      <a:r>
                        <a:rPr lang="pt-BR" sz="1100" b="0" i="0" u="none" strike="noStrike">
                          <a:solidFill>
                            <a:srgbClr val="000000"/>
                          </a:solidFill>
                          <a:effectLst/>
                          <a:latin typeface="Calibri"/>
                        </a:rPr>
                        <a:t>242</a:t>
                      </a:r>
                    </a:p>
                  </a:txBody>
                  <a:tcPr marL="9525" marR="9525" marT="9525" marB="0" anchor="ctr">
                    <a:lnL w="6350" cap="flat" cmpd="sng" algn="ctr">
                      <a:solidFill>
                        <a:srgbClr val="FF0000"/>
                      </a:solidFill>
                      <a:prstDash val="solid"/>
                      <a:round/>
                      <a:headEnd type="none" w="med" len="med"/>
                      <a:tailEnd type="none" w="med" len="med"/>
                    </a:lnL>
                    <a:lnR w="6350" cap="flat" cmpd="sng" algn="ctr">
                      <a:solidFill>
                        <a:srgbClr val="FF0000"/>
                      </a:solidFill>
                      <a:prstDash val="solid"/>
                      <a:round/>
                      <a:headEnd type="none" w="med" len="med"/>
                      <a:tailEnd type="none" w="med" len="med"/>
                    </a:lnR>
                    <a:lnT w="6350" cap="flat" cmpd="sng" algn="ctr">
                      <a:solidFill>
                        <a:srgbClr val="FF0000"/>
                      </a:solidFill>
                      <a:prstDash val="solid"/>
                      <a:round/>
                      <a:headEnd type="none" w="med" len="med"/>
                      <a:tailEnd type="none" w="med" len="med"/>
                    </a:lnT>
                    <a:lnB w="6350" cap="flat" cmpd="sng" algn="ctr">
                      <a:solidFill>
                        <a:srgbClr val="FF0000"/>
                      </a:solidFill>
                      <a:prstDash val="solid"/>
                      <a:round/>
                      <a:headEnd type="none" w="med" len="med"/>
                      <a:tailEnd type="none" w="med" len="med"/>
                    </a:lnB>
                  </a:tcPr>
                </a:tc>
                <a:tc>
                  <a:txBody>
                    <a:bodyPr/>
                    <a:lstStyle/>
                    <a:p>
                      <a:pPr algn="ctr" fontAlgn="b"/>
                      <a:r>
                        <a:rPr lang="pt-BR" sz="1100" b="0" i="0" u="none" strike="noStrike">
                          <a:solidFill>
                            <a:srgbClr val="000000"/>
                          </a:solidFill>
                          <a:effectLst/>
                          <a:latin typeface="Calibri"/>
                        </a:rPr>
                        <a:t>5%</a:t>
                      </a:r>
                    </a:p>
                  </a:txBody>
                  <a:tcPr marL="9525" marR="9525" marT="9525" marB="0" anchor="b">
                    <a:lnL w="6350" cap="flat" cmpd="sng" algn="ctr">
                      <a:solidFill>
                        <a:srgbClr val="FF0000"/>
                      </a:solidFill>
                      <a:prstDash val="solid"/>
                      <a:round/>
                      <a:headEnd type="none" w="med" len="med"/>
                      <a:tailEnd type="none" w="med" len="med"/>
                    </a:lnL>
                    <a:lnR w="6350" cap="flat" cmpd="sng" algn="ctr">
                      <a:solidFill>
                        <a:srgbClr val="FF0000"/>
                      </a:solidFill>
                      <a:prstDash val="solid"/>
                      <a:round/>
                      <a:headEnd type="none" w="med" len="med"/>
                      <a:tailEnd type="none" w="med" len="med"/>
                    </a:lnR>
                    <a:lnT w="6350" cap="flat" cmpd="sng" algn="ctr">
                      <a:solidFill>
                        <a:srgbClr val="FF0000"/>
                      </a:solidFill>
                      <a:prstDash val="solid"/>
                      <a:round/>
                      <a:headEnd type="none" w="med" len="med"/>
                      <a:tailEnd type="none" w="med" len="med"/>
                    </a:lnT>
                    <a:lnB w="6350" cap="flat" cmpd="sng" algn="ctr">
                      <a:solidFill>
                        <a:srgbClr val="FF0000"/>
                      </a:solidFill>
                      <a:prstDash val="solid"/>
                      <a:round/>
                      <a:headEnd type="none" w="med" len="med"/>
                      <a:tailEnd type="none" w="med" len="med"/>
                    </a:lnB>
                  </a:tcPr>
                </a:tc>
              </a:tr>
              <a:tr h="190500">
                <a:tc>
                  <a:txBody>
                    <a:bodyPr/>
                    <a:lstStyle/>
                    <a:p>
                      <a:pPr algn="l" fontAlgn="b"/>
                      <a:r>
                        <a:rPr lang="pt-BR" sz="1100" b="0" i="0" u="none" strike="noStrike">
                          <a:solidFill>
                            <a:srgbClr val="000000"/>
                          </a:solidFill>
                          <a:effectLst/>
                          <a:latin typeface="Calibri"/>
                        </a:rPr>
                        <a:t>Impressora</a:t>
                      </a:r>
                    </a:p>
                  </a:txBody>
                  <a:tcPr marL="9525" marR="9525" marT="9525" marB="0" anchor="b">
                    <a:lnL w="6350" cap="flat" cmpd="sng" algn="ctr">
                      <a:solidFill>
                        <a:srgbClr val="FF0000"/>
                      </a:solidFill>
                      <a:prstDash val="solid"/>
                      <a:round/>
                      <a:headEnd type="none" w="med" len="med"/>
                      <a:tailEnd type="none" w="med" len="med"/>
                    </a:lnL>
                    <a:lnR w="6350" cap="flat" cmpd="sng" algn="ctr">
                      <a:solidFill>
                        <a:srgbClr val="FF0000"/>
                      </a:solidFill>
                      <a:prstDash val="solid"/>
                      <a:round/>
                      <a:headEnd type="none" w="med" len="med"/>
                      <a:tailEnd type="none" w="med" len="med"/>
                    </a:lnR>
                    <a:lnT w="6350" cap="flat" cmpd="sng" algn="ctr">
                      <a:solidFill>
                        <a:srgbClr val="FF0000"/>
                      </a:solidFill>
                      <a:prstDash val="solid"/>
                      <a:round/>
                      <a:headEnd type="none" w="med" len="med"/>
                      <a:tailEnd type="none" w="med" len="med"/>
                    </a:lnT>
                    <a:lnB w="6350" cap="flat" cmpd="sng" algn="ctr">
                      <a:solidFill>
                        <a:srgbClr val="FF0000"/>
                      </a:solidFill>
                      <a:prstDash val="solid"/>
                      <a:round/>
                      <a:headEnd type="none" w="med" len="med"/>
                      <a:tailEnd type="none" w="med" len="med"/>
                    </a:lnB>
                  </a:tcPr>
                </a:tc>
                <a:tc>
                  <a:txBody>
                    <a:bodyPr/>
                    <a:lstStyle/>
                    <a:p>
                      <a:pPr algn="ctr" fontAlgn="ctr"/>
                      <a:r>
                        <a:rPr lang="pt-BR" sz="1100" b="0" i="0" u="none" strike="noStrike">
                          <a:solidFill>
                            <a:srgbClr val="000000"/>
                          </a:solidFill>
                          <a:effectLst/>
                          <a:latin typeface="Calibri"/>
                        </a:rPr>
                        <a:t>24</a:t>
                      </a:r>
                    </a:p>
                  </a:txBody>
                  <a:tcPr marL="9525" marR="9525" marT="9525" marB="0" anchor="ctr">
                    <a:lnL w="6350" cap="flat" cmpd="sng" algn="ctr">
                      <a:solidFill>
                        <a:srgbClr val="FF0000"/>
                      </a:solidFill>
                      <a:prstDash val="solid"/>
                      <a:round/>
                      <a:headEnd type="none" w="med" len="med"/>
                      <a:tailEnd type="none" w="med" len="med"/>
                    </a:lnL>
                    <a:lnR w="6350" cap="flat" cmpd="sng" algn="ctr">
                      <a:solidFill>
                        <a:srgbClr val="FF0000"/>
                      </a:solidFill>
                      <a:prstDash val="solid"/>
                      <a:round/>
                      <a:headEnd type="none" w="med" len="med"/>
                      <a:tailEnd type="none" w="med" len="med"/>
                    </a:lnR>
                    <a:lnT w="6350" cap="flat" cmpd="sng" algn="ctr">
                      <a:solidFill>
                        <a:srgbClr val="FF0000"/>
                      </a:solidFill>
                      <a:prstDash val="solid"/>
                      <a:round/>
                      <a:headEnd type="none" w="med" len="med"/>
                      <a:tailEnd type="none" w="med" len="med"/>
                    </a:lnT>
                    <a:lnB w="6350" cap="flat" cmpd="sng" algn="ctr">
                      <a:solidFill>
                        <a:srgbClr val="FF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a:rPr>
                        <a:t>1%</a:t>
                      </a:r>
                    </a:p>
                  </a:txBody>
                  <a:tcPr marL="9525" marR="9525" marT="9525" marB="0" anchor="b">
                    <a:lnL w="6350" cap="flat" cmpd="sng" algn="ctr">
                      <a:solidFill>
                        <a:srgbClr val="FF0000"/>
                      </a:solidFill>
                      <a:prstDash val="solid"/>
                      <a:round/>
                      <a:headEnd type="none" w="med" len="med"/>
                      <a:tailEnd type="none" w="med" len="med"/>
                    </a:lnL>
                    <a:lnR w="6350" cap="flat" cmpd="sng" algn="ctr">
                      <a:solidFill>
                        <a:srgbClr val="FF0000"/>
                      </a:solidFill>
                      <a:prstDash val="solid"/>
                      <a:round/>
                      <a:headEnd type="none" w="med" len="med"/>
                      <a:tailEnd type="none" w="med" len="med"/>
                    </a:lnR>
                    <a:lnT w="6350" cap="flat" cmpd="sng" algn="ctr">
                      <a:solidFill>
                        <a:srgbClr val="FF0000"/>
                      </a:solidFill>
                      <a:prstDash val="solid"/>
                      <a:round/>
                      <a:headEnd type="none" w="med" len="med"/>
                      <a:tailEnd type="none" w="med" len="med"/>
                    </a:lnT>
                    <a:lnB w="6350" cap="flat" cmpd="sng" algn="ctr">
                      <a:solidFill>
                        <a:srgbClr val="FF0000"/>
                      </a:solidFill>
                      <a:prstDash val="solid"/>
                      <a:round/>
                      <a:headEnd type="none" w="med" len="med"/>
                      <a:tailEnd type="none" w="med" len="med"/>
                    </a:lnB>
                  </a:tcPr>
                </a:tc>
              </a:tr>
              <a:tr h="190500">
                <a:tc>
                  <a:txBody>
                    <a:bodyPr/>
                    <a:lstStyle/>
                    <a:p>
                      <a:pPr algn="ctr" fontAlgn="b"/>
                      <a:r>
                        <a:rPr lang="pt-BR" sz="1100" b="1" i="0" u="none" strike="noStrike" dirty="0">
                          <a:solidFill>
                            <a:srgbClr val="000000"/>
                          </a:solidFill>
                          <a:effectLst/>
                          <a:latin typeface="Calibri"/>
                        </a:rPr>
                        <a:t>Total</a:t>
                      </a:r>
                    </a:p>
                  </a:txBody>
                  <a:tcPr marL="9525" marR="9525" marT="9525" marB="0" anchor="b">
                    <a:lnL w="6350" cap="flat" cmpd="sng" algn="ctr">
                      <a:solidFill>
                        <a:srgbClr val="FF0000"/>
                      </a:solidFill>
                      <a:prstDash val="solid"/>
                      <a:round/>
                      <a:headEnd type="none" w="med" len="med"/>
                      <a:tailEnd type="none" w="med" len="med"/>
                    </a:lnL>
                    <a:lnR w="6350" cap="flat" cmpd="sng" algn="ctr">
                      <a:solidFill>
                        <a:srgbClr val="FF0000"/>
                      </a:solidFill>
                      <a:prstDash val="solid"/>
                      <a:round/>
                      <a:headEnd type="none" w="med" len="med"/>
                      <a:tailEnd type="none" w="med" len="med"/>
                    </a:lnR>
                    <a:lnT w="6350" cap="flat" cmpd="sng" algn="ctr">
                      <a:solidFill>
                        <a:srgbClr val="FF0000"/>
                      </a:solidFill>
                      <a:prstDash val="solid"/>
                      <a:round/>
                      <a:headEnd type="none" w="med" len="med"/>
                      <a:tailEnd type="none" w="med" len="med"/>
                    </a:lnT>
                    <a:lnB w="6350" cap="flat" cmpd="sng" algn="ctr">
                      <a:solidFill>
                        <a:srgbClr val="FF0000"/>
                      </a:solidFill>
                      <a:prstDash val="solid"/>
                      <a:round/>
                      <a:headEnd type="none" w="med" len="med"/>
                      <a:tailEnd type="none" w="med" len="med"/>
                    </a:lnB>
                    <a:solidFill>
                      <a:srgbClr val="DA9694"/>
                    </a:solidFill>
                  </a:tcPr>
                </a:tc>
                <a:tc>
                  <a:txBody>
                    <a:bodyPr/>
                    <a:lstStyle/>
                    <a:p>
                      <a:pPr algn="ctr" fontAlgn="ctr"/>
                      <a:r>
                        <a:rPr lang="pt-BR" sz="1100" b="1" i="0" u="none" strike="noStrike" dirty="0">
                          <a:solidFill>
                            <a:srgbClr val="000000"/>
                          </a:solidFill>
                          <a:effectLst/>
                          <a:latin typeface="Calibri"/>
                        </a:rPr>
                        <a:t>4404</a:t>
                      </a:r>
                    </a:p>
                  </a:txBody>
                  <a:tcPr marL="9525" marR="9525" marT="9525" marB="0" anchor="ctr">
                    <a:lnL w="6350" cap="flat" cmpd="sng" algn="ctr">
                      <a:solidFill>
                        <a:srgbClr val="FF0000"/>
                      </a:solidFill>
                      <a:prstDash val="solid"/>
                      <a:round/>
                      <a:headEnd type="none" w="med" len="med"/>
                      <a:tailEnd type="none" w="med" len="med"/>
                    </a:lnL>
                    <a:lnR>
                      <a:noFill/>
                    </a:lnR>
                    <a:lnT w="6350" cap="flat" cmpd="sng" algn="ctr">
                      <a:solidFill>
                        <a:srgbClr val="FF0000"/>
                      </a:solidFill>
                      <a:prstDash val="solid"/>
                      <a:round/>
                      <a:headEnd type="none" w="med" len="med"/>
                      <a:tailEnd type="none" w="med" len="med"/>
                    </a:lnT>
                    <a:lnB w="6350" cap="flat" cmpd="sng" algn="ctr">
                      <a:solidFill>
                        <a:srgbClr val="FF0000"/>
                      </a:solidFill>
                      <a:prstDash val="solid"/>
                      <a:round/>
                      <a:headEnd type="none" w="med" len="med"/>
                      <a:tailEnd type="none" w="med" len="med"/>
                    </a:lnB>
                    <a:solidFill>
                      <a:srgbClr val="DA9694"/>
                    </a:solidFill>
                  </a:tcPr>
                </a:tc>
                <a:tc>
                  <a:txBody>
                    <a:bodyPr/>
                    <a:lstStyle/>
                    <a:p>
                      <a:pPr algn="ctr" fontAlgn="b"/>
                      <a:r>
                        <a:rPr lang="pt-BR" sz="1100" b="0" i="0" u="none" strike="noStrike" dirty="0">
                          <a:solidFill>
                            <a:srgbClr val="000000"/>
                          </a:solidFill>
                          <a:effectLst/>
                          <a:latin typeface="Calibri"/>
                        </a:rPr>
                        <a:t> </a:t>
                      </a:r>
                    </a:p>
                  </a:txBody>
                  <a:tcPr marL="9525" marR="9525" marT="9525" marB="0" anchor="b">
                    <a:lnL>
                      <a:noFill/>
                    </a:lnL>
                    <a:lnR w="6350" cap="flat" cmpd="sng" algn="ctr">
                      <a:solidFill>
                        <a:srgbClr val="FF0000"/>
                      </a:solidFill>
                      <a:prstDash val="solid"/>
                      <a:round/>
                      <a:headEnd type="none" w="med" len="med"/>
                      <a:tailEnd type="none" w="med" len="med"/>
                    </a:lnR>
                    <a:lnT w="6350" cap="flat" cmpd="sng" algn="ctr">
                      <a:solidFill>
                        <a:srgbClr val="FF0000"/>
                      </a:solidFill>
                      <a:prstDash val="solid"/>
                      <a:round/>
                      <a:headEnd type="none" w="med" len="med"/>
                      <a:tailEnd type="none" w="med" len="med"/>
                    </a:lnT>
                    <a:lnB w="6350" cap="flat" cmpd="sng" algn="ctr">
                      <a:solidFill>
                        <a:srgbClr val="FF0000"/>
                      </a:solidFill>
                      <a:prstDash val="solid"/>
                      <a:round/>
                      <a:headEnd type="none" w="med" len="med"/>
                      <a:tailEnd type="none" w="med" len="med"/>
                    </a:lnB>
                    <a:solidFill>
                      <a:srgbClr val="DA9694"/>
                    </a:solidFill>
                  </a:tcPr>
                </a:tc>
              </a:tr>
            </a:tbl>
          </a:graphicData>
        </a:graphic>
      </p:graphicFrame>
      <p:sp>
        <p:nvSpPr>
          <p:cNvPr id="13" name="TextBox 4"/>
          <p:cNvSpPr txBox="1">
            <a:spLocks noChangeArrowheads="1"/>
          </p:cNvSpPr>
          <p:nvPr/>
        </p:nvSpPr>
        <p:spPr bwMode="auto">
          <a:xfrm>
            <a:off x="525925" y="-31723"/>
            <a:ext cx="649559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cs typeface="Arial" pitchFamily="34" charset="0"/>
              </a:defRPr>
            </a:lvl1pPr>
            <a:lvl2pPr marL="742950" indent="-285750" eaLnBrk="0" hangingPunct="0">
              <a:defRPr>
                <a:solidFill>
                  <a:schemeClr val="tx1"/>
                </a:solidFill>
                <a:latin typeface="Calibri" pitchFamily="34" charset="0"/>
                <a:cs typeface="Arial" pitchFamily="34" charset="0"/>
              </a:defRPr>
            </a:lvl2pPr>
            <a:lvl3pPr marL="1143000" indent="-228600" eaLnBrk="0" hangingPunct="0">
              <a:defRPr>
                <a:solidFill>
                  <a:schemeClr val="tx1"/>
                </a:solidFill>
                <a:latin typeface="Calibri" pitchFamily="34" charset="0"/>
                <a:cs typeface="Arial" pitchFamily="34" charset="0"/>
              </a:defRPr>
            </a:lvl3pPr>
            <a:lvl4pPr marL="1600200" indent="-228600" eaLnBrk="0" hangingPunct="0">
              <a:defRPr>
                <a:solidFill>
                  <a:schemeClr val="tx1"/>
                </a:solidFill>
                <a:latin typeface="Calibri" pitchFamily="34" charset="0"/>
                <a:cs typeface="Arial" pitchFamily="34" charset="0"/>
              </a:defRPr>
            </a:lvl4pPr>
            <a:lvl5pPr marL="2057400" indent="-228600" eaLnBrk="0" hangingPunct="0">
              <a:defRPr>
                <a:solidFill>
                  <a:schemeClr val="tx1"/>
                </a:solidFill>
                <a:latin typeface="Calibri" pitchFamily="34" charset="0"/>
                <a:cs typeface="Arial" pitchFamily="34" charset="0"/>
              </a:defRPr>
            </a:lvl5pPr>
            <a:lvl6pPr marL="2514600" indent="-228600" defTabSz="457200" eaLnBrk="0" fontAlgn="base" hangingPunct="0">
              <a:spcBef>
                <a:spcPct val="0"/>
              </a:spcBef>
              <a:spcAft>
                <a:spcPct val="0"/>
              </a:spcAft>
              <a:defRPr>
                <a:solidFill>
                  <a:schemeClr val="tx1"/>
                </a:solidFill>
                <a:latin typeface="Calibri" pitchFamily="34" charset="0"/>
                <a:cs typeface="Arial" pitchFamily="34" charset="0"/>
              </a:defRPr>
            </a:lvl6pPr>
            <a:lvl7pPr marL="2971800" indent="-228600" defTabSz="457200" eaLnBrk="0" fontAlgn="base" hangingPunct="0">
              <a:spcBef>
                <a:spcPct val="0"/>
              </a:spcBef>
              <a:spcAft>
                <a:spcPct val="0"/>
              </a:spcAft>
              <a:defRPr>
                <a:solidFill>
                  <a:schemeClr val="tx1"/>
                </a:solidFill>
                <a:latin typeface="Calibri" pitchFamily="34" charset="0"/>
                <a:cs typeface="Arial" pitchFamily="34" charset="0"/>
              </a:defRPr>
            </a:lvl7pPr>
            <a:lvl8pPr marL="3429000" indent="-228600" defTabSz="457200" eaLnBrk="0" fontAlgn="base" hangingPunct="0">
              <a:spcBef>
                <a:spcPct val="0"/>
              </a:spcBef>
              <a:spcAft>
                <a:spcPct val="0"/>
              </a:spcAft>
              <a:defRPr>
                <a:solidFill>
                  <a:schemeClr val="tx1"/>
                </a:solidFill>
                <a:latin typeface="Calibri" pitchFamily="34" charset="0"/>
                <a:cs typeface="Arial" pitchFamily="34" charset="0"/>
              </a:defRPr>
            </a:lvl8pPr>
            <a:lvl9pPr marL="3886200" indent="-228600" defTabSz="457200" eaLnBrk="0" fontAlgn="base" hangingPunct="0">
              <a:spcBef>
                <a:spcPct val="0"/>
              </a:spcBef>
              <a:spcAft>
                <a:spcPct val="0"/>
              </a:spcAft>
              <a:defRPr>
                <a:solidFill>
                  <a:schemeClr val="tx1"/>
                </a:solidFill>
                <a:latin typeface="Calibri" pitchFamily="34" charset="0"/>
                <a:cs typeface="Arial" pitchFamily="34" charset="0"/>
              </a:defRPr>
            </a:lvl9pPr>
          </a:lstStyle>
          <a:p>
            <a:pPr eaLnBrk="1" hangingPunct="1"/>
            <a:r>
              <a:rPr lang="pt-BR" sz="2400" b="1" dirty="0" smtClean="0">
                <a:solidFill>
                  <a:schemeClr val="accent1">
                    <a:lumMod val="50000"/>
                  </a:schemeClr>
                </a:solidFill>
              </a:rPr>
              <a:t>6. Incidentes Médio /Baixo Impacto</a:t>
            </a:r>
            <a:endParaRPr lang="pt-BR" sz="2400" b="1" dirty="0">
              <a:solidFill>
                <a:schemeClr val="accent1">
                  <a:lumMod val="50000"/>
                </a:schemeClr>
              </a:solidFill>
            </a:endParaRPr>
          </a:p>
        </p:txBody>
      </p:sp>
      <p:graphicFrame>
        <p:nvGraphicFramePr>
          <p:cNvPr id="12" name="Tabela 11"/>
          <p:cNvGraphicFramePr>
            <a:graphicFrameLocks noGrp="1"/>
          </p:cNvGraphicFramePr>
          <p:nvPr>
            <p:extLst>
              <p:ext uri="{D42A27DB-BD31-4B8C-83A1-F6EECF244321}">
                <p14:modId xmlns:p14="http://schemas.microsoft.com/office/powerpoint/2010/main" val="3111944186"/>
              </p:ext>
            </p:extLst>
          </p:nvPr>
        </p:nvGraphicFramePr>
        <p:xfrm>
          <a:off x="5838825" y="2782402"/>
          <a:ext cx="2578100" cy="2303145"/>
        </p:xfrm>
        <a:graphic>
          <a:graphicData uri="http://schemas.openxmlformats.org/drawingml/2006/table">
            <a:tbl>
              <a:tblPr/>
              <a:tblGrid>
                <a:gridCol w="1202536"/>
                <a:gridCol w="821878"/>
                <a:gridCol w="553686"/>
              </a:tblGrid>
              <a:tr h="175717">
                <a:tc>
                  <a:txBody>
                    <a:bodyPr/>
                    <a:lstStyle/>
                    <a:p>
                      <a:pPr algn="ctr" fontAlgn="ctr"/>
                      <a:r>
                        <a:rPr lang="pt-BR" sz="1100" b="1" i="0" u="none" strike="noStrike">
                          <a:solidFill>
                            <a:srgbClr val="FFFFFF"/>
                          </a:solidFill>
                          <a:effectLst/>
                          <a:latin typeface="Calibri"/>
                        </a:rPr>
                        <a:t>Software</a:t>
                      </a:r>
                    </a:p>
                  </a:txBody>
                  <a:tcPr marL="9525" marR="9525" marT="9525" marB="0" anchor="ctr">
                    <a:lnL w="6350" cap="flat" cmpd="sng" algn="ctr">
                      <a:solidFill>
                        <a:srgbClr val="366092"/>
                      </a:solidFill>
                      <a:prstDash val="solid"/>
                      <a:round/>
                      <a:headEnd type="none" w="med" len="med"/>
                      <a:tailEnd type="none" w="med" len="med"/>
                    </a:lnL>
                    <a:lnR w="6350" cap="flat" cmpd="sng" algn="ctr">
                      <a:solidFill>
                        <a:srgbClr val="366092"/>
                      </a:solidFill>
                      <a:prstDash val="solid"/>
                      <a:round/>
                      <a:headEnd type="none" w="med" len="med"/>
                      <a:tailEnd type="none" w="med" len="med"/>
                    </a:lnR>
                    <a:lnT w="6350" cap="flat" cmpd="sng" algn="ctr">
                      <a:solidFill>
                        <a:srgbClr val="366092"/>
                      </a:solidFill>
                      <a:prstDash val="solid"/>
                      <a:round/>
                      <a:headEnd type="none" w="med" len="med"/>
                      <a:tailEnd type="none" w="med" len="med"/>
                    </a:lnT>
                    <a:lnB w="6350" cap="flat" cmpd="sng" algn="ctr">
                      <a:solidFill>
                        <a:srgbClr val="366092"/>
                      </a:solidFill>
                      <a:prstDash val="solid"/>
                      <a:round/>
                      <a:headEnd type="none" w="med" len="med"/>
                      <a:tailEnd type="none" w="med" len="med"/>
                    </a:lnB>
                    <a:solidFill>
                      <a:srgbClr val="1F497D"/>
                    </a:solidFill>
                  </a:tcPr>
                </a:tc>
                <a:tc>
                  <a:txBody>
                    <a:bodyPr/>
                    <a:lstStyle/>
                    <a:p>
                      <a:pPr algn="ctr" fontAlgn="ctr"/>
                      <a:r>
                        <a:rPr lang="pt-BR" sz="1100" b="1" i="0" u="none" strike="noStrike">
                          <a:solidFill>
                            <a:srgbClr val="FFFFFF"/>
                          </a:solidFill>
                          <a:effectLst/>
                          <a:latin typeface="Calibri"/>
                        </a:rPr>
                        <a:t>Quantidade </a:t>
                      </a:r>
                    </a:p>
                  </a:txBody>
                  <a:tcPr marL="9525" marR="9525" marT="9525" marB="0" anchor="ctr">
                    <a:lnL w="6350" cap="flat" cmpd="sng" algn="ctr">
                      <a:solidFill>
                        <a:srgbClr val="366092"/>
                      </a:solidFill>
                      <a:prstDash val="solid"/>
                      <a:round/>
                      <a:headEnd type="none" w="med" len="med"/>
                      <a:tailEnd type="none" w="med" len="med"/>
                    </a:lnL>
                    <a:lnR w="6350" cap="flat" cmpd="sng" algn="ctr">
                      <a:solidFill>
                        <a:srgbClr val="366092"/>
                      </a:solidFill>
                      <a:prstDash val="solid"/>
                      <a:round/>
                      <a:headEnd type="none" w="med" len="med"/>
                      <a:tailEnd type="none" w="med" len="med"/>
                    </a:lnR>
                    <a:lnT w="6350" cap="flat" cmpd="sng" algn="ctr">
                      <a:solidFill>
                        <a:srgbClr val="366092"/>
                      </a:solidFill>
                      <a:prstDash val="solid"/>
                      <a:round/>
                      <a:headEnd type="none" w="med" len="med"/>
                      <a:tailEnd type="none" w="med" len="med"/>
                    </a:lnT>
                    <a:lnB w="6350" cap="flat" cmpd="sng" algn="ctr">
                      <a:solidFill>
                        <a:srgbClr val="366092"/>
                      </a:solidFill>
                      <a:prstDash val="solid"/>
                      <a:round/>
                      <a:headEnd type="none" w="med" len="med"/>
                      <a:tailEnd type="none" w="med" len="med"/>
                    </a:lnB>
                    <a:solidFill>
                      <a:srgbClr val="1F497D"/>
                    </a:solidFill>
                  </a:tcPr>
                </a:tc>
                <a:tc>
                  <a:txBody>
                    <a:bodyPr/>
                    <a:lstStyle/>
                    <a:p>
                      <a:pPr algn="ctr" fontAlgn="ctr"/>
                      <a:r>
                        <a:rPr lang="pt-BR" sz="1100" b="1" i="0" u="none" strike="noStrike">
                          <a:solidFill>
                            <a:srgbClr val="FFFFFF"/>
                          </a:solidFill>
                          <a:effectLst/>
                          <a:latin typeface="Calibri"/>
                        </a:rPr>
                        <a:t>%</a:t>
                      </a:r>
                    </a:p>
                  </a:txBody>
                  <a:tcPr marL="9525" marR="9525" marT="9525" marB="0" anchor="ctr">
                    <a:lnL w="6350" cap="flat" cmpd="sng" algn="ctr">
                      <a:solidFill>
                        <a:srgbClr val="366092"/>
                      </a:solidFill>
                      <a:prstDash val="solid"/>
                      <a:round/>
                      <a:headEnd type="none" w="med" len="med"/>
                      <a:tailEnd type="none" w="med" len="med"/>
                    </a:lnL>
                    <a:lnR w="6350" cap="flat" cmpd="sng" algn="ctr">
                      <a:solidFill>
                        <a:srgbClr val="366092"/>
                      </a:solidFill>
                      <a:prstDash val="solid"/>
                      <a:round/>
                      <a:headEnd type="none" w="med" len="med"/>
                      <a:tailEnd type="none" w="med" len="med"/>
                    </a:lnR>
                    <a:lnT w="6350" cap="flat" cmpd="sng" algn="ctr">
                      <a:solidFill>
                        <a:srgbClr val="366092"/>
                      </a:solidFill>
                      <a:prstDash val="solid"/>
                      <a:round/>
                      <a:headEnd type="none" w="med" len="med"/>
                      <a:tailEnd type="none" w="med" len="med"/>
                    </a:lnT>
                    <a:lnB w="6350" cap="flat" cmpd="sng" algn="ctr">
                      <a:solidFill>
                        <a:srgbClr val="366092"/>
                      </a:solidFill>
                      <a:prstDash val="solid"/>
                      <a:round/>
                      <a:headEnd type="none" w="med" len="med"/>
                      <a:tailEnd type="none" w="med" len="med"/>
                    </a:lnB>
                    <a:solidFill>
                      <a:srgbClr val="1F497D"/>
                    </a:solidFill>
                  </a:tcPr>
                </a:tc>
              </a:tr>
              <a:tr h="175717">
                <a:tc>
                  <a:txBody>
                    <a:bodyPr/>
                    <a:lstStyle/>
                    <a:p>
                      <a:pPr algn="l" fontAlgn="b"/>
                      <a:r>
                        <a:rPr lang="pt-BR" sz="1100" b="0" i="0" u="none" strike="noStrike">
                          <a:solidFill>
                            <a:srgbClr val="000000"/>
                          </a:solidFill>
                          <a:effectLst/>
                          <a:latin typeface="Calibri"/>
                        </a:rPr>
                        <a:t>Tclock</a:t>
                      </a:r>
                    </a:p>
                  </a:txBody>
                  <a:tcPr marL="9525" marR="9525" marT="9525" marB="0" anchor="b">
                    <a:lnL w="6350" cap="flat" cmpd="sng" algn="ctr">
                      <a:solidFill>
                        <a:srgbClr val="366092"/>
                      </a:solidFill>
                      <a:prstDash val="solid"/>
                      <a:round/>
                      <a:headEnd type="none" w="med" len="med"/>
                      <a:tailEnd type="none" w="med" len="med"/>
                    </a:lnL>
                    <a:lnR w="6350" cap="flat" cmpd="sng" algn="ctr">
                      <a:solidFill>
                        <a:srgbClr val="366092"/>
                      </a:solidFill>
                      <a:prstDash val="solid"/>
                      <a:round/>
                      <a:headEnd type="none" w="med" len="med"/>
                      <a:tailEnd type="none" w="med" len="med"/>
                    </a:lnR>
                    <a:lnT w="6350" cap="flat" cmpd="sng" algn="ctr">
                      <a:solidFill>
                        <a:srgbClr val="366092"/>
                      </a:solidFill>
                      <a:prstDash val="solid"/>
                      <a:round/>
                      <a:headEnd type="none" w="med" len="med"/>
                      <a:tailEnd type="none" w="med" len="med"/>
                    </a:lnT>
                    <a:lnB w="6350" cap="flat" cmpd="sng" algn="ctr">
                      <a:solidFill>
                        <a:srgbClr val="366092"/>
                      </a:solidFill>
                      <a:prstDash val="solid"/>
                      <a:round/>
                      <a:headEnd type="none" w="med" len="med"/>
                      <a:tailEnd type="none" w="med" len="med"/>
                    </a:lnB>
                  </a:tcPr>
                </a:tc>
                <a:tc>
                  <a:txBody>
                    <a:bodyPr/>
                    <a:lstStyle/>
                    <a:p>
                      <a:pPr algn="ctr" fontAlgn="b"/>
                      <a:r>
                        <a:rPr lang="pt-BR" sz="1100" b="0" i="0" u="none" strike="noStrike">
                          <a:solidFill>
                            <a:srgbClr val="000000"/>
                          </a:solidFill>
                          <a:effectLst/>
                          <a:latin typeface="Calibri"/>
                        </a:rPr>
                        <a:t>407</a:t>
                      </a:r>
                    </a:p>
                  </a:txBody>
                  <a:tcPr marL="9525" marR="9525" marT="9525" marB="0" anchor="b">
                    <a:lnL w="6350" cap="flat" cmpd="sng" algn="ctr">
                      <a:solidFill>
                        <a:srgbClr val="366092"/>
                      </a:solidFill>
                      <a:prstDash val="solid"/>
                      <a:round/>
                      <a:headEnd type="none" w="med" len="med"/>
                      <a:tailEnd type="none" w="med" len="med"/>
                    </a:lnL>
                    <a:lnR w="6350" cap="flat" cmpd="sng" algn="ctr">
                      <a:solidFill>
                        <a:srgbClr val="366092"/>
                      </a:solidFill>
                      <a:prstDash val="solid"/>
                      <a:round/>
                      <a:headEnd type="none" w="med" len="med"/>
                      <a:tailEnd type="none" w="med" len="med"/>
                    </a:lnR>
                    <a:lnT w="6350" cap="flat" cmpd="sng" algn="ctr">
                      <a:solidFill>
                        <a:srgbClr val="366092"/>
                      </a:solidFill>
                      <a:prstDash val="solid"/>
                      <a:round/>
                      <a:headEnd type="none" w="med" len="med"/>
                      <a:tailEnd type="none" w="med" len="med"/>
                    </a:lnT>
                    <a:lnB w="6350" cap="flat" cmpd="sng" algn="ctr">
                      <a:solidFill>
                        <a:srgbClr val="366092"/>
                      </a:solidFill>
                      <a:prstDash val="solid"/>
                      <a:round/>
                      <a:headEnd type="none" w="med" len="med"/>
                      <a:tailEnd type="none" w="med" len="med"/>
                    </a:lnB>
                  </a:tcPr>
                </a:tc>
                <a:tc>
                  <a:txBody>
                    <a:bodyPr/>
                    <a:lstStyle/>
                    <a:p>
                      <a:pPr algn="ctr" fontAlgn="b"/>
                      <a:r>
                        <a:rPr lang="pt-BR" sz="1100" b="0" i="0" u="none" strike="noStrike">
                          <a:solidFill>
                            <a:srgbClr val="000000"/>
                          </a:solidFill>
                          <a:effectLst/>
                          <a:latin typeface="Calibri"/>
                        </a:rPr>
                        <a:t>9%</a:t>
                      </a:r>
                    </a:p>
                  </a:txBody>
                  <a:tcPr marL="9525" marR="9525" marT="9525" marB="0" anchor="b">
                    <a:lnL w="6350" cap="flat" cmpd="sng" algn="ctr">
                      <a:solidFill>
                        <a:srgbClr val="366092"/>
                      </a:solidFill>
                      <a:prstDash val="solid"/>
                      <a:round/>
                      <a:headEnd type="none" w="med" len="med"/>
                      <a:tailEnd type="none" w="med" len="med"/>
                    </a:lnL>
                    <a:lnR w="6350" cap="flat" cmpd="sng" algn="ctr">
                      <a:solidFill>
                        <a:srgbClr val="366092"/>
                      </a:solidFill>
                      <a:prstDash val="solid"/>
                      <a:round/>
                      <a:headEnd type="none" w="med" len="med"/>
                      <a:tailEnd type="none" w="med" len="med"/>
                    </a:lnR>
                    <a:lnT w="6350" cap="flat" cmpd="sng" algn="ctr">
                      <a:solidFill>
                        <a:srgbClr val="366092"/>
                      </a:solidFill>
                      <a:prstDash val="solid"/>
                      <a:round/>
                      <a:headEnd type="none" w="med" len="med"/>
                      <a:tailEnd type="none" w="med" len="med"/>
                    </a:lnT>
                    <a:lnB w="6350" cap="flat" cmpd="sng" algn="ctr">
                      <a:solidFill>
                        <a:srgbClr val="366092"/>
                      </a:solidFill>
                      <a:prstDash val="solid"/>
                      <a:round/>
                      <a:headEnd type="none" w="med" len="med"/>
                      <a:tailEnd type="none" w="med" len="med"/>
                    </a:lnB>
                  </a:tcPr>
                </a:tc>
              </a:tr>
              <a:tr h="175717">
                <a:tc>
                  <a:txBody>
                    <a:bodyPr/>
                    <a:lstStyle/>
                    <a:p>
                      <a:pPr algn="l" fontAlgn="b"/>
                      <a:r>
                        <a:rPr lang="pt-BR" sz="1100" b="0" i="0" u="none" strike="noStrike">
                          <a:solidFill>
                            <a:srgbClr val="000000"/>
                          </a:solidFill>
                          <a:effectLst/>
                          <a:latin typeface="Calibri"/>
                        </a:rPr>
                        <a:t>Tguidance</a:t>
                      </a:r>
                    </a:p>
                  </a:txBody>
                  <a:tcPr marL="9525" marR="9525" marT="9525" marB="0" anchor="b">
                    <a:lnL w="6350" cap="flat" cmpd="sng" algn="ctr">
                      <a:solidFill>
                        <a:srgbClr val="366092"/>
                      </a:solidFill>
                      <a:prstDash val="solid"/>
                      <a:round/>
                      <a:headEnd type="none" w="med" len="med"/>
                      <a:tailEnd type="none" w="med" len="med"/>
                    </a:lnL>
                    <a:lnR w="6350" cap="flat" cmpd="sng" algn="ctr">
                      <a:solidFill>
                        <a:srgbClr val="366092"/>
                      </a:solidFill>
                      <a:prstDash val="solid"/>
                      <a:round/>
                      <a:headEnd type="none" w="med" len="med"/>
                      <a:tailEnd type="none" w="med" len="med"/>
                    </a:lnR>
                    <a:lnT w="6350" cap="flat" cmpd="sng" algn="ctr">
                      <a:solidFill>
                        <a:srgbClr val="366092"/>
                      </a:solidFill>
                      <a:prstDash val="solid"/>
                      <a:round/>
                      <a:headEnd type="none" w="med" len="med"/>
                      <a:tailEnd type="none" w="med" len="med"/>
                    </a:lnT>
                    <a:lnB w="6350" cap="flat" cmpd="sng" algn="ctr">
                      <a:solidFill>
                        <a:srgbClr val="366092"/>
                      </a:solidFill>
                      <a:prstDash val="solid"/>
                      <a:round/>
                      <a:headEnd type="none" w="med" len="med"/>
                      <a:tailEnd type="none" w="med" len="med"/>
                    </a:lnB>
                  </a:tcPr>
                </a:tc>
                <a:tc>
                  <a:txBody>
                    <a:bodyPr/>
                    <a:lstStyle/>
                    <a:p>
                      <a:pPr algn="ctr" fontAlgn="b"/>
                      <a:r>
                        <a:rPr lang="pt-BR" sz="1100" b="0" i="0" u="none" strike="noStrike">
                          <a:solidFill>
                            <a:srgbClr val="000000"/>
                          </a:solidFill>
                          <a:effectLst/>
                          <a:latin typeface="Calibri"/>
                        </a:rPr>
                        <a:t>327</a:t>
                      </a:r>
                    </a:p>
                  </a:txBody>
                  <a:tcPr marL="9525" marR="9525" marT="9525" marB="0" anchor="b">
                    <a:lnL w="6350" cap="flat" cmpd="sng" algn="ctr">
                      <a:solidFill>
                        <a:srgbClr val="366092"/>
                      </a:solidFill>
                      <a:prstDash val="solid"/>
                      <a:round/>
                      <a:headEnd type="none" w="med" len="med"/>
                      <a:tailEnd type="none" w="med" len="med"/>
                    </a:lnL>
                    <a:lnR w="6350" cap="flat" cmpd="sng" algn="ctr">
                      <a:solidFill>
                        <a:srgbClr val="366092"/>
                      </a:solidFill>
                      <a:prstDash val="solid"/>
                      <a:round/>
                      <a:headEnd type="none" w="med" len="med"/>
                      <a:tailEnd type="none" w="med" len="med"/>
                    </a:lnR>
                    <a:lnT w="6350" cap="flat" cmpd="sng" algn="ctr">
                      <a:solidFill>
                        <a:srgbClr val="366092"/>
                      </a:solidFill>
                      <a:prstDash val="solid"/>
                      <a:round/>
                      <a:headEnd type="none" w="med" len="med"/>
                      <a:tailEnd type="none" w="med" len="med"/>
                    </a:lnT>
                    <a:lnB w="6350" cap="flat" cmpd="sng" algn="ctr">
                      <a:solidFill>
                        <a:srgbClr val="366092"/>
                      </a:solidFill>
                      <a:prstDash val="solid"/>
                      <a:round/>
                      <a:headEnd type="none" w="med" len="med"/>
                      <a:tailEnd type="none" w="med" len="med"/>
                    </a:lnB>
                  </a:tcPr>
                </a:tc>
                <a:tc>
                  <a:txBody>
                    <a:bodyPr/>
                    <a:lstStyle/>
                    <a:p>
                      <a:pPr algn="ctr" fontAlgn="b"/>
                      <a:r>
                        <a:rPr lang="pt-BR" sz="1100" b="0" i="0" u="none" strike="noStrike">
                          <a:solidFill>
                            <a:srgbClr val="000000"/>
                          </a:solidFill>
                          <a:effectLst/>
                          <a:latin typeface="Calibri"/>
                        </a:rPr>
                        <a:t>7%</a:t>
                      </a:r>
                    </a:p>
                  </a:txBody>
                  <a:tcPr marL="9525" marR="9525" marT="9525" marB="0" anchor="b">
                    <a:lnL w="6350" cap="flat" cmpd="sng" algn="ctr">
                      <a:solidFill>
                        <a:srgbClr val="366092"/>
                      </a:solidFill>
                      <a:prstDash val="solid"/>
                      <a:round/>
                      <a:headEnd type="none" w="med" len="med"/>
                      <a:tailEnd type="none" w="med" len="med"/>
                    </a:lnL>
                    <a:lnR w="6350" cap="flat" cmpd="sng" algn="ctr">
                      <a:solidFill>
                        <a:srgbClr val="366092"/>
                      </a:solidFill>
                      <a:prstDash val="solid"/>
                      <a:round/>
                      <a:headEnd type="none" w="med" len="med"/>
                      <a:tailEnd type="none" w="med" len="med"/>
                    </a:lnR>
                    <a:lnT w="6350" cap="flat" cmpd="sng" algn="ctr">
                      <a:solidFill>
                        <a:srgbClr val="366092"/>
                      </a:solidFill>
                      <a:prstDash val="solid"/>
                      <a:round/>
                      <a:headEnd type="none" w="med" len="med"/>
                      <a:tailEnd type="none" w="med" len="med"/>
                    </a:lnT>
                    <a:lnB w="6350" cap="flat" cmpd="sng" algn="ctr">
                      <a:solidFill>
                        <a:srgbClr val="366092"/>
                      </a:solidFill>
                      <a:prstDash val="solid"/>
                      <a:round/>
                      <a:headEnd type="none" w="med" len="med"/>
                      <a:tailEnd type="none" w="med" len="med"/>
                    </a:lnB>
                  </a:tcPr>
                </a:tc>
              </a:tr>
              <a:tr h="175717">
                <a:tc>
                  <a:txBody>
                    <a:bodyPr/>
                    <a:lstStyle/>
                    <a:p>
                      <a:pPr algn="l" fontAlgn="b"/>
                      <a:r>
                        <a:rPr lang="pt-BR" sz="1100" b="0" i="0" u="none" strike="noStrike">
                          <a:solidFill>
                            <a:srgbClr val="000000"/>
                          </a:solidFill>
                          <a:effectLst/>
                          <a:latin typeface="Calibri"/>
                        </a:rPr>
                        <a:t>SMPA</a:t>
                      </a:r>
                    </a:p>
                  </a:txBody>
                  <a:tcPr marL="9525" marR="9525" marT="9525" marB="0" anchor="b">
                    <a:lnL w="6350" cap="flat" cmpd="sng" algn="ctr">
                      <a:solidFill>
                        <a:srgbClr val="366092"/>
                      </a:solidFill>
                      <a:prstDash val="solid"/>
                      <a:round/>
                      <a:headEnd type="none" w="med" len="med"/>
                      <a:tailEnd type="none" w="med" len="med"/>
                    </a:lnL>
                    <a:lnR w="6350" cap="flat" cmpd="sng" algn="ctr">
                      <a:solidFill>
                        <a:srgbClr val="366092"/>
                      </a:solidFill>
                      <a:prstDash val="solid"/>
                      <a:round/>
                      <a:headEnd type="none" w="med" len="med"/>
                      <a:tailEnd type="none" w="med" len="med"/>
                    </a:lnR>
                    <a:lnT w="6350" cap="flat" cmpd="sng" algn="ctr">
                      <a:solidFill>
                        <a:srgbClr val="366092"/>
                      </a:solidFill>
                      <a:prstDash val="solid"/>
                      <a:round/>
                      <a:headEnd type="none" w="med" len="med"/>
                      <a:tailEnd type="none" w="med" len="med"/>
                    </a:lnT>
                    <a:lnB w="6350" cap="flat" cmpd="sng" algn="ctr">
                      <a:solidFill>
                        <a:srgbClr val="366092"/>
                      </a:solidFill>
                      <a:prstDash val="solid"/>
                      <a:round/>
                      <a:headEnd type="none" w="med" len="med"/>
                      <a:tailEnd type="none" w="med" len="med"/>
                    </a:lnB>
                  </a:tcPr>
                </a:tc>
                <a:tc>
                  <a:txBody>
                    <a:bodyPr/>
                    <a:lstStyle/>
                    <a:p>
                      <a:pPr algn="ctr" fontAlgn="b"/>
                      <a:r>
                        <a:rPr lang="pt-BR" sz="1100" b="0" i="0" u="none" strike="noStrike">
                          <a:solidFill>
                            <a:srgbClr val="000000"/>
                          </a:solidFill>
                          <a:effectLst/>
                          <a:latin typeface="Calibri"/>
                        </a:rPr>
                        <a:t>228</a:t>
                      </a:r>
                    </a:p>
                  </a:txBody>
                  <a:tcPr marL="9525" marR="9525" marT="9525" marB="0" anchor="b">
                    <a:lnL w="6350" cap="flat" cmpd="sng" algn="ctr">
                      <a:solidFill>
                        <a:srgbClr val="366092"/>
                      </a:solidFill>
                      <a:prstDash val="solid"/>
                      <a:round/>
                      <a:headEnd type="none" w="med" len="med"/>
                      <a:tailEnd type="none" w="med" len="med"/>
                    </a:lnL>
                    <a:lnR w="6350" cap="flat" cmpd="sng" algn="ctr">
                      <a:solidFill>
                        <a:srgbClr val="366092"/>
                      </a:solidFill>
                      <a:prstDash val="solid"/>
                      <a:round/>
                      <a:headEnd type="none" w="med" len="med"/>
                      <a:tailEnd type="none" w="med" len="med"/>
                    </a:lnR>
                    <a:lnT w="6350" cap="flat" cmpd="sng" algn="ctr">
                      <a:solidFill>
                        <a:srgbClr val="366092"/>
                      </a:solidFill>
                      <a:prstDash val="solid"/>
                      <a:round/>
                      <a:headEnd type="none" w="med" len="med"/>
                      <a:tailEnd type="none" w="med" len="med"/>
                    </a:lnT>
                    <a:lnB w="6350" cap="flat" cmpd="sng" algn="ctr">
                      <a:solidFill>
                        <a:srgbClr val="366092"/>
                      </a:solidFill>
                      <a:prstDash val="solid"/>
                      <a:round/>
                      <a:headEnd type="none" w="med" len="med"/>
                      <a:tailEnd type="none" w="med" len="med"/>
                    </a:lnB>
                  </a:tcPr>
                </a:tc>
                <a:tc>
                  <a:txBody>
                    <a:bodyPr/>
                    <a:lstStyle/>
                    <a:p>
                      <a:pPr algn="ctr" fontAlgn="b"/>
                      <a:r>
                        <a:rPr lang="pt-BR" sz="1100" b="0" i="0" u="none" strike="noStrike">
                          <a:solidFill>
                            <a:srgbClr val="000000"/>
                          </a:solidFill>
                          <a:effectLst/>
                          <a:latin typeface="Calibri"/>
                        </a:rPr>
                        <a:t>5%</a:t>
                      </a:r>
                    </a:p>
                  </a:txBody>
                  <a:tcPr marL="9525" marR="9525" marT="9525" marB="0" anchor="b">
                    <a:lnL w="6350" cap="flat" cmpd="sng" algn="ctr">
                      <a:solidFill>
                        <a:srgbClr val="366092"/>
                      </a:solidFill>
                      <a:prstDash val="solid"/>
                      <a:round/>
                      <a:headEnd type="none" w="med" len="med"/>
                      <a:tailEnd type="none" w="med" len="med"/>
                    </a:lnL>
                    <a:lnR w="6350" cap="flat" cmpd="sng" algn="ctr">
                      <a:solidFill>
                        <a:srgbClr val="366092"/>
                      </a:solidFill>
                      <a:prstDash val="solid"/>
                      <a:round/>
                      <a:headEnd type="none" w="med" len="med"/>
                      <a:tailEnd type="none" w="med" len="med"/>
                    </a:lnR>
                    <a:lnT w="6350" cap="flat" cmpd="sng" algn="ctr">
                      <a:solidFill>
                        <a:srgbClr val="366092"/>
                      </a:solidFill>
                      <a:prstDash val="solid"/>
                      <a:round/>
                      <a:headEnd type="none" w="med" len="med"/>
                      <a:tailEnd type="none" w="med" len="med"/>
                    </a:lnT>
                    <a:lnB w="6350" cap="flat" cmpd="sng" algn="ctr">
                      <a:solidFill>
                        <a:srgbClr val="366092"/>
                      </a:solidFill>
                      <a:prstDash val="solid"/>
                      <a:round/>
                      <a:headEnd type="none" w="med" len="med"/>
                      <a:tailEnd type="none" w="med" len="med"/>
                    </a:lnB>
                  </a:tcPr>
                </a:tc>
              </a:tr>
              <a:tr h="175717">
                <a:tc>
                  <a:txBody>
                    <a:bodyPr/>
                    <a:lstStyle/>
                    <a:p>
                      <a:pPr algn="l" fontAlgn="b"/>
                      <a:r>
                        <a:rPr lang="pt-BR" sz="1100" b="0" i="0" u="none" strike="noStrike">
                          <a:solidFill>
                            <a:srgbClr val="000000"/>
                          </a:solidFill>
                          <a:effectLst/>
                          <a:latin typeface="Calibri"/>
                        </a:rPr>
                        <a:t>Webmail</a:t>
                      </a:r>
                    </a:p>
                  </a:txBody>
                  <a:tcPr marL="9525" marR="9525" marT="9525" marB="0" anchor="b">
                    <a:lnL w="6350" cap="flat" cmpd="sng" algn="ctr">
                      <a:solidFill>
                        <a:srgbClr val="366092"/>
                      </a:solidFill>
                      <a:prstDash val="solid"/>
                      <a:round/>
                      <a:headEnd type="none" w="med" len="med"/>
                      <a:tailEnd type="none" w="med" len="med"/>
                    </a:lnL>
                    <a:lnR w="6350" cap="flat" cmpd="sng" algn="ctr">
                      <a:solidFill>
                        <a:srgbClr val="366092"/>
                      </a:solidFill>
                      <a:prstDash val="solid"/>
                      <a:round/>
                      <a:headEnd type="none" w="med" len="med"/>
                      <a:tailEnd type="none" w="med" len="med"/>
                    </a:lnR>
                    <a:lnT w="6350" cap="flat" cmpd="sng" algn="ctr">
                      <a:solidFill>
                        <a:srgbClr val="366092"/>
                      </a:solidFill>
                      <a:prstDash val="solid"/>
                      <a:round/>
                      <a:headEnd type="none" w="med" len="med"/>
                      <a:tailEnd type="none" w="med" len="med"/>
                    </a:lnT>
                    <a:lnB w="6350" cap="flat" cmpd="sng" algn="ctr">
                      <a:solidFill>
                        <a:srgbClr val="366092"/>
                      </a:solidFill>
                      <a:prstDash val="solid"/>
                      <a:round/>
                      <a:headEnd type="none" w="med" len="med"/>
                      <a:tailEnd type="none" w="med" len="med"/>
                    </a:lnB>
                  </a:tcPr>
                </a:tc>
                <a:tc>
                  <a:txBody>
                    <a:bodyPr/>
                    <a:lstStyle/>
                    <a:p>
                      <a:pPr algn="ctr" fontAlgn="b"/>
                      <a:r>
                        <a:rPr lang="pt-BR" sz="1100" b="0" i="0" u="none" strike="noStrike">
                          <a:solidFill>
                            <a:srgbClr val="000000"/>
                          </a:solidFill>
                          <a:effectLst/>
                          <a:latin typeface="Calibri"/>
                        </a:rPr>
                        <a:t>142</a:t>
                      </a:r>
                    </a:p>
                  </a:txBody>
                  <a:tcPr marL="9525" marR="9525" marT="9525" marB="0" anchor="b">
                    <a:lnL w="6350" cap="flat" cmpd="sng" algn="ctr">
                      <a:solidFill>
                        <a:srgbClr val="366092"/>
                      </a:solidFill>
                      <a:prstDash val="solid"/>
                      <a:round/>
                      <a:headEnd type="none" w="med" len="med"/>
                      <a:tailEnd type="none" w="med" len="med"/>
                    </a:lnL>
                    <a:lnR w="6350" cap="flat" cmpd="sng" algn="ctr">
                      <a:solidFill>
                        <a:srgbClr val="366092"/>
                      </a:solidFill>
                      <a:prstDash val="solid"/>
                      <a:round/>
                      <a:headEnd type="none" w="med" len="med"/>
                      <a:tailEnd type="none" w="med" len="med"/>
                    </a:lnR>
                    <a:lnT w="6350" cap="flat" cmpd="sng" algn="ctr">
                      <a:solidFill>
                        <a:srgbClr val="366092"/>
                      </a:solidFill>
                      <a:prstDash val="solid"/>
                      <a:round/>
                      <a:headEnd type="none" w="med" len="med"/>
                      <a:tailEnd type="none" w="med" len="med"/>
                    </a:lnT>
                    <a:lnB w="6350" cap="flat" cmpd="sng" algn="ctr">
                      <a:solidFill>
                        <a:srgbClr val="366092"/>
                      </a:solidFill>
                      <a:prstDash val="solid"/>
                      <a:round/>
                      <a:headEnd type="none" w="med" len="med"/>
                      <a:tailEnd type="none" w="med" len="med"/>
                    </a:lnB>
                  </a:tcPr>
                </a:tc>
                <a:tc>
                  <a:txBody>
                    <a:bodyPr/>
                    <a:lstStyle/>
                    <a:p>
                      <a:pPr algn="ctr" fontAlgn="b"/>
                      <a:r>
                        <a:rPr lang="pt-BR" sz="1100" b="0" i="0" u="none" strike="noStrike">
                          <a:solidFill>
                            <a:srgbClr val="000000"/>
                          </a:solidFill>
                          <a:effectLst/>
                          <a:latin typeface="Calibri"/>
                        </a:rPr>
                        <a:t>3%</a:t>
                      </a:r>
                    </a:p>
                  </a:txBody>
                  <a:tcPr marL="9525" marR="9525" marT="9525" marB="0" anchor="b">
                    <a:lnL w="6350" cap="flat" cmpd="sng" algn="ctr">
                      <a:solidFill>
                        <a:srgbClr val="366092"/>
                      </a:solidFill>
                      <a:prstDash val="solid"/>
                      <a:round/>
                      <a:headEnd type="none" w="med" len="med"/>
                      <a:tailEnd type="none" w="med" len="med"/>
                    </a:lnL>
                    <a:lnR w="6350" cap="flat" cmpd="sng" algn="ctr">
                      <a:solidFill>
                        <a:srgbClr val="366092"/>
                      </a:solidFill>
                      <a:prstDash val="solid"/>
                      <a:round/>
                      <a:headEnd type="none" w="med" len="med"/>
                      <a:tailEnd type="none" w="med" len="med"/>
                    </a:lnR>
                    <a:lnT w="6350" cap="flat" cmpd="sng" algn="ctr">
                      <a:solidFill>
                        <a:srgbClr val="366092"/>
                      </a:solidFill>
                      <a:prstDash val="solid"/>
                      <a:round/>
                      <a:headEnd type="none" w="med" len="med"/>
                      <a:tailEnd type="none" w="med" len="med"/>
                    </a:lnT>
                    <a:lnB w="6350" cap="flat" cmpd="sng" algn="ctr">
                      <a:solidFill>
                        <a:srgbClr val="366092"/>
                      </a:solidFill>
                      <a:prstDash val="solid"/>
                      <a:round/>
                      <a:headEnd type="none" w="med" len="med"/>
                      <a:tailEnd type="none" w="med" len="med"/>
                    </a:lnB>
                  </a:tcPr>
                </a:tc>
              </a:tr>
              <a:tr h="175717">
                <a:tc>
                  <a:txBody>
                    <a:bodyPr/>
                    <a:lstStyle/>
                    <a:p>
                      <a:pPr algn="l" fontAlgn="b"/>
                      <a:r>
                        <a:rPr lang="pt-BR" sz="1100" b="0" i="0" u="none" strike="noStrike">
                          <a:solidFill>
                            <a:srgbClr val="000000"/>
                          </a:solidFill>
                          <a:effectLst/>
                          <a:latin typeface="Calibri"/>
                        </a:rPr>
                        <a:t>Oi Atende</a:t>
                      </a:r>
                    </a:p>
                  </a:txBody>
                  <a:tcPr marL="9525" marR="9525" marT="9525" marB="0" anchor="b">
                    <a:lnL w="6350" cap="flat" cmpd="sng" algn="ctr">
                      <a:solidFill>
                        <a:srgbClr val="366092"/>
                      </a:solidFill>
                      <a:prstDash val="solid"/>
                      <a:round/>
                      <a:headEnd type="none" w="med" len="med"/>
                      <a:tailEnd type="none" w="med" len="med"/>
                    </a:lnL>
                    <a:lnR w="6350" cap="flat" cmpd="sng" algn="ctr">
                      <a:solidFill>
                        <a:srgbClr val="366092"/>
                      </a:solidFill>
                      <a:prstDash val="solid"/>
                      <a:round/>
                      <a:headEnd type="none" w="med" len="med"/>
                      <a:tailEnd type="none" w="med" len="med"/>
                    </a:lnR>
                    <a:lnT w="6350" cap="flat" cmpd="sng" algn="ctr">
                      <a:solidFill>
                        <a:srgbClr val="366092"/>
                      </a:solidFill>
                      <a:prstDash val="solid"/>
                      <a:round/>
                      <a:headEnd type="none" w="med" len="med"/>
                      <a:tailEnd type="none" w="med" len="med"/>
                    </a:lnT>
                    <a:lnB w="6350" cap="flat" cmpd="sng" algn="ctr">
                      <a:solidFill>
                        <a:srgbClr val="366092"/>
                      </a:solidFill>
                      <a:prstDash val="solid"/>
                      <a:round/>
                      <a:headEnd type="none" w="med" len="med"/>
                      <a:tailEnd type="none" w="med" len="med"/>
                    </a:lnB>
                  </a:tcPr>
                </a:tc>
                <a:tc>
                  <a:txBody>
                    <a:bodyPr/>
                    <a:lstStyle/>
                    <a:p>
                      <a:pPr algn="ctr" fontAlgn="b"/>
                      <a:r>
                        <a:rPr lang="pt-BR" sz="1100" b="0" i="0" u="none" strike="noStrike">
                          <a:solidFill>
                            <a:srgbClr val="000000"/>
                          </a:solidFill>
                          <a:effectLst/>
                          <a:latin typeface="Calibri"/>
                        </a:rPr>
                        <a:t>130</a:t>
                      </a:r>
                    </a:p>
                  </a:txBody>
                  <a:tcPr marL="9525" marR="9525" marT="9525" marB="0" anchor="b">
                    <a:lnL w="6350" cap="flat" cmpd="sng" algn="ctr">
                      <a:solidFill>
                        <a:srgbClr val="366092"/>
                      </a:solidFill>
                      <a:prstDash val="solid"/>
                      <a:round/>
                      <a:headEnd type="none" w="med" len="med"/>
                      <a:tailEnd type="none" w="med" len="med"/>
                    </a:lnL>
                    <a:lnR w="6350" cap="flat" cmpd="sng" algn="ctr">
                      <a:solidFill>
                        <a:srgbClr val="366092"/>
                      </a:solidFill>
                      <a:prstDash val="solid"/>
                      <a:round/>
                      <a:headEnd type="none" w="med" len="med"/>
                      <a:tailEnd type="none" w="med" len="med"/>
                    </a:lnR>
                    <a:lnT w="6350" cap="flat" cmpd="sng" algn="ctr">
                      <a:solidFill>
                        <a:srgbClr val="366092"/>
                      </a:solidFill>
                      <a:prstDash val="solid"/>
                      <a:round/>
                      <a:headEnd type="none" w="med" len="med"/>
                      <a:tailEnd type="none" w="med" len="med"/>
                    </a:lnT>
                    <a:lnB w="6350" cap="flat" cmpd="sng" algn="ctr">
                      <a:solidFill>
                        <a:srgbClr val="366092"/>
                      </a:solidFill>
                      <a:prstDash val="solid"/>
                      <a:round/>
                      <a:headEnd type="none" w="med" len="med"/>
                      <a:tailEnd type="none" w="med" len="med"/>
                    </a:lnB>
                  </a:tcPr>
                </a:tc>
                <a:tc>
                  <a:txBody>
                    <a:bodyPr/>
                    <a:lstStyle/>
                    <a:p>
                      <a:pPr algn="ctr" fontAlgn="b"/>
                      <a:r>
                        <a:rPr lang="pt-BR" sz="1100" b="0" i="0" u="none" strike="noStrike">
                          <a:solidFill>
                            <a:srgbClr val="000000"/>
                          </a:solidFill>
                          <a:effectLst/>
                          <a:latin typeface="Calibri"/>
                        </a:rPr>
                        <a:t>3%</a:t>
                      </a:r>
                    </a:p>
                  </a:txBody>
                  <a:tcPr marL="9525" marR="9525" marT="9525" marB="0" anchor="b">
                    <a:lnL w="6350" cap="flat" cmpd="sng" algn="ctr">
                      <a:solidFill>
                        <a:srgbClr val="366092"/>
                      </a:solidFill>
                      <a:prstDash val="solid"/>
                      <a:round/>
                      <a:headEnd type="none" w="med" len="med"/>
                      <a:tailEnd type="none" w="med" len="med"/>
                    </a:lnL>
                    <a:lnR w="6350" cap="flat" cmpd="sng" algn="ctr">
                      <a:solidFill>
                        <a:srgbClr val="366092"/>
                      </a:solidFill>
                      <a:prstDash val="solid"/>
                      <a:round/>
                      <a:headEnd type="none" w="med" len="med"/>
                      <a:tailEnd type="none" w="med" len="med"/>
                    </a:lnR>
                    <a:lnT w="6350" cap="flat" cmpd="sng" algn="ctr">
                      <a:solidFill>
                        <a:srgbClr val="366092"/>
                      </a:solidFill>
                      <a:prstDash val="solid"/>
                      <a:round/>
                      <a:headEnd type="none" w="med" len="med"/>
                      <a:tailEnd type="none" w="med" len="med"/>
                    </a:lnT>
                    <a:lnB w="6350" cap="flat" cmpd="sng" algn="ctr">
                      <a:solidFill>
                        <a:srgbClr val="366092"/>
                      </a:solidFill>
                      <a:prstDash val="solid"/>
                      <a:round/>
                      <a:headEnd type="none" w="med" len="med"/>
                      <a:tailEnd type="none" w="med" len="med"/>
                    </a:lnB>
                  </a:tcPr>
                </a:tc>
              </a:tr>
              <a:tr h="175717">
                <a:tc>
                  <a:txBody>
                    <a:bodyPr/>
                    <a:lstStyle/>
                    <a:p>
                      <a:pPr algn="l" fontAlgn="b"/>
                      <a:r>
                        <a:rPr lang="pt-BR" sz="1100" b="0" i="0" u="none" strike="noStrike">
                          <a:solidFill>
                            <a:srgbClr val="000000"/>
                          </a:solidFill>
                          <a:effectLst/>
                          <a:latin typeface="Calibri"/>
                        </a:rPr>
                        <a:t>TLV/TQS</a:t>
                      </a:r>
                    </a:p>
                  </a:txBody>
                  <a:tcPr marL="9525" marR="9525" marT="9525" marB="0" anchor="b">
                    <a:lnL w="6350" cap="flat" cmpd="sng" algn="ctr">
                      <a:solidFill>
                        <a:srgbClr val="366092"/>
                      </a:solidFill>
                      <a:prstDash val="solid"/>
                      <a:round/>
                      <a:headEnd type="none" w="med" len="med"/>
                      <a:tailEnd type="none" w="med" len="med"/>
                    </a:lnL>
                    <a:lnR w="6350" cap="flat" cmpd="sng" algn="ctr">
                      <a:solidFill>
                        <a:srgbClr val="366092"/>
                      </a:solidFill>
                      <a:prstDash val="solid"/>
                      <a:round/>
                      <a:headEnd type="none" w="med" len="med"/>
                      <a:tailEnd type="none" w="med" len="med"/>
                    </a:lnR>
                    <a:lnT w="6350" cap="flat" cmpd="sng" algn="ctr">
                      <a:solidFill>
                        <a:srgbClr val="366092"/>
                      </a:solidFill>
                      <a:prstDash val="solid"/>
                      <a:round/>
                      <a:headEnd type="none" w="med" len="med"/>
                      <a:tailEnd type="none" w="med" len="med"/>
                    </a:lnT>
                    <a:lnB w="6350" cap="flat" cmpd="sng" algn="ctr">
                      <a:solidFill>
                        <a:srgbClr val="366092"/>
                      </a:solidFill>
                      <a:prstDash val="solid"/>
                      <a:round/>
                      <a:headEnd type="none" w="med" len="med"/>
                      <a:tailEnd type="none" w="med" len="med"/>
                    </a:lnB>
                  </a:tcPr>
                </a:tc>
                <a:tc>
                  <a:txBody>
                    <a:bodyPr/>
                    <a:lstStyle/>
                    <a:p>
                      <a:pPr algn="ctr" fontAlgn="b"/>
                      <a:r>
                        <a:rPr lang="pt-BR" sz="1100" b="0" i="0" u="none" strike="noStrike">
                          <a:solidFill>
                            <a:srgbClr val="000000"/>
                          </a:solidFill>
                          <a:effectLst/>
                          <a:latin typeface="Calibri"/>
                        </a:rPr>
                        <a:t>130</a:t>
                      </a:r>
                    </a:p>
                  </a:txBody>
                  <a:tcPr marL="9525" marR="9525" marT="9525" marB="0" anchor="b">
                    <a:lnL w="6350" cap="flat" cmpd="sng" algn="ctr">
                      <a:solidFill>
                        <a:srgbClr val="366092"/>
                      </a:solidFill>
                      <a:prstDash val="solid"/>
                      <a:round/>
                      <a:headEnd type="none" w="med" len="med"/>
                      <a:tailEnd type="none" w="med" len="med"/>
                    </a:lnL>
                    <a:lnR w="6350" cap="flat" cmpd="sng" algn="ctr">
                      <a:solidFill>
                        <a:srgbClr val="366092"/>
                      </a:solidFill>
                      <a:prstDash val="solid"/>
                      <a:round/>
                      <a:headEnd type="none" w="med" len="med"/>
                      <a:tailEnd type="none" w="med" len="med"/>
                    </a:lnR>
                    <a:lnT w="6350" cap="flat" cmpd="sng" algn="ctr">
                      <a:solidFill>
                        <a:srgbClr val="366092"/>
                      </a:solidFill>
                      <a:prstDash val="solid"/>
                      <a:round/>
                      <a:headEnd type="none" w="med" len="med"/>
                      <a:tailEnd type="none" w="med" len="med"/>
                    </a:lnT>
                    <a:lnB w="6350" cap="flat" cmpd="sng" algn="ctr">
                      <a:solidFill>
                        <a:srgbClr val="366092"/>
                      </a:solidFill>
                      <a:prstDash val="solid"/>
                      <a:round/>
                      <a:headEnd type="none" w="med" len="med"/>
                      <a:tailEnd type="none" w="med" len="med"/>
                    </a:lnB>
                  </a:tcPr>
                </a:tc>
                <a:tc>
                  <a:txBody>
                    <a:bodyPr/>
                    <a:lstStyle/>
                    <a:p>
                      <a:pPr algn="ctr" fontAlgn="b"/>
                      <a:r>
                        <a:rPr lang="pt-BR" sz="1100" b="0" i="0" u="none" strike="noStrike">
                          <a:solidFill>
                            <a:srgbClr val="000000"/>
                          </a:solidFill>
                          <a:effectLst/>
                          <a:latin typeface="Calibri"/>
                        </a:rPr>
                        <a:t>3%</a:t>
                      </a:r>
                    </a:p>
                  </a:txBody>
                  <a:tcPr marL="9525" marR="9525" marT="9525" marB="0" anchor="b">
                    <a:lnL w="6350" cap="flat" cmpd="sng" algn="ctr">
                      <a:solidFill>
                        <a:srgbClr val="366092"/>
                      </a:solidFill>
                      <a:prstDash val="solid"/>
                      <a:round/>
                      <a:headEnd type="none" w="med" len="med"/>
                      <a:tailEnd type="none" w="med" len="med"/>
                    </a:lnL>
                    <a:lnR w="6350" cap="flat" cmpd="sng" algn="ctr">
                      <a:solidFill>
                        <a:srgbClr val="366092"/>
                      </a:solidFill>
                      <a:prstDash val="solid"/>
                      <a:round/>
                      <a:headEnd type="none" w="med" len="med"/>
                      <a:tailEnd type="none" w="med" len="med"/>
                    </a:lnR>
                    <a:lnT w="6350" cap="flat" cmpd="sng" algn="ctr">
                      <a:solidFill>
                        <a:srgbClr val="366092"/>
                      </a:solidFill>
                      <a:prstDash val="solid"/>
                      <a:round/>
                      <a:headEnd type="none" w="med" len="med"/>
                      <a:tailEnd type="none" w="med" len="med"/>
                    </a:lnT>
                    <a:lnB w="6350" cap="flat" cmpd="sng" algn="ctr">
                      <a:solidFill>
                        <a:srgbClr val="366092"/>
                      </a:solidFill>
                      <a:prstDash val="solid"/>
                      <a:round/>
                      <a:headEnd type="none" w="med" len="med"/>
                      <a:tailEnd type="none" w="med" len="med"/>
                    </a:lnB>
                  </a:tcPr>
                </a:tc>
              </a:tr>
              <a:tr h="175717">
                <a:tc>
                  <a:txBody>
                    <a:bodyPr/>
                    <a:lstStyle/>
                    <a:p>
                      <a:pPr algn="l" fontAlgn="b"/>
                      <a:r>
                        <a:rPr lang="pt-BR" sz="1100" b="0" i="0" u="none" strike="noStrike">
                          <a:solidFill>
                            <a:srgbClr val="000000"/>
                          </a:solidFill>
                          <a:effectLst/>
                          <a:latin typeface="Calibri"/>
                        </a:rPr>
                        <a:t>Citrix</a:t>
                      </a:r>
                    </a:p>
                  </a:txBody>
                  <a:tcPr marL="9525" marR="9525" marT="9525" marB="0" anchor="b">
                    <a:lnL w="6350" cap="flat" cmpd="sng" algn="ctr">
                      <a:solidFill>
                        <a:srgbClr val="366092"/>
                      </a:solidFill>
                      <a:prstDash val="solid"/>
                      <a:round/>
                      <a:headEnd type="none" w="med" len="med"/>
                      <a:tailEnd type="none" w="med" len="med"/>
                    </a:lnL>
                    <a:lnR w="6350" cap="flat" cmpd="sng" algn="ctr">
                      <a:solidFill>
                        <a:srgbClr val="366092"/>
                      </a:solidFill>
                      <a:prstDash val="solid"/>
                      <a:round/>
                      <a:headEnd type="none" w="med" len="med"/>
                      <a:tailEnd type="none" w="med" len="med"/>
                    </a:lnR>
                    <a:lnT w="6350" cap="flat" cmpd="sng" algn="ctr">
                      <a:solidFill>
                        <a:srgbClr val="366092"/>
                      </a:solidFill>
                      <a:prstDash val="solid"/>
                      <a:round/>
                      <a:headEnd type="none" w="med" len="med"/>
                      <a:tailEnd type="none" w="med" len="med"/>
                    </a:lnT>
                    <a:lnB w="6350" cap="flat" cmpd="sng" algn="ctr">
                      <a:solidFill>
                        <a:srgbClr val="366092"/>
                      </a:solidFill>
                      <a:prstDash val="solid"/>
                      <a:round/>
                      <a:headEnd type="none" w="med" len="med"/>
                      <a:tailEnd type="none" w="med" len="med"/>
                    </a:lnB>
                  </a:tcPr>
                </a:tc>
                <a:tc>
                  <a:txBody>
                    <a:bodyPr/>
                    <a:lstStyle/>
                    <a:p>
                      <a:pPr algn="ctr" fontAlgn="b"/>
                      <a:r>
                        <a:rPr lang="pt-BR" sz="1100" b="0" i="0" u="none" strike="noStrike">
                          <a:solidFill>
                            <a:srgbClr val="000000"/>
                          </a:solidFill>
                          <a:effectLst/>
                          <a:latin typeface="Calibri"/>
                        </a:rPr>
                        <a:t>113</a:t>
                      </a:r>
                    </a:p>
                  </a:txBody>
                  <a:tcPr marL="9525" marR="9525" marT="9525" marB="0" anchor="b">
                    <a:lnL w="6350" cap="flat" cmpd="sng" algn="ctr">
                      <a:solidFill>
                        <a:srgbClr val="366092"/>
                      </a:solidFill>
                      <a:prstDash val="solid"/>
                      <a:round/>
                      <a:headEnd type="none" w="med" len="med"/>
                      <a:tailEnd type="none" w="med" len="med"/>
                    </a:lnL>
                    <a:lnR w="6350" cap="flat" cmpd="sng" algn="ctr">
                      <a:solidFill>
                        <a:srgbClr val="366092"/>
                      </a:solidFill>
                      <a:prstDash val="solid"/>
                      <a:round/>
                      <a:headEnd type="none" w="med" len="med"/>
                      <a:tailEnd type="none" w="med" len="med"/>
                    </a:lnR>
                    <a:lnT w="6350" cap="flat" cmpd="sng" algn="ctr">
                      <a:solidFill>
                        <a:srgbClr val="366092"/>
                      </a:solidFill>
                      <a:prstDash val="solid"/>
                      <a:round/>
                      <a:headEnd type="none" w="med" len="med"/>
                      <a:tailEnd type="none" w="med" len="med"/>
                    </a:lnT>
                    <a:lnB w="6350" cap="flat" cmpd="sng" algn="ctr">
                      <a:solidFill>
                        <a:srgbClr val="366092"/>
                      </a:solidFill>
                      <a:prstDash val="solid"/>
                      <a:round/>
                      <a:headEnd type="none" w="med" len="med"/>
                      <a:tailEnd type="none" w="med" len="med"/>
                    </a:lnB>
                  </a:tcPr>
                </a:tc>
                <a:tc>
                  <a:txBody>
                    <a:bodyPr/>
                    <a:lstStyle/>
                    <a:p>
                      <a:pPr algn="ctr" fontAlgn="b"/>
                      <a:r>
                        <a:rPr lang="pt-BR" sz="1100" b="0" i="0" u="none" strike="noStrike">
                          <a:solidFill>
                            <a:srgbClr val="000000"/>
                          </a:solidFill>
                          <a:effectLst/>
                          <a:latin typeface="Calibri"/>
                        </a:rPr>
                        <a:t>3%</a:t>
                      </a:r>
                    </a:p>
                  </a:txBody>
                  <a:tcPr marL="9525" marR="9525" marT="9525" marB="0" anchor="b">
                    <a:lnL w="6350" cap="flat" cmpd="sng" algn="ctr">
                      <a:solidFill>
                        <a:srgbClr val="366092"/>
                      </a:solidFill>
                      <a:prstDash val="solid"/>
                      <a:round/>
                      <a:headEnd type="none" w="med" len="med"/>
                      <a:tailEnd type="none" w="med" len="med"/>
                    </a:lnL>
                    <a:lnR w="6350" cap="flat" cmpd="sng" algn="ctr">
                      <a:solidFill>
                        <a:srgbClr val="366092"/>
                      </a:solidFill>
                      <a:prstDash val="solid"/>
                      <a:round/>
                      <a:headEnd type="none" w="med" len="med"/>
                      <a:tailEnd type="none" w="med" len="med"/>
                    </a:lnR>
                    <a:lnT w="6350" cap="flat" cmpd="sng" algn="ctr">
                      <a:solidFill>
                        <a:srgbClr val="366092"/>
                      </a:solidFill>
                      <a:prstDash val="solid"/>
                      <a:round/>
                      <a:headEnd type="none" w="med" len="med"/>
                      <a:tailEnd type="none" w="med" len="med"/>
                    </a:lnT>
                    <a:lnB w="6350" cap="flat" cmpd="sng" algn="ctr">
                      <a:solidFill>
                        <a:srgbClr val="366092"/>
                      </a:solidFill>
                      <a:prstDash val="solid"/>
                      <a:round/>
                      <a:headEnd type="none" w="med" len="med"/>
                      <a:tailEnd type="none" w="med" len="med"/>
                    </a:lnB>
                  </a:tcPr>
                </a:tc>
              </a:tr>
              <a:tr h="175717">
                <a:tc>
                  <a:txBody>
                    <a:bodyPr/>
                    <a:lstStyle/>
                    <a:p>
                      <a:pPr algn="l" fontAlgn="b"/>
                      <a:r>
                        <a:rPr lang="pt-BR" sz="1100" b="0" i="0" u="none" strike="noStrike">
                          <a:solidFill>
                            <a:srgbClr val="000000"/>
                          </a:solidFill>
                          <a:effectLst/>
                          <a:latin typeface="Calibri"/>
                        </a:rPr>
                        <a:t>SIEBEL</a:t>
                      </a:r>
                    </a:p>
                  </a:txBody>
                  <a:tcPr marL="9525" marR="9525" marT="9525" marB="0" anchor="b">
                    <a:lnL w="6350" cap="flat" cmpd="sng" algn="ctr">
                      <a:solidFill>
                        <a:srgbClr val="366092"/>
                      </a:solidFill>
                      <a:prstDash val="solid"/>
                      <a:round/>
                      <a:headEnd type="none" w="med" len="med"/>
                      <a:tailEnd type="none" w="med" len="med"/>
                    </a:lnL>
                    <a:lnR w="6350" cap="flat" cmpd="sng" algn="ctr">
                      <a:solidFill>
                        <a:srgbClr val="366092"/>
                      </a:solidFill>
                      <a:prstDash val="solid"/>
                      <a:round/>
                      <a:headEnd type="none" w="med" len="med"/>
                      <a:tailEnd type="none" w="med" len="med"/>
                    </a:lnR>
                    <a:lnT w="6350" cap="flat" cmpd="sng" algn="ctr">
                      <a:solidFill>
                        <a:srgbClr val="366092"/>
                      </a:solidFill>
                      <a:prstDash val="solid"/>
                      <a:round/>
                      <a:headEnd type="none" w="med" len="med"/>
                      <a:tailEnd type="none" w="med" len="med"/>
                    </a:lnT>
                    <a:lnB w="6350" cap="flat" cmpd="sng" algn="ctr">
                      <a:solidFill>
                        <a:srgbClr val="366092"/>
                      </a:solidFill>
                      <a:prstDash val="solid"/>
                      <a:round/>
                      <a:headEnd type="none" w="med" len="med"/>
                      <a:tailEnd type="none" w="med" len="med"/>
                    </a:lnB>
                  </a:tcPr>
                </a:tc>
                <a:tc>
                  <a:txBody>
                    <a:bodyPr/>
                    <a:lstStyle/>
                    <a:p>
                      <a:pPr algn="ctr" fontAlgn="b"/>
                      <a:r>
                        <a:rPr lang="pt-BR" sz="1100" b="0" i="0" u="none" strike="noStrike">
                          <a:solidFill>
                            <a:srgbClr val="000000"/>
                          </a:solidFill>
                          <a:effectLst/>
                          <a:latin typeface="Calibri"/>
                        </a:rPr>
                        <a:t>101</a:t>
                      </a:r>
                    </a:p>
                  </a:txBody>
                  <a:tcPr marL="9525" marR="9525" marT="9525" marB="0" anchor="b">
                    <a:lnL w="6350" cap="flat" cmpd="sng" algn="ctr">
                      <a:solidFill>
                        <a:srgbClr val="366092"/>
                      </a:solidFill>
                      <a:prstDash val="solid"/>
                      <a:round/>
                      <a:headEnd type="none" w="med" len="med"/>
                      <a:tailEnd type="none" w="med" len="med"/>
                    </a:lnL>
                    <a:lnR w="6350" cap="flat" cmpd="sng" algn="ctr">
                      <a:solidFill>
                        <a:srgbClr val="366092"/>
                      </a:solidFill>
                      <a:prstDash val="solid"/>
                      <a:round/>
                      <a:headEnd type="none" w="med" len="med"/>
                      <a:tailEnd type="none" w="med" len="med"/>
                    </a:lnR>
                    <a:lnT w="6350" cap="flat" cmpd="sng" algn="ctr">
                      <a:solidFill>
                        <a:srgbClr val="366092"/>
                      </a:solidFill>
                      <a:prstDash val="solid"/>
                      <a:round/>
                      <a:headEnd type="none" w="med" len="med"/>
                      <a:tailEnd type="none" w="med" len="med"/>
                    </a:lnT>
                    <a:lnB w="6350" cap="flat" cmpd="sng" algn="ctr">
                      <a:solidFill>
                        <a:srgbClr val="366092"/>
                      </a:solidFill>
                      <a:prstDash val="solid"/>
                      <a:round/>
                      <a:headEnd type="none" w="med" len="med"/>
                      <a:tailEnd type="none" w="med" len="med"/>
                    </a:lnB>
                  </a:tcPr>
                </a:tc>
                <a:tc>
                  <a:txBody>
                    <a:bodyPr/>
                    <a:lstStyle/>
                    <a:p>
                      <a:pPr algn="ctr" fontAlgn="b"/>
                      <a:r>
                        <a:rPr lang="pt-BR" sz="1100" b="0" i="0" u="none" strike="noStrike">
                          <a:solidFill>
                            <a:srgbClr val="000000"/>
                          </a:solidFill>
                          <a:effectLst/>
                          <a:latin typeface="Calibri"/>
                        </a:rPr>
                        <a:t>2%</a:t>
                      </a:r>
                    </a:p>
                  </a:txBody>
                  <a:tcPr marL="9525" marR="9525" marT="9525" marB="0" anchor="b">
                    <a:lnL w="6350" cap="flat" cmpd="sng" algn="ctr">
                      <a:solidFill>
                        <a:srgbClr val="366092"/>
                      </a:solidFill>
                      <a:prstDash val="solid"/>
                      <a:round/>
                      <a:headEnd type="none" w="med" len="med"/>
                      <a:tailEnd type="none" w="med" len="med"/>
                    </a:lnL>
                    <a:lnR w="6350" cap="flat" cmpd="sng" algn="ctr">
                      <a:solidFill>
                        <a:srgbClr val="366092"/>
                      </a:solidFill>
                      <a:prstDash val="solid"/>
                      <a:round/>
                      <a:headEnd type="none" w="med" len="med"/>
                      <a:tailEnd type="none" w="med" len="med"/>
                    </a:lnR>
                    <a:lnT w="6350" cap="flat" cmpd="sng" algn="ctr">
                      <a:solidFill>
                        <a:srgbClr val="366092"/>
                      </a:solidFill>
                      <a:prstDash val="solid"/>
                      <a:round/>
                      <a:headEnd type="none" w="med" len="med"/>
                      <a:tailEnd type="none" w="med" len="med"/>
                    </a:lnT>
                    <a:lnB w="6350" cap="flat" cmpd="sng" algn="ctr">
                      <a:solidFill>
                        <a:srgbClr val="366092"/>
                      </a:solidFill>
                      <a:prstDash val="solid"/>
                      <a:round/>
                      <a:headEnd type="none" w="med" len="med"/>
                      <a:tailEnd type="none" w="med" len="med"/>
                    </a:lnB>
                  </a:tcPr>
                </a:tc>
              </a:tr>
              <a:tr h="175717">
                <a:tc>
                  <a:txBody>
                    <a:bodyPr/>
                    <a:lstStyle/>
                    <a:p>
                      <a:pPr algn="l" fontAlgn="b"/>
                      <a:r>
                        <a:rPr lang="pt-BR" sz="1100" b="0" i="0" u="none" strike="noStrike">
                          <a:solidFill>
                            <a:srgbClr val="000000"/>
                          </a:solidFill>
                          <a:effectLst/>
                          <a:latin typeface="Calibri"/>
                        </a:rPr>
                        <a:t>Total View</a:t>
                      </a:r>
                    </a:p>
                  </a:txBody>
                  <a:tcPr marL="9525" marR="9525" marT="9525" marB="0" anchor="b">
                    <a:lnL w="6350" cap="flat" cmpd="sng" algn="ctr">
                      <a:solidFill>
                        <a:srgbClr val="366092"/>
                      </a:solidFill>
                      <a:prstDash val="solid"/>
                      <a:round/>
                      <a:headEnd type="none" w="med" len="med"/>
                      <a:tailEnd type="none" w="med" len="med"/>
                    </a:lnL>
                    <a:lnR w="6350" cap="flat" cmpd="sng" algn="ctr">
                      <a:solidFill>
                        <a:srgbClr val="366092"/>
                      </a:solidFill>
                      <a:prstDash val="solid"/>
                      <a:round/>
                      <a:headEnd type="none" w="med" len="med"/>
                      <a:tailEnd type="none" w="med" len="med"/>
                    </a:lnR>
                    <a:lnT w="6350" cap="flat" cmpd="sng" algn="ctr">
                      <a:solidFill>
                        <a:srgbClr val="366092"/>
                      </a:solidFill>
                      <a:prstDash val="solid"/>
                      <a:round/>
                      <a:headEnd type="none" w="med" len="med"/>
                      <a:tailEnd type="none" w="med" len="med"/>
                    </a:lnT>
                    <a:lnB w="6350" cap="flat" cmpd="sng" algn="ctr">
                      <a:solidFill>
                        <a:srgbClr val="366092"/>
                      </a:solidFill>
                      <a:prstDash val="solid"/>
                      <a:round/>
                      <a:headEnd type="none" w="med" len="med"/>
                      <a:tailEnd type="none" w="med" len="med"/>
                    </a:lnB>
                  </a:tcPr>
                </a:tc>
                <a:tc>
                  <a:txBody>
                    <a:bodyPr/>
                    <a:lstStyle/>
                    <a:p>
                      <a:pPr algn="ctr" fontAlgn="b"/>
                      <a:r>
                        <a:rPr lang="pt-BR" sz="1100" b="0" i="0" u="none" strike="noStrike">
                          <a:solidFill>
                            <a:srgbClr val="000000"/>
                          </a:solidFill>
                          <a:effectLst/>
                          <a:latin typeface="Calibri"/>
                        </a:rPr>
                        <a:t>94</a:t>
                      </a:r>
                    </a:p>
                  </a:txBody>
                  <a:tcPr marL="9525" marR="9525" marT="9525" marB="0" anchor="b">
                    <a:lnL w="6350" cap="flat" cmpd="sng" algn="ctr">
                      <a:solidFill>
                        <a:srgbClr val="366092"/>
                      </a:solidFill>
                      <a:prstDash val="solid"/>
                      <a:round/>
                      <a:headEnd type="none" w="med" len="med"/>
                      <a:tailEnd type="none" w="med" len="med"/>
                    </a:lnL>
                    <a:lnR w="6350" cap="flat" cmpd="sng" algn="ctr">
                      <a:solidFill>
                        <a:srgbClr val="366092"/>
                      </a:solidFill>
                      <a:prstDash val="solid"/>
                      <a:round/>
                      <a:headEnd type="none" w="med" len="med"/>
                      <a:tailEnd type="none" w="med" len="med"/>
                    </a:lnR>
                    <a:lnT w="6350" cap="flat" cmpd="sng" algn="ctr">
                      <a:solidFill>
                        <a:srgbClr val="366092"/>
                      </a:solidFill>
                      <a:prstDash val="solid"/>
                      <a:round/>
                      <a:headEnd type="none" w="med" len="med"/>
                      <a:tailEnd type="none" w="med" len="med"/>
                    </a:lnT>
                    <a:lnB w="6350" cap="flat" cmpd="sng" algn="ctr">
                      <a:solidFill>
                        <a:srgbClr val="366092"/>
                      </a:solidFill>
                      <a:prstDash val="solid"/>
                      <a:round/>
                      <a:headEnd type="none" w="med" len="med"/>
                      <a:tailEnd type="none" w="med" len="med"/>
                    </a:lnB>
                  </a:tcPr>
                </a:tc>
                <a:tc>
                  <a:txBody>
                    <a:bodyPr/>
                    <a:lstStyle/>
                    <a:p>
                      <a:pPr algn="ctr" fontAlgn="b"/>
                      <a:r>
                        <a:rPr lang="pt-BR" sz="1100" b="0" i="0" u="none" strike="noStrike">
                          <a:solidFill>
                            <a:srgbClr val="000000"/>
                          </a:solidFill>
                          <a:effectLst/>
                          <a:latin typeface="Calibri"/>
                        </a:rPr>
                        <a:t>2%</a:t>
                      </a:r>
                    </a:p>
                  </a:txBody>
                  <a:tcPr marL="9525" marR="9525" marT="9525" marB="0" anchor="b">
                    <a:lnL w="6350" cap="flat" cmpd="sng" algn="ctr">
                      <a:solidFill>
                        <a:srgbClr val="366092"/>
                      </a:solidFill>
                      <a:prstDash val="solid"/>
                      <a:round/>
                      <a:headEnd type="none" w="med" len="med"/>
                      <a:tailEnd type="none" w="med" len="med"/>
                    </a:lnL>
                    <a:lnR w="6350" cap="flat" cmpd="sng" algn="ctr">
                      <a:solidFill>
                        <a:srgbClr val="366092"/>
                      </a:solidFill>
                      <a:prstDash val="solid"/>
                      <a:round/>
                      <a:headEnd type="none" w="med" len="med"/>
                      <a:tailEnd type="none" w="med" len="med"/>
                    </a:lnR>
                    <a:lnT w="6350" cap="flat" cmpd="sng" algn="ctr">
                      <a:solidFill>
                        <a:srgbClr val="366092"/>
                      </a:solidFill>
                      <a:prstDash val="solid"/>
                      <a:round/>
                      <a:headEnd type="none" w="med" len="med"/>
                      <a:tailEnd type="none" w="med" len="med"/>
                    </a:lnT>
                    <a:lnB w="6350" cap="flat" cmpd="sng" algn="ctr">
                      <a:solidFill>
                        <a:srgbClr val="366092"/>
                      </a:solidFill>
                      <a:prstDash val="solid"/>
                      <a:round/>
                      <a:headEnd type="none" w="med" len="med"/>
                      <a:tailEnd type="none" w="med" len="med"/>
                    </a:lnB>
                  </a:tcPr>
                </a:tc>
              </a:tr>
              <a:tr h="175717">
                <a:tc>
                  <a:txBody>
                    <a:bodyPr/>
                    <a:lstStyle/>
                    <a:p>
                      <a:pPr algn="l" fontAlgn="b"/>
                      <a:r>
                        <a:rPr lang="pt-BR" sz="1100" b="0" i="0" u="none" strike="noStrike">
                          <a:solidFill>
                            <a:srgbClr val="000000"/>
                          </a:solidFill>
                          <a:effectLst/>
                          <a:latin typeface="Calibri"/>
                        </a:rPr>
                        <a:t>STC</a:t>
                      </a:r>
                    </a:p>
                  </a:txBody>
                  <a:tcPr marL="9525" marR="9525" marT="9525" marB="0" anchor="b">
                    <a:lnL w="6350" cap="flat" cmpd="sng" algn="ctr">
                      <a:solidFill>
                        <a:srgbClr val="366092"/>
                      </a:solidFill>
                      <a:prstDash val="solid"/>
                      <a:round/>
                      <a:headEnd type="none" w="med" len="med"/>
                      <a:tailEnd type="none" w="med" len="med"/>
                    </a:lnL>
                    <a:lnR w="6350" cap="flat" cmpd="sng" algn="ctr">
                      <a:solidFill>
                        <a:srgbClr val="366092"/>
                      </a:solidFill>
                      <a:prstDash val="solid"/>
                      <a:round/>
                      <a:headEnd type="none" w="med" len="med"/>
                      <a:tailEnd type="none" w="med" len="med"/>
                    </a:lnR>
                    <a:lnT w="6350" cap="flat" cmpd="sng" algn="ctr">
                      <a:solidFill>
                        <a:srgbClr val="366092"/>
                      </a:solidFill>
                      <a:prstDash val="solid"/>
                      <a:round/>
                      <a:headEnd type="none" w="med" len="med"/>
                      <a:tailEnd type="none" w="med" len="med"/>
                    </a:lnT>
                    <a:lnB w="6350" cap="flat" cmpd="sng" algn="ctr">
                      <a:solidFill>
                        <a:srgbClr val="366092"/>
                      </a:solidFill>
                      <a:prstDash val="solid"/>
                      <a:round/>
                      <a:headEnd type="none" w="med" len="med"/>
                      <a:tailEnd type="none" w="med" len="med"/>
                    </a:lnB>
                  </a:tcPr>
                </a:tc>
                <a:tc>
                  <a:txBody>
                    <a:bodyPr/>
                    <a:lstStyle/>
                    <a:p>
                      <a:pPr algn="ctr" fontAlgn="b"/>
                      <a:r>
                        <a:rPr lang="pt-BR" sz="1100" b="0" i="0" u="none" strike="noStrike">
                          <a:solidFill>
                            <a:srgbClr val="000000"/>
                          </a:solidFill>
                          <a:effectLst/>
                          <a:latin typeface="Calibri"/>
                        </a:rPr>
                        <a:t>87</a:t>
                      </a:r>
                    </a:p>
                  </a:txBody>
                  <a:tcPr marL="9525" marR="9525" marT="9525" marB="0" anchor="b">
                    <a:lnL w="6350" cap="flat" cmpd="sng" algn="ctr">
                      <a:solidFill>
                        <a:srgbClr val="366092"/>
                      </a:solidFill>
                      <a:prstDash val="solid"/>
                      <a:round/>
                      <a:headEnd type="none" w="med" len="med"/>
                      <a:tailEnd type="none" w="med" len="med"/>
                    </a:lnL>
                    <a:lnR w="6350" cap="flat" cmpd="sng" algn="ctr">
                      <a:solidFill>
                        <a:srgbClr val="366092"/>
                      </a:solidFill>
                      <a:prstDash val="solid"/>
                      <a:round/>
                      <a:headEnd type="none" w="med" len="med"/>
                      <a:tailEnd type="none" w="med" len="med"/>
                    </a:lnR>
                    <a:lnT w="6350" cap="flat" cmpd="sng" algn="ctr">
                      <a:solidFill>
                        <a:srgbClr val="366092"/>
                      </a:solidFill>
                      <a:prstDash val="solid"/>
                      <a:round/>
                      <a:headEnd type="none" w="med" len="med"/>
                      <a:tailEnd type="none" w="med" len="med"/>
                    </a:lnT>
                    <a:lnB w="6350" cap="flat" cmpd="sng" algn="ctr">
                      <a:solidFill>
                        <a:srgbClr val="366092"/>
                      </a:solidFill>
                      <a:prstDash val="solid"/>
                      <a:round/>
                      <a:headEnd type="none" w="med" len="med"/>
                      <a:tailEnd type="none" w="med" len="med"/>
                    </a:lnB>
                  </a:tcPr>
                </a:tc>
                <a:tc>
                  <a:txBody>
                    <a:bodyPr/>
                    <a:lstStyle/>
                    <a:p>
                      <a:pPr algn="ctr" fontAlgn="b"/>
                      <a:r>
                        <a:rPr lang="pt-BR" sz="1100" b="0" i="0" u="none" strike="noStrike">
                          <a:solidFill>
                            <a:srgbClr val="000000"/>
                          </a:solidFill>
                          <a:effectLst/>
                          <a:latin typeface="Calibri"/>
                        </a:rPr>
                        <a:t>2%</a:t>
                      </a:r>
                    </a:p>
                  </a:txBody>
                  <a:tcPr marL="9525" marR="9525" marT="9525" marB="0" anchor="b">
                    <a:lnL w="6350" cap="flat" cmpd="sng" algn="ctr">
                      <a:solidFill>
                        <a:srgbClr val="366092"/>
                      </a:solidFill>
                      <a:prstDash val="solid"/>
                      <a:round/>
                      <a:headEnd type="none" w="med" len="med"/>
                      <a:tailEnd type="none" w="med" len="med"/>
                    </a:lnL>
                    <a:lnR w="6350" cap="flat" cmpd="sng" algn="ctr">
                      <a:solidFill>
                        <a:srgbClr val="366092"/>
                      </a:solidFill>
                      <a:prstDash val="solid"/>
                      <a:round/>
                      <a:headEnd type="none" w="med" len="med"/>
                      <a:tailEnd type="none" w="med" len="med"/>
                    </a:lnR>
                    <a:lnT w="6350" cap="flat" cmpd="sng" algn="ctr">
                      <a:solidFill>
                        <a:srgbClr val="366092"/>
                      </a:solidFill>
                      <a:prstDash val="solid"/>
                      <a:round/>
                      <a:headEnd type="none" w="med" len="med"/>
                      <a:tailEnd type="none" w="med" len="med"/>
                    </a:lnT>
                    <a:lnB w="6350" cap="flat" cmpd="sng" algn="ctr">
                      <a:solidFill>
                        <a:srgbClr val="366092"/>
                      </a:solidFill>
                      <a:prstDash val="solid"/>
                      <a:round/>
                      <a:headEnd type="none" w="med" len="med"/>
                      <a:tailEnd type="none" w="med" len="med"/>
                    </a:lnB>
                  </a:tcPr>
                </a:tc>
              </a:tr>
              <a:tr h="175717">
                <a:tc>
                  <a:txBody>
                    <a:bodyPr/>
                    <a:lstStyle/>
                    <a:p>
                      <a:pPr algn="l" fontAlgn="b"/>
                      <a:r>
                        <a:rPr lang="pt-BR" sz="1100" b="0" i="0" u="none" strike="noStrike">
                          <a:solidFill>
                            <a:srgbClr val="000000"/>
                          </a:solidFill>
                          <a:effectLst/>
                          <a:latin typeface="Calibri"/>
                        </a:rPr>
                        <a:t>Demais Softwares</a:t>
                      </a:r>
                    </a:p>
                  </a:txBody>
                  <a:tcPr marL="9525" marR="9525" marT="9525" marB="0" anchor="b">
                    <a:lnL w="6350" cap="flat" cmpd="sng" algn="ctr">
                      <a:solidFill>
                        <a:srgbClr val="366092"/>
                      </a:solidFill>
                      <a:prstDash val="solid"/>
                      <a:round/>
                      <a:headEnd type="none" w="med" len="med"/>
                      <a:tailEnd type="none" w="med" len="med"/>
                    </a:lnL>
                    <a:lnR w="6350" cap="flat" cmpd="sng" algn="ctr">
                      <a:solidFill>
                        <a:srgbClr val="366092"/>
                      </a:solidFill>
                      <a:prstDash val="solid"/>
                      <a:round/>
                      <a:headEnd type="none" w="med" len="med"/>
                      <a:tailEnd type="none" w="med" len="med"/>
                    </a:lnR>
                    <a:lnT w="6350" cap="flat" cmpd="sng" algn="ctr">
                      <a:solidFill>
                        <a:srgbClr val="366092"/>
                      </a:solidFill>
                      <a:prstDash val="solid"/>
                      <a:round/>
                      <a:headEnd type="none" w="med" len="med"/>
                      <a:tailEnd type="none" w="med" len="med"/>
                    </a:lnT>
                    <a:lnB w="6350" cap="flat" cmpd="sng" algn="ctr">
                      <a:solidFill>
                        <a:srgbClr val="366092"/>
                      </a:solidFill>
                      <a:prstDash val="solid"/>
                      <a:round/>
                      <a:headEnd type="none" w="med" len="med"/>
                      <a:tailEnd type="none" w="med" len="med"/>
                    </a:lnB>
                  </a:tcPr>
                </a:tc>
                <a:tc>
                  <a:txBody>
                    <a:bodyPr/>
                    <a:lstStyle/>
                    <a:p>
                      <a:pPr algn="ctr" fontAlgn="b"/>
                      <a:r>
                        <a:rPr lang="pt-BR" sz="1100" b="0" i="0" u="none" strike="noStrike">
                          <a:solidFill>
                            <a:srgbClr val="000000"/>
                          </a:solidFill>
                          <a:effectLst/>
                          <a:latin typeface="Calibri"/>
                        </a:rPr>
                        <a:t>2610</a:t>
                      </a:r>
                    </a:p>
                  </a:txBody>
                  <a:tcPr marL="9525" marR="9525" marT="9525" marB="0" anchor="b">
                    <a:lnL w="6350" cap="flat" cmpd="sng" algn="ctr">
                      <a:solidFill>
                        <a:srgbClr val="366092"/>
                      </a:solidFill>
                      <a:prstDash val="solid"/>
                      <a:round/>
                      <a:headEnd type="none" w="med" len="med"/>
                      <a:tailEnd type="none" w="med" len="med"/>
                    </a:lnL>
                    <a:lnR w="6350" cap="flat" cmpd="sng" algn="ctr">
                      <a:solidFill>
                        <a:srgbClr val="366092"/>
                      </a:solidFill>
                      <a:prstDash val="solid"/>
                      <a:round/>
                      <a:headEnd type="none" w="med" len="med"/>
                      <a:tailEnd type="none" w="med" len="med"/>
                    </a:lnR>
                    <a:lnT w="6350" cap="flat" cmpd="sng" algn="ctr">
                      <a:solidFill>
                        <a:srgbClr val="366092"/>
                      </a:solidFill>
                      <a:prstDash val="solid"/>
                      <a:round/>
                      <a:headEnd type="none" w="med" len="med"/>
                      <a:tailEnd type="none" w="med" len="med"/>
                    </a:lnT>
                    <a:lnB w="6350" cap="flat" cmpd="sng" algn="ctr">
                      <a:solidFill>
                        <a:srgbClr val="366092"/>
                      </a:solidFill>
                      <a:prstDash val="solid"/>
                      <a:round/>
                      <a:headEnd type="none" w="med" len="med"/>
                      <a:tailEnd type="none" w="med" len="med"/>
                    </a:lnB>
                  </a:tcPr>
                </a:tc>
                <a:tc>
                  <a:txBody>
                    <a:bodyPr/>
                    <a:lstStyle/>
                    <a:p>
                      <a:pPr algn="ctr" fontAlgn="b"/>
                      <a:r>
                        <a:rPr lang="pt-BR" sz="1100" b="0" i="0" u="none" strike="noStrike">
                          <a:solidFill>
                            <a:srgbClr val="000000"/>
                          </a:solidFill>
                          <a:effectLst/>
                          <a:latin typeface="Calibri"/>
                        </a:rPr>
                        <a:t>60%</a:t>
                      </a:r>
                    </a:p>
                  </a:txBody>
                  <a:tcPr marL="9525" marR="9525" marT="9525" marB="0" anchor="b">
                    <a:lnL w="6350" cap="flat" cmpd="sng" algn="ctr">
                      <a:solidFill>
                        <a:srgbClr val="366092"/>
                      </a:solidFill>
                      <a:prstDash val="solid"/>
                      <a:round/>
                      <a:headEnd type="none" w="med" len="med"/>
                      <a:tailEnd type="none" w="med" len="med"/>
                    </a:lnL>
                    <a:lnR w="6350" cap="flat" cmpd="sng" algn="ctr">
                      <a:solidFill>
                        <a:srgbClr val="366092"/>
                      </a:solidFill>
                      <a:prstDash val="solid"/>
                      <a:round/>
                      <a:headEnd type="none" w="med" len="med"/>
                      <a:tailEnd type="none" w="med" len="med"/>
                    </a:lnR>
                    <a:lnT w="6350" cap="flat" cmpd="sng" algn="ctr">
                      <a:solidFill>
                        <a:srgbClr val="366092"/>
                      </a:solidFill>
                      <a:prstDash val="solid"/>
                      <a:round/>
                      <a:headEnd type="none" w="med" len="med"/>
                      <a:tailEnd type="none" w="med" len="med"/>
                    </a:lnT>
                    <a:lnB w="6350" cap="flat" cmpd="sng" algn="ctr">
                      <a:solidFill>
                        <a:srgbClr val="366092"/>
                      </a:solidFill>
                      <a:prstDash val="solid"/>
                      <a:round/>
                      <a:headEnd type="none" w="med" len="med"/>
                      <a:tailEnd type="none" w="med" len="med"/>
                    </a:lnB>
                  </a:tcPr>
                </a:tc>
              </a:tr>
              <a:tr h="175717">
                <a:tc>
                  <a:txBody>
                    <a:bodyPr/>
                    <a:lstStyle/>
                    <a:p>
                      <a:pPr algn="ctr" fontAlgn="b"/>
                      <a:r>
                        <a:rPr lang="pt-BR" sz="1100" b="1" i="0" u="none" strike="noStrike">
                          <a:solidFill>
                            <a:srgbClr val="000000"/>
                          </a:solidFill>
                          <a:effectLst/>
                          <a:latin typeface="Calibri"/>
                        </a:rPr>
                        <a:t>Total</a:t>
                      </a:r>
                    </a:p>
                  </a:txBody>
                  <a:tcPr marL="9525" marR="9525" marT="9525" marB="0" anchor="b">
                    <a:lnL w="6350" cap="flat" cmpd="sng" algn="ctr">
                      <a:solidFill>
                        <a:srgbClr val="366092"/>
                      </a:solidFill>
                      <a:prstDash val="solid"/>
                      <a:round/>
                      <a:headEnd type="none" w="med" len="med"/>
                      <a:tailEnd type="none" w="med" len="med"/>
                    </a:lnL>
                    <a:lnR w="6350" cap="flat" cmpd="sng" algn="ctr">
                      <a:solidFill>
                        <a:srgbClr val="366092"/>
                      </a:solidFill>
                      <a:prstDash val="solid"/>
                      <a:round/>
                      <a:headEnd type="none" w="med" len="med"/>
                      <a:tailEnd type="none" w="med" len="med"/>
                    </a:lnR>
                    <a:lnT w="6350" cap="flat" cmpd="sng" algn="ctr">
                      <a:solidFill>
                        <a:srgbClr val="366092"/>
                      </a:solidFill>
                      <a:prstDash val="solid"/>
                      <a:round/>
                      <a:headEnd type="none" w="med" len="med"/>
                      <a:tailEnd type="none" w="med" len="med"/>
                    </a:lnT>
                    <a:lnB w="6350" cap="flat" cmpd="sng" algn="ctr">
                      <a:solidFill>
                        <a:srgbClr val="366092"/>
                      </a:solidFill>
                      <a:prstDash val="solid"/>
                      <a:round/>
                      <a:headEnd type="none" w="med" len="med"/>
                      <a:tailEnd type="none" w="med" len="med"/>
                    </a:lnB>
                    <a:solidFill>
                      <a:srgbClr val="8DB4E2"/>
                    </a:solidFill>
                  </a:tcPr>
                </a:tc>
                <a:tc>
                  <a:txBody>
                    <a:bodyPr/>
                    <a:lstStyle/>
                    <a:p>
                      <a:pPr algn="ctr" fontAlgn="b"/>
                      <a:r>
                        <a:rPr lang="pt-BR" sz="1100" b="1" i="0" u="none" strike="noStrike" dirty="0">
                          <a:solidFill>
                            <a:srgbClr val="000000"/>
                          </a:solidFill>
                          <a:effectLst/>
                          <a:latin typeface="Calibri"/>
                        </a:rPr>
                        <a:t>4369</a:t>
                      </a:r>
                    </a:p>
                  </a:txBody>
                  <a:tcPr marL="9525" marR="9525" marT="9525" marB="0" anchor="b">
                    <a:lnL w="6350" cap="flat" cmpd="sng" algn="ctr">
                      <a:solidFill>
                        <a:srgbClr val="366092"/>
                      </a:solidFill>
                      <a:prstDash val="solid"/>
                      <a:round/>
                      <a:headEnd type="none" w="med" len="med"/>
                      <a:tailEnd type="none" w="med" len="med"/>
                    </a:lnL>
                    <a:lnR>
                      <a:noFill/>
                    </a:lnR>
                    <a:lnT w="6350" cap="flat" cmpd="sng" algn="ctr">
                      <a:solidFill>
                        <a:srgbClr val="366092"/>
                      </a:solidFill>
                      <a:prstDash val="solid"/>
                      <a:round/>
                      <a:headEnd type="none" w="med" len="med"/>
                      <a:tailEnd type="none" w="med" len="med"/>
                    </a:lnT>
                    <a:lnB w="6350" cap="flat" cmpd="sng" algn="ctr">
                      <a:solidFill>
                        <a:srgbClr val="366092"/>
                      </a:solidFill>
                      <a:prstDash val="solid"/>
                      <a:round/>
                      <a:headEnd type="none" w="med" len="med"/>
                      <a:tailEnd type="none" w="med" len="med"/>
                    </a:lnB>
                    <a:solidFill>
                      <a:srgbClr val="8DB4E2"/>
                    </a:solidFill>
                  </a:tcPr>
                </a:tc>
                <a:tc>
                  <a:txBody>
                    <a:bodyPr/>
                    <a:lstStyle/>
                    <a:p>
                      <a:pPr algn="ctr" fontAlgn="b"/>
                      <a:r>
                        <a:rPr lang="pt-BR" sz="1100" b="0" i="0" u="none" strike="noStrike" dirty="0">
                          <a:solidFill>
                            <a:srgbClr val="000000"/>
                          </a:solidFill>
                          <a:effectLst/>
                          <a:latin typeface="Calibri"/>
                        </a:rPr>
                        <a:t> </a:t>
                      </a:r>
                    </a:p>
                  </a:txBody>
                  <a:tcPr marL="9525" marR="9525" marT="9525" marB="0" anchor="b">
                    <a:lnL>
                      <a:noFill/>
                    </a:lnL>
                    <a:lnR w="6350" cap="flat" cmpd="sng" algn="ctr">
                      <a:solidFill>
                        <a:srgbClr val="366092"/>
                      </a:solidFill>
                      <a:prstDash val="solid"/>
                      <a:round/>
                      <a:headEnd type="none" w="med" len="med"/>
                      <a:tailEnd type="none" w="med" len="med"/>
                    </a:lnR>
                    <a:lnT w="6350" cap="flat" cmpd="sng" algn="ctr">
                      <a:solidFill>
                        <a:srgbClr val="366092"/>
                      </a:solidFill>
                      <a:prstDash val="solid"/>
                      <a:round/>
                      <a:headEnd type="none" w="med" len="med"/>
                      <a:tailEnd type="none" w="med" len="med"/>
                    </a:lnT>
                    <a:lnB w="6350" cap="flat" cmpd="sng" algn="ctr">
                      <a:solidFill>
                        <a:srgbClr val="366092"/>
                      </a:solidFill>
                      <a:prstDash val="solid"/>
                      <a:round/>
                      <a:headEnd type="none" w="med" len="med"/>
                      <a:tailEnd type="none" w="med" len="med"/>
                    </a:lnB>
                    <a:solidFill>
                      <a:srgbClr val="8DB4E2"/>
                    </a:solidFill>
                  </a:tcPr>
                </a:tc>
              </a:tr>
            </a:tbl>
          </a:graphicData>
        </a:graphic>
      </p:graphicFrame>
      <p:sp>
        <p:nvSpPr>
          <p:cNvPr id="14" name="Title 1"/>
          <p:cNvSpPr txBox="1">
            <a:spLocks/>
          </p:cNvSpPr>
          <p:nvPr/>
        </p:nvSpPr>
        <p:spPr>
          <a:xfrm>
            <a:off x="1500743" y="491669"/>
            <a:ext cx="5723417" cy="432259"/>
          </a:xfrm>
          <a:prstGeom prst="roundRect">
            <a:avLst/>
          </a:prstGeom>
          <a:effectLst>
            <a:outerShdw blurRad="50800" dist="38100" dir="2700000" algn="tl" rotWithShape="0">
              <a:prstClr val="black">
                <a:alpha val="40000"/>
              </a:prstClr>
            </a:outerShdw>
          </a:effectLst>
        </p:spPr>
        <p:style>
          <a:lnRef idx="1">
            <a:schemeClr val="accent4"/>
          </a:lnRef>
          <a:fillRef idx="2">
            <a:schemeClr val="accent4"/>
          </a:fillRef>
          <a:effectRef idx="1">
            <a:schemeClr val="accent4"/>
          </a:effectRef>
          <a:fontRef idx="minor">
            <a:schemeClr val="dk1"/>
          </a:fontRef>
        </p:style>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buClr>
                <a:srgbClr val="800000"/>
              </a:buClr>
            </a:pPr>
            <a:r>
              <a:rPr lang="pt-BR" sz="2000" b="1" dirty="0" smtClean="0">
                <a:latin typeface="Arial" pitchFamily="34" charset="0"/>
                <a:cs typeface="Arial" pitchFamily="34" charset="0"/>
              </a:rPr>
              <a:t>Dados para suportar Plano Estratégico de TI</a:t>
            </a:r>
            <a:endParaRPr lang="pt-BR" sz="1400" b="1" dirty="0">
              <a:latin typeface="Arial" pitchFamily="34" charset="0"/>
              <a:cs typeface="Arial" pitchFamily="34" charset="0"/>
            </a:endParaRPr>
          </a:p>
        </p:txBody>
      </p:sp>
      <p:sp>
        <p:nvSpPr>
          <p:cNvPr id="15" name="CaixaDeTexto 14"/>
          <p:cNvSpPr txBox="1"/>
          <p:nvPr/>
        </p:nvSpPr>
        <p:spPr>
          <a:xfrm>
            <a:off x="-32335" y="4869493"/>
            <a:ext cx="5871160" cy="246221"/>
          </a:xfrm>
          <a:prstGeom prst="rect">
            <a:avLst/>
          </a:prstGeom>
          <a:noFill/>
          <a:scene3d>
            <a:camera prst="orthographicFront"/>
            <a:lightRig rig="threePt" dir="t"/>
          </a:scene3d>
          <a:sp3d>
            <a:bevelT w="114300" prst="artDeco"/>
            <a:bevelB/>
          </a:sp3d>
        </p:spPr>
        <p:txBody>
          <a:bodyPr wrap="square" rtlCol="0">
            <a:spAutoFit/>
          </a:bodyPr>
          <a:lstStyle/>
          <a:p>
            <a:pPr algn="just"/>
            <a:r>
              <a:rPr lang="pt-BR" sz="1000" dirty="0">
                <a:solidFill>
                  <a:schemeClr val="bg1">
                    <a:lumMod val="65000"/>
                  </a:schemeClr>
                </a:solidFill>
              </a:rPr>
              <a:t>Informações retiradas dos indicadores de SLA e </a:t>
            </a:r>
            <a:r>
              <a:rPr lang="pt-BR" sz="1000" dirty="0" err="1">
                <a:solidFill>
                  <a:schemeClr val="bg1">
                    <a:lumMod val="65000"/>
                  </a:schemeClr>
                </a:solidFill>
              </a:rPr>
              <a:t>tProcess</a:t>
            </a:r>
            <a:r>
              <a:rPr lang="pt-BR" sz="1000" dirty="0">
                <a:solidFill>
                  <a:schemeClr val="bg1">
                    <a:lumMod val="65000"/>
                  </a:schemeClr>
                </a:solidFill>
              </a:rPr>
              <a:t>! referentes ao período de </a:t>
            </a:r>
            <a:r>
              <a:rPr lang="pt-BR" sz="1000" dirty="0" smtClean="0">
                <a:solidFill>
                  <a:schemeClr val="bg1">
                    <a:lumMod val="65000"/>
                  </a:schemeClr>
                </a:solidFill>
              </a:rPr>
              <a:t>01/06 </a:t>
            </a:r>
            <a:r>
              <a:rPr lang="pt-BR" sz="1000" dirty="0">
                <a:solidFill>
                  <a:schemeClr val="bg1">
                    <a:lumMod val="65000"/>
                  </a:schemeClr>
                </a:solidFill>
              </a:rPr>
              <a:t>a </a:t>
            </a:r>
            <a:r>
              <a:rPr lang="pt-BR" sz="1000" dirty="0" smtClean="0">
                <a:solidFill>
                  <a:schemeClr val="bg1">
                    <a:lumMod val="65000"/>
                  </a:schemeClr>
                </a:solidFill>
              </a:rPr>
              <a:t>20/06.</a:t>
            </a:r>
            <a:endParaRPr lang="pt-BR" dirty="0">
              <a:solidFill>
                <a:schemeClr val="bg1">
                  <a:lumMod val="65000"/>
                </a:schemeClr>
              </a:solidFill>
            </a:endParaRPr>
          </a:p>
        </p:txBody>
      </p:sp>
    </p:spTree>
    <p:extLst>
      <p:ext uri="{BB962C8B-B14F-4D97-AF65-F5344CB8AC3E}">
        <p14:creationId xmlns:p14="http://schemas.microsoft.com/office/powerpoint/2010/main" val="80466699"/>
      </p:ext>
    </p:extLst>
  </p:cSld>
  <p:clrMapOvr>
    <a:masterClrMapping/>
  </p:clrMapOvr>
  <mc:AlternateContent xmlns:mc="http://schemas.openxmlformats.org/markup-compatibility/2006">
    <mc:Choice xmlns:p14="http://schemas.microsoft.com/office/powerpoint/2010/main" Requires="p14">
      <p:transition p14:dur="250">
        <p14:reveal/>
      </p:transition>
    </mc:Choice>
    <mc:Fallback>
      <p:transition>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1" name="Picture 9"/>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021514" y="291307"/>
            <a:ext cx="1603375"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2" name="Picture 2"/>
          <p:cNvPicPr>
            <a:picLocks noChangeAspect="1" noChangeArrowheads="1"/>
          </p:cNvPicPr>
          <p:nvPr/>
        </p:nvPicPr>
        <p:blipFill>
          <a:blip r:embed="rId4">
            <a:extLst>
              <a:ext uri="{28A0092B-C50C-407E-A947-70E740481C1C}">
                <a14:useLocalDpi xmlns:a14="http://schemas.microsoft.com/office/drawing/2010/main" val="0"/>
              </a:ext>
            </a:extLst>
          </a:blip>
          <a:srcRect l="76781" t="78172" r="18394" b="12686"/>
          <a:stretch>
            <a:fillRect/>
          </a:stretch>
        </p:blipFill>
        <p:spPr bwMode="auto">
          <a:xfrm>
            <a:off x="8188326" y="4382295"/>
            <a:ext cx="955675" cy="7635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3" name="Picture 1" descr="t03-02.jpg"/>
          <p:cNvPicPr>
            <a:picLocks noChangeAspect="1"/>
          </p:cNvPicPr>
          <p:nvPr/>
        </p:nvPicPr>
        <p:blipFill>
          <a:blip r:embed="rId5">
            <a:extLst>
              <a:ext uri="{28A0092B-C50C-407E-A947-70E740481C1C}">
                <a14:useLocalDpi xmlns:a14="http://schemas.microsoft.com/office/drawing/2010/main" val="0"/>
              </a:ext>
            </a:extLst>
          </a:blip>
          <a:srcRect r="91368" b="84909"/>
          <a:stretch>
            <a:fillRect/>
          </a:stretch>
        </p:blipFill>
        <p:spPr bwMode="auto">
          <a:xfrm>
            <a:off x="0" y="2381"/>
            <a:ext cx="788988" cy="77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78"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6226" y="833439"/>
            <a:ext cx="8568418" cy="3702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Botão de ação: Voltar ou Anterior 6">
            <a:hlinkClick r:id="" action="ppaction://hlinkshowjump?jump=lastslideviewed" highlightClick="1"/>
          </p:cNvPr>
          <p:cNvSpPr>
            <a:spLocks noChangeAspect="1"/>
          </p:cNvSpPr>
          <p:nvPr/>
        </p:nvSpPr>
        <p:spPr>
          <a:xfrm>
            <a:off x="7418722" y="4876318"/>
            <a:ext cx="533476" cy="158373"/>
          </a:xfrm>
          <a:prstGeom prst="actionButtonBackPrevious">
            <a:avLst/>
          </a:prstGeom>
          <a:scene3d>
            <a:camera prst="orthographicFront"/>
            <a:lightRig rig="threePt" dir="t"/>
          </a:scene3d>
          <a:sp3d>
            <a:bevelT w="0" h="0"/>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8" name="TextBox 4"/>
          <p:cNvSpPr txBox="1">
            <a:spLocks noChangeArrowheads="1"/>
          </p:cNvSpPr>
          <p:nvPr/>
        </p:nvSpPr>
        <p:spPr bwMode="auto">
          <a:xfrm>
            <a:off x="525925" y="-31723"/>
            <a:ext cx="649559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cs typeface="Arial" pitchFamily="34" charset="0"/>
              </a:defRPr>
            </a:lvl1pPr>
            <a:lvl2pPr marL="742950" indent="-285750" eaLnBrk="0" hangingPunct="0">
              <a:defRPr>
                <a:solidFill>
                  <a:schemeClr val="tx1"/>
                </a:solidFill>
                <a:latin typeface="Calibri" pitchFamily="34" charset="0"/>
                <a:cs typeface="Arial" pitchFamily="34" charset="0"/>
              </a:defRPr>
            </a:lvl2pPr>
            <a:lvl3pPr marL="1143000" indent="-228600" eaLnBrk="0" hangingPunct="0">
              <a:defRPr>
                <a:solidFill>
                  <a:schemeClr val="tx1"/>
                </a:solidFill>
                <a:latin typeface="Calibri" pitchFamily="34" charset="0"/>
                <a:cs typeface="Arial" pitchFamily="34" charset="0"/>
              </a:defRPr>
            </a:lvl3pPr>
            <a:lvl4pPr marL="1600200" indent="-228600" eaLnBrk="0" hangingPunct="0">
              <a:defRPr>
                <a:solidFill>
                  <a:schemeClr val="tx1"/>
                </a:solidFill>
                <a:latin typeface="Calibri" pitchFamily="34" charset="0"/>
                <a:cs typeface="Arial" pitchFamily="34" charset="0"/>
              </a:defRPr>
            </a:lvl4pPr>
            <a:lvl5pPr marL="2057400" indent="-228600" eaLnBrk="0" hangingPunct="0">
              <a:defRPr>
                <a:solidFill>
                  <a:schemeClr val="tx1"/>
                </a:solidFill>
                <a:latin typeface="Calibri" pitchFamily="34" charset="0"/>
                <a:cs typeface="Arial" pitchFamily="34" charset="0"/>
              </a:defRPr>
            </a:lvl5pPr>
            <a:lvl6pPr marL="2514600" indent="-228600" defTabSz="457200" eaLnBrk="0" fontAlgn="base" hangingPunct="0">
              <a:spcBef>
                <a:spcPct val="0"/>
              </a:spcBef>
              <a:spcAft>
                <a:spcPct val="0"/>
              </a:spcAft>
              <a:defRPr>
                <a:solidFill>
                  <a:schemeClr val="tx1"/>
                </a:solidFill>
                <a:latin typeface="Calibri" pitchFamily="34" charset="0"/>
                <a:cs typeface="Arial" pitchFamily="34" charset="0"/>
              </a:defRPr>
            </a:lvl6pPr>
            <a:lvl7pPr marL="2971800" indent="-228600" defTabSz="457200" eaLnBrk="0" fontAlgn="base" hangingPunct="0">
              <a:spcBef>
                <a:spcPct val="0"/>
              </a:spcBef>
              <a:spcAft>
                <a:spcPct val="0"/>
              </a:spcAft>
              <a:defRPr>
                <a:solidFill>
                  <a:schemeClr val="tx1"/>
                </a:solidFill>
                <a:latin typeface="Calibri" pitchFamily="34" charset="0"/>
                <a:cs typeface="Arial" pitchFamily="34" charset="0"/>
              </a:defRPr>
            </a:lvl7pPr>
            <a:lvl8pPr marL="3429000" indent="-228600" defTabSz="457200" eaLnBrk="0" fontAlgn="base" hangingPunct="0">
              <a:spcBef>
                <a:spcPct val="0"/>
              </a:spcBef>
              <a:spcAft>
                <a:spcPct val="0"/>
              </a:spcAft>
              <a:defRPr>
                <a:solidFill>
                  <a:schemeClr val="tx1"/>
                </a:solidFill>
                <a:latin typeface="Calibri" pitchFamily="34" charset="0"/>
                <a:cs typeface="Arial" pitchFamily="34" charset="0"/>
              </a:defRPr>
            </a:lvl8pPr>
            <a:lvl9pPr marL="3886200" indent="-228600" defTabSz="457200" eaLnBrk="0" fontAlgn="base" hangingPunct="0">
              <a:spcBef>
                <a:spcPct val="0"/>
              </a:spcBef>
              <a:spcAft>
                <a:spcPct val="0"/>
              </a:spcAft>
              <a:defRPr>
                <a:solidFill>
                  <a:schemeClr val="tx1"/>
                </a:solidFill>
                <a:latin typeface="Calibri" pitchFamily="34" charset="0"/>
                <a:cs typeface="Arial" pitchFamily="34" charset="0"/>
              </a:defRPr>
            </a:lvl9pPr>
          </a:lstStyle>
          <a:p>
            <a:pPr eaLnBrk="1" hangingPunct="1"/>
            <a:r>
              <a:rPr lang="pt-BR" sz="2400" b="1" dirty="0" smtClean="0">
                <a:solidFill>
                  <a:schemeClr val="accent1">
                    <a:lumMod val="50000"/>
                  </a:schemeClr>
                </a:solidFill>
              </a:rPr>
              <a:t>6. Incidentes Médio /Baixo Impacto</a:t>
            </a:r>
            <a:endParaRPr lang="pt-BR" sz="2400" b="1" dirty="0">
              <a:solidFill>
                <a:schemeClr val="accent1">
                  <a:lumMod val="50000"/>
                </a:schemeClr>
              </a:solidFill>
            </a:endParaRPr>
          </a:p>
        </p:txBody>
      </p:sp>
      <p:sp>
        <p:nvSpPr>
          <p:cNvPr id="9" name="CaixaDeTexto 8"/>
          <p:cNvSpPr txBox="1"/>
          <p:nvPr/>
        </p:nvSpPr>
        <p:spPr>
          <a:xfrm>
            <a:off x="1" y="4880883"/>
            <a:ext cx="5871160" cy="246221"/>
          </a:xfrm>
          <a:prstGeom prst="rect">
            <a:avLst/>
          </a:prstGeom>
          <a:noFill/>
          <a:scene3d>
            <a:camera prst="orthographicFront"/>
            <a:lightRig rig="threePt" dir="t"/>
          </a:scene3d>
          <a:sp3d>
            <a:bevelT w="114300" prst="artDeco"/>
            <a:bevelB/>
          </a:sp3d>
        </p:spPr>
        <p:txBody>
          <a:bodyPr wrap="square" rtlCol="0">
            <a:spAutoFit/>
          </a:bodyPr>
          <a:lstStyle/>
          <a:p>
            <a:pPr algn="just"/>
            <a:r>
              <a:rPr lang="pt-BR" sz="1000" dirty="0">
                <a:solidFill>
                  <a:schemeClr val="bg1">
                    <a:lumMod val="65000"/>
                  </a:schemeClr>
                </a:solidFill>
              </a:rPr>
              <a:t>Informações retiradas dos indicadores de SLA e </a:t>
            </a:r>
            <a:r>
              <a:rPr lang="pt-BR" sz="1000" dirty="0" err="1">
                <a:solidFill>
                  <a:schemeClr val="bg1">
                    <a:lumMod val="65000"/>
                  </a:schemeClr>
                </a:solidFill>
              </a:rPr>
              <a:t>tProcess</a:t>
            </a:r>
            <a:r>
              <a:rPr lang="pt-BR" sz="1000" dirty="0">
                <a:solidFill>
                  <a:schemeClr val="bg1">
                    <a:lumMod val="65000"/>
                  </a:schemeClr>
                </a:solidFill>
              </a:rPr>
              <a:t>! referentes ao período de </a:t>
            </a:r>
            <a:r>
              <a:rPr lang="pt-BR" sz="1000" dirty="0" smtClean="0">
                <a:solidFill>
                  <a:schemeClr val="bg1">
                    <a:lumMod val="65000"/>
                  </a:schemeClr>
                </a:solidFill>
              </a:rPr>
              <a:t>01/06 </a:t>
            </a:r>
            <a:r>
              <a:rPr lang="pt-BR" sz="1000" dirty="0">
                <a:solidFill>
                  <a:schemeClr val="bg1">
                    <a:lumMod val="65000"/>
                  </a:schemeClr>
                </a:solidFill>
              </a:rPr>
              <a:t>a </a:t>
            </a:r>
            <a:r>
              <a:rPr lang="pt-BR" sz="1000" dirty="0" smtClean="0">
                <a:solidFill>
                  <a:schemeClr val="bg1">
                    <a:lumMod val="65000"/>
                  </a:schemeClr>
                </a:solidFill>
              </a:rPr>
              <a:t>20/06.</a:t>
            </a:r>
            <a:endParaRPr lang="pt-BR" dirty="0">
              <a:solidFill>
                <a:schemeClr val="bg1">
                  <a:lumMod val="65000"/>
                </a:schemeClr>
              </a:solidFill>
            </a:endParaRPr>
          </a:p>
        </p:txBody>
      </p:sp>
    </p:spTree>
    <p:extLst>
      <p:ext uri="{BB962C8B-B14F-4D97-AF65-F5344CB8AC3E}">
        <p14:creationId xmlns:p14="http://schemas.microsoft.com/office/powerpoint/2010/main" val="2784123802"/>
      </p:ext>
    </p:extLst>
  </p:cSld>
  <p:clrMapOvr>
    <a:masterClrMapping/>
  </p:clrMapOvr>
  <mc:AlternateContent xmlns:mc="http://schemas.openxmlformats.org/markup-compatibility/2006">
    <mc:Choice xmlns:p14="http://schemas.microsoft.com/office/powerpoint/2010/main" Requires="p14">
      <p:transition p14:dur="250">
        <p14:reveal/>
      </p:transition>
    </mc:Choice>
    <mc:Fallback>
      <p:transition>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1" name="Picture 9"/>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021514" y="291307"/>
            <a:ext cx="1603375"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2" name="Picture 2"/>
          <p:cNvPicPr>
            <a:picLocks noChangeAspect="1" noChangeArrowheads="1"/>
          </p:cNvPicPr>
          <p:nvPr/>
        </p:nvPicPr>
        <p:blipFill>
          <a:blip r:embed="rId3">
            <a:extLst>
              <a:ext uri="{28A0092B-C50C-407E-A947-70E740481C1C}">
                <a14:useLocalDpi xmlns:a14="http://schemas.microsoft.com/office/drawing/2010/main" val="0"/>
              </a:ext>
            </a:extLst>
          </a:blip>
          <a:srcRect l="76781" t="78172" r="18394" b="12686"/>
          <a:stretch>
            <a:fillRect/>
          </a:stretch>
        </p:blipFill>
        <p:spPr bwMode="auto">
          <a:xfrm>
            <a:off x="8188326" y="4382295"/>
            <a:ext cx="955675" cy="7635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3" name="Picture 1" descr="t03-02.jpg"/>
          <p:cNvPicPr>
            <a:picLocks noChangeAspect="1"/>
          </p:cNvPicPr>
          <p:nvPr/>
        </p:nvPicPr>
        <p:blipFill>
          <a:blip r:embed="rId4">
            <a:extLst>
              <a:ext uri="{28A0092B-C50C-407E-A947-70E740481C1C}">
                <a14:useLocalDpi xmlns:a14="http://schemas.microsoft.com/office/drawing/2010/main" val="0"/>
              </a:ext>
            </a:extLst>
          </a:blip>
          <a:srcRect r="91368" b="84909"/>
          <a:stretch>
            <a:fillRect/>
          </a:stretch>
        </p:blipFill>
        <p:spPr bwMode="auto">
          <a:xfrm>
            <a:off x="0" y="2381"/>
            <a:ext cx="788988" cy="77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aixaDeTexto 8"/>
          <p:cNvSpPr txBox="1"/>
          <p:nvPr/>
        </p:nvSpPr>
        <p:spPr>
          <a:xfrm>
            <a:off x="2812211" y="999533"/>
            <a:ext cx="3061223" cy="369332"/>
          </a:xfrm>
          <a:prstGeom prst="rect">
            <a:avLst/>
          </a:prstGeom>
          <a:noFill/>
        </p:spPr>
        <p:txBody>
          <a:bodyPr wrap="none" rtlCol="0">
            <a:spAutoFit/>
          </a:bodyPr>
          <a:lstStyle/>
          <a:p>
            <a:r>
              <a:rPr lang="pt-BR" b="1" dirty="0">
                <a:solidFill>
                  <a:schemeClr val="accent2"/>
                </a:solidFill>
              </a:rPr>
              <a:t>Volume de mudanças por mês</a:t>
            </a:r>
          </a:p>
        </p:txBody>
      </p:sp>
      <p:sp>
        <p:nvSpPr>
          <p:cNvPr id="10" name="Title 1"/>
          <p:cNvSpPr txBox="1">
            <a:spLocks/>
          </p:cNvSpPr>
          <p:nvPr/>
        </p:nvSpPr>
        <p:spPr>
          <a:xfrm>
            <a:off x="1371710" y="-34958"/>
            <a:ext cx="4694917" cy="560400"/>
          </a:xfrm>
          <a:prstGeom prst="rect">
            <a:avLst/>
          </a:prstGeom>
        </p:spPr>
        <p:txBody>
          <a:bodyPr vert="horz" lIns="68644" tIns="34322" rIns="68644" bIns="34322"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pt-BR" sz="2102" b="1" dirty="0">
                <a:solidFill>
                  <a:srgbClr val="5B9BD5">
                    <a:lumMod val="50000"/>
                  </a:srgbClr>
                </a:solidFill>
                <a:latin typeface="Arial" pitchFamily="34" charset="0"/>
                <a:cs typeface="Arial" pitchFamily="34" charset="0"/>
              </a:rPr>
              <a:t>7</a:t>
            </a:r>
            <a:r>
              <a:rPr lang="pt-BR" sz="2102" b="1" dirty="0" smtClean="0">
                <a:solidFill>
                  <a:srgbClr val="5B9BD5">
                    <a:lumMod val="50000"/>
                  </a:srgbClr>
                </a:solidFill>
                <a:latin typeface="Arial" pitchFamily="34" charset="0"/>
                <a:cs typeface="Arial" pitchFamily="34" charset="0"/>
              </a:rPr>
              <a:t>. </a:t>
            </a:r>
            <a:r>
              <a:rPr lang="pt-BR" sz="2102" b="1" dirty="0">
                <a:solidFill>
                  <a:srgbClr val="5B9BD5">
                    <a:lumMod val="50000"/>
                  </a:srgbClr>
                </a:solidFill>
                <a:latin typeface="Arial" pitchFamily="34" charset="0"/>
                <a:cs typeface="Arial" pitchFamily="34" charset="0"/>
              </a:rPr>
              <a:t>Gestão de </a:t>
            </a:r>
            <a:r>
              <a:rPr lang="pt-BR" sz="2102" b="1" dirty="0" smtClean="0">
                <a:solidFill>
                  <a:srgbClr val="5B9BD5">
                    <a:lumMod val="50000"/>
                  </a:srgbClr>
                </a:solidFill>
                <a:latin typeface="Arial" pitchFamily="34" charset="0"/>
                <a:cs typeface="Arial" pitchFamily="34" charset="0"/>
              </a:rPr>
              <a:t>Mudanças</a:t>
            </a:r>
          </a:p>
        </p:txBody>
      </p:sp>
      <p:graphicFrame>
        <p:nvGraphicFramePr>
          <p:cNvPr id="8" name="Gráfico 7"/>
          <p:cNvGraphicFramePr>
            <a:graphicFrameLocks/>
          </p:cNvGraphicFramePr>
          <p:nvPr>
            <p:extLst/>
          </p:nvPr>
        </p:nvGraphicFramePr>
        <p:xfrm>
          <a:off x="1041797" y="1368865"/>
          <a:ext cx="7060405" cy="3221028"/>
        </p:xfrm>
        <a:graphic>
          <a:graphicData uri="http://schemas.openxmlformats.org/drawingml/2006/chart">
            <c:chart xmlns:c="http://schemas.openxmlformats.org/drawingml/2006/chart" xmlns:r="http://schemas.openxmlformats.org/officeDocument/2006/relationships" r:id="rId5"/>
          </a:graphicData>
        </a:graphic>
      </p:graphicFrame>
      <p:sp>
        <p:nvSpPr>
          <p:cNvPr id="11" name="CaixaDeTexto 10"/>
          <p:cNvSpPr txBox="1"/>
          <p:nvPr/>
        </p:nvSpPr>
        <p:spPr>
          <a:xfrm>
            <a:off x="1" y="4880883"/>
            <a:ext cx="5871160" cy="246221"/>
          </a:xfrm>
          <a:prstGeom prst="rect">
            <a:avLst/>
          </a:prstGeom>
          <a:noFill/>
          <a:scene3d>
            <a:camera prst="orthographicFront"/>
            <a:lightRig rig="threePt" dir="t"/>
          </a:scene3d>
          <a:sp3d>
            <a:bevelT w="114300" prst="artDeco"/>
            <a:bevelB/>
          </a:sp3d>
        </p:spPr>
        <p:txBody>
          <a:bodyPr wrap="square" rtlCol="0">
            <a:spAutoFit/>
          </a:bodyPr>
          <a:lstStyle/>
          <a:p>
            <a:pPr algn="just"/>
            <a:r>
              <a:rPr lang="pt-BR" sz="1000" dirty="0">
                <a:solidFill>
                  <a:schemeClr val="bg1">
                    <a:lumMod val="65000"/>
                  </a:schemeClr>
                </a:solidFill>
              </a:rPr>
              <a:t>Informações retiradas dos indicadores de SLA e </a:t>
            </a:r>
            <a:r>
              <a:rPr lang="pt-BR" sz="1000" dirty="0" err="1">
                <a:solidFill>
                  <a:schemeClr val="bg1">
                    <a:lumMod val="65000"/>
                  </a:schemeClr>
                </a:solidFill>
              </a:rPr>
              <a:t>tProcess</a:t>
            </a:r>
            <a:r>
              <a:rPr lang="pt-BR" sz="1000" dirty="0">
                <a:solidFill>
                  <a:schemeClr val="bg1">
                    <a:lumMod val="65000"/>
                  </a:schemeClr>
                </a:solidFill>
              </a:rPr>
              <a:t>! referentes ao período de </a:t>
            </a:r>
            <a:r>
              <a:rPr lang="pt-BR" sz="1000" dirty="0" smtClean="0">
                <a:solidFill>
                  <a:schemeClr val="bg1">
                    <a:lumMod val="65000"/>
                  </a:schemeClr>
                </a:solidFill>
              </a:rPr>
              <a:t>01/06 </a:t>
            </a:r>
            <a:r>
              <a:rPr lang="pt-BR" sz="1000" dirty="0">
                <a:solidFill>
                  <a:schemeClr val="bg1">
                    <a:lumMod val="65000"/>
                  </a:schemeClr>
                </a:solidFill>
              </a:rPr>
              <a:t>a </a:t>
            </a:r>
            <a:r>
              <a:rPr lang="pt-BR" sz="1000" dirty="0" smtClean="0">
                <a:solidFill>
                  <a:schemeClr val="bg1">
                    <a:lumMod val="65000"/>
                  </a:schemeClr>
                </a:solidFill>
              </a:rPr>
              <a:t>20/06.</a:t>
            </a:r>
            <a:endParaRPr lang="pt-BR" dirty="0">
              <a:solidFill>
                <a:schemeClr val="bg1">
                  <a:lumMod val="65000"/>
                </a:schemeClr>
              </a:solidFill>
            </a:endParaRPr>
          </a:p>
        </p:txBody>
      </p:sp>
    </p:spTree>
    <p:extLst>
      <p:ext uri="{BB962C8B-B14F-4D97-AF65-F5344CB8AC3E}">
        <p14:creationId xmlns:p14="http://schemas.microsoft.com/office/powerpoint/2010/main" val="3276872582"/>
      </p:ext>
    </p:extLst>
  </p:cSld>
  <p:clrMapOvr>
    <a:masterClrMapping/>
  </p:clrMapOvr>
  <mc:AlternateContent xmlns:mc="http://schemas.openxmlformats.org/markup-compatibility/2006">
    <mc:Choice xmlns:p14="http://schemas.microsoft.com/office/powerpoint/2010/main" Requires="p14">
      <p:transition p14:dur="250">
        <p14:reveal/>
      </p:transition>
    </mc:Choice>
    <mc:Fallback>
      <p:transition>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1" name="Picture 9"/>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021514" y="291307"/>
            <a:ext cx="1603375"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2" name="Picture 2"/>
          <p:cNvPicPr>
            <a:picLocks noChangeAspect="1" noChangeArrowheads="1"/>
          </p:cNvPicPr>
          <p:nvPr/>
        </p:nvPicPr>
        <p:blipFill>
          <a:blip r:embed="rId4">
            <a:extLst>
              <a:ext uri="{28A0092B-C50C-407E-A947-70E740481C1C}">
                <a14:useLocalDpi xmlns:a14="http://schemas.microsoft.com/office/drawing/2010/main" val="0"/>
              </a:ext>
            </a:extLst>
          </a:blip>
          <a:srcRect l="76781" t="78172" r="18394" b="12686"/>
          <a:stretch>
            <a:fillRect/>
          </a:stretch>
        </p:blipFill>
        <p:spPr bwMode="auto">
          <a:xfrm>
            <a:off x="8188326" y="4382295"/>
            <a:ext cx="955675" cy="7635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3" name="Picture 1" descr="t03-02.jpg"/>
          <p:cNvPicPr>
            <a:picLocks noChangeAspect="1"/>
          </p:cNvPicPr>
          <p:nvPr/>
        </p:nvPicPr>
        <p:blipFill>
          <a:blip r:embed="rId5">
            <a:extLst>
              <a:ext uri="{28A0092B-C50C-407E-A947-70E740481C1C}">
                <a14:useLocalDpi xmlns:a14="http://schemas.microsoft.com/office/drawing/2010/main" val="0"/>
              </a:ext>
            </a:extLst>
          </a:blip>
          <a:srcRect r="91368" b="84909"/>
          <a:stretch>
            <a:fillRect/>
          </a:stretch>
        </p:blipFill>
        <p:spPr bwMode="auto">
          <a:xfrm>
            <a:off x="0" y="2381"/>
            <a:ext cx="788988" cy="77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 name="Conector de seta reta 2"/>
          <p:cNvCxnSpPr/>
          <p:nvPr/>
        </p:nvCxnSpPr>
        <p:spPr>
          <a:xfrm>
            <a:off x="3241445" y="2915036"/>
            <a:ext cx="1470464" cy="0"/>
          </a:xfrm>
          <a:prstGeom prst="straightConnector1">
            <a:avLst/>
          </a:prstGeom>
          <a:ln>
            <a:solidFill>
              <a:schemeClr val="tx2"/>
            </a:solidFill>
            <a:tailEnd type="arrow"/>
          </a:ln>
        </p:spPr>
        <p:style>
          <a:lnRef idx="2">
            <a:schemeClr val="accent1"/>
          </a:lnRef>
          <a:fillRef idx="0">
            <a:schemeClr val="accent1"/>
          </a:fillRef>
          <a:effectRef idx="1">
            <a:schemeClr val="accent1"/>
          </a:effectRef>
          <a:fontRef idx="minor">
            <a:schemeClr val="tx1"/>
          </a:fontRef>
        </p:style>
      </p:cxnSp>
      <p:sp>
        <p:nvSpPr>
          <p:cNvPr id="5" name="CaixaDeTexto 4"/>
          <p:cNvSpPr txBox="1"/>
          <p:nvPr/>
        </p:nvSpPr>
        <p:spPr>
          <a:xfrm>
            <a:off x="558218" y="1235958"/>
            <a:ext cx="3240246" cy="369332"/>
          </a:xfrm>
          <a:prstGeom prst="rect">
            <a:avLst/>
          </a:prstGeom>
          <a:noFill/>
        </p:spPr>
        <p:txBody>
          <a:bodyPr wrap="none" rtlCol="0">
            <a:spAutoFit/>
          </a:bodyPr>
          <a:lstStyle/>
          <a:p>
            <a:r>
              <a:rPr lang="pt-BR" b="1" dirty="0">
                <a:solidFill>
                  <a:schemeClr val="accent2"/>
                </a:solidFill>
              </a:rPr>
              <a:t>Volume de mudanças por status</a:t>
            </a:r>
          </a:p>
        </p:txBody>
      </p:sp>
      <p:sp>
        <p:nvSpPr>
          <p:cNvPr id="14" name="CaixaDeTexto 13"/>
          <p:cNvSpPr txBox="1"/>
          <p:nvPr/>
        </p:nvSpPr>
        <p:spPr>
          <a:xfrm>
            <a:off x="4997900" y="1235958"/>
            <a:ext cx="3083665" cy="369332"/>
          </a:xfrm>
          <a:prstGeom prst="rect">
            <a:avLst/>
          </a:prstGeom>
          <a:noFill/>
        </p:spPr>
        <p:txBody>
          <a:bodyPr wrap="none" rtlCol="0">
            <a:spAutoFit/>
          </a:bodyPr>
          <a:lstStyle/>
          <a:p>
            <a:r>
              <a:rPr lang="pt-BR" b="1" dirty="0">
                <a:solidFill>
                  <a:schemeClr val="accent2"/>
                </a:solidFill>
              </a:rPr>
              <a:t>Volume de mudanças por Tipo</a:t>
            </a:r>
          </a:p>
        </p:txBody>
      </p:sp>
      <p:sp>
        <p:nvSpPr>
          <p:cNvPr id="13" name="Title 1"/>
          <p:cNvSpPr txBox="1">
            <a:spLocks/>
          </p:cNvSpPr>
          <p:nvPr/>
        </p:nvSpPr>
        <p:spPr>
          <a:xfrm>
            <a:off x="1371710" y="-34958"/>
            <a:ext cx="4694917" cy="560400"/>
          </a:xfrm>
          <a:prstGeom prst="rect">
            <a:avLst/>
          </a:prstGeom>
        </p:spPr>
        <p:txBody>
          <a:bodyPr vert="horz" lIns="68644" tIns="34322" rIns="68644" bIns="34322"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pt-BR" sz="2102" b="1" dirty="0">
                <a:solidFill>
                  <a:srgbClr val="5B9BD5">
                    <a:lumMod val="50000"/>
                  </a:srgbClr>
                </a:solidFill>
                <a:latin typeface="Arial" pitchFamily="34" charset="0"/>
                <a:cs typeface="Arial" pitchFamily="34" charset="0"/>
              </a:rPr>
              <a:t>7</a:t>
            </a:r>
            <a:r>
              <a:rPr lang="pt-BR" sz="2102" b="1" dirty="0" smtClean="0">
                <a:solidFill>
                  <a:srgbClr val="5B9BD5">
                    <a:lumMod val="50000"/>
                  </a:srgbClr>
                </a:solidFill>
                <a:latin typeface="Arial" pitchFamily="34" charset="0"/>
                <a:cs typeface="Arial" pitchFamily="34" charset="0"/>
              </a:rPr>
              <a:t>. </a:t>
            </a:r>
            <a:r>
              <a:rPr lang="pt-BR" sz="2102" b="1" dirty="0">
                <a:solidFill>
                  <a:srgbClr val="5B9BD5">
                    <a:lumMod val="50000"/>
                  </a:srgbClr>
                </a:solidFill>
                <a:latin typeface="Arial" pitchFamily="34" charset="0"/>
                <a:cs typeface="Arial" pitchFamily="34" charset="0"/>
              </a:rPr>
              <a:t>Gestão de </a:t>
            </a:r>
            <a:r>
              <a:rPr lang="pt-BR" sz="2102" b="1" dirty="0" smtClean="0">
                <a:solidFill>
                  <a:srgbClr val="5B9BD5">
                    <a:lumMod val="50000"/>
                  </a:srgbClr>
                </a:solidFill>
                <a:latin typeface="Arial" pitchFamily="34" charset="0"/>
                <a:cs typeface="Arial" pitchFamily="34" charset="0"/>
              </a:rPr>
              <a:t>Mudanças</a:t>
            </a:r>
            <a:endParaRPr lang="pt-BR" sz="2102" b="1" dirty="0">
              <a:solidFill>
                <a:srgbClr val="5B9BD5">
                  <a:lumMod val="50000"/>
                </a:srgbClr>
              </a:solidFill>
              <a:latin typeface="Arial" pitchFamily="34" charset="0"/>
              <a:cs typeface="Arial" pitchFamily="34" charset="0"/>
            </a:endParaRPr>
          </a:p>
        </p:txBody>
      </p:sp>
      <p:graphicFrame>
        <p:nvGraphicFramePr>
          <p:cNvPr id="11" name="Gráfico 10"/>
          <p:cNvGraphicFramePr>
            <a:graphicFrameLocks/>
          </p:cNvGraphicFramePr>
          <p:nvPr>
            <p:extLst/>
          </p:nvPr>
        </p:nvGraphicFramePr>
        <p:xfrm>
          <a:off x="129846" y="1605290"/>
          <a:ext cx="3846831" cy="2347940"/>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2" name="Gráfico 11"/>
          <p:cNvGraphicFramePr>
            <a:graphicFrameLocks/>
          </p:cNvGraphicFramePr>
          <p:nvPr>
            <p:extLst/>
          </p:nvPr>
        </p:nvGraphicFramePr>
        <p:xfrm>
          <a:off x="4567962" y="1592448"/>
          <a:ext cx="3943540" cy="2515209"/>
        </p:xfrm>
        <a:graphic>
          <a:graphicData uri="http://schemas.openxmlformats.org/drawingml/2006/chart">
            <c:chart xmlns:c="http://schemas.openxmlformats.org/drawingml/2006/chart" xmlns:r="http://schemas.openxmlformats.org/officeDocument/2006/relationships" r:id="rId7"/>
          </a:graphicData>
        </a:graphic>
      </p:graphicFrame>
      <p:sp>
        <p:nvSpPr>
          <p:cNvPr id="15" name="CaixaDeTexto 14"/>
          <p:cNvSpPr txBox="1"/>
          <p:nvPr/>
        </p:nvSpPr>
        <p:spPr>
          <a:xfrm>
            <a:off x="1" y="4880883"/>
            <a:ext cx="5871160" cy="246221"/>
          </a:xfrm>
          <a:prstGeom prst="rect">
            <a:avLst/>
          </a:prstGeom>
          <a:noFill/>
          <a:scene3d>
            <a:camera prst="orthographicFront"/>
            <a:lightRig rig="threePt" dir="t"/>
          </a:scene3d>
          <a:sp3d>
            <a:bevelT w="114300" prst="artDeco"/>
            <a:bevelB/>
          </a:sp3d>
        </p:spPr>
        <p:txBody>
          <a:bodyPr wrap="square" rtlCol="0">
            <a:spAutoFit/>
          </a:bodyPr>
          <a:lstStyle/>
          <a:p>
            <a:pPr algn="just"/>
            <a:r>
              <a:rPr lang="pt-BR" sz="1000" dirty="0">
                <a:solidFill>
                  <a:schemeClr val="bg1">
                    <a:lumMod val="65000"/>
                  </a:schemeClr>
                </a:solidFill>
              </a:rPr>
              <a:t>Informações retiradas dos indicadores de SLA e </a:t>
            </a:r>
            <a:r>
              <a:rPr lang="pt-BR" sz="1000" dirty="0" err="1">
                <a:solidFill>
                  <a:schemeClr val="bg1">
                    <a:lumMod val="65000"/>
                  </a:schemeClr>
                </a:solidFill>
              </a:rPr>
              <a:t>tProcess</a:t>
            </a:r>
            <a:r>
              <a:rPr lang="pt-BR" sz="1000" dirty="0">
                <a:solidFill>
                  <a:schemeClr val="bg1">
                    <a:lumMod val="65000"/>
                  </a:schemeClr>
                </a:solidFill>
              </a:rPr>
              <a:t>! referentes ao período de </a:t>
            </a:r>
            <a:r>
              <a:rPr lang="pt-BR" sz="1000" dirty="0" smtClean="0">
                <a:solidFill>
                  <a:schemeClr val="bg1">
                    <a:lumMod val="65000"/>
                  </a:schemeClr>
                </a:solidFill>
              </a:rPr>
              <a:t>01/06 </a:t>
            </a:r>
            <a:r>
              <a:rPr lang="pt-BR" sz="1000" dirty="0">
                <a:solidFill>
                  <a:schemeClr val="bg1">
                    <a:lumMod val="65000"/>
                  </a:schemeClr>
                </a:solidFill>
              </a:rPr>
              <a:t>a </a:t>
            </a:r>
            <a:r>
              <a:rPr lang="pt-BR" sz="1000" dirty="0" smtClean="0">
                <a:solidFill>
                  <a:schemeClr val="bg1">
                    <a:lumMod val="65000"/>
                  </a:schemeClr>
                </a:solidFill>
              </a:rPr>
              <a:t>20/06.</a:t>
            </a:r>
            <a:endParaRPr lang="pt-BR" dirty="0">
              <a:solidFill>
                <a:schemeClr val="bg1">
                  <a:lumMod val="65000"/>
                </a:schemeClr>
              </a:solidFill>
            </a:endParaRPr>
          </a:p>
        </p:txBody>
      </p:sp>
    </p:spTree>
    <p:extLst>
      <p:ext uri="{BB962C8B-B14F-4D97-AF65-F5344CB8AC3E}">
        <p14:creationId xmlns:p14="http://schemas.microsoft.com/office/powerpoint/2010/main" val="2980676146"/>
      </p:ext>
    </p:extLst>
  </p:cSld>
  <p:clrMapOvr>
    <a:masterClrMapping/>
  </p:clrMapOvr>
  <mc:AlternateContent xmlns:mc="http://schemas.openxmlformats.org/markup-compatibility/2006">
    <mc:Choice xmlns:p14="http://schemas.microsoft.com/office/powerpoint/2010/main" Requires="p14">
      <p:transition p14:dur="250">
        <p14:reveal/>
      </p:transition>
    </mc:Choice>
    <mc:Fallback>
      <p:transition>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76780" t="78172" r="18395" b="12686"/>
          <a:stretch/>
        </p:blipFill>
        <p:spPr bwMode="auto">
          <a:xfrm>
            <a:off x="8188658" y="4384319"/>
            <a:ext cx="955343" cy="7639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9"/>
          <p:cNvPicPr>
            <a:picLocks noChangeAspect="1"/>
          </p:cNvPicPr>
          <p:nvPr/>
        </p:nvPicPr>
        <p:blipFill>
          <a:blip r:embed="rId4"/>
          <a:stretch>
            <a:fillRect/>
          </a:stretch>
        </p:blipFill>
        <p:spPr>
          <a:xfrm>
            <a:off x="7021333" y="289005"/>
            <a:ext cx="1603348" cy="291323"/>
          </a:xfrm>
          <a:prstGeom prst="rect">
            <a:avLst/>
          </a:prstGeom>
        </p:spPr>
      </p:pic>
      <p:pic>
        <p:nvPicPr>
          <p:cNvPr id="8" name="Picture 1" descr="t03-02.jpg"/>
          <p:cNvPicPr>
            <a:picLocks noChangeAspect="1"/>
          </p:cNvPicPr>
          <p:nvPr/>
        </p:nvPicPr>
        <p:blipFill rotWithShape="1">
          <a:blip r:embed="rId5">
            <a:extLst>
              <a:ext uri="{28A0092B-C50C-407E-A947-70E740481C1C}">
                <a14:useLocalDpi xmlns:a14="http://schemas.microsoft.com/office/drawing/2010/main" val="0"/>
              </a:ext>
            </a:extLst>
          </a:blip>
          <a:srcRect r="91368" b="84909"/>
          <a:stretch/>
        </p:blipFill>
        <p:spPr>
          <a:xfrm>
            <a:off x="0" y="0"/>
            <a:ext cx="789296" cy="776935"/>
          </a:xfrm>
          <a:prstGeom prst="rect">
            <a:avLst/>
          </a:prstGeom>
        </p:spPr>
      </p:pic>
      <p:sp>
        <p:nvSpPr>
          <p:cNvPr id="6" name="CaixaDeTexto 5"/>
          <p:cNvSpPr txBox="1"/>
          <p:nvPr/>
        </p:nvSpPr>
        <p:spPr>
          <a:xfrm>
            <a:off x="2039091" y="300128"/>
            <a:ext cx="184731" cy="369332"/>
          </a:xfrm>
          <a:prstGeom prst="rect">
            <a:avLst/>
          </a:prstGeom>
          <a:noFill/>
        </p:spPr>
        <p:txBody>
          <a:bodyPr wrap="none" rtlCol="0">
            <a:spAutoFit/>
          </a:bodyPr>
          <a:lstStyle/>
          <a:p>
            <a:endParaRPr lang="pt-BR" dirty="0"/>
          </a:p>
        </p:txBody>
      </p:sp>
      <p:sp>
        <p:nvSpPr>
          <p:cNvPr id="20" name="Title 1"/>
          <p:cNvSpPr txBox="1">
            <a:spLocks/>
          </p:cNvSpPr>
          <p:nvPr/>
        </p:nvSpPr>
        <p:spPr>
          <a:xfrm>
            <a:off x="562659" y="90471"/>
            <a:ext cx="6254098" cy="5604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buClr>
                <a:srgbClr val="800000"/>
              </a:buClr>
            </a:pPr>
            <a:r>
              <a:rPr lang="pt-BR" sz="2800" b="1" dirty="0" smtClean="0">
                <a:solidFill>
                  <a:schemeClr val="tx2"/>
                </a:solidFill>
                <a:latin typeface="Arial" pitchFamily="34" charset="0"/>
                <a:cs typeface="Arial" pitchFamily="34" charset="0"/>
              </a:rPr>
              <a:t>8. Problemas – Overview</a:t>
            </a:r>
            <a:endParaRPr lang="pt-BR" sz="1800" b="1" dirty="0" smtClean="0">
              <a:solidFill>
                <a:schemeClr val="tx2"/>
              </a:solidFill>
              <a:latin typeface="Arial" pitchFamily="34" charset="0"/>
              <a:cs typeface="Arial" pitchFamily="34" charset="0"/>
            </a:endParaRPr>
          </a:p>
        </p:txBody>
      </p:sp>
      <p:sp>
        <p:nvSpPr>
          <p:cNvPr id="5" name="CaixaDeTexto 4"/>
          <p:cNvSpPr txBox="1"/>
          <p:nvPr/>
        </p:nvSpPr>
        <p:spPr>
          <a:xfrm>
            <a:off x="3084899" y="1116788"/>
            <a:ext cx="1786268"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pt-BR" dirty="0" smtClean="0"/>
              <a:t>20 Contax</a:t>
            </a:r>
            <a:endParaRPr lang="pt-BR" dirty="0"/>
          </a:p>
        </p:txBody>
      </p:sp>
      <p:sp>
        <p:nvSpPr>
          <p:cNvPr id="7" name="CaixaDeTexto 6"/>
          <p:cNvSpPr txBox="1"/>
          <p:nvPr/>
        </p:nvSpPr>
        <p:spPr>
          <a:xfrm>
            <a:off x="5126352" y="1116788"/>
            <a:ext cx="1786269" cy="36933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lang="pt-BR" dirty="0" smtClean="0"/>
              <a:t>9 Externos</a:t>
            </a:r>
            <a:endParaRPr lang="pt-BR" dirty="0"/>
          </a:p>
        </p:txBody>
      </p:sp>
      <p:sp>
        <p:nvSpPr>
          <p:cNvPr id="15" name="CaixaDeTexto 14"/>
          <p:cNvSpPr txBox="1"/>
          <p:nvPr/>
        </p:nvSpPr>
        <p:spPr>
          <a:xfrm>
            <a:off x="7189072" y="978288"/>
            <a:ext cx="1786268" cy="646331"/>
          </a:xfrm>
          <a:prstGeom prst="rect">
            <a:avLst/>
          </a:prstGeom>
        </p:spPr>
        <p:style>
          <a:lnRef idx="1">
            <a:schemeClr val="accent3"/>
          </a:lnRef>
          <a:fillRef idx="3">
            <a:schemeClr val="accent3"/>
          </a:fillRef>
          <a:effectRef idx="2">
            <a:schemeClr val="accent3"/>
          </a:effectRef>
          <a:fontRef idx="minor">
            <a:schemeClr val="lt1"/>
          </a:fontRef>
        </p:style>
        <p:txBody>
          <a:bodyPr wrap="square" rtlCol="0">
            <a:spAutoFit/>
          </a:bodyPr>
          <a:lstStyle/>
          <a:p>
            <a:pPr algn="ctr"/>
            <a:r>
              <a:rPr lang="pt-BR" dirty="0" smtClean="0"/>
              <a:t>2234 incidentes associados </a:t>
            </a:r>
            <a:endParaRPr lang="pt-BR" dirty="0"/>
          </a:p>
        </p:txBody>
      </p:sp>
      <p:sp>
        <p:nvSpPr>
          <p:cNvPr id="16" name="CaixaDeTexto 15"/>
          <p:cNvSpPr txBox="1"/>
          <p:nvPr/>
        </p:nvSpPr>
        <p:spPr>
          <a:xfrm>
            <a:off x="4881796" y="1116788"/>
            <a:ext cx="180757" cy="369332"/>
          </a:xfrm>
          <a:prstGeom prst="rect">
            <a:avLst/>
          </a:prstGeom>
          <a:noFill/>
        </p:spPr>
        <p:txBody>
          <a:bodyPr wrap="square" rtlCol="0">
            <a:spAutoFit/>
          </a:bodyPr>
          <a:lstStyle/>
          <a:p>
            <a:r>
              <a:rPr lang="pt-BR" dirty="0" smtClean="0"/>
              <a:t>+</a:t>
            </a:r>
            <a:endParaRPr lang="pt-BR" dirty="0"/>
          </a:p>
        </p:txBody>
      </p:sp>
      <p:sp>
        <p:nvSpPr>
          <p:cNvPr id="21" name="CaixaDeTexto 20"/>
          <p:cNvSpPr txBox="1"/>
          <p:nvPr/>
        </p:nvSpPr>
        <p:spPr>
          <a:xfrm>
            <a:off x="6922935" y="1116787"/>
            <a:ext cx="180757" cy="369332"/>
          </a:xfrm>
          <a:prstGeom prst="rect">
            <a:avLst/>
          </a:prstGeom>
          <a:noFill/>
        </p:spPr>
        <p:txBody>
          <a:bodyPr wrap="square" rtlCol="0">
            <a:spAutoFit/>
          </a:bodyPr>
          <a:lstStyle/>
          <a:p>
            <a:r>
              <a:rPr lang="pt-BR" dirty="0" smtClean="0"/>
              <a:t>=</a:t>
            </a:r>
            <a:endParaRPr lang="pt-BR" dirty="0"/>
          </a:p>
        </p:txBody>
      </p:sp>
      <p:pic>
        <p:nvPicPr>
          <p:cNvPr id="21506"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89694" y="2744154"/>
            <a:ext cx="3336677" cy="20057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CaixaDeTexto 13"/>
          <p:cNvSpPr txBox="1"/>
          <p:nvPr/>
        </p:nvSpPr>
        <p:spPr>
          <a:xfrm>
            <a:off x="252823" y="1116787"/>
            <a:ext cx="1786268" cy="369332"/>
          </a:xfrm>
          <a:prstGeom prst="rect">
            <a:avLst/>
          </a:prstGeom>
        </p:spPr>
        <p:style>
          <a:lnRef idx="3">
            <a:schemeClr val="lt1"/>
          </a:lnRef>
          <a:fillRef idx="1">
            <a:schemeClr val="accent2"/>
          </a:fillRef>
          <a:effectRef idx="1">
            <a:schemeClr val="accent2"/>
          </a:effectRef>
          <a:fontRef idx="minor">
            <a:schemeClr val="lt1"/>
          </a:fontRef>
        </p:style>
        <p:txBody>
          <a:bodyPr wrap="square" rtlCol="0">
            <a:spAutoFit/>
          </a:bodyPr>
          <a:lstStyle/>
          <a:p>
            <a:pPr algn="ctr"/>
            <a:r>
              <a:rPr lang="pt-BR" dirty="0" smtClean="0"/>
              <a:t>29 Problemas</a:t>
            </a:r>
            <a:endParaRPr lang="pt-BR" dirty="0"/>
          </a:p>
        </p:txBody>
      </p:sp>
      <p:sp>
        <p:nvSpPr>
          <p:cNvPr id="17" name="CaixaDeTexto 16"/>
          <p:cNvSpPr txBox="1"/>
          <p:nvPr/>
        </p:nvSpPr>
        <p:spPr>
          <a:xfrm>
            <a:off x="261096" y="3378252"/>
            <a:ext cx="1786268" cy="646331"/>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a:r>
              <a:rPr lang="pt-BR" dirty="0" smtClean="0"/>
              <a:t>13 Erros Conhecidos</a:t>
            </a:r>
            <a:endParaRPr lang="pt-BR" dirty="0"/>
          </a:p>
        </p:txBody>
      </p:sp>
      <p:sp>
        <p:nvSpPr>
          <p:cNvPr id="18" name="CaixaDeTexto 17"/>
          <p:cNvSpPr txBox="1"/>
          <p:nvPr/>
        </p:nvSpPr>
        <p:spPr>
          <a:xfrm>
            <a:off x="261096" y="2068130"/>
            <a:ext cx="1786268" cy="6463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pt-BR" dirty="0" smtClean="0"/>
              <a:t>22 Soluções de Contorno</a:t>
            </a:r>
            <a:endParaRPr lang="pt-BR" dirty="0"/>
          </a:p>
        </p:txBody>
      </p:sp>
      <p:cxnSp>
        <p:nvCxnSpPr>
          <p:cNvPr id="3" name="Conector de seta reta 2"/>
          <p:cNvCxnSpPr/>
          <p:nvPr/>
        </p:nvCxnSpPr>
        <p:spPr>
          <a:xfrm>
            <a:off x="1145957" y="1624619"/>
            <a:ext cx="0" cy="22544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Conector de seta reta 18"/>
          <p:cNvCxnSpPr/>
          <p:nvPr/>
        </p:nvCxnSpPr>
        <p:spPr>
          <a:xfrm>
            <a:off x="1145957" y="2893438"/>
            <a:ext cx="0" cy="22544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 name="Retângulo 3"/>
          <p:cNvSpPr/>
          <p:nvPr/>
        </p:nvSpPr>
        <p:spPr>
          <a:xfrm flipH="1">
            <a:off x="2594344" y="776935"/>
            <a:ext cx="45719" cy="260131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1" name="Conector de seta reta 10"/>
          <p:cNvCxnSpPr/>
          <p:nvPr/>
        </p:nvCxnSpPr>
        <p:spPr>
          <a:xfrm>
            <a:off x="2223822" y="3701417"/>
            <a:ext cx="861077"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22530"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46465" y="2744154"/>
            <a:ext cx="2428875" cy="191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13282821"/>
      </p:ext>
    </p:extLst>
  </p:cSld>
  <p:clrMapOvr>
    <a:masterClrMapping/>
  </p:clrMapOvr>
  <mc:AlternateContent xmlns:mc="http://schemas.openxmlformats.org/markup-compatibility/2006">
    <mc:Choice xmlns:p14="http://schemas.microsoft.com/office/powerpoint/2010/main" Requires="p14">
      <p:transition p14:dur="250">
        <p14:reveal/>
      </p:transition>
    </mc:Choice>
    <mc:Fallback>
      <p:transition>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76780" t="78172" r="18395" b="12686"/>
          <a:stretch/>
        </p:blipFill>
        <p:spPr bwMode="auto">
          <a:xfrm>
            <a:off x="8188658" y="4384319"/>
            <a:ext cx="955343" cy="7639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9"/>
          <p:cNvPicPr>
            <a:picLocks noChangeAspect="1"/>
          </p:cNvPicPr>
          <p:nvPr/>
        </p:nvPicPr>
        <p:blipFill>
          <a:blip r:embed="rId4"/>
          <a:stretch>
            <a:fillRect/>
          </a:stretch>
        </p:blipFill>
        <p:spPr>
          <a:xfrm>
            <a:off x="7021333" y="289005"/>
            <a:ext cx="1603348" cy="291323"/>
          </a:xfrm>
          <a:prstGeom prst="rect">
            <a:avLst/>
          </a:prstGeom>
        </p:spPr>
      </p:pic>
      <p:pic>
        <p:nvPicPr>
          <p:cNvPr id="8" name="Picture 1" descr="t03-02.jpg"/>
          <p:cNvPicPr>
            <a:picLocks noChangeAspect="1"/>
          </p:cNvPicPr>
          <p:nvPr/>
        </p:nvPicPr>
        <p:blipFill rotWithShape="1">
          <a:blip r:embed="rId5">
            <a:extLst>
              <a:ext uri="{28A0092B-C50C-407E-A947-70E740481C1C}">
                <a14:useLocalDpi xmlns:a14="http://schemas.microsoft.com/office/drawing/2010/main" val="0"/>
              </a:ext>
            </a:extLst>
          </a:blip>
          <a:srcRect r="91368" b="84909"/>
          <a:stretch/>
        </p:blipFill>
        <p:spPr>
          <a:xfrm>
            <a:off x="0" y="0"/>
            <a:ext cx="789296" cy="776935"/>
          </a:xfrm>
          <a:prstGeom prst="rect">
            <a:avLst/>
          </a:prstGeom>
        </p:spPr>
      </p:pic>
      <p:sp>
        <p:nvSpPr>
          <p:cNvPr id="6" name="CaixaDeTexto 5"/>
          <p:cNvSpPr txBox="1"/>
          <p:nvPr/>
        </p:nvSpPr>
        <p:spPr>
          <a:xfrm>
            <a:off x="2039091" y="300128"/>
            <a:ext cx="184731" cy="369332"/>
          </a:xfrm>
          <a:prstGeom prst="rect">
            <a:avLst/>
          </a:prstGeom>
          <a:noFill/>
        </p:spPr>
        <p:txBody>
          <a:bodyPr wrap="none" rtlCol="0">
            <a:spAutoFit/>
          </a:bodyPr>
          <a:lstStyle/>
          <a:p>
            <a:endParaRPr lang="pt-BR" dirty="0"/>
          </a:p>
        </p:txBody>
      </p:sp>
      <p:sp>
        <p:nvSpPr>
          <p:cNvPr id="20" name="Title 1"/>
          <p:cNvSpPr txBox="1">
            <a:spLocks/>
          </p:cNvSpPr>
          <p:nvPr/>
        </p:nvSpPr>
        <p:spPr>
          <a:xfrm>
            <a:off x="562659" y="90471"/>
            <a:ext cx="6254098" cy="5604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buClr>
                <a:srgbClr val="800000"/>
              </a:buClr>
            </a:pPr>
            <a:r>
              <a:rPr lang="pt-BR" sz="2800" b="1" dirty="0" smtClean="0">
                <a:solidFill>
                  <a:schemeClr val="tx2"/>
                </a:solidFill>
                <a:latin typeface="Arial" pitchFamily="34" charset="0"/>
                <a:cs typeface="Arial" pitchFamily="34" charset="0"/>
              </a:rPr>
              <a:t>8. Problemas – Em homologação</a:t>
            </a:r>
            <a:endParaRPr lang="pt-BR" sz="1800" b="1" dirty="0" smtClean="0">
              <a:solidFill>
                <a:schemeClr val="tx2"/>
              </a:solidFill>
              <a:latin typeface="Arial" pitchFamily="34" charset="0"/>
              <a:cs typeface="Arial" pitchFamily="34" charset="0"/>
            </a:endParaRPr>
          </a:p>
        </p:txBody>
      </p:sp>
      <p:pic>
        <p:nvPicPr>
          <p:cNvPr id="22" name="Imagem 2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3837" y="1616869"/>
            <a:ext cx="8696325" cy="1914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7885802"/>
      </p:ext>
    </p:extLst>
  </p:cSld>
  <p:clrMapOvr>
    <a:masterClrMapping/>
  </p:clrMapOvr>
  <mc:AlternateContent xmlns:mc="http://schemas.openxmlformats.org/markup-compatibility/2006">
    <mc:Choice xmlns:p14="http://schemas.microsoft.com/office/powerpoint/2010/main" Requires="p14">
      <p:transition p14:dur="250">
        <p14:reveal/>
      </p:transition>
    </mc:Choice>
    <mc:Fallback>
      <p:transition>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76780" t="78172" r="18395" b="12686"/>
          <a:stretch/>
        </p:blipFill>
        <p:spPr bwMode="auto">
          <a:xfrm>
            <a:off x="8188658" y="4384319"/>
            <a:ext cx="955343" cy="7639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9"/>
          <p:cNvPicPr>
            <a:picLocks noChangeAspect="1"/>
          </p:cNvPicPr>
          <p:nvPr/>
        </p:nvPicPr>
        <p:blipFill>
          <a:blip r:embed="rId4"/>
          <a:stretch>
            <a:fillRect/>
          </a:stretch>
        </p:blipFill>
        <p:spPr>
          <a:xfrm>
            <a:off x="7021333" y="289005"/>
            <a:ext cx="1603348" cy="291323"/>
          </a:xfrm>
          <a:prstGeom prst="rect">
            <a:avLst/>
          </a:prstGeom>
        </p:spPr>
      </p:pic>
      <p:pic>
        <p:nvPicPr>
          <p:cNvPr id="8" name="Picture 1" descr="t03-02.jpg"/>
          <p:cNvPicPr>
            <a:picLocks noChangeAspect="1"/>
          </p:cNvPicPr>
          <p:nvPr/>
        </p:nvPicPr>
        <p:blipFill rotWithShape="1">
          <a:blip r:embed="rId5">
            <a:extLst>
              <a:ext uri="{28A0092B-C50C-407E-A947-70E740481C1C}">
                <a14:useLocalDpi xmlns:a14="http://schemas.microsoft.com/office/drawing/2010/main" val="0"/>
              </a:ext>
            </a:extLst>
          </a:blip>
          <a:srcRect r="91368" b="84909"/>
          <a:stretch/>
        </p:blipFill>
        <p:spPr>
          <a:xfrm>
            <a:off x="0" y="0"/>
            <a:ext cx="789296" cy="776935"/>
          </a:xfrm>
          <a:prstGeom prst="rect">
            <a:avLst/>
          </a:prstGeom>
        </p:spPr>
      </p:pic>
      <p:sp>
        <p:nvSpPr>
          <p:cNvPr id="6" name="CaixaDeTexto 5"/>
          <p:cNvSpPr txBox="1"/>
          <p:nvPr/>
        </p:nvSpPr>
        <p:spPr>
          <a:xfrm>
            <a:off x="2039091" y="300128"/>
            <a:ext cx="184731" cy="369332"/>
          </a:xfrm>
          <a:prstGeom prst="rect">
            <a:avLst/>
          </a:prstGeom>
          <a:noFill/>
        </p:spPr>
        <p:txBody>
          <a:bodyPr wrap="none" rtlCol="0">
            <a:spAutoFit/>
          </a:bodyPr>
          <a:lstStyle/>
          <a:p>
            <a:endParaRPr lang="pt-BR" dirty="0"/>
          </a:p>
        </p:txBody>
      </p:sp>
      <p:sp>
        <p:nvSpPr>
          <p:cNvPr id="20" name="Title 1"/>
          <p:cNvSpPr txBox="1">
            <a:spLocks/>
          </p:cNvSpPr>
          <p:nvPr/>
        </p:nvSpPr>
        <p:spPr>
          <a:xfrm>
            <a:off x="562659" y="90471"/>
            <a:ext cx="6254098" cy="5604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buClr>
                <a:srgbClr val="800000"/>
              </a:buClr>
            </a:pPr>
            <a:r>
              <a:rPr lang="pt-BR" sz="2800" b="1" dirty="0" smtClean="0">
                <a:solidFill>
                  <a:schemeClr val="tx2"/>
                </a:solidFill>
                <a:latin typeface="Arial" pitchFamily="34" charset="0"/>
                <a:cs typeface="Arial" pitchFamily="34" charset="0"/>
              </a:rPr>
              <a:t>8. Problemas – Visão Impacto $</a:t>
            </a:r>
            <a:endParaRPr lang="pt-BR" sz="1800" b="1" dirty="0" smtClean="0">
              <a:solidFill>
                <a:schemeClr val="tx2"/>
              </a:solidFill>
              <a:latin typeface="Arial" pitchFamily="34" charset="0"/>
              <a:cs typeface="Arial" pitchFamily="34" charset="0"/>
            </a:endParaRPr>
          </a:p>
        </p:txBody>
      </p:sp>
      <p:pic>
        <p:nvPicPr>
          <p:cNvPr id="1741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41807" y="1324948"/>
            <a:ext cx="1981200" cy="267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411"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3138" y="1111559"/>
            <a:ext cx="5004648" cy="36420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19101013"/>
      </p:ext>
    </p:extLst>
  </p:cSld>
  <p:clrMapOvr>
    <a:masterClrMapping/>
  </p:clrMapOvr>
  <mc:AlternateContent xmlns:mc="http://schemas.openxmlformats.org/markup-compatibility/2006">
    <mc:Choice xmlns:p14="http://schemas.microsoft.com/office/powerpoint/2010/main" Requires="p14">
      <p:transition p14:dur="250">
        <p14:reveal/>
      </p:transition>
    </mc:Choice>
    <mc:Fallback>
      <p:transition>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76780" t="78172" r="18395" b="12686"/>
          <a:stretch/>
        </p:blipFill>
        <p:spPr bwMode="auto">
          <a:xfrm>
            <a:off x="8188658" y="4384319"/>
            <a:ext cx="955343" cy="7639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9"/>
          <p:cNvPicPr>
            <a:picLocks noChangeAspect="1"/>
          </p:cNvPicPr>
          <p:nvPr/>
        </p:nvPicPr>
        <p:blipFill>
          <a:blip r:embed="rId4"/>
          <a:stretch>
            <a:fillRect/>
          </a:stretch>
        </p:blipFill>
        <p:spPr>
          <a:xfrm>
            <a:off x="7021333" y="289005"/>
            <a:ext cx="1603348" cy="291323"/>
          </a:xfrm>
          <a:prstGeom prst="rect">
            <a:avLst/>
          </a:prstGeom>
        </p:spPr>
      </p:pic>
      <p:pic>
        <p:nvPicPr>
          <p:cNvPr id="8" name="Picture 1" descr="t03-02.jpg"/>
          <p:cNvPicPr>
            <a:picLocks noChangeAspect="1"/>
          </p:cNvPicPr>
          <p:nvPr/>
        </p:nvPicPr>
        <p:blipFill rotWithShape="1">
          <a:blip r:embed="rId5">
            <a:extLst>
              <a:ext uri="{28A0092B-C50C-407E-A947-70E740481C1C}">
                <a14:useLocalDpi xmlns:a14="http://schemas.microsoft.com/office/drawing/2010/main" val="0"/>
              </a:ext>
            </a:extLst>
          </a:blip>
          <a:srcRect r="91368" b="84909"/>
          <a:stretch/>
        </p:blipFill>
        <p:spPr>
          <a:xfrm>
            <a:off x="0" y="0"/>
            <a:ext cx="789296" cy="776935"/>
          </a:xfrm>
          <a:prstGeom prst="rect">
            <a:avLst/>
          </a:prstGeom>
        </p:spPr>
      </p:pic>
      <p:sp>
        <p:nvSpPr>
          <p:cNvPr id="6" name="CaixaDeTexto 5"/>
          <p:cNvSpPr txBox="1"/>
          <p:nvPr/>
        </p:nvSpPr>
        <p:spPr>
          <a:xfrm>
            <a:off x="2039091" y="300128"/>
            <a:ext cx="184731" cy="369332"/>
          </a:xfrm>
          <a:prstGeom prst="rect">
            <a:avLst/>
          </a:prstGeom>
          <a:noFill/>
        </p:spPr>
        <p:txBody>
          <a:bodyPr wrap="none" rtlCol="0">
            <a:spAutoFit/>
          </a:bodyPr>
          <a:lstStyle/>
          <a:p>
            <a:endParaRPr lang="pt-BR" dirty="0"/>
          </a:p>
        </p:txBody>
      </p:sp>
      <p:sp>
        <p:nvSpPr>
          <p:cNvPr id="20" name="Title 1"/>
          <p:cNvSpPr txBox="1">
            <a:spLocks/>
          </p:cNvSpPr>
          <p:nvPr/>
        </p:nvSpPr>
        <p:spPr>
          <a:xfrm>
            <a:off x="562659" y="90471"/>
            <a:ext cx="6254098" cy="560400"/>
          </a:xfrm>
          <a:prstGeom prst="rect">
            <a:avLst/>
          </a:prstGeom>
        </p:spPr>
        <p:txBody>
          <a:bodyPr vert="horz" lIns="91440" tIns="45720" rIns="91440" bIns="45720" rtlCol="0" anchor="ctr">
            <a:normAutofit fontScale="92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buClr>
                <a:srgbClr val="800000"/>
              </a:buClr>
            </a:pPr>
            <a:r>
              <a:rPr lang="pt-BR" sz="2800" b="1" dirty="0" smtClean="0">
                <a:solidFill>
                  <a:schemeClr val="tx2"/>
                </a:solidFill>
                <a:latin typeface="Arial" pitchFamily="34" charset="0"/>
                <a:cs typeface="Arial" pitchFamily="34" charset="0"/>
              </a:rPr>
              <a:t>8. Problemas – Visão Impacto $ - Perf.</a:t>
            </a:r>
            <a:endParaRPr lang="pt-BR" sz="1800" b="1" dirty="0" smtClean="0">
              <a:solidFill>
                <a:schemeClr val="tx2"/>
              </a:solidFill>
              <a:latin typeface="Arial" pitchFamily="34" charset="0"/>
              <a:cs typeface="Arial" pitchFamily="34" charset="0"/>
            </a:endParaRPr>
          </a:p>
        </p:txBody>
      </p:sp>
      <p:pic>
        <p:nvPicPr>
          <p:cNvPr id="18434"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04649" y="951106"/>
            <a:ext cx="6115875" cy="41139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14096619"/>
      </p:ext>
    </p:extLst>
  </p:cSld>
  <p:clrMapOvr>
    <a:masterClrMapping/>
  </p:clrMapOvr>
  <mc:AlternateContent xmlns:mc="http://schemas.openxmlformats.org/markup-compatibility/2006">
    <mc:Choice xmlns:p14="http://schemas.microsoft.com/office/powerpoint/2010/main" Requires="p14">
      <p:transition p14:dur="250">
        <p14:reveal/>
      </p:transition>
    </mc:Choice>
    <mc:Fallback>
      <p:transition>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76780" t="78172" r="18395" b="12686"/>
          <a:stretch/>
        </p:blipFill>
        <p:spPr bwMode="auto">
          <a:xfrm>
            <a:off x="8188658" y="4384319"/>
            <a:ext cx="955343" cy="7639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9"/>
          <p:cNvPicPr>
            <a:picLocks noChangeAspect="1"/>
          </p:cNvPicPr>
          <p:nvPr/>
        </p:nvPicPr>
        <p:blipFill>
          <a:blip r:embed="rId4"/>
          <a:stretch>
            <a:fillRect/>
          </a:stretch>
        </p:blipFill>
        <p:spPr>
          <a:xfrm>
            <a:off x="7021333" y="289005"/>
            <a:ext cx="1603348" cy="291323"/>
          </a:xfrm>
          <a:prstGeom prst="rect">
            <a:avLst/>
          </a:prstGeom>
        </p:spPr>
      </p:pic>
      <p:pic>
        <p:nvPicPr>
          <p:cNvPr id="8" name="Picture 1" descr="t03-02.jpg"/>
          <p:cNvPicPr>
            <a:picLocks noChangeAspect="1"/>
          </p:cNvPicPr>
          <p:nvPr/>
        </p:nvPicPr>
        <p:blipFill rotWithShape="1">
          <a:blip r:embed="rId5">
            <a:extLst>
              <a:ext uri="{28A0092B-C50C-407E-A947-70E740481C1C}">
                <a14:useLocalDpi xmlns:a14="http://schemas.microsoft.com/office/drawing/2010/main" val="0"/>
              </a:ext>
            </a:extLst>
          </a:blip>
          <a:srcRect r="91368" b="84909"/>
          <a:stretch/>
        </p:blipFill>
        <p:spPr>
          <a:xfrm>
            <a:off x="0" y="0"/>
            <a:ext cx="789296" cy="776935"/>
          </a:xfrm>
          <a:prstGeom prst="rect">
            <a:avLst/>
          </a:prstGeom>
        </p:spPr>
      </p:pic>
      <p:sp>
        <p:nvSpPr>
          <p:cNvPr id="6" name="CaixaDeTexto 5"/>
          <p:cNvSpPr txBox="1"/>
          <p:nvPr/>
        </p:nvSpPr>
        <p:spPr>
          <a:xfrm>
            <a:off x="2039091" y="300128"/>
            <a:ext cx="184731" cy="369332"/>
          </a:xfrm>
          <a:prstGeom prst="rect">
            <a:avLst/>
          </a:prstGeom>
          <a:noFill/>
        </p:spPr>
        <p:txBody>
          <a:bodyPr wrap="none" rtlCol="0">
            <a:spAutoFit/>
          </a:bodyPr>
          <a:lstStyle/>
          <a:p>
            <a:endParaRPr lang="pt-BR" dirty="0"/>
          </a:p>
        </p:txBody>
      </p:sp>
      <p:sp>
        <p:nvSpPr>
          <p:cNvPr id="20" name="Title 1"/>
          <p:cNvSpPr txBox="1">
            <a:spLocks/>
          </p:cNvSpPr>
          <p:nvPr/>
        </p:nvSpPr>
        <p:spPr>
          <a:xfrm>
            <a:off x="562659" y="90471"/>
            <a:ext cx="6254098" cy="560400"/>
          </a:xfrm>
          <a:prstGeom prst="rect">
            <a:avLst/>
          </a:prstGeom>
        </p:spPr>
        <p:txBody>
          <a:bodyPr vert="horz" lIns="91440" tIns="45720" rIns="91440" bIns="45720" rtlCol="0" anchor="ctr">
            <a:normAutofit fontScale="92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buClr>
                <a:srgbClr val="800000"/>
              </a:buClr>
            </a:pPr>
            <a:r>
              <a:rPr lang="pt-BR" sz="2800" b="1" dirty="0" smtClean="0">
                <a:solidFill>
                  <a:schemeClr val="tx2"/>
                </a:solidFill>
                <a:latin typeface="Arial" pitchFamily="34" charset="0"/>
                <a:cs typeface="Arial" pitchFamily="34" charset="0"/>
              </a:rPr>
              <a:t>8. Problemas – Visão Impacto $ - TOP</a:t>
            </a:r>
            <a:endParaRPr lang="pt-BR" sz="1800" b="1" dirty="0" smtClean="0">
              <a:solidFill>
                <a:schemeClr val="tx2"/>
              </a:solidFill>
              <a:latin typeface="Arial" pitchFamily="34" charset="0"/>
              <a:cs typeface="Arial" pitchFamily="34" charset="0"/>
            </a:endParaRPr>
          </a:p>
        </p:txBody>
      </p:sp>
      <p:pic>
        <p:nvPicPr>
          <p:cNvPr id="9" name="Imagem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4648" y="1457503"/>
            <a:ext cx="8422094" cy="27247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8429932"/>
      </p:ext>
    </p:extLst>
  </p:cSld>
  <p:clrMapOvr>
    <a:masterClrMapping/>
  </p:clrMapOvr>
  <mc:AlternateContent xmlns:mc="http://schemas.openxmlformats.org/markup-compatibility/2006">
    <mc:Choice xmlns:p14="http://schemas.microsoft.com/office/powerpoint/2010/main" Requires="p14">
      <p:transition p14:dur="250">
        <p14:reveal/>
      </p:transition>
    </mc:Choice>
    <mc:Fallback>
      <p:transition>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m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9296" y="952490"/>
            <a:ext cx="6800850" cy="4010025"/>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l="76780" t="78172" r="18395" b="12686"/>
          <a:stretch/>
        </p:blipFill>
        <p:spPr bwMode="auto">
          <a:xfrm>
            <a:off x="8188658" y="4384319"/>
            <a:ext cx="955343" cy="7639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9"/>
          <p:cNvPicPr>
            <a:picLocks noChangeAspect="1"/>
          </p:cNvPicPr>
          <p:nvPr/>
        </p:nvPicPr>
        <p:blipFill>
          <a:blip r:embed="rId5"/>
          <a:stretch>
            <a:fillRect/>
          </a:stretch>
        </p:blipFill>
        <p:spPr>
          <a:xfrm>
            <a:off x="7021333" y="289005"/>
            <a:ext cx="1603348" cy="291323"/>
          </a:xfrm>
          <a:prstGeom prst="rect">
            <a:avLst/>
          </a:prstGeom>
        </p:spPr>
      </p:pic>
      <p:pic>
        <p:nvPicPr>
          <p:cNvPr id="8" name="Picture 1" descr="t03-02.jpg"/>
          <p:cNvPicPr>
            <a:picLocks noChangeAspect="1"/>
          </p:cNvPicPr>
          <p:nvPr/>
        </p:nvPicPr>
        <p:blipFill rotWithShape="1">
          <a:blip r:embed="rId6">
            <a:extLst>
              <a:ext uri="{28A0092B-C50C-407E-A947-70E740481C1C}">
                <a14:useLocalDpi xmlns:a14="http://schemas.microsoft.com/office/drawing/2010/main" val="0"/>
              </a:ext>
            </a:extLst>
          </a:blip>
          <a:srcRect r="91368" b="84909"/>
          <a:stretch/>
        </p:blipFill>
        <p:spPr>
          <a:xfrm>
            <a:off x="0" y="0"/>
            <a:ext cx="789296" cy="776935"/>
          </a:xfrm>
          <a:prstGeom prst="rect">
            <a:avLst/>
          </a:prstGeom>
        </p:spPr>
      </p:pic>
      <p:sp>
        <p:nvSpPr>
          <p:cNvPr id="6" name="CaixaDeTexto 5"/>
          <p:cNvSpPr txBox="1"/>
          <p:nvPr/>
        </p:nvSpPr>
        <p:spPr>
          <a:xfrm>
            <a:off x="2039091" y="583158"/>
            <a:ext cx="184731" cy="369332"/>
          </a:xfrm>
          <a:prstGeom prst="rect">
            <a:avLst/>
          </a:prstGeom>
          <a:noFill/>
        </p:spPr>
        <p:txBody>
          <a:bodyPr wrap="none" rtlCol="0">
            <a:spAutoFit/>
          </a:bodyPr>
          <a:lstStyle/>
          <a:p>
            <a:endParaRPr lang="pt-BR" dirty="0"/>
          </a:p>
        </p:txBody>
      </p:sp>
      <p:sp>
        <p:nvSpPr>
          <p:cNvPr id="20" name="Title 1"/>
          <p:cNvSpPr txBox="1">
            <a:spLocks/>
          </p:cNvSpPr>
          <p:nvPr/>
        </p:nvSpPr>
        <p:spPr>
          <a:xfrm>
            <a:off x="562659" y="90471"/>
            <a:ext cx="6254098" cy="5604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buClr>
                <a:srgbClr val="800000"/>
              </a:buClr>
            </a:pPr>
            <a:r>
              <a:rPr lang="pt-BR" sz="2800" b="1" dirty="0" smtClean="0">
                <a:solidFill>
                  <a:schemeClr val="tx2"/>
                </a:solidFill>
                <a:latin typeface="Arial" pitchFamily="34" charset="0"/>
                <a:cs typeface="Arial" pitchFamily="34" charset="0"/>
              </a:rPr>
              <a:t>8. Problemas – Visão Tecnologia</a:t>
            </a:r>
            <a:endParaRPr lang="pt-BR" sz="1800" b="1" dirty="0" smtClean="0">
              <a:solidFill>
                <a:schemeClr val="tx2"/>
              </a:solidFill>
              <a:latin typeface="Arial" pitchFamily="34" charset="0"/>
              <a:cs typeface="Arial" pitchFamily="34" charset="0"/>
            </a:endParaRPr>
          </a:p>
        </p:txBody>
      </p:sp>
    </p:spTree>
    <p:extLst>
      <p:ext uri="{BB962C8B-B14F-4D97-AF65-F5344CB8AC3E}">
        <p14:creationId xmlns:p14="http://schemas.microsoft.com/office/powerpoint/2010/main" val="950811327"/>
      </p:ext>
    </p:extLst>
  </p:cSld>
  <p:clrMapOvr>
    <a:masterClrMapping/>
  </p:clrMapOvr>
  <mc:AlternateContent xmlns:mc="http://schemas.openxmlformats.org/markup-compatibility/2006">
    <mc:Choice xmlns:p14="http://schemas.microsoft.com/office/powerpoint/2010/main" Requires="p14">
      <p:transition p14:dur="250">
        <p14:reveal/>
      </p:transition>
    </mc:Choice>
    <mc:Fallback>
      <p:transition>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76780" t="78172" r="18395" b="12686"/>
          <a:stretch/>
        </p:blipFill>
        <p:spPr bwMode="auto">
          <a:xfrm>
            <a:off x="8188658" y="4384319"/>
            <a:ext cx="955343" cy="7639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9"/>
          <p:cNvPicPr>
            <a:picLocks noChangeAspect="1"/>
          </p:cNvPicPr>
          <p:nvPr/>
        </p:nvPicPr>
        <p:blipFill>
          <a:blip r:embed="rId4"/>
          <a:stretch>
            <a:fillRect/>
          </a:stretch>
        </p:blipFill>
        <p:spPr>
          <a:xfrm>
            <a:off x="7021333" y="289005"/>
            <a:ext cx="1603348" cy="291323"/>
          </a:xfrm>
          <a:prstGeom prst="rect">
            <a:avLst/>
          </a:prstGeom>
        </p:spPr>
      </p:pic>
      <p:pic>
        <p:nvPicPr>
          <p:cNvPr id="8" name="Picture 1" descr="t03-02.jpg"/>
          <p:cNvPicPr>
            <a:picLocks noChangeAspect="1"/>
          </p:cNvPicPr>
          <p:nvPr/>
        </p:nvPicPr>
        <p:blipFill rotWithShape="1">
          <a:blip r:embed="rId5">
            <a:extLst>
              <a:ext uri="{28A0092B-C50C-407E-A947-70E740481C1C}">
                <a14:useLocalDpi xmlns:a14="http://schemas.microsoft.com/office/drawing/2010/main" val="0"/>
              </a:ext>
            </a:extLst>
          </a:blip>
          <a:srcRect r="91368" b="84909"/>
          <a:stretch/>
        </p:blipFill>
        <p:spPr>
          <a:xfrm>
            <a:off x="0" y="0"/>
            <a:ext cx="789296" cy="776935"/>
          </a:xfrm>
          <a:prstGeom prst="rect">
            <a:avLst/>
          </a:prstGeom>
        </p:spPr>
      </p:pic>
      <p:sp>
        <p:nvSpPr>
          <p:cNvPr id="6" name="CaixaDeTexto 5"/>
          <p:cNvSpPr txBox="1"/>
          <p:nvPr/>
        </p:nvSpPr>
        <p:spPr>
          <a:xfrm>
            <a:off x="2039091" y="300128"/>
            <a:ext cx="184731" cy="369332"/>
          </a:xfrm>
          <a:prstGeom prst="rect">
            <a:avLst/>
          </a:prstGeom>
          <a:noFill/>
        </p:spPr>
        <p:txBody>
          <a:bodyPr wrap="none" rtlCol="0">
            <a:spAutoFit/>
          </a:bodyPr>
          <a:lstStyle/>
          <a:p>
            <a:endParaRPr lang="pt-BR" dirty="0"/>
          </a:p>
        </p:txBody>
      </p:sp>
      <p:sp>
        <p:nvSpPr>
          <p:cNvPr id="9" name="Title 1"/>
          <p:cNvSpPr txBox="1">
            <a:spLocks/>
          </p:cNvSpPr>
          <p:nvPr/>
        </p:nvSpPr>
        <p:spPr>
          <a:xfrm>
            <a:off x="562659" y="-22487"/>
            <a:ext cx="6254098" cy="5604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pt-BR" sz="2200" b="1" dirty="0">
                <a:solidFill>
                  <a:schemeClr val="tx2"/>
                </a:solidFill>
                <a:latin typeface="Arial" pitchFamily="34" charset="0"/>
                <a:cs typeface="Arial" pitchFamily="34" charset="0"/>
              </a:rPr>
              <a:t>9</a:t>
            </a:r>
            <a:r>
              <a:rPr lang="pt-BR" sz="2200" b="1" dirty="0" smtClean="0">
                <a:solidFill>
                  <a:schemeClr val="tx2"/>
                </a:solidFill>
                <a:latin typeface="Arial" pitchFamily="34" charset="0"/>
                <a:cs typeface="Arial" pitchFamily="34" charset="0"/>
              </a:rPr>
              <a:t>. </a:t>
            </a:r>
            <a:r>
              <a:rPr lang="pt-BR" sz="2200" b="1" dirty="0">
                <a:solidFill>
                  <a:schemeClr val="tx2"/>
                </a:solidFill>
                <a:latin typeface="Arial" pitchFamily="34" charset="0"/>
                <a:cs typeface="Arial" pitchFamily="34" charset="0"/>
              </a:rPr>
              <a:t>Projeto: Qualidade em Gravação</a:t>
            </a:r>
          </a:p>
        </p:txBody>
      </p:sp>
      <p:sp>
        <p:nvSpPr>
          <p:cNvPr id="12" name="Retângulo 11"/>
          <p:cNvSpPr/>
          <p:nvPr/>
        </p:nvSpPr>
        <p:spPr>
          <a:xfrm>
            <a:off x="221121" y="1814445"/>
            <a:ext cx="2716382" cy="2795656"/>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0" lvl="1" algn="ctr">
              <a:spcBef>
                <a:spcPts val="200"/>
              </a:spcBef>
              <a:spcAft>
                <a:spcPts val="200"/>
              </a:spcAft>
            </a:pPr>
            <a:r>
              <a:rPr lang="pt-BR" sz="1400" b="1" dirty="0">
                <a:solidFill>
                  <a:schemeClr val="tx1">
                    <a:lumMod val="95000"/>
                    <a:lumOff val="5000"/>
                  </a:schemeClr>
                </a:solidFill>
              </a:rPr>
              <a:t>Últimas Realizações</a:t>
            </a:r>
            <a:endParaRPr lang="pt-BR" sz="1200" dirty="0">
              <a:solidFill>
                <a:schemeClr val="tx1">
                  <a:lumMod val="95000"/>
                  <a:lumOff val="5000"/>
                </a:schemeClr>
              </a:solidFill>
            </a:endParaRPr>
          </a:p>
          <a:p>
            <a:pPr marL="171450" lvl="1" indent="-171450">
              <a:spcBef>
                <a:spcPts val="200"/>
              </a:spcBef>
              <a:spcAft>
                <a:spcPts val="200"/>
              </a:spcAft>
              <a:buFont typeface="Wingdings" panose="05000000000000000000" pitchFamily="2" charset="2"/>
              <a:buChar char="ü"/>
            </a:pPr>
            <a:r>
              <a:rPr lang="pt-PT" sz="1200" dirty="0" smtClean="0">
                <a:solidFill>
                  <a:schemeClr val="tx1"/>
                </a:solidFill>
              </a:rPr>
              <a:t>Entregue para a fabrica de software melhorias na APP de recuperação de gravações.</a:t>
            </a:r>
            <a:endParaRPr lang="pt-BR" sz="1200" dirty="0" smtClean="0">
              <a:solidFill>
                <a:schemeClr val="tx1"/>
              </a:solidFill>
            </a:endParaRPr>
          </a:p>
          <a:p>
            <a:pPr marL="171450" lvl="1" indent="-171450">
              <a:spcBef>
                <a:spcPts val="200"/>
              </a:spcBef>
              <a:spcAft>
                <a:spcPts val="200"/>
              </a:spcAft>
              <a:buFont typeface="Wingdings" panose="05000000000000000000" pitchFamily="2" charset="2"/>
              <a:buChar char="ü"/>
            </a:pPr>
            <a:r>
              <a:rPr lang="pt-BR" sz="1200" dirty="0" smtClean="0">
                <a:solidFill>
                  <a:schemeClr val="tx1"/>
                </a:solidFill>
              </a:rPr>
              <a:t>Continuação de homologação da </a:t>
            </a:r>
            <a:r>
              <a:rPr lang="pt-BR" sz="1200" dirty="0">
                <a:solidFill>
                  <a:schemeClr val="tx1"/>
                </a:solidFill>
              </a:rPr>
              <a:t>ferramenta</a:t>
            </a:r>
            <a:r>
              <a:rPr lang="pt-BR" sz="1200" b="1" dirty="0">
                <a:solidFill>
                  <a:schemeClr val="tx1"/>
                </a:solidFill>
              </a:rPr>
              <a:t> </a:t>
            </a:r>
            <a:r>
              <a:rPr lang="pt-BR" sz="1200" b="1" dirty="0" smtClean="0">
                <a:solidFill>
                  <a:schemeClr val="tx1"/>
                </a:solidFill>
              </a:rPr>
              <a:t>Painel</a:t>
            </a:r>
            <a:r>
              <a:rPr lang="pt-BR" sz="1200" dirty="0" smtClean="0">
                <a:solidFill>
                  <a:schemeClr val="tx1"/>
                </a:solidFill>
              </a:rPr>
              <a:t>. </a:t>
            </a:r>
          </a:p>
          <a:p>
            <a:pPr marL="0" lvl="1">
              <a:spcBef>
                <a:spcPts val="200"/>
              </a:spcBef>
              <a:spcAft>
                <a:spcPts val="200"/>
              </a:spcAft>
            </a:pPr>
            <a:endParaRPr lang="pt-BR" sz="1200" dirty="0" smtClean="0">
              <a:solidFill>
                <a:schemeClr val="tx1"/>
              </a:solidFill>
            </a:endParaRPr>
          </a:p>
        </p:txBody>
      </p:sp>
      <p:sp>
        <p:nvSpPr>
          <p:cNvPr id="15" name="Retângulo de cantos arredondados 14"/>
          <p:cNvSpPr/>
          <p:nvPr/>
        </p:nvSpPr>
        <p:spPr>
          <a:xfrm>
            <a:off x="184623" y="635027"/>
            <a:ext cx="3064339" cy="1080993"/>
          </a:xfrm>
          <a:prstGeom prst="roundRect">
            <a:avLst/>
          </a:prstGeom>
          <a:solidFill>
            <a:schemeClr val="accent6">
              <a:lumMod val="75000"/>
            </a:schemeClr>
          </a:soli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r>
              <a:rPr lang="pt-BR" sz="1400" b="1" dirty="0">
                <a:effectLst>
                  <a:outerShdw blurRad="38100" dist="38100" dir="2700000" algn="tl">
                    <a:srgbClr val="000000">
                      <a:alpha val="43137"/>
                    </a:srgbClr>
                  </a:outerShdw>
                </a:effectLst>
              </a:rPr>
              <a:t>Projeto:  </a:t>
            </a:r>
            <a:r>
              <a:rPr lang="pt-BR" sz="1400" b="1" dirty="0" smtClean="0">
                <a:effectLst>
                  <a:outerShdw blurRad="38100" dist="38100" dir="2700000" algn="tl">
                    <a:srgbClr val="000000">
                      <a:alpha val="43137"/>
                    </a:srgbClr>
                  </a:outerShdw>
                </a:effectLst>
              </a:rPr>
              <a:t>Qualidade em Gravação</a:t>
            </a:r>
            <a:endParaRPr lang="pt-BR" sz="1400" b="1" dirty="0">
              <a:effectLst>
                <a:outerShdw blurRad="38100" dist="38100" dir="2700000" algn="tl">
                  <a:srgbClr val="000000">
                    <a:alpha val="43137"/>
                  </a:srgbClr>
                </a:outerShdw>
              </a:effectLst>
            </a:endParaRPr>
          </a:p>
          <a:p>
            <a:r>
              <a:rPr lang="pt-BR" sz="1200" dirty="0"/>
              <a:t>Data Inicio: </a:t>
            </a:r>
            <a:r>
              <a:rPr lang="pt-BR" sz="1200" dirty="0" smtClean="0"/>
              <a:t>24-02-2016  </a:t>
            </a:r>
          </a:p>
          <a:p>
            <a:r>
              <a:rPr lang="pt-BR" sz="1200" dirty="0" smtClean="0"/>
              <a:t>Data </a:t>
            </a:r>
            <a:r>
              <a:rPr lang="pt-BR" sz="1200" dirty="0"/>
              <a:t>Conclusão: </a:t>
            </a:r>
            <a:r>
              <a:rPr lang="pt-BR" sz="1200" dirty="0" smtClean="0"/>
              <a:t>23-08-2016</a:t>
            </a:r>
            <a:endParaRPr lang="pt-BR" sz="1200" dirty="0"/>
          </a:p>
          <a:p>
            <a:r>
              <a:rPr lang="pt-BR" sz="1200" dirty="0"/>
              <a:t>Progresso: </a:t>
            </a:r>
            <a:r>
              <a:rPr lang="pt-BR" sz="1200" dirty="0" smtClean="0"/>
              <a:t>72%</a:t>
            </a:r>
            <a:endParaRPr lang="pt-BR" sz="1200" dirty="0"/>
          </a:p>
          <a:p>
            <a:r>
              <a:rPr lang="pt-BR" sz="1200" dirty="0"/>
              <a:t>PM: </a:t>
            </a:r>
            <a:r>
              <a:rPr lang="pt-BR" sz="1200" dirty="0" err="1"/>
              <a:t>Luis</a:t>
            </a:r>
            <a:r>
              <a:rPr lang="pt-BR" sz="1200" dirty="0"/>
              <a:t> Marçal</a:t>
            </a:r>
          </a:p>
        </p:txBody>
      </p:sp>
      <p:sp>
        <p:nvSpPr>
          <p:cNvPr id="16" name="Retângulo 15"/>
          <p:cNvSpPr/>
          <p:nvPr/>
        </p:nvSpPr>
        <p:spPr>
          <a:xfrm>
            <a:off x="3112449" y="1817850"/>
            <a:ext cx="2910818" cy="2792252"/>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0" lvl="1" algn="ctr">
              <a:spcBef>
                <a:spcPts val="200"/>
              </a:spcBef>
              <a:spcAft>
                <a:spcPts val="200"/>
              </a:spcAft>
            </a:pPr>
            <a:r>
              <a:rPr lang="pt-BR" sz="1400" b="1" dirty="0">
                <a:solidFill>
                  <a:schemeClr val="tx1">
                    <a:lumMod val="95000"/>
                    <a:lumOff val="5000"/>
                  </a:schemeClr>
                </a:solidFill>
              </a:rPr>
              <a:t>Próximas Ações</a:t>
            </a:r>
            <a:endParaRPr lang="pt-BR" sz="1400" dirty="0">
              <a:solidFill>
                <a:schemeClr val="tx1">
                  <a:lumMod val="95000"/>
                  <a:lumOff val="5000"/>
                </a:schemeClr>
              </a:solidFill>
            </a:endParaRPr>
          </a:p>
          <a:p>
            <a:pPr marL="171450" indent="-171450">
              <a:buFont typeface="Wingdings" panose="05000000000000000000" pitchFamily="2" charset="2"/>
              <a:buChar char="Ø"/>
            </a:pPr>
            <a:r>
              <a:rPr lang="pt-BR" sz="1200" b="1" dirty="0" smtClean="0">
                <a:solidFill>
                  <a:schemeClr val="tx1"/>
                </a:solidFill>
              </a:rPr>
              <a:t>O </a:t>
            </a:r>
            <a:r>
              <a:rPr lang="pt-BR" sz="1200" b="1" dirty="0" err="1" smtClean="0">
                <a:solidFill>
                  <a:schemeClr val="tx1"/>
                </a:solidFill>
              </a:rPr>
              <a:t>Tprocess</a:t>
            </a:r>
            <a:r>
              <a:rPr lang="pt-BR" sz="1200" b="1" dirty="0" smtClean="0">
                <a:solidFill>
                  <a:schemeClr val="tx1"/>
                </a:solidFill>
              </a:rPr>
              <a:t> </a:t>
            </a:r>
            <a:r>
              <a:rPr lang="pt-BR" sz="1200" dirty="0" smtClean="0">
                <a:solidFill>
                  <a:schemeClr val="tx1"/>
                </a:solidFill>
              </a:rPr>
              <a:t>foi selecionado como </a:t>
            </a:r>
            <a:r>
              <a:rPr lang="pt-BR" sz="1200" b="1" dirty="0" smtClean="0">
                <a:solidFill>
                  <a:schemeClr val="tx1"/>
                </a:solidFill>
              </a:rPr>
              <a:t>canal único de entrada </a:t>
            </a:r>
            <a:r>
              <a:rPr lang="pt-BR" sz="1200" dirty="0" smtClean="0">
                <a:solidFill>
                  <a:schemeClr val="tx1"/>
                </a:solidFill>
              </a:rPr>
              <a:t>para chamados para recuperação de gravação. O modulo de recuperação de chamados esta em desenvolvimento e homologação final. </a:t>
            </a:r>
            <a:endParaRPr lang="pt-BR" sz="1200" dirty="0">
              <a:solidFill>
                <a:schemeClr val="tx1"/>
              </a:solidFill>
            </a:endParaRPr>
          </a:p>
          <a:p>
            <a:pPr marL="171450" lvl="1" indent="-171450">
              <a:spcBef>
                <a:spcPts val="200"/>
              </a:spcBef>
              <a:spcAft>
                <a:spcPts val="200"/>
              </a:spcAft>
              <a:buFont typeface="Wingdings" panose="05000000000000000000" pitchFamily="2" charset="2"/>
              <a:buChar char="Ø"/>
            </a:pPr>
            <a:r>
              <a:rPr lang="pt-BR" sz="1200" dirty="0" smtClean="0">
                <a:solidFill>
                  <a:schemeClr val="tx1"/>
                </a:solidFill>
              </a:rPr>
              <a:t>“Piloto” - Implantar a nova metodologia de recuperação de chamados no  Bradesco para avaliar resultados.</a:t>
            </a:r>
          </a:p>
          <a:p>
            <a:pPr marL="171450" lvl="1" indent="-171450">
              <a:spcBef>
                <a:spcPts val="200"/>
              </a:spcBef>
              <a:spcAft>
                <a:spcPts val="200"/>
              </a:spcAft>
              <a:buFont typeface="Wingdings" panose="05000000000000000000" pitchFamily="2" charset="2"/>
              <a:buChar char="Ø"/>
            </a:pPr>
            <a:r>
              <a:rPr lang="pt-PT" sz="1200" dirty="0" smtClean="0">
                <a:solidFill>
                  <a:schemeClr val="tx1"/>
                </a:solidFill>
              </a:rPr>
              <a:t>Planejar o RollOut para implatação do modulo de recuperação de chamados.</a:t>
            </a:r>
          </a:p>
          <a:p>
            <a:pPr marL="171450" lvl="1" indent="-171450">
              <a:spcBef>
                <a:spcPts val="200"/>
              </a:spcBef>
              <a:spcAft>
                <a:spcPts val="200"/>
              </a:spcAft>
              <a:buFont typeface="Wingdings" panose="05000000000000000000" pitchFamily="2" charset="2"/>
              <a:buChar char="Ø"/>
            </a:pPr>
            <a:r>
              <a:rPr lang="pt-BR" sz="1200" dirty="0" smtClean="0">
                <a:solidFill>
                  <a:schemeClr val="tx1"/>
                </a:solidFill>
              </a:rPr>
              <a:t>Acionamento da ferramenta</a:t>
            </a:r>
            <a:r>
              <a:rPr lang="pt-BR" sz="1200" b="1" dirty="0" smtClean="0">
                <a:solidFill>
                  <a:schemeClr val="tx1"/>
                </a:solidFill>
              </a:rPr>
              <a:t> Painel no NOC</a:t>
            </a:r>
            <a:r>
              <a:rPr lang="pt-BR" sz="1200" dirty="0" smtClean="0">
                <a:solidFill>
                  <a:schemeClr val="tx1"/>
                </a:solidFill>
              </a:rPr>
              <a:t>.</a:t>
            </a:r>
            <a:endParaRPr lang="pt-BR" sz="1200" dirty="0">
              <a:solidFill>
                <a:schemeClr val="tx1"/>
              </a:solidFill>
            </a:endParaRPr>
          </a:p>
          <a:p>
            <a:endParaRPr lang="pt-BR" sz="1200" dirty="0">
              <a:solidFill>
                <a:schemeClr val="tx1">
                  <a:lumMod val="95000"/>
                  <a:lumOff val="5000"/>
                </a:schemeClr>
              </a:solidFill>
            </a:endParaRPr>
          </a:p>
        </p:txBody>
      </p:sp>
      <p:sp>
        <p:nvSpPr>
          <p:cNvPr id="17" name="Retângulo 16"/>
          <p:cNvSpPr/>
          <p:nvPr/>
        </p:nvSpPr>
        <p:spPr>
          <a:xfrm>
            <a:off x="6225443" y="1859071"/>
            <a:ext cx="2716382" cy="2751030"/>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0" lvl="1" algn="ctr">
              <a:spcBef>
                <a:spcPts val="200"/>
              </a:spcBef>
              <a:spcAft>
                <a:spcPts val="200"/>
              </a:spcAft>
            </a:pPr>
            <a:r>
              <a:rPr lang="pt-BR" sz="1400" b="1" dirty="0" smtClean="0">
                <a:solidFill>
                  <a:schemeClr val="tx1">
                    <a:lumMod val="95000"/>
                    <a:lumOff val="5000"/>
                  </a:schemeClr>
                </a:solidFill>
              </a:rPr>
              <a:t>Riscos/Problemas/Observações</a:t>
            </a:r>
          </a:p>
          <a:p>
            <a:pPr marL="0" lvl="1">
              <a:spcBef>
                <a:spcPts val="200"/>
              </a:spcBef>
              <a:spcAft>
                <a:spcPts val="200"/>
              </a:spcAft>
            </a:pPr>
            <a:r>
              <a:rPr lang="pt-BR" sz="1200" dirty="0" smtClean="0">
                <a:solidFill>
                  <a:schemeClr val="tx1"/>
                </a:solidFill>
              </a:rPr>
              <a:t>Observações: </a:t>
            </a:r>
          </a:p>
          <a:p>
            <a:pPr marL="171450" lvl="1" indent="-171450">
              <a:spcBef>
                <a:spcPts val="200"/>
              </a:spcBef>
              <a:spcAft>
                <a:spcPts val="200"/>
              </a:spcAft>
              <a:buFont typeface="Arial" panose="020B0604020202020204" pitchFamily="34" charset="0"/>
              <a:buChar char="•"/>
            </a:pPr>
            <a:r>
              <a:rPr lang="pt-BR" sz="1200" b="1" dirty="0" smtClean="0">
                <a:solidFill>
                  <a:schemeClr val="tx1"/>
                </a:solidFill>
              </a:rPr>
              <a:t>Tomada de posição do Comitê</a:t>
            </a:r>
            <a:r>
              <a:rPr lang="pt-BR" sz="1200" dirty="0" smtClean="0">
                <a:solidFill>
                  <a:schemeClr val="tx1"/>
                </a:solidFill>
              </a:rPr>
              <a:t>, para decidir sobre, </a:t>
            </a:r>
            <a:r>
              <a:rPr lang="pt-BR" sz="1200" dirty="0">
                <a:solidFill>
                  <a:schemeClr val="tx1"/>
                </a:solidFill>
              </a:rPr>
              <a:t>se este projeto </a:t>
            </a:r>
            <a:r>
              <a:rPr lang="pt-BR" sz="1200" u="sng" dirty="0" smtClean="0">
                <a:solidFill>
                  <a:schemeClr val="tx1"/>
                </a:solidFill>
              </a:rPr>
              <a:t>continua </a:t>
            </a:r>
            <a:r>
              <a:rPr lang="pt-BR" sz="1200" u="sng" dirty="0">
                <a:solidFill>
                  <a:schemeClr val="tx1"/>
                </a:solidFill>
              </a:rPr>
              <a:t>com a </a:t>
            </a:r>
            <a:r>
              <a:rPr lang="pt-BR" sz="1200" u="sng" dirty="0" smtClean="0">
                <a:solidFill>
                  <a:schemeClr val="tx1"/>
                </a:solidFill>
              </a:rPr>
              <a:t>implantação do </a:t>
            </a:r>
            <a:r>
              <a:rPr lang="pt-BR" sz="1200" u="sng" dirty="0">
                <a:solidFill>
                  <a:schemeClr val="tx1"/>
                </a:solidFill>
              </a:rPr>
              <a:t>“piloto</a:t>
            </a:r>
            <a:r>
              <a:rPr lang="pt-BR" sz="1200" u="sng" dirty="0" smtClean="0">
                <a:solidFill>
                  <a:schemeClr val="tx1"/>
                </a:solidFill>
              </a:rPr>
              <a:t>” e </a:t>
            </a:r>
            <a:r>
              <a:rPr lang="pt-BR" sz="1200" u="sng" dirty="0" err="1" smtClean="0">
                <a:solidFill>
                  <a:schemeClr val="tx1"/>
                </a:solidFill>
              </a:rPr>
              <a:t>RollOut</a:t>
            </a:r>
            <a:r>
              <a:rPr lang="pt-BR" sz="1200" u="sng" dirty="0" smtClean="0">
                <a:solidFill>
                  <a:schemeClr val="tx1"/>
                </a:solidFill>
              </a:rPr>
              <a:t>, do modulo</a:t>
            </a:r>
            <a:r>
              <a:rPr lang="pt-BR" sz="1200" b="1" u="sng" dirty="0" smtClean="0">
                <a:solidFill>
                  <a:schemeClr val="tx1"/>
                </a:solidFill>
              </a:rPr>
              <a:t> </a:t>
            </a:r>
            <a:r>
              <a:rPr lang="pt-BR" sz="1200" b="1" u="sng" dirty="0">
                <a:solidFill>
                  <a:schemeClr val="tx1"/>
                </a:solidFill>
              </a:rPr>
              <a:t>de </a:t>
            </a:r>
            <a:r>
              <a:rPr lang="pt-BR" sz="1200" b="1" u="sng" dirty="0" smtClean="0">
                <a:solidFill>
                  <a:schemeClr val="tx1"/>
                </a:solidFill>
              </a:rPr>
              <a:t>Recuperação de gravação</a:t>
            </a:r>
            <a:r>
              <a:rPr lang="pt-BR" sz="1200" b="1" dirty="0" smtClean="0">
                <a:solidFill>
                  <a:schemeClr val="tx1"/>
                </a:solidFill>
              </a:rPr>
              <a:t>,</a:t>
            </a:r>
            <a:r>
              <a:rPr lang="pt-BR" sz="1200" dirty="0" smtClean="0">
                <a:solidFill>
                  <a:schemeClr val="tx1"/>
                </a:solidFill>
              </a:rPr>
              <a:t> </a:t>
            </a:r>
            <a:r>
              <a:rPr lang="pt-BR" sz="1200" dirty="0">
                <a:solidFill>
                  <a:schemeClr val="tx1"/>
                </a:solidFill>
              </a:rPr>
              <a:t>que está na fase final de homologação</a:t>
            </a:r>
            <a:r>
              <a:rPr lang="pt-BR" sz="1200" dirty="0" smtClean="0">
                <a:solidFill>
                  <a:schemeClr val="tx1"/>
                </a:solidFill>
              </a:rPr>
              <a:t>.</a:t>
            </a:r>
          </a:p>
          <a:p>
            <a:pPr marL="171450" lvl="1" indent="-171450">
              <a:spcBef>
                <a:spcPts val="200"/>
              </a:spcBef>
              <a:spcAft>
                <a:spcPts val="200"/>
              </a:spcAft>
              <a:buFont typeface="Arial" panose="020B0604020202020204" pitchFamily="34" charset="0"/>
              <a:buChar char="•"/>
            </a:pPr>
            <a:r>
              <a:rPr lang="pt-PT" sz="1200" b="1" dirty="0" smtClean="0">
                <a:solidFill>
                  <a:srgbClr val="00FF00"/>
                </a:solidFill>
              </a:rPr>
              <a:t>Constatação de redução acentuada de multas nos últimos dois meses. </a:t>
            </a:r>
            <a:endParaRPr lang="pt-BR" sz="1200" b="1" dirty="0" smtClean="0">
              <a:solidFill>
                <a:srgbClr val="00FF00"/>
              </a:solidFill>
            </a:endParaRPr>
          </a:p>
          <a:p>
            <a:pPr marL="171450" lvl="1" indent="-171450">
              <a:spcBef>
                <a:spcPts val="200"/>
              </a:spcBef>
              <a:spcAft>
                <a:spcPts val="200"/>
              </a:spcAft>
              <a:buFont typeface="Arial" panose="020B0604020202020204" pitchFamily="34" charset="0"/>
              <a:buChar char="•"/>
            </a:pPr>
            <a:r>
              <a:rPr lang="pt-BR" sz="1200" dirty="0" smtClean="0">
                <a:solidFill>
                  <a:schemeClr val="tx1"/>
                </a:solidFill>
              </a:rPr>
              <a:t>Equipe </a:t>
            </a:r>
            <a:r>
              <a:rPr lang="pt-BR" sz="1200" dirty="0">
                <a:solidFill>
                  <a:schemeClr val="tx1"/>
                </a:solidFill>
              </a:rPr>
              <a:t>do Rivaldo foi para um treinamento (emergencial) . Atraso na </a:t>
            </a:r>
            <a:r>
              <a:rPr lang="pt-BR" sz="1200" dirty="0" smtClean="0">
                <a:solidFill>
                  <a:schemeClr val="tx1"/>
                </a:solidFill>
              </a:rPr>
              <a:t>entrega das </a:t>
            </a:r>
            <a:r>
              <a:rPr lang="pt-BR" sz="1200" dirty="0" err="1" smtClean="0">
                <a:solidFill>
                  <a:schemeClr val="tx1"/>
                </a:solidFill>
              </a:rPr>
              <a:t>APPs</a:t>
            </a:r>
            <a:r>
              <a:rPr lang="pt-BR" sz="1200" dirty="0" smtClean="0">
                <a:solidFill>
                  <a:schemeClr val="tx1"/>
                </a:solidFill>
              </a:rPr>
              <a:t>. </a:t>
            </a:r>
            <a:endParaRPr lang="pt-BR" sz="1200" dirty="0">
              <a:solidFill>
                <a:schemeClr val="tx1"/>
              </a:solidFill>
            </a:endParaRPr>
          </a:p>
          <a:p>
            <a:pPr marL="0" lvl="1">
              <a:spcBef>
                <a:spcPts val="200"/>
              </a:spcBef>
              <a:spcAft>
                <a:spcPts val="200"/>
              </a:spcAft>
            </a:pPr>
            <a:endParaRPr lang="pt-BR" sz="1200" dirty="0">
              <a:solidFill>
                <a:schemeClr val="tx1"/>
              </a:solidFill>
            </a:endParaRPr>
          </a:p>
          <a:p>
            <a:pPr marL="0" lvl="1">
              <a:spcBef>
                <a:spcPts val="200"/>
              </a:spcBef>
              <a:spcAft>
                <a:spcPts val="200"/>
              </a:spcAft>
            </a:pPr>
            <a:endParaRPr lang="pt-BR" sz="1200" dirty="0">
              <a:solidFill>
                <a:schemeClr val="tx1">
                  <a:lumMod val="95000"/>
                  <a:lumOff val="5000"/>
                </a:schemeClr>
              </a:solidFill>
            </a:endParaRPr>
          </a:p>
          <a:p>
            <a:pPr marL="0" lvl="1" algn="ctr">
              <a:spcBef>
                <a:spcPts val="200"/>
              </a:spcBef>
              <a:spcAft>
                <a:spcPts val="200"/>
              </a:spcAft>
            </a:pPr>
            <a:endParaRPr lang="pt-BR" sz="1200" dirty="0" smtClean="0">
              <a:solidFill>
                <a:schemeClr val="tx1">
                  <a:lumMod val="95000"/>
                  <a:lumOff val="5000"/>
                </a:schemeClr>
              </a:solidFill>
            </a:endParaRPr>
          </a:p>
        </p:txBody>
      </p:sp>
      <p:sp>
        <p:nvSpPr>
          <p:cNvPr id="18" name="Retângulo de cantos arredondados 17"/>
          <p:cNvSpPr/>
          <p:nvPr/>
        </p:nvSpPr>
        <p:spPr>
          <a:xfrm>
            <a:off x="3345800" y="642950"/>
            <a:ext cx="5559600" cy="1080992"/>
          </a:xfrm>
          <a:prstGeom prst="roundRect">
            <a:avLst/>
          </a:prstGeom>
          <a:solidFill>
            <a:schemeClr val="accent1">
              <a:lumMod val="50000"/>
            </a:schemeClr>
          </a:soli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r>
              <a:rPr lang="pt-BR" sz="1400" b="1" dirty="0" smtClean="0">
                <a:effectLst>
                  <a:outerShdw blurRad="38100" dist="38100" dir="2700000" algn="tl">
                    <a:srgbClr val="000000">
                      <a:alpha val="43137"/>
                    </a:srgbClr>
                  </a:outerShdw>
                </a:effectLst>
              </a:rPr>
              <a:t>Descritivo: </a:t>
            </a:r>
            <a:r>
              <a:rPr lang="pt-BR" sz="1400" dirty="0"/>
              <a:t>Este projeto tem como escopo, executar um </a:t>
            </a:r>
            <a:r>
              <a:rPr lang="pt-BR" sz="1400" b="1" dirty="0"/>
              <a:t>plano de ação para eliminar multas (de gravação)</a:t>
            </a:r>
            <a:r>
              <a:rPr lang="pt-BR" sz="1400" dirty="0"/>
              <a:t> nos clientes Contax</a:t>
            </a:r>
            <a:r>
              <a:rPr lang="pt-BR" sz="1400" dirty="0" smtClean="0"/>
              <a:t>.</a:t>
            </a:r>
          </a:p>
          <a:p>
            <a:r>
              <a:rPr lang="pt-BR" sz="1400" dirty="0"/>
              <a:t>Vamos adotar o trabalho baseado em PPT (</a:t>
            </a:r>
            <a:r>
              <a:rPr lang="pt-BR" sz="1400" b="1" dirty="0"/>
              <a:t>Pessoas – Processos – Tecnologia</a:t>
            </a:r>
            <a:r>
              <a:rPr lang="pt-BR" sz="1400" dirty="0" smtClean="0"/>
              <a:t>)</a:t>
            </a:r>
            <a:r>
              <a:rPr lang="pt-BR" sz="1400" dirty="0"/>
              <a:t>.</a:t>
            </a:r>
          </a:p>
        </p:txBody>
      </p:sp>
      <p:grpSp>
        <p:nvGrpSpPr>
          <p:cNvPr id="25" name="Group 27"/>
          <p:cNvGrpSpPr>
            <a:grpSpLocks/>
          </p:cNvGrpSpPr>
          <p:nvPr/>
        </p:nvGrpSpPr>
        <p:grpSpPr bwMode="auto">
          <a:xfrm>
            <a:off x="2841062" y="1317432"/>
            <a:ext cx="274637" cy="274638"/>
            <a:chOff x="0" y="0"/>
            <a:chExt cx="173" cy="173"/>
          </a:xfrm>
        </p:grpSpPr>
        <p:sp>
          <p:nvSpPr>
            <p:cNvPr id="26" name="Oval 28"/>
            <p:cNvSpPr>
              <a:spLocks noChangeArrowheads="1"/>
            </p:cNvSpPr>
            <p:nvPr/>
          </p:nvSpPr>
          <p:spPr bwMode="auto">
            <a:xfrm>
              <a:off x="0" y="0"/>
              <a:ext cx="173" cy="173"/>
            </a:xfrm>
            <a:prstGeom prst="ellipse">
              <a:avLst/>
            </a:prstGeom>
            <a:noFill/>
            <a:ln w="63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sp>
          <p:nvSpPr>
            <p:cNvPr id="27" name="Arc 29"/>
            <p:cNvSpPr>
              <a:spLocks/>
            </p:cNvSpPr>
            <p:nvPr/>
          </p:nvSpPr>
          <p:spPr bwMode="auto">
            <a:xfrm>
              <a:off x="86" y="0"/>
              <a:ext cx="62" cy="86"/>
            </a:xfrm>
            <a:custGeom>
              <a:avLst/>
              <a:gdLst>
                <a:gd name="G0" fmla="+- 58 0 0"/>
                <a:gd name="G1" fmla="+- 21600 0 0"/>
                <a:gd name="G2" fmla="+- 21600 0 0"/>
                <a:gd name="T0" fmla="*/ 0 w 15318"/>
                <a:gd name="T1" fmla="*/ 1 h 21600"/>
                <a:gd name="T2" fmla="*/ 15318 w 15318"/>
                <a:gd name="T3" fmla="*/ 6314 h 21600"/>
                <a:gd name="T4" fmla="*/ 58 w 15318"/>
                <a:gd name="T5" fmla="*/ 21600 h 21600"/>
              </a:gdLst>
              <a:ahLst/>
              <a:cxnLst>
                <a:cxn ang="0">
                  <a:pos x="T0" y="T1"/>
                </a:cxn>
                <a:cxn ang="0">
                  <a:pos x="T2" y="T3"/>
                </a:cxn>
                <a:cxn ang="0">
                  <a:pos x="T4" y="T5"/>
                </a:cxn>
              </a:cxnLst>
              <a:rect l="0" t="0" r="r" b="b"/>
              <a:pathLst>
                <a:path w="15318" h="21600" fill="none" extrusionOk="0">
                  <a:moveTo>
                    <a:pt x="-1" y="0"/>
                  </a:moveTo>
                  <a:cubicBezTo>
                    <a:pt x="19" y="0"/>
                    <a:pt x="38" y="0"/>
                    <a:pt x="58" y="0"/>
                  </a:cubicBezTo>
                  <a:cubicBezTo>
                    <a:pt x="5780" y="0"/>
                    <a:pt x="11268" y="2270"/>
                    <a:pt x="15318" y="6313"/>
                  </a:cubicBezTo>
                </a:path>
                <a:path w="15318" h="21600" stroke="0" extrusionOk="0">
                  <a:moveTo>
                    <a:pt x="-1" y="0"/>
                  </a:moveTo>
                  <a:cubicBezTo>
                    <a:pt x="19" y="0"/>
                    <a:pt x="38" y="0"/>
                    <a:pt x="58" y="0"/>
                  </a:cubicBezTo>
                  <a:cubicBezTo>
                    <a:pt x="5780" y="0"/>
                    <a:pt x="11268" y="2270"/>
                    <a:pt x="15318" y="6313"/>
                  </a:cubicBezTo>
                  <a:lnTo>
                    <a:pt x="58" y="21600"/>
                  </a:lnTo>
                  <a:close/>
                </a:path>
              </a:pathLst>
            </a:custGeom>
            <a:solidFill>
              <a:srgbClr val="000000"/>
            </a:solidFill>
            <a:ln w="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sp>
          <p:nvSpPr>
            <p:cNvPr id="28" name="Arc 30"/>
            <p:cNvSpPr>
              <a:spLocks/>
            </p:cNvSpPr>
            <p:nvPr/>
          </p:nvSpPr>
          <p:spPr bwMode="auto">
            <a:xfrm>
              <a:off x="86" y="25"/>
              <a:ext cx="87" cy="62"/>
            </a:xfrm>
            <a:custGeom>
              <a:avLst/>
              <a:gdLst>
                <a:gd name="G0" fmla="+- 0 0 0"/>
                <a:gd name="G1" fmla="+- 15382 0 0"/>
                <a:gd name="G2" fmla="+- 21600 0 0"/>
                <a:gd name="T0" fmla="*/ 15163 w 21600"/>
                <a:gd name="T1" fmla="*/ 0 h 15382"/>
                <a:gd name="T2" fmla="*/ 21600 w 21600"/>
                <a:gd name="T3" fmla="*/ 15382 h 15382"/>
                <a:gd name="T4" fmla="*/ 0 w 21600"/>
                <a:gd name="T5" fmla="*/ 15382 h 15382"/>
              </a:gdLst>
              <a:ahLst/>
              <a:cxnLst>
                <a:cxn ang="0">
                  <a:pos x="T0" y="T1"/>
                </a:cxn>
                <a:cxn ang="0">
                  <a:pos x="T2" y="T3"/>
                </a:cxn>
                <a:cxn ang="0">
                  <a:pos x="T4" y="T5"/>
                </a:cxn>
              </a:cxnLst>
              <a:rect l="0" t="0" r="r" b="b"/>
              <a:pathLst>
                <a:path w="21600" h="15382" fill="none" extrusionOk="0">
                  <a:moveTo>
                    <a:pt x="15163" y="-1"/>
                  </a:moveTo>
                  <a:cubicBezTo>
                    <a:pt x="19281" y="4058"/>
                    <a:pt x="21600" y="9599"/>
                    <a:pt x="21600" y="15382"/>
                  </a:cubicBezTo>
                </a:path>
                <a:path w="21600" h="15382" stroke="0" extrusionOk="0">
                  <a:moveTo>
                    <a:pt x="15163" y="-1"/>
                  </a:moveTo>
                  <a:cubicBezTo>
                    <a:pt x="19281" y="4058"/>
                    <a:pt x="21600" y="9599"/>
                    <a:pt x="21600" y="15382"/>
                  </a:cubicBezTo>
                  <a:lnTo>
                    <a:pt x="0" y="15382"/>
                  </a:lnTo>
                  <a:close/>
                </a:path>
              </a:pathLst>
            </a:custGeom>
            <a:solidFill>
              <a:srgbClr val="000000"/>
            </a:solidFill>
            <a:ln w="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sp>
          <p:nvSpPr>
            <p:cNvPr id="29" name="Arc 31"/>
            <p:cNvSpPr>
              <a:spLocks/>
            </p:cNvSpPr>
            <p:nvPr/>
          </p:nvSpPr>
          <p:spPr bwMode="auto">
            <a:xfrm>
              <a:off x="86" y="87"/>
              <a:ext cx="87" cy="61"/>
            </a:xfrm>
            <a:custGeom>
              <a:avLst/>
              <a:gdLst>
                <a:gd name="G0" fmla="+- 0 0 0"/>
                <a:gd name="G1" fmla="+- 29 0 0"/>
                <a:gd name="G2" fmla="+- 21600 0 0"/>
                <a:gd name="T0" fmla="*/ 21599 w 21600"/>
                <a:gd name="T1" fmla="*/ 0 h 15266"/>
                <a:gd name="T2" fmla="*/ 15309 w 21600"/>
                <a:gd name="T3" fmla="*/ 15266 h 15266"/>
                <a:gd name="T4" fmla="*/ 0 w 21600"/>
                <a:gd name="T5" fmla="*/ 29 h 15266"/>
              </a:gdLst>
              <a:ahLst/>
              <a:cxnLst>
                <a:cxn ang="0">
                  <a:pos x="T0" y="T1"/>
                </a:cxn>
                <a:cxn ang="0">
                  <a:pos x="T2" y="T3"/>
                </a:cxn>
                <a:cxn ang="0">
                  <a:pos x="T4" y="T5"/>
                </a:cxn>
              </a:cxnLst>
              <a:rect l="0" t="0" r="r" b="b"/>
              <a:pathLst>
                <a:path w="21600" h="15266" fill="none" extrusionOk="0">
                  <a:moveTo>
                    <a:pt x="21599" y="-1"/>
                  </a:moveTo>
                  <a:cubicBezTo>
                    <a:pt x="21599" y="9"/>
                    <a:pt x="21600" y="19"/>
                    <a:pt x="21600" y="29"/>
                  </a:cubicBezTo>
                  <a:cubicBezTo>
                    <a:pt x="21600" y="5740"/>
                    <a:pt x="19338" y="11218"/>
                    <a:pt x="15309" y="15266"/>
                  </a:cubicBezTo>
                </a:path>
                <a:path w="21600" h="15266" stroke="0" extrusionOk="0">
                  <a:moveTo>
                    <a:pt x="21599" y="-1"/>
                  </a:moveTo>
                  <a:cubicBezTo>
                    <a:pt x="21599" y="9"/>
                    <a:pt x="21600" y="19"/>
                    <a:pt x="21600" y="29"/>
                  </a:cubicBezTo>
                  <a:cubicBezTo>
                    <a:pt x="21600" y="5740"/>
                    <a:pt x="19338" y="11218"/>
                    <a:pt x="15309" y="15266"/>
                  </a:cubicBezTo>
                  <a:lnTo>
                    <a:pt x="0" y="29"/>
                  </a:lnTo>
                  <a:close/>
                </a:path>
              </a:pathLst>
            </a:custGeom>
            <a:solidFill>
              <a:srgbClr val="000000"/>
            </a:solidFill>
            <a:ln w="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sp>
          <p:nvSpPr>
            <p:cNvPr id="30" name="Arc 32"/>
            <p:cNvSpPr>
              <a:spLocks/>
            </p:cNvSpPr>
            <p:nvPr/>
          </p:nvSpPr>
          <p:spPr bwMode="auto">
            <a:xfrm>
              <a:off x="86" y="87"/>
              <a:ext cx="62" cy="86"/>
            </a:xfrm>
            <a:custGeom>
              <a:avLst/>
              <a:gdLst>
                <a:gd name="G0" fmla="+- 0 0 0"/>
                <a:gd name="G1" fmla="+- 0 0 0"/>
                <a:gd name="G2" fmla="+- 21600 0 0"/>
                <a:gd name="T0" fmla="*/ 15386 w 15386"/>
                <a:gd name="T1" fmla="*/ 15159 h 21599"/>
                <a:gd name="T2" fmla="*/ 28 w 15386"/>
                <a:gd name="T3" fmla="*/ 21599 h 21599"/>
                <a:gd name="T4" fmla="*/ 0 w 15386"/>
                <a:gd name="T5" fmla="*/ 0 h 21599"/>
              </a:gdLst>
              <a:ahLst/>
              <a:cxnLst>
                <a:cxn ang="0">
                  <a:pos x="T0" y="T1"/>
                </a:cxn>
                <a:cxn ang="0">
                  <a:pos x="T2" y="T3"/>
                </a:cxn>
                <a:cxn ang="0">
                  <a:pos x="T4" y="T5"/>
                </a:cxn>
              </a:cxnLst>
              <a:rect l="0" t="0" r="r" b="b"/>
              <a:pathLst>
                <a:path w="15386" h="21599" fill="none" extrusionOk="0">
                  <a:moveTo>
                    <a:pt x="15386" y="15159"/>
                  </a:moveTo>
                  <a:cubicBezTo>
                    <a:pt x="11333" y="19273"/>
                    <a:pt x="5802" y="21592"/>
                    <a:pt x="28" y="21599"/>
                  </a:cubicBezTo>
                </a:path>
                <a:path w="15386" h="21599" stroke="0" extrusionOk="0">
                  <a:moveTo>
                    <a:pt x="15386" y="15159"/>
                  </a:moveTo>
                  <a:cubicBezTo>
                    <a:pt x="11333" y="19273"/>
                    <a:pt x="5802" y="21592"/>
                    <a:pt x="28" y="21599"/>
                  </a:cubicBezTo>
                  <a:lnTo>
                    <a:pt x="0" y="0"/>
                  </a:lnTo>
                  <a:close/>
                </a:path>
              </a:pathLst>
            </a:custGeom>
            <a:solidFill>
              <a:srgbClr val="000000"/>
            </a:solidFill>
            <a:ln w="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sp>
          <p:nvSpPr>
            <p:cNvPr id="31" name="Arc 33"/>
            <p:cNvSpPr>
              <a:spLocks/>
            </p:cNvSpPr>
            <p:nvPr/>
          </p:nvSpPr>
          <p:spPr bwMode="auto">
            <a:xfrm flipH="1">
              <a:off x="25" y="87"/>
              <a:ext cx="62" cy="86"/>
            </a:xfrm>
            <a:custGeom>
              <a:avLst/>
              <a:gdLst>
                <a:gd name="G0" fmla="+- 0 0 0"/>
                <a:gd name="G1" fmla="+- 0 0 0"/>
                <a:gd name="G2" fmla="+- 21600 0 0"/>
                <a:gd name="T0" fmla="*/ 15386 w 15386"/>
                <a:gd name="T1" fmla="*/ 15159 h 21599"/>
                <a:gd name="T2" fmla="*/ 28 w 15386"/>
                <a:gd name="T3" fmla="*/ 21599 h 21599"/>
                <a:gd name="T4" fmla="*/ 0 w 15386"/>
                <a:gd name="T5" fmla="*/ 0 h 21599"/>
              </a:gdLst>
              <a:ahLst/>
              <a:cxnLst>
                <a:cxn ang="0">
                  <a:pos x="T0" y="T1"/>
                </a:cxn>
                <a:cxn ang="0">
                  <a:pos x="T2" y="T3"/>
                </a:cxn>
                <a:cxn ang="0">
                  <a:pos x="T4" y="T5"/>
                </a:cxn>
              </a:cxnLst>
              <a:rect l="0" t="0" r="r" b="b"/>
              <a:pathLst>
                <a:path w="15386" h="21599" fill="none" extrusionOk="0">
                  <a:moveTo>
                    <a:pt x="15386" y="15159"/>
                  </a:moveTo>
                  <a:cubicBezTo>
                    <a:pt x="11333" y="19273"/>
                    <a:pt x="5802" y="21592"/>
                    <a:pt x="28" y="21599"/>
                  </a:cubicBezTo>
                </a:path>
                <a:path w="15386" h="21599" stroke="0" extrusionOk="0">
                  <a:moveTo>
                    <a:pt x="15386" y="15159"/>
                  </a:moveTo>
                  <a:cubicBezTo>
                    <a:pt x="11333" y="19273"/>
                    <a:pt x="5802" y="21592"/>
                    <a:pt x="28" y="21599"/>
                  </a:cubicBezTo>
                  <a:lnTo>
                    <a:pt x="0" y="0"/>
                  </a:lnTo>
                  <a:close/>
                </a:path>
              </a:pathLst>
            </a:custGeom>
            <a:solidFill>
              <a:srgbClr val="000000"/>
            </a:solidFill>
            <a:ln w="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grpSp>
    </p:spTree>
    <p:extLst>
      <p:ext uri="{BB962C8B-B14F-4D97-AF65-F5344CB8AC3E}">
        <p14:creationId xmlns:p14="http://schemas.microsoft.com/office/powerpoint/2010/main" val="236548685"/>
      </p:ext>
    </p:extLst>
  </p:cSld>
  <p:clrMapOvr>
    <a:masterClrMapping/>
  </p:clrMapOvr>
  <mc:AlternateContent xmlns:mc="http://schemas.openxmlformats.org/markup-compatibility/2006">
    <mc:Choice xmlns:p14="http://schemas.microsoft.com/office/powerpoint/2010/main" Requires="p14">
      <p:transition p14:dur="250">
        <p14:reveal/>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childTnLst>
                                </p:cTn>
                              </p:par>
                              <p:par>
                                <p:cTn id="8" presetID="10" presetClass="entr" presetSubtype="0" fill="hold" grpId="0" nodeType="withEffect">
                                  <p:stCondLst>
                                    <p:cond delay="25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1000"/>
                                        <p:tgtEl>
                                          <p:spTgt spid="16"/>
                                        </p:tgtEl>
                                      </p:cBhvr>
                                    </p:animEffect>
                                  </p:childTnLst>
                                </p:cTn>
                              </p:par>
                              <p:par>
                                <p:cTn id="11" presetID="10" presetClass="entr" presetSubtype="0" fill="hold" grpId="0" nodeType="withEffect">
                                  <p:stCondLst>
                                    <p:cond delay="25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1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76780" t="78172" r="18395" b="12686"/>
          <a:stretch/>
        </p:blipFill>
        <p:spPr bwMode="auto">
          <a:xfrm>
            <a:off x="8188658" y="4384319"/>
            <a:ext cx="955343" cy="7639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9"/>
          <p:cNvPicPr>
            <a:picLocks noChangeAspect="1"/>
          </p:cNvPicPr>
          <p:nvPr/>
        </p:nvPicPr>
        <p:blipFill>
          <a:blip r:embed="rId4"/>
          <a:stretch>
            <a:fillRect/>
          </a:stretch>
        </p:blipFill>
        <p:spPr>
          <a:xfrm>
            <a:off x="7490253" y="66268"/>
            <a:ext cx="1603348" cy="291323"/>
          </a:xfrm>
          <a:prstGeom prst="rect">
            <a:avLst/>
          </a:prstGeom>
        </p:spPr>
      </p:pic>
      <p:pic>
        <p:nvPicPr>
          <p:cNvPr id="8" name="Picture 1" descr="t03-02.jpg"/>
          <p:cNvPicPr>
            <a:picLocks noChangeAspect="1"/>
          </p:cNvPicPr>
          <p:nvPr/>
        </p:nvPicPr>
        <p:blipFill rotWithShape="1">
          <a:blip r:embed="rId5">
            <a:extLst>
              <a:ext uri="{28A0092B-C50C-407E-A947-70E740481C1C}">
                <a14:useLocalDpi xmlns:a14="http://schemas.microsoft.com/office/drawing/2010/main" val="0"/>
              </a:ext>
            </a:extLst>
          </a:blip>
          <a:srcRect r="91368" b="84909"/>
          <a:stretch/>
        </p:blipFill>
        <p:spPr>
          <a:xfrm>
            <a:off x="0" y="0"/>
            <a:ext cx="789296" cy="776935"/>
          </a:xfrm>
          <a:prstGeom prst="rect">
            <a:avLst/>
          </a:prstGeom>
        </p:spPr>
      </p:pic>
      <p:sp>
        <p:nvSpPr>
          <p:cNvPr id="6" name="CaixaDeTexto 5"/>
          <p:cNvSpPr txBox="1"/>
          <p:nvPr/>
        </p:nvSpPr>
        <p:spPr>
          <a:xfrm>
            <a:off x="2039091" y="300128"/>
            <a:ext cx="184731" cy="369332"/>
          </a:xfrm>
          <a:prstGeom prst="rect">
            <a:avLst/>
          </a:prstGeom>
          <a:noFill/>
        </p:spPr>
        <p:txBody>
          <a:bodyPr wrap="none" rtlCol="0">
            <a:spAutoFit/>
          </a:bodyPr>
          <a:lstStyle/>
          <a:p>
            <a:endParaRPr lang="pt-BR" dirty="0"/>
          </a:p>
        </p:txBody>
      </p:sp>
      <p:sp>
        <p:nvSpPr>
          <p:cNvPr id="9" name="Title 1"/>
          <p:cNvSpPr txBox="1">
            <a:spLocks/>
          </p:cNvSpPr>
          <p:nvPr/>
        </p:nvSpPr>
        <p:spPr>
          <a:xfrm>
            <a:off x="28248" y="111668"/>
            <a:ext cx="7754134" cy="465398"/>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pt-BR" sz="2000" b="1" dirty="0">
                <a:solidFill>
                  <a:schemeClr val="tx2"/>
                </a:solidFill>
                <a:latin typeface="Arial" pitchFamily="34" charset="0"/>
                <a:cs typeface="Arial" pitchFamily="34" charset="0"/>
              </a:rPr>
              <a:t>9</a:t>
            </a:r>
            <a:r>
              <a:rPr lang="pt-BR" sz="2000" b="1" dirty="0" smtClean="0">
                <a:solidFill>
                  <a:schemeClr val="tx2"/>
                </a:solidFill>
                <a:latin typeface="Arial" pitchFamily="34" charset="0"/>
                <a:cs typeface="Arial" pitchFamily="34" charset="0"/>
              </a:rPr>
              <a:t>. </a:t>
            </a:r>
            <a:r>
              <a:rPr lang="pt-BR" sz="2000" b="1" dirty="0">
                <a:solidFill>
                  <a:schemeClr val="tx2"/>
                </a:solidFill>
                <a:latin typeface="Arial" pitchFamily="34" charset="0"/>
                <a:cs typeface="Arial" pitchFamily="34" charset="0"/>
              </a:rPr>
              <a:t>Projeto: Gravação (Nice)- Elektro, TAM, Vivo e Bradesco </a:t>
            </a:r>
          </a:p>
        </p:txBody>
      </p:sp>
      <p:sp>
        <p:nvSpPr>
          <p:cNvPr id="12" name="Retângulo 11"/>
          <p:cNvSpPr/>
          <p:nvPr/>
        </p:nvSpPr>
        <p:spPr>
          <a:xfrm>
            <a:off x="221121" y="1862511"/>
            <a:ext cx="2716382" cy="2943951"/>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0" lvl="1" algn="ctr">
              <a:spcBef>
                <a:spcPts val="200"/>
              </a:spcBef>
              <a:spcAft>
                <a:spcPts val="200"/>
              </a:spcAft>
            </a:pPr>
            <a:r>
              <a:rPr lang="pt-BR" sz="1400" b="1" dirty="0">
                <a:solidFill>
                  <a:schemeClr val="tx1">
                    <a:lumMod val="95000"/>
                    <a:lumOff val="5000"/>
                  </a:schemeClr>
                </a:solidFill>
              </a:rPr>
              <a:t>Últimas Realizações</a:t>
            </a:r>
            <a:endParaRPr lang="pt-BR" sz="1200" dirty="0">
              <a:solidFill>
                <a:schemeClr val="tx1">
                  <a:lumMod val="95000"/>
                  <a:lumOff val="5000"/>
                </a:schemeClr>
              </a:solidFill>
            </a:endParaRPr>
          </a:p>
          <a:p>
            <a:pPr marL="171450" lvl="1" indent="-171450">
              <a:spcBef>
                <a:spcPts val="200"/>
              </a:spcBef>
              <a:spcAft>
                <a:spcPts val="200"/>
              </a:spcAft>
              <a:buFont typeface="Arial" panose="020B0604020202020204" pitchFamily="34" charset="0"/>
              <a:buChar char="•"/>
            </a:pPr>
            <a:r>
              <a:rPr lang="pt-BR" sz="1200" b="1" dirty="0" smtClean="0">
                <a:solidFill>
                  <a:schemeClr val="tx1">
                    <a:lumMod val="95000"/>
                    <a:lumOff val="5000"/>
                  </a:schemeClr>
                </a:solidFill>
              </a:rPr>
              <a:t>SC 228/000991 - 5</a:t>
            </a:r>
            <a:r>
              <a:rPr lang="pt-PT" sz="1200" b="1" dirty="0" smtClean="0">
                <a:solidFill>
                  <a:schemeClr val="tx1">
                    <a:lumMod val="95000"/>
                    <a:lumOff val="5000"/>
                  </a:schemeClr>
                </a:solidFill>
              </a:rPr>
              <a:t> </a:t>
            </a:r>
            <a:r>
              <a:rPr lang="pt-PT" sz="1200" b="1" dirty="0">
                <a:solidFill>
                  <a:schemeClr val="tx1">
                    <a:lumMod val="95000"/>
                    <a:lumOff val="5000"/>
                  </a:schemeClr>
                </a:solidFill>
              </a:rPr>
              <a:t>licenças Win Server 2012 R2 Standard</a:t>
            </a:r>
            <a:r>
              <a:rPr lang="pt-PT" sz="1200" b="1" dirty="0" smtClean="0">
                <a:solidFill>
                  <a:schemeClr val="tx1">
                    <a:lumMod val="95000"/>
                    <a:lumOff val="5000"/>
                  </a:schemeClr>
                </a:solidFill>
              </a:rPr>
              <a:t>.</a:t>
            </a:r>
            <a:endParaRPr lang="pt-BR" sz="1200" b="1" dirty="0">
              <a:solidFill>
                <a:schemeClr val="tx1">
                  <a:lumMod val="95000"/>
                  <a:lumOff val="5000"/>
                </a:schemeClr>
              </a:solidFill>
            </a:endParaRPr>
          </a:p>
          <a:p>
            <a:pPr marL="171450" lvl="1" indent="-171450">
              <a:spcBef>
                <a:spcPts val="200"/>
              </a:spcBef>
              <a:spcAft>
                <a:spcPts val="200"/>
              </a:spcAft>
              <a:buFont typeface="Wingdings" panose="05000000000000000000" pitchFamily="2" charset="2"/>
              <a:buChar char="ü"/>
            </a:pPr>
            <a:r>
              <a:rPr lang="pt-PT" sz="1200" dirty="0">
                <a:solidFill>
                  <a:schemeClr val="tx1">
                    <a:lumMod val="95000"/>
                    <a:lumOff val="5000"/>
                  </a:schemeClr>
                </a:solidFill>
              </a:rPr>
              <a:t>Migração dos 3 </a:t>
            </a:r>
            <a:r>
              <a:rPr lang="pt-PT" sz="1200" dirty="0" smtClean="0">
                <a:solidFill>
                  <a:schemeClr val="tx1">
                    <a:lumMod val="95000"/>
                    <a:lumOff val="5000"/>
                  </a:schemeClr>
                </a:solidFill>
              </a:rPr>
              <a:t>servidores </a:t>
            </a:r>
            <a:r>
              <a:rPr lang="pt-PT" sz="1200" dirty="0">
                <a:solidFill>
                  <a:schemeClr val="tx1">
                    <a:lumMod val="95000"/>
                    <a:lumOff val="5000"/>
                  </a:schemeClr>
                </a:solidFill>
              </a:rPr>
              <a:t>da TAM para o </a:t>
            </a:r>
            <a:r>
              <a:rPr lang="pt-PT" sz="1200" dirty="0" smtClean="0">
                <a:solidFill>
                  <a:schemeClr val="tx1">
                    <a:lumMod val="95000"/>
                    <a:lumOff val="5000"/>
                  </a:schemeClr>
                </a:solidFill>
              </a:rPr>
              <a:t>CPD (Rack, eletrica, rede) </a:t>
            </a:r>
            <a:r>
              <a:rPr lang="pt-PT" sz="1200" dirty="0">
                <a:solidFill>
                  <a:schemeClr val="tx1">
                    <a:lumMod val="95000"/>
                    <a:lumOff val="5000"/>
                  </a:schemeClr>
                </a:solidFill>
              </a:rPr>
              <a:t>do site Alegria.</a:t>
            </a:r>
            <a:r>
              <a:rPr lang="pt-BR" sz="1200" dirty="0">
                <a:solidFill>
                  <a:schemeClr val="tx1">
                    <a:lumMod val="95000"/>
                    <a:lumOff val="5000"/>
                  </a:schemeClr>
                </a:solidFill>
              </a:rPr>
              <a:t> </a:t>
            </a:r>
            <a:endParaRPr lang="pt-BR" sz="1200" dirty="0" smtClean="0">
              <a:solidFill>
                <a:schemeClr val="tx1">
                  <a:lumMod val="95000"/>
                  <a:lumOff val="5000"/>
                </a:schemeClr>
              </a:solidFill>
            </a:endParaRPr>
          </a:p>
          <a:p>
            <a:pPr marL="0" lvl="1">
              <a:spcBef>
                <a:spcPts val="200"/>
              </a:spcBef>
              <a:spcAft>
                <a:spcPts val="200"/>
              </a:spcAft>
            </a:pPr>
            <a:endParaRPr lang="pt-BR" sz="1200" dirty="0" smtClean="0">
              <a:solidFill>
                <a:schemeClr val="tx1">
                  <a:lumMod val="95000"/>
                  <a:lumOff val="5000"/>
                </a:schemeClr>
              </a:solidFill>
            </a:endParaRPr>
          </a:p>
        </p:txBody>
      </p:sp>
      <p:sp>
        <p:nvSpPr>
          <p:cNvPr id="15" name="Retângulo de cantos arredondados 14"/>
          <p:cNvSpPr/>
          <p:nvPr/>
        </p:nvSpPr>
        <p:spPr>
          <a:xfrm>
            <a:off x="158943" y="743298"/>
            <a:ext cx="3064339" cy="997400"/>
          </a:xfrm>
          <a:prstGeom prst="roundRect">
            <a:avLst/>
          </a:prstGeom>
          <a:solidFill>
            <a:srgbClr val="FFC000"/>
          </a:soli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r>
              <a:rPr lang="pt-BR" sz="1400" b="1" dirty="0">
                <a:effectLst>
                  <a:outerShdw blurRad="38100" dist="38100" dir="2700000" algn="tl">
                    <a:srgbClr val="000000">
                      <a:alpha val="43137"/>
                    </a:srgbClr>
                  </a:outerShdw>
                </a:effectLst>
              </a:rPr>
              <a:t>Projeto: </a:t>
            </a:r>
            <a:r>
              <a:rPr lang="pt-BR" sz="1400" b="1" dirty="0" smtClean="0">
                <a:effectLst>
                  <a:outerShdw blurRad="38100" dist="38100" dir="2700000" algn="tl">
                    <a:srgbClr val="000000">
                      <a:alpha val="43137"/>
                    </a:srgbClr>
                  </a:outerShdw>
                </a:effectLst>
              </a:rPr>
              <a:t>Gravação </a:t>
            </a:r>
            <a:r>
              <a:rPr lang="pt-BR" sz="1400" b="1" dirty="0">
                <a:effectLst>
                  <a:outerShdw blurRad="38100" dist="38100" dir="2700000" algn="tl">
                    <a:srgbClr val="000000">
                      <a:alpha val="43137"/>
                    </a:srgbClr>
                  </a:outerShdw>
                </a:effectLst>
              </a:rPr>
              <a:t>(NICE</a:t>
            </a:r>
            <a:r>
              <a:rPr lang="pt-BR" sz="1400" b="1" dirty="0" smtClean="0">
                <a:effectLst>
                  <a:outerShdw blurRad="38100" dist="38100" dir="2700000" algn="tl">
                    <a:srgbClr val="000000">
                      <a:alpha val="43137"/>
                    </a:srgbClr>
                  </a:outerShdw>
                </a:effectLst>
              </a:rPr>
              <a:t>) </a:t>
            </a:r>
          </a:p>
          <a:p>
            <a:r>
              <a:rPr lang="pt-BR" sz="1200" i="1" dirty="0" smtClean="0"/>
              <a:t>Data Inicio: 02-05-2016</a:t>
            </a:r>
          </a:p>
          <a:p>
            <a:r>
              <a:rPr lang="pt-BR" sz="1200" i="1" dirty="0" smtClean="0"/>
              <a:t>Data Conclusão:</a:t>
            </a:r>
            <a:r>
              <a:rPr lang="pt-BR" sz="1200" i="1" strike="sngStrike" dirty="0" smtClean="0"/>
              <a:t> </a:t>
            </a:r>
            <a:r>
              <a:rPr lang="pt-BR" sz="1200" i="1" dirty="0" smtClean="0"/>
              <a:t>13-07-2016</a:t>
            </a:r>
          </a:p>
          <a:p>
            <a:r>
              <a:rPr lang="pt-BR" sz="1200" i="1" dirty="0" smtClean="0"/>
              <a:t>Progresso: 21%</a:t>
            </a:r>
          </a:p>
          <a:p>
            <a:r>
              <a:rPr lang="pt-BR" sz="1200" i="1" dirty="0" smtClean="0"/>
              <a:t>PM</a:t>
            </a:r>
            <a:r>
              <a:rPr lang="pt-BR" sz="1200" i="1" dirty="0"/>
              <a:t>: </a:t>
            </a:r>
            <a:r>
              <a:rPr lang="pt-BR" sz="1200" i="1" dirty="0" smtClean="0"/>
              <a:t>Luis Marçal</a:t>
            </a:r>
          </a:p>
        </p:txBody>
      </p:sp>
      <p:sp>
        <p:nvSpPr>
          <p:cNvPr id="16" name="Retângulo 15"/>
          <p:cNvSpPr/>
          <p:nvPr/>
        </p:nvSpPr>
        <p:spPr>
          <a:xfrm>
            <a:off x="3112569" y="1862511"/>
            <a:ext cx="2716382" cy="2943951"/>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0" lvl="1" algn="ctr">
              <a:spcBef>
                <a:spcPts val="200"/>
              </a:spcBef>
              <a:spcAft>
                <a:spcPts val="200"/>
              </a:spcAft>
            </a:pPr>
            <a:r>
              <a:rPr lang="pt-BR" sz="1400" b="1" dirty="0">
                <a:solidFill>
                  <a:schemeClr val="tx1">
                    <a:lumMod val="95000"/>
                    <a:lumOff val="5000"/>
                  </a:schemeClr>
                </a:solidFill>
              </a:rPr>
              <a:t>Próximas </a:t>
            </a:r>
            <a:r>
              <a:rPr lang="pt-BR" sz="1400" b="1" dirty="0" smtClean="0">
                <a:solidFill>
                  <a:schemeClr val="tx1">
                    <a:lumMod val="95000"/>
                    <a:lumOff val="5000"/>
                  </a:schemeClr>
                </a:solidFill>
              </a:rPr>
              <a:t>Ações</a:t>
            </a:r>
            <a:endParaRPr lang="pt-PT" sz="1200" dirty="0" smtClean="0">
              <a:solidFill>
                <a:schemeClr val="tx1">
                  <a:lumMod val="95000"/>
                  <a:lumOff val="5000"/>
                </a:schemeClr>
              </a:solidFill>
            </a:endParaRPr>
          </a:p>
          <a:p>
            <a:pPr marL="171450" lvl="1" indent="-171450">
              <a:spcBef>
                <a:spcPts val="200"/>
              </a:spcBef>
              <a:spcAft>
                <a:spcPts val="200"/>
              </a:spcAft>
              <a:buFont typeface="Arial" panose="020B0604020202020204" pitchFamily="34" charset="0"/>
              <a:buChar char="•"/>
            </a:pPr>
            <a:r>
              <a:rPr lang="pt-BR" sz="1200" dirty="0">
                <a:solidFill>
                  <a:schemeClr val="tx1">
                    <a:lumMod val="95000"/>
                    <a:lumOff val="5000"/>
                  </a:schemeClr>
                </a:solidFill>
              </a:rPr>
              <a:t>Receber lista de ramais e </a:t>
            </a:r>
            <a:r>
              <a:rPr lang="pt-BR" sz="1200" dirty="0" err="1" smtClean="0">
                <a:solidFill>
                  <a:schemeClr val="tx1">
                    <a:lumMod val="95000"/>
                    <a:lumOff val="5000"/>
                  </a:schemeClr>
                </a:solidFill>
              </a:rPr>
              <a:t>IPs</a:t>
            </a:r>
            <a:r>
              <a:rPr lang="pt-BR" sz="1200" dirty="0" smtClean="0">
                <a:solidFill>
                  <a:schemeClr val="tx1">
                    <a:lumMod val="95000"/>
                    <a:lumOff val="5000"/>
                  </a:schemeClr>
                </a:solidFill>
              </a:rPr>
              <a:t> </a:t>
            </a:r>
            <a:r>
              <a:rPr lang="pt-BR" sz="1200" dirty="0">
                <a:solidFill>
                  <a:schemeClr val="tx1">
                    <a:lumMod val="95000"/>
                    <a:lumOff val="5000"/>
                  </a:schemeClr>
                </a:solidFill>
              </a:rPr>
              <a:t>da Operação TAM e Bradesco </a:t>
            </a:r>
            <a:r>
              <a:rPr lang="pt-BR" sz="1200" dirty="0" smtClean="0">
                <a:solidFill>
                  <a:schemeClr val="tx1">
                    <a:lumMod val="95000"/>
                    <a:lumOff val="5000"/>
                  </a:schemeClr>
                </a:solidFill>
              </a:rPr>
              <a:t>Alegria até sexta feira</a:t>
            </a:r>
            <a:r>
              <a:rPr lang="pt-BR" sz="1200" dirty="0" smtClean="0">
                <a:solidFill>
                  <a:schemeClr val="tx1">
                    <a:lumMod val="95000"/>
                    <a:lumOff val="5000"/>
                  </a:schemeClr>
                </a:solidFill>
              </a:rPr>
              <a:t>.</a:t>
            </a:r>
          </a:p>
          <a:p>
            <a:pPr marL="171450" lvl="1" indent="-171450">
              <a:spcBef>
                <a:spcPts val="200"/>
              </a:spcBef>
              <a:spcAft>
                <a:spcPts val="200"/>
              </a:spcAft>
              <a:buFont typeface="Arial" panose="020B0604020202020204" pitchFamily="34" charset="0"/>
              <a:buChar char="•"/>
            </a:pPr>
            <a:r>
              <a:rPr lang="pt-BR" sz="1200" dirty="0">
                <a:solidFill>
                  <a:schemeClr val="tx1">
                    <a:lumMod val="95000"/>
                    <a:lumOff val="5000"/>
                  </a:schemeClr>
                </a:solidFill>
              </a:rPr>
              <a:t>Configuração do </a:t>
            </a:r>
            <a:r>
              <a:rPr lang="pt-BR" sz="1200" dirty="0" err="1" smtClean="0">
                <a:solidFill>
                  <a:schemeClr val="tx1">
                    <a:lumMod val="95000"/>
                    <a:lumOff val="5000"/>
                  </a:schemeClr>
                </a:solidFill>
              </a:rPr>
              <a:t>extreame</a:t>
            </a:r>
            <a:endParaRPr lang="pt-BR" sz="1200" dirty="0" smtClean="0">
              <a:solidFill>
                <a:schemeClr val="tx1">
                  <a:lumMod val="95000"/>
                  <a:lumOff val="5000"/>
                </a:schemeClr>
              </a:solidFill>
            </a:endParaRPr>
          </a:p>
          <a:p>
            <a:pPr marL="171450" lvl="1" indent="-171450">
              <a:spcBef>
                <a:spcPts val="200"/>
              </a:spcBef>
              <a:spcAft>
                <a:spcPts val="200"/>
              </a:spcAft>
              <a:buFont typeface="Arial" panose="020B0604020202020204" pitchFamily="34" charset="0"/>
              <a:buChar char="•"/>
            </a:pPr>
            <a:r>
              <a:rPr lang="pt-BR" sz="1200" dirty="0">
                <a:solidFill>
                  <a:schemeClr val="tx1">
                    <a:lumMod val="95000"/>
                    <a:lumOff val="5000"/>
                  </a:schemeClr>
                </a:solidFill>
              </a:rPr>
              <a:t>Configuração de ramais no </a:t>
            </a:r>
            <a:r>
              <a:rPr lang="pt-BR" sz="1200" dirty="0" smtClean="0">
                <a:solidFill>
                  <a:schemeClr val="tx1">
                    <a:lumMod val="95000"/>
                    <a:lumOff val="5000"/>
                  </a:schemeClr>
                </a:solidFill>
              </a:rPr>
              <a:t>gravador.</a:t>
            </a:r>
          </a:p>
          <a:p>
            <a:pPr marL="171450" lvl="1" indent="-171450">
              <a:spcBef>
                <a:spcPts val="200"/>
              </a:spcBef>
              <a:spcAft>
                <a:spcPts val="200"/>
              </a:spcAft>
              <a:buFont typeface="Arial" panose="020B0604020202020204" pitchFamily="34" charset="0"/>
              <a:buChar char="•"/>
            </a:pPr>
            <a:r>
              <a:rPr lang="pt-BR" sz="1200" dirty="0" smtClean="0">
                <a:solidFill>
                  <a:schemeClr val="tx1">
                    <a:lumMod val="95000"/>
                    <a:lumOff val="5000"/>
                  </a:schemeClr>
                </a:solidFill>
              </a:rPr>
              <a:t>Homologação.</a:t>
            </a:r>
          </a:p>
          <a:p>
            <a:pPr marL="171450" lvl="1" indent="-171450">
              <a:spcBef>
                <a:spcPts val="200"/>
              </a:spcBef>
              <a:spcAft>
                <a:spcPts val="200"/>
              </a:spcAft>
              <a:buFont typeface="Arial" panose="020B0604020202020204" pitchFamily="34" charset="0"/>
              <a:buChar char="•"/>
            </a:pPr>
            <a:r>
              <a:rPr lang="pt-BR" sz="1200" b="1" dirty="0">
                <a:solidFill>
                  <a:schemeClr val="tx1">
                    <a:lumMod val="95000"/>
                    <a:lumOff val="5000"/>
                  </a:schemeClr>
                </a:solidFill>
              </a:rPr>
              <a:t>Data objetivo migração da TAM,  final de Junho</a:t>
            </a:r>
            <a:r>
              <a:rPr lang="pt-BR" sz="1200" dirty="0" smtClean="0">
                <a:solidFill>
                  <a:schemeClr val="tx1">
                    <a:lumMod val="95000"/>
                    <a:lumOff val="5000"/>
                  </a:schemeClr>
                </a:solidFill>
              </a:rPr>
              <a:t>.</a:t>
            </a:r>
            <a:endParaRPr lang="pt-BR" sz="1200" dirty="0">
              <a:solidFill>
                <a:schemeClr val="tx1">
                  <a:lumMod val="95000"/>
                  <a:lumOff val="5000"/>
                </a:schemeClr>
              </a:solidFill>
            </a:endParaRPr>
          </a:p>
          <a:p>
            <a:pPr marL="171450" lvl="1" indent="-171450">
              <a:spcBef>
                <a:spcPts val="200"/>
              </a:spcBef>
              <a:spcAft>
                <a:spcPts val="200"/>
              </a:spcAft>
              <a:buFont typeface="Arial" panose="020B0604020202020204" pitchFamily="34" charset="0"/>
              <a:buChar char="•"/>
            </a:pPr>
            <a:r>
              <a:rPr lang="pt-BR" sz="1200" dirty="0" smtClean="0">
                <a:solidFill>
                  <a:schemeClr val="tx1">
                    <a:lumMod val="95000"/>
                    <a:lumOff val="5000"/>
                  </a:schemeClr>
                </a:solidFill>
              </a:rPr>
              <a:t>Transporte de um servidor para Lapa </a:t>
            </a:r>
            <a:r>
              <a:rPr lang="pt-BR" sz="1200" dirty="0">
                <a:solidFill>
                  <a:schemeClr val="tx1">
                    <a:lumMod val="95000"/>
                    <a:lumOff val="5000"/>
                  </a:schemeClr>
                </a:solidFill>
              </a:rPr>
              <a:t>e colocação do servidor no CPD (rack, elétrica, rede</a:t>
            </a:r>
            <a:r>
              <a:rPr lang="pt-BR" sz="1200" dirty="0" smtClean="0">
                <a:solidFill>
                  <a:schemeClr val="tx1">
                    <a:lumMod val="95000"/>
                    <a:lumOff val="5000"/>
                  </a:schemeClr>
                </a:solidFill>
              </a:rPr>
              <a:t>).</a:t>
            </a:r>
          </a:p>
          <a:p>
            <a:pPr marL="0" lvl="1">
              <a:spcBef>
                <a:spcPts val="200"/>
              </a:spcBef>
              <a:spcAft>
                <a:spcPts val="200"/>
              </a:spcAft>
            </a:pPr>
            <a:endParaRPr lang="pt-BR" sz="1200" dirty="0">
              <a:solidFill>
                <a:schemeClr val="tx1">
                  <a:lumMod val="95000"/>
                  <a:lumOff val="5000"/>
                </a:schemeClr>
              </a:solidFill>
            </a:endParaRPr>
          </a:p>
        </p:txBody>
      </p:sp>
      <p:sp>
        <p:nvSpPr>
          <p:cNvPr id="17" name="Retângulo 16"/>
          <p:cNvSpPr/>
          <p:nvPr/>
        </p:nvSpPr>
        <p:spPr>
          <a:xfrm>
            <a:off x="5949947" y="1887789"/>
            <a:ext cx="2716382" cy="2918673"/>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0" lvl="1" algn="ctr">
              <a:spcBef>
                <a:spcPts val="200"/>
              </a:spcBef>
              <a:spcAft>
                <a:spcPts val="200"/>
              </a:spcAft>
            </a:pPr>
            <a:r>
              <a:rPr lang="pt-BR" sz="1400" b="1" dirty="0" smtClean="0">
                <a:solidFill>
                  <a:schemeClr val="tx1">
                    <a:lumMod val="95000"/>
                    <a:lumOff val="5000"/>
                  </a:schemeClr>
                </a:solidFill>
              </a:rPr>
              <a:t>Riscos/Problemas/Observações</a:t>
            </a:r>
            <a:endParaRPr lang="pt-BR" sz="1200" dirty="0" smtClean="0">
              <a:solidFill>
                <a:schemeClr val="tx1">
                  <a:lumMod val="95000"/>
                  <a:lumOff val="5000"/>
                </a:schemeClr>
              </a:solidFill>
            </a:endParaRPr>
          </a:p>
          <a:p>
            <a:pPr marL="0" lvl="1">
              <a:spcBef>
                <a:spcPts val="200"/>
              </a:spcBef>
              <a:spcAft>
                <a:spcPts val="200"/>
              </a:spcAft>
            </a:pPr>
            <a:r>
              <a:rPr lang="pt-BR" sz="1200" b="1" dirty="0" smtClean="0">
                <a:solidFill>
                  <a:schemeClr val="tx1">
                    <a:lumMod val="95000"/>
                    <a:lumOff val="5000"/>
                  </a:schemeClr>
                </a:solidFill>
              </a:rPr>
              <a:t>Observação:</a:t>
            </a:r>
          </a:p>
          <a:p>
            <a:pPr marL="285750" lvl="1" indent="-285750">
              <a:spcBef>
                <a:spcPts val="200"/>
              </a:spcBef>
              <a:spcAft>
                <a:spcPts val="200"/>
              </a:spcAft>
              <a:buFont typeface="Arial" panose="020B0604020202020204" pitchFamily="34" charset="0"/>
              <a:buChar char="•"/>
            </a:pPr>
            <a:r>
              <a:rPr lang="pt-BR" sz="1200" u="sng" dirty="0">
                <a:solidFill>
                  <a:schemeClr val="tx1"/>
                </a:solidFill>
              </a:rPr>
              <a:t>Aprovada a utilização das </a:t>
            </a:r>
            <a:r>
              <a:rPr lang="pt-BR" sz="1200" b="1" u="sng" dirty="0">
                <a:solidFill>
                  <a:schemeClr val="tx1"/>
                </a:solidFill>
              </a:rPr>
              <a:t>licenças NICE</a:t>
            </a:r>
            <a:r>
              <a:rPr lang="pt-BR" sz="1200" u="sng" dirty="0">
                <a:solidFill>
                  <a:schemeClr val="tx1"/>
                </a:solidFill>
              </a:rPr>
              <a:t> </a:t>
            </a:r>
            <a:r>
              <a:rPr lang="pt-BR" sz="1200" dirty="0">
                <a:solidFill>
                  <a:schemeClr val="tx1"/>
                </a:solidFill>
              </a:rPr>
              <a:t>que fazem parte do escopo do Projeto Gravação NICE, para Elektro, TAM, Bradesco e VIVO. </a:t>
            </a:r>
            <a:r>
              <a:rPr lang="pt-BR" sz="1200" b="1" dirty="0">
                <a:solidFill>
                  <a:schemeClr val="tx1"/>
                </a:solidFill>
              </a:rPr>
              <a:t>Estas licenças são para atender exclusivamente este projeto</a:t>
            </a:r>
            <a:r>
              <a:rPr lang="pt-BR" sz="1200" b="1" dirty="0" smtClean="0">
                <a:solidFill>
                  <a:schemeClr val="tx1"/>
                </a:solidFill>
              </a:rPr>
              <a:t>.</a:t>
            </a:r>
          </a:p>
          <a:p>
            <a:pPr marL="285750" lvl="1" indent="-285750">
              <a:spcBef>
                <a:spcPts val="200"/>
              </a:spcBef>
              <a:spcAft>
                <a:spcPts val="200"/>
              </a:spcAft>
              <a:buFont typeface="Arial" panose="020B0604020202020204" pitchFamily="34" charset="0"/>
              <a:buChar char="•"/>
            </a:pPr>
            <a:r>
              <a:rPr lang="pt-BR" sz="1200" dirty="0">
                <a:solidFill>
                  <a:schemeClr val="tx1">
                    <a:lumMod val="95000"/>
                    <a:lumOff val="5000"/>
                  </a:schemeClr>
                </a:solidFill>
              </a:rPr>
              <a:t>Ver contratualmente a </a:t>
            </a:r>
            <a:r>
              <a:rPr lang="pt-BR" sz="1200" b="1" dirty="0">
                <a:solidFill>
                  <a:schemeClr val="tx1">
                    <a:lumMod val="95000"/>
                    <a:lumOff val="5000"/>
                  </a:schemeClr>
                </a:solidFill>
              </a:rPr>
              <a:t>vigência de retenção das gravações (5 anos?), </a:t>
            </a:r>
            <a:r>
              <a:rPr lang="pt-BR" sz="1200" dirty="0">
                <a:solidFill>
                  <a:schemeClr val="tx1">
                    <a:lumMod val="95000"/>
                    <a:lumOff val="5000"/>
                  </a:schemeClr>
                </a:solidFill>
              </a:rPr>
              <a:t>e garantir a execução do </a:t>
            </a:r>
            <a:r>
              <a:rPr lang="pt-BR" sz="1200" dirty="0" smtClean="0">
                <a:solidFill>
                  <a:schemeClr val="tx1">
                    <a:lumMod val="95000"/>
                    <a:lumOff val="5000"/>
                  </a:schemeClr>
                </a:solidFill>
              </a:rPr>
              <a:t>processo junto da equipe de backups.</a:t>
            </a:r>
            <a:endParaRPr lang="pt-BR" sz="1200" dirty="0">
              <a:solidFill>
                <a:schemeClr val="tx1">
                  <a:lumMod val="95000"/>
                  <a:lumOff val="5000"/>
                </a:schemeClr>
              </a:solidFill>
            </a:endParaRPr>
          </a:p>
          <a:p>
            <a:pPr marL="285750" lvl="1" indent="-285750">
              <a:spcBef>
                <a:spcPts val="200"/>
              </a:spcBef>
              <a:spcAft>
                <a:spcPts val="200"/>
              </a:spcAft>
              <a:buFont typeface="Arial" panose="020B0604020202020204" pitchFamily="34" charset="0"/>
              <a:buChar char="•"/>
            </a:pPr>
            <a:endParaRPr lang="pt-BR" sz="1100" b="1" dirty="0" smtClean="0">
              <a:solidFill>
                <a:schemeClr val="tx1"/>
              </a:solidFill>
            </a:endParaRPr>
          </a:p>
          <a:p>
            <a:pPr marL="285750" lvl="1" indent="-285750">
              <a:spcBef>
                <a:spcPts val="200"/>
              </a:spcBef>
              <a:spcAft>
                <a:spcPts val="200"/>
              </a:spcAft>
              <a:buFont typeface="Arial" panose="020B0604020202020204" pitchFamily="34" charset="0"/>
              <a:buChar char="•"/>
            </a:pPr>
            <a:endParaRPr lang="pt-BR" sz="1200" dirty="0">
              <a:solidFill>
                <a:schemeClr val="tx1">
                  <a:lumMod val="95000"/>
                  <a:lumOff val="5000"/>
                </a:schemeClr>
              </a:solidFill>
            </a:endParaRPr>
          </a:p>
        </p:txBody>
      </p:sp>
      <p:sp>
        <p:nvSpPr>
          <p:cNvPr id="18" name="Retângulo de cantos arredondados 17"/>
          <p:cNvSpPr/>
          <p:nvPr/>
        </p:nvSpPr>
        <p:spPr>
          <a:xfrm>
            <a:off x="3382225" y="757054"/>
            <a:ext cx="5338175" cy="983644"/>
          </a:xfrm>
          <a:prstGeom prst="roundRect">
            <a:avLst/>
          </a:prstGeom>
          <a:solidFill>
            <a:schemeClr val="accent1">
              <a:lumMod val="50000"/>
            </a:schemeClr>
          </a:soli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r>
              <a:rPr lang="pt-BR" sz="1400" b="1" dirty="0" smtClean="0">
                <a:effectLst>
                  <a:outerShdw blurRad="38100" dist="38100" dir="2700000" algn="tl">
                    <a:srgbClr val="000000">
                      <a:alpha val="43137"/>
                    </a:srgbClr>
                  </a:outerShdw>
                </a:effectLst>
              </a:rPr>
              <a:t>Descritivo: </a:t>
            </a:r>
            <a:r>
              <a:rPr lang="pt-BR" sz="1400" dirty="0" smtClean="0">
                <a:effectLst>
                  <a:outerShdw blurRad="38100" dist="38100" dir="2700000" algn="tl">
                    <a:srgbClr val="000000">
                      <a:alpha val="43137"/>
                    </a:srgbClr>
                  </a:outerShdw>
                </a:effectLst>
              </a:rPr>
              <a:t>Este projeto tem como escopo, adequar infra </a:t>
            </a:r>
            <a:r>
              <a:rPr lang="pt-BR" sz="1400" dirty="0">
                <a:effectLst>
                  <a:outerShdw blurRad="38100" dist="38100" dir="2700000" algn="tl">
                    <a:srgbClr val="000000">
                      <a:alpha val="43137"/>
                    </a:srgbClr>
                  </a:outerShdw>
                </a:effectLst>
              </a:rPr>
              <a:t>de HW </a:t>
            </a:r>
            <a:r>
              <a:rPr lang="pt-BR" sz="1400" dirty="0" smtClean="0">
                <a:effectLst>
                  <a:outerShdw blurRad="38100" dist="38100" dir="2700000" algn="tl">
                    <a:srgbClr val="000000">
                      <a:alpha val="43137"/>
                    </a:srgbClr>
                  </a:outerShdw>
                </a:effectLst>
              </a:rPr>
              <a:t>para instalar 3K </a:t>
            </a:r>
            <a:r>
              <a:rPr lang="pt-BR" sz="1400" dirty="0">
                <a:effectLst>
                  <a:outerShdw blurRad="38100" dist="38100" dir="2700000" algn="tl">
                    <a:srgbClr val="000000">
                      <a:alpha val="43137"/>
                    </a:srgbClr>
                  </a:outerShdw>
                </a:effectLst>
              </a:rPr>
              <a:t>licenças de </a:t>
            </a:r>
            <a:r>
              <a:rPr lang="pt-BR" sz="1400" dirty="0" smtClean="0">
                <a:effectLst>
                  <a:outerShdw blurRad="38100" dist="38100" dir="2700000" algn="tl">
                    <a:srgbClr val="000000">
                      <a:alpha val="43137"/>
                    </a:srgbClr>
                  </a:outerShdw>
                </a:effectLst>
              </a:rPr>
              <a:t>gravação, atualmente sem uso. O escopo são </a:t>
            </a:r>
            <a:r>
              <a:rPr lang="pt-BR" sz="1400" b="1" dirty="0" smtClean="0">
                <a:effectLst>
                  <a:outerShdw blurRad="38100" dist="38100" dir="2700000" algn="tl">
                    <a:srgbClr val="000000">
                      <a:alpha val="43137"/>
                    </a:srgbClr>
                  </a:outerShdw>
                </a:effectLst>
              </a:rPr>
              <a:t>Elektro, TAM, Vivo e Bradesco</a:t>
            </a:r>
            <a:r>
              <a:rPr lang="pt-BR" sz="1400" dirty="0" smtClean="0">
                <a:effectLst>
                  <a:outerShdw blurRad="38100" dist="38100" dir="2700000" algn="tl">
                    <a:srgbClr val="000000">
                      <a:alpha val="43137"/>
                    </a:srgbClr>
                  </a:outerShdw>
                </a:effectLst>
              </a:rPr>
              <a:t>. </a:t>
            </a:r>
            <a:endParaRPr lang="pt-BR" sz="1400" dirty="0">
              <a:effectLst>
                <a:outerShdw blurRad="38100" dist="38100" dir="2700000" algn="tl">
                  <a:srgbClr val="000000">
                    <a:alpha val="43137"/>
                  </a:srgbClr>
                </a:outerShdw>
              </a:effectLst>
            </a:endParaRPr>
          </a:p>
        </p:txBody>
      </p:sp>
      <p:grpSp>
        <p:nvGrpSpPr>
          <p:cNvPr id="20" name="Group 12"/>
          <p:cNvGrpSpPr>
            <a:grpSpLocks/>
          </p:cNvGrpSpPr>
          <p:nvPr/>
        </p:nvGrpSpPr>
        <p:grpSpPr bwMode="auto">
          <a:xfrm>
            <a:off x="2898959" y="1405184"/>
            <a:ext cx="274637" cy="274638"/>
            <a:chOff x="0" y="0"/>
            <a:chExt cx="173" cy="173"/>
          </a:xfrm>
        </p:grpSpPr>
        <p:sp>
          <p:nvSpPr>
            <p:cNvPr id="21" name="Oval 13"/>
            <p:cNvSpPr>
              <a:spLocks noChangeArrowheads="1"/>
            </p:cNvSpPr>
            <p:nvPr/>
          </p:nvSpPr>
          <p:spPr bwMode="auto">
            <a:xfrm>
              <a:off x="0" y="0"/>
              <a:ext cx="173" cy="173"/>
            </a:xfrm>
            <a:prstGeom prst="ellipse">
              <a:avLst/>
            </a:prstGeom>
            <a:noFill/>
            <a:ln w="63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sp>
          <p:nvSpPr>
            <p:cNvPr id="22" name="Arc 14"/>
            <p:cNvSpPr>
              <a:spLocks/>
            </p:cNvSpPr>
            <p:nvPr/>
          </p:nvSpPr>
          <p:spPr bwMode="auto">
            <a:xfrm>
              <a:off x="86" y="0"/>
              <a:ext cx="62" cy="86"/>
            </a:xfrm>
            <a:custGeom>
              <a:avLst/>
              <a:gdLst>
                <a:gd name="G0" fmla="+- 58 0 0"/>
                <a:gd name="G1" fmla="+- 21600 0 0"/>
                <a:gd name="G2" fmla="+- 21600 0 0"/>
                <a:gd name="T0" fmla="*/ 0 w 15318"/>
                <a:gd name="T1" fmla="*/ 1 h 21600"/>
                <a:gd name="T2" fmla="*/ 15318 w 15318"/>
                <a:gd name="T3" fmla="*/ 6314 h 21600"/>
                <a:gd name="T4" fmla="*/ 58 w 15318"/>
                <a:gd name="T5" fmla="*/ 21600 h 21600"/>
              </a:gdLst>
              <a:ahLst/>
              <a:cxnLst>
                <a:cxn ang="0">
                  <a:pos x="T0" y="T1"/>
                </a:cxn>
                <a:cxn ang="0">
                  <a:pos x="T2" y="T3"/>
                </a:cxn>
                <a:cxn ang="0">
                  <a:pos x="T4" y="T5"/>
                </a:cxn>
              </a:cxnLst>
              <a:rect l="0" t="0" r="r" b="b"/>
              <a:pathLst>
                <a:path w="15318" h="21600" fill="none" extrusionOk="0">
                  <a:moveTo>
                    <a:pt x="-1" y="0"/>
                  </a:moveTo>
                  <a:cubicBezTo>
                    <a:pt x="19" y="0"/>
                    <a:pt x="38" y="0"/>
                    <a:pt x="58" y="0"/>
                  </a:cubicBezTo>
                  <a:cubicBezTo>
                    <a:pt x="5780" y="0"/>
                    <a:pt x="11268" y="2270"/>
                    <a:pt x="15318" y="6313"/>
                  </a:cubicBezTo>
                </a:path>
                <a:path w="15318" h="21600" stroke="0" extrusionOk="0">
                  <a:moveTo>
                    <a:pt x="-1" y="0"/>
                  </a:moveTo>
                  <a:cubicBezTo>
                    <a:pt x="19" y="0"/>
                    <a:pt x="38" y="0"/>
                    <a:pt x="58" y="0"/>
                  </a:cubicBezTo>
                  <a:cubicBezTo>
                    <a:pt x="5780" y="0"/>
                    <a:pt x="11268" y="2270"/>
                    <a:pt x="15318" y="6313"/>
                  </a:cubicBezTo>
                  <a:lnTo>
                    <a:pt x="58" y="21600"/>
                  </a:lnTo>
                  <a:close/>
                </a:path>
              </a:pathLst>
            </a:custGeom>
            <a:solidFill>
              <a:srgbClr val="000000"/>
            </a:solidFill>
            <a:ln w="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sp>
          <p:nvSpPr>
            <p:cNvPr id="23" name="Arc 15"/>
            <p:cNvSpPr>
              <a:spLocks/>
            </p:cNvSpPr>
            <p:nvPr/>
          </p:nvSpPr>
          <p:spPr bwMode="auto">
            <a:xfrm>
              <a:off x="86" y="25"/>
              <a:ext cx="87" cy="62"/>
            </a:xfrm>
            <a:custGeom>
              <a:avLst/>
              <a:gdLst>
                <a:gd name="G0" fmla="+- 0 0 0"/>
                <a:gd name="G1" fmla="+- 15382 0 0"/>
                <a:gd name="G2" fmla="+- 21600 0 0"/>
                <a:gd name="T0" fmla="*/ 15163 w 21600"/>
                <a:gd name="T1" fmla="*/ 0 h 15382"/>
                <a:gd name="T2" fmla="*/ 21600 w 21600"/>
                <a:gd name="T3" fmla="*/ 15382 h 15382"/>
                <a:gd name="T4" fmla="*/ 0 w 21600"/>
                <a:gd name="T5" fmla="*/ 15382 h 15382"/>
              </a:gdLst>
              <a:ahLst/>
              <a:cxnLst>
                <a:cxn ang="0">
                  <a:pos x="T0" y="T1"/>
                </a:cxn>
                <a:cxn ang="0">
                  <a:pos x="T2" y="T3"/>
                </a:cxn>
                <a:cxn ang="0">
                  <a:pos x="T4" y="T5"/>
                </a:cxn>
              </a:cxnLst>
              <a:rect l="0" t="0" r="r" b="b"/>
              <a:pathLst>
                <a:path w="21600" h="15382" fill="none" extrusionOk="0">
                  <a:moveTo>
                    <a:pt x="15163" y="-1"/>
                  </a:moveTo>
                  <a:cubicBezTo>
                    <a:pt x="19281" y="4058"/>
                    <a:pt x="21600" y="9599"/>
                    <a:pt x="21600" y="15382"/>
                  </a:cubicBezTo>
                </a:path>
                <a:path w="21600" h="15382" stroke="0" extrusionOk="0">
                  <a:moveTo>
                    <a:pt x="15163" y="-1"/>
                  </a:moveTo>
                  <a:cubicBezTo>
                    <a:pt x="19281" y="4058"/>
                    <a:pt x="21600" y="9599"/>
                    <a:pt x="21600" y="15382"/>
                  </a:cubicBezTo>
                  <a:lnTo>
                    <a:pt x="0" y="15382"/>
                  </a:lnTo>
                  <a:close/>
                </a:path>
              </a:pathLst>
            </a:custGeom>
            <a:solidFill>
              <a:srgbClr val="000000"/>
            </a:solidFill>
            <a:ln w="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grpSp>
    </p:spTree>
    <p:extLst>
      <p:ext uri="{BB962C8B-B14F-4D97-AF65-F5344CB8AC3E}">
        <p14:creationId xmlns:p14="http://schemas.microsoft.com/office/powerpoint/2010/main" val="834849516"/>
      </p:ext>
    </p:extLst>
  </p:cSld>
  <p:clrMapOvr>
    <a:masterClrMapping/>
  </p:clrMapOvr>
  <mc:AlternateContent xmlns:mc="http://schemas.openxmlformats.org/markup-compatibility/2006">
    <mc:Choice xmlns:p14="http://schemas.microsoft.com/office/powerpoint/2010/main" Requires="p14">
      <p:transition p14:dur="250">
        <p14:reveal/>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childTnLst>
                                </p:cTn>
                              </p:par>
                              <p:par>
                                <p:cTn id="8" presetID="10" presetClass="entr" presetSubtype="0" fill="hold" grpId="0" nodeType="withEffect">
                                  <p:stCondLst>
                                    <p:cond delay="25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1000"/>
                                        <p:tgtEl>
                                          <p:spTgt spid="16"/>
                                        </p:tgtEl>
                                      </p:cBhvr>
                                    </p:animEffect>
                                  </p:childTnLst>
                                </p:cTn>
                              </p:par>
                              <p:par>
                                <p:cTn id="11" presetID="10" presetClass="entr" presetSubtype="0" fill="hold" grpId="0" nodeType="withEffect">
                                  <p:stCondLst>
                                    <p:cond delay="25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1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76780" t="78172" r="18395" b="12686"/>
          <a:stretch/>
        </p:blipFill>
        <p:spPr bwMode="auto">
          <a:xfrm>
            <a:off x="8188658" y="4384319"/>
            <a:ext cx="955343" cy="7639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9"/>
          <p:cNvPicPr>
            <a:picLocks noChangeAspect="1"/>
          </p:cNvPicPr>
          <p:nvPr/>
        </p:nvPicPr>
        <p:blipFill>
          <a:blip r:embed="rId4"/>
          <a:stretch>
            <a:fillRect/>
          </a:stretch>
        </p:blipFill>
        <p:spPr>
          <a:xfrm>
            <a:off x="7021333" y="289005"/>
            <a:ext cx="1603348" cy="291323"/>
          </a:xfrm>
          <a:prstGeom prst="rect">
            <a:avLst/>
          </a:prstGeom>
        </p:spPr>
      </p:pic>
      <p:pic>
        <p:nvPicPr>
          <p:cNvPr id="8" name="Picture 1" descr="t03-02.jpg"/>
          <p:cNvPicPr>
            <a:picLocks noChangeAspect="1"/>
          </p:cNvPicPr>
          <p:nvPr/>
        </p:nvPicPr>
        <p:blipFill rotWithShape="1">
          <a:blip r:embed="rId5">
            <a:extLst>
              <a:ext uri="{28A0092B-C50C-407E-A947-70E740481C1C}">
                <a14:useLocalDpi xmlns:a14="http://schemas.microsoft.com/office/drawing/2010/main" val="0"/>
              </a:ext>
            </a:extLst>
          </a:blip>
          <a:srcRect r="91368" b="84909"/>
          <a:stretch/>
        </p:blipFill>
        <p:spPr>
          <a:xfrm>
            <a:off x="0" y="0"/>
            <a:ext cx="789296" cy="776935"/>
          </a:xfrm>
          <a:prstGeom prst="rect">
            <a:avLst/>
          </a:prstGeom>
        </p:spPr>
      </p:pic>
      <p:sp>
        <p:nvSpPr>
          <p:cNvPr id="6" name="CaixaDeTexto 5"/>
          <p:cNvSpPr txBox="1"/>
          <p:nvPr/>
        </p:nvSpPr>
        <p:spPr>
          <a:xfrm>
            <a:off x="2039091" y="300128"/>
            <a:ext cx="184731" cy="369332"/>
          </a:xfrm>
          <a:prstGeom prst="rect">
            <a:avLst/>
          </a:prstGeom>
          <a:noFill/>
        </p:spPr>
        <p:txBody>
          <a:bodyPr wrap="none" rtlCol="0">
            <a:spAutoFit/>
          </a:bodyPr>
          <a:lstStyle/>
          <a:p>
            <a:endParaRPr lang="pt-BR" dirty="0"/>
          </a:p>
        </p:txBody>
      </p:sp>
      <p:sp>
        <p:nvSpPr>
          <p:cNvPr id="9" name="Title 1"/>
          <p:cNvSpPr txBox="1">
            <a:spLocks/>
          </p:cNvSpPr>
          <p:nvPr/>
        </p:nvSpPr>
        <p:spPr>
          <a:xfrm>
            <a:off x="531650" y="-5486"/>
            <a:ext cx="6254098" cy="5604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pt-BR" sz="2000" b="1" dirty="0" smtClean="0">
                <a:solidFill>
                  <a:schemeClr val="tx2"/>
                </a:solidFill>
                <a:latin typeface="Arial" pitchFamily="34" charset="0"/>
                <a:cs typeface="Arial" pitchFamily="34" charset="0"/>
              </a:rPr>
              <a:t>9. Projeto: </a:t>
            </a:r>
            <a:r>
              <a:rPr lang="pt-BR" sz="2000" b="1" dirty="0">
                <a:solidFill>
                  <a:schemeClr val="tx2"/>
                </a:solidFill>
                <a:latin typeface="Arial" pitchFamily="34" charset="0"/>
                <a:cs typeface="Arial" pitchFamily="34" charset="0"/>
              </a:rPr>
              <a:t>Redundância links MPLS</a:t>
            </a:r>
          </a:p>
        </p:txBody>
      </p:sp>
      <p:sp>
        <p:nvSpPr>
          <p:cNvPr id="12" name="Retângulo 11"/>
          <p:cNvSpPr/>
          <p:nvPr/>
        </p:nvSpPr>
        <p:spPr>
          <a:xfrm>
            <a:off x="158943" y="1869351"/>
            <a:ext cx="2778560" cy="3278913"/>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0" lvl="1" algn="ctr">
              <a:spcBef>
                <a:spcPts val="200"/>
              </a:spcBef>
              <a:spcAft>
                <a:spcPts val="200"/>
              </a:spcAft>
            </a:pPr>
            <a:r>
              <a:rPr lang="pt-BR" sz="1400" b="1" dirty="0">
                <a:solidFill>
                  <a:schemeClr val="tx1">
                    <a:lumMod val="95000"/>
                    <a:lumOff val="5000"/>
                  </a:schemeClr>
                </a:solidFill>
              </a:rPr>
              <a:t>Últimas Realizações</a:t>
            </a:r>
            <a:endParaRPr lang="pt-BR" sz="1200" dirty="0">
              <a:solidFill>
                <a:schemeClr val="tx1">
                  <a:lumMod val="95000"/>
                  <a:lumOff val="5000"/>
                </a:schemeClr>
              </a:solidFill>
            </a:endParaRPr>
          </a:p>
          <a:p>
            <a:pPr marL="171450" lvl="1" indent="-171450">
              <a:spcBef>
                <a:spcPts val="200"/>
              </a:spcBef>
              <a:spcAft>
                <a:spcPts val="200"/>
              </a:spcAft>
              <a:buFont typeface="Wingdings" panose="05000000000000000000" pitchFamily="2" charset="2"/>
              <a:buChar char="ü"/>
            </a:pPr>
            <a:r>
              <a:rPr lang="pt-BR" sz="1200" dirty="0" smtClean="0">
                <a:solidFill>
                  <a:schemeClr val="tx1">
                    <a:lumMod val="95000"/>
                    <a:lumOff val="5000"/>
                  </a:schemeClr>
                </a:solidFill>
              </a:rPr>
              <a:t>Realizado com o teste de redundância  no </a:t>
            </a:r>
            <a:r>
              <a:rPr lang="pt-BR" sz="1200" b="1" dirty="0" smtClean="0">
                <a:solidFill>
                  <a:schemeClr val="tx1">
                    <a:lumMod val="95000"/>
                    <a:lumOff val="5000"/>
                  </a:schemeClr>
                </a:solidFill>
              </a:rPr>
              <a:t>site Antártica. Foram detectadas vulnerabilidades no Link Algar </a:t>
            </a:r>
            <a:r>
              <a:rPr lang="pt-BR" sz="1200" dirty="0">
                <a:solidFill>
                  <a:schemeClr val="tx1">
                    <a:lumMod val="95000"/>
                    <a:lumOff val="5000"/>
                  </a:schemeClr>
                </a:solidFill>
              </a:rPr>
              <a:t>(problema na configuração do </a:t>
            </a:r>
            <a:r>
              <a:rPr lang="pt-BR" sz="1200" dirty="0" smtClean="0">
                <a:solidFill>
                  <a:schemeClr val="tx1">
                    <a:lumMod val="95000"/>
                    <a:lumOff val="5000"/>
                  </a:schemeClr>
                </a:solidFill>
              </a:rPr>
              <a:t>BGP).   </a:t>
            </a:r>
            <a:endParaRPr lang="pt-BR" sz="1200" dirty="0">
              <a:solidFill>
                <a:schemeClr val="tx1">
                  <a:lumMod val="95000"/>
                  <a:lumOff val="5000"/>
                </a:schemeClr>
              </a:solidFill>
            </a:endParaRPr>
          </a:p>
          <a:p>
            <a:pPr marL="171450" lvl="1" indent="-171450">
              <a:spcBef>
                <a:spcPts val="200"/>
              </a:spcBef>
              <a:spcAft>
                <a:spcPts val="200"/>
              </a:spcAft>
              <a:buFont typeface="Arial" panose="020B0604020202020204" pitchFamily="34" charset="0"/>
              <a:buChar char="•"/>
            </a:pPr>
            <a:r>
              <a:rPr lang="pt-BR" sz="1200" dirty="0" smtClean="0">
                <a:solidFill>
                  <a:schemeClr val="tx1">
                    <a:lumMod val="95000"/>
                    <a:lumOff val="5000"/>
                  </a:schemeClr>
                </a:solidFill>
              </a:rPr>
              <a:t>O </a:t>
            </a:r>
            <a:r>
              <a:rPr lang="pt-BR" sz="1200" dirty="0">
                <a:solidFill>
                  <a:schemeClr val="tx1">
                    <a:lumMod val="95000"/>
                    <a:lumOff val="5000"/>
                  </a:schemeClr>
                </a:solidFill>
              </a:rPr>
              <a:t>status é alterado para </a:t>
            </a:r>
            <a:r>
              <a:rPr lang="pt-BR" sz="1200" dirty="0" smtClean="0">
                <a:solidFill>
                  <a:schemeClr val="tx1">
                    <a:lumMod val="95000"/>
                    <a:lumOff val="5000"/>
                  </a:schemeClr>
                </a:solidFill>
              </a:rPr>
              <a:t>“laranja". </a:t>
            </a:r>
            <a:r>
              <a:rPr lang="pt-BR" sz="1200" dirty="0">
                <a:solidFill>
                  <a:schemeClr val="tx1">
                    <a:lumMod val="95000"/>
                    <a:lumOff val="5000"/>
                  </a:schemeClr>
                </a:solidFill>
              </a:rPr>
              <a:t>A data de conclusão </a:t>
            </a:r>
            <a:r>
              <a:rPr lang="pt-BR" sz="1200" dirty="0" smtClean="0">
                <a:solidFill>
                  <a:schemeClr val="tx1">
                    <a:lumMod val="95000"/>
                    <a:lumOff val="5000"/>
                  </a:schemeClr>
                </a:solidFill>
              </a:rPr>
              <a:t>foi </a:t>
            </a:r>
            <a:r>
              <a:rPr lang="pt-BR" sz="1200" dirty="0">
                <a:solidFill>
                  <a:schemeClr val="tx1">
                    <a:lumMod val="95000"/>
                    <a:lumOff val="5000"/>
                  </a:schemeClr>
                </a:solidFill>
              </a:rPr>
              <a:t>revista. O agendamento de intervenção nos sites, e consequentemente o acordo de todas as operações exige maior esforço". Também temos detectado no site legíveis para intervenção no escopo do projeto com vulnerabilidades (algumas são corrigidas), outras não estão no nosso alcance (pendencias do </a:t>
            </a:r>
            <a:r>
              <a:rPr lang="pt-BR" sz="1200" dirty="0" smtClean="0">
                <a:solidFill>
                  <a:schemeClr val="tx1">
                    <a:lumMod val="95000"/>
                    <a:lumOff val="5000"/>
                  </a:schemeClr>
                </a:solidFill>
              </a:rPr>
              <a:t>cliente </a:t>
            </a:r>
            <a:r>
              <a:rPr lang="pt-BR" sz="1200" dirty="0" err="1" smtClean="0">
                <a:solidFill>
                  <a:schemeClr val="tx1">
                    <a:lumMod val="95000"/>
                    <a:lumOff val="5000"/>
                  </a:schemeClr>
                </a:solidFill>
              </a:rPr>
              <a:t>ex</a:t>
            </a:r>
            <a:r>
              <a:rPr lang="pt-BR" sz="1200" dirty="0" smtClean="0">
                <a:solidFill>
                  <a:schemeClr val="tx1">
                    <a:lumMod val="95000"/>
                    <a:lumOff val="5000"/>
                  </a:schemeClr>
                </a:solidFill>
              </a:rPr>
              <a:t>: OI e Algar).</a:t>
            </a:r>
          </a:p>
        </p:txBody>
      </p:sp>
      <p:sp>
        <p:nvSpPr>
          <p:cNvPr id="15" name="Retângulo de cantos arredondados 14"/>
          <p:cNvSpPr/>
          <p:nvPr/>
        </p:nvSpPr>
        <p:spPr>
          <a:xfrm>
            <a:off x="158943" y="694874"/>
            <a:ext cx="3064339" cy="1080993"/>
          </a:xfrm>
          <a:prstGeom prst="roundRect">
            <a:avLst/>
          </a:prstGeom>
          <a:solidFill>
            <a:srgbClr val="FFC000"/>
          </a:soli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r>
              <a:rPr lang="pt-BR" sz="1400" b="1" dirty="0" smtClean="0">
                <a:effectLst>
                  <a:outerShdw blurRad="38100" dist="38100" dir="2700000" algn="tl">
                    <a:srgbClr val="000000">
                      <a:alpha val="43137"/>
                    </a:srgbClr>
                  </a:outerShdw>
                </a:effectLst>
              </a:rPr>
              <a:t>Projeto: </a:t>
            </a:r>
            <a:r>
              <a:rPr lang="pt-BR" sz="1400" b="1" dirty="0">
                <a:effectLst>
                  <a:outerShdw blurRad="38100" dist="38100" dir="2700000" algn="tl">
                    <a:srgbClr val="000000">
                      <a:alpha val="43137"/>
                    </a:srgbClr>
                  </a:outerShdw>
                </a:effectLst>
              </a:rPr>
              <a:t>Redundância links MPLS</a:t>
            </a:r>
            <a:endParaRPr lang="pt-BR" sz="1400" b="1" dirty="0" smtClean="0">
              <a:effectLst>
                <a:outerShdw blurRad="38100" dist="38100" dir="2700000" algn="tl">
                  <a:srgbClr val="000000">
                    <a:alpha val="43137"/>
                  </a:srgbClr>
                </a:outerShdw>
              </a:effectLst>
            </a:endParaRPr>
          </a:p>
          <a:p>
            <a:r>
              <a:rPr lang="pt-BR" sz="1200" i="1" dirty="0" smtClean="0"/>
              <a:t>Data Inicio: 01-12-2015</a:t>
            </a:r>
          </a:p>
          <a:p>
            <a:r>
              <a:rPr lang="pt-BR" sz="1200" i="1" dirty="0" smtClean="0"/>
              <a:t>Data Conclusão: 30-09-2016</a:t>
            </a:r>
          </a:p>
          <a:p>
            <a:r>
              <a:rPr lang="pt-BR" sz="1200" i="1" dirty="0" smtClean="0"/>
              <a:t>Progresso: 59%</a:t>
            </a:r>
          </a:p>
          <a:p>
            <a:r>
              <a:rPr lang="pt-BR" sz="1200" i="1" dirty="0" smtClean="0"/>
              <a:t>PM: </a:t>
            </a:r>
            <a:r>
              <a:rPr lang="pt-BR" sz="1200" i="1" dirty="0" err="1" smtClean="0"/>
              <a:t>Luis</a:t>
            </a:r>
            <a:r>
              <a:rPr lang="pt-BR" sz="1200" i="1" dirty="0" smtClean="0"/>
              <a:t> Marçal</a:t>
            </a:r>
          </a:p>
        </p:txBody>
      </p:sp>
      <p:sp>
        <p:nvSpPr>
          <p:cNvPr id="16" name="Retângulo 15"/>
          <p:cNvSpPr/>
          <p:nvPr/>
        </p:nvSpPr>
        <p:spPr>
          <a:xfrm>
            <a:off x="3112569" y="1879103"/>
            <a:ext cx="2716382" cy="3269161"/>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0" lvl="1" algn="ctr">
              <a:spcBef>
                <a:spcPts val="200"/>
              </a:spcBef>
              <a:spcAft>
                <a:spcPts val="200"/>
              </a:spcAft>
            </a:pPr>
            <a:r>
              <a:rPr lang="pt-BR" sz="1400" b="1" dirty="0">
                <a:solidFill>
                  <a:schemeClr val="tx1">
                    <a:lumMod val="95000"/>
                    <a:lumOff val="5000"/>
                  </a:schemeClr>
                </a:solidFill>
              </a:rPr>
              <a:t>Próximas Ações</a:t>
            </a:r>
            <a:endParaRPr lang="pt-BR" sz="1400" dirty="0">
              <a:solidFill>
                <a:schemeClr val="tx1">
                  <a:lumMod val="95000"/>
                  <a:lumOff val="5000"/>
                </a:schemeClr>
              </a:solidFill>
            </a:endParaRPr>
          </a:p>
          <a:p>
            <a:pPr marL="171450" lvl="1" indent="-171450">
              <a:spcBef>
                <a:spcPts val="200"/>
              </a:spcBef>
              <a:spcAft>
                <a:spcPts val="200"/>
              </a:spcAft>
              <a:buFont typeface="Arial" panose="020B0604020202020204" pitchFamily="34" charset="0"/>
              <a:buChar char="•"/>
            </a:pPr>
            <a:r>
              <a:rPr lang="pt-BR" sz="1200" dirty="0" smtClean="0">
                <a:solidFill>
                  <a:schemeClr val="tx1">
                    <a:lumMod val="95000"/>
                    <a:lumOff val="5000"/>
                  </a:schemeClr>
                </a:solidFill>
              </a:rPr>
              <a:t>Agendado para </a:t>
            </a:r>
            <a:r>
              <a:rPr lang="pt-BR" sz="1200" b="1" dirty="0" smtClean="0">
                <a:solidFill>
                  <a:schemeClr val="tx1">
                    <a:lumMod val="95000"/>
                    <a:lumOff val="5000"/>
                  </a:schemeClr>
                </a:solidFill>
              </a:rPr>
              <a:t>23 Junho, a  </a:t>
            </a:r>
            <a:r>
              <a:rPr lang="pt-BR" sz="1200" b="1" dirty="0">
                <a:solidFill>
                  <a:schemeClr val="tx1">
                    <a:lumMod val="95000"/>
                    <a:lumOff val="5000"/>
                  </a:schemeClr>
                </a:solidFill>
              </a:rPr>
              <a:t>operadora Algar </a:t>
            </a:r>
            <a:r>
              <a:rPr lang="pt-BR" sz="1200" b="1" dirty="0" smtClean="0">
                <a:solidFill>
                  <a:schemeClr val="tx1">
                    <a:lumMod val="95000"/>
                    <a:lumOff val="5000"/>
                  </a:schemeClr>
                </a:solidFill>
              </a:rPr>
              <a:t>verificar </a:t>
            </a:r>
            <a:r>
              <a:rPr lang="pt-BR" sz="1200" b="1" dirty="0">
                <a:solidFill>
                  <a:schemeClr val="tx1">
                    <a:lumMod val="95000"/>
                    <a:lumOff val="5000"/>
                  </a:schemeClr>
                </a:solidFill>
              </a:rPr>
              <a:t>e corrigir as configurações de BGP </a:t>
            </a:r>
            <a:r>
              <a:rPr lang="pt-BR" sz="1200" dirty="0">
                <a:solidFill>
                  <a:schemeClr val="tx1">
                    <a:lumMod val="95000"/>
                    <a:lumOff val="5000"/>
                  </a:schemeClr>
                </a:solidFill>
              </a:rPr>
              <a:t>nos CPE dos </a:t>
            </a:r>
            <a:r>
              <a:rPr lang="pt-BR" sz="1200" u="sng" dirty="0">
                <a:solidFill>
                  <a:schemeClr val="tx1">
                    <a:lumMod val="95000"/>
                    <a:lumOff val="5000"/>
                  </a:schemeClr>
                </a:solidFill>
              </a:rPr>
              <a:t>Sites Antártica e Luigi </a:t>
            </a:r>
            <a:r>
              <a:rPr lang="pt-BR" sz="1200" u="sng" dirty="0" err="1" smtClean="0">
                <a:solidFill>
                  <a:schemeClr val="tx1">
                    <a:lumMod val="95000"/>
                    <a:lumOff val="5000"/>
                  </a:schemeClr>
                </a:solidFill>
              </a:rPr>
              <a:t>Amorese</a:t>
            </a:r>
            <a:r>
              <a:rPr lang="pt-BR" sz="1200" u="sng" dirty="0" smtClean="0">
                <a:solidFill>
                  <a:schemeClr val="tx1">
                    <a:lumMod val="95000"/>
                    <a:lumOff val="5000"/>
                  </a:schemeClr>
                </a:solidFill>
              </a:rPr>
              <a:t>.</a:t>
            </a:r>
            <a:endParaRPr lang="pt-BR" sz="1200" u="sng" dirty="0">
              <a:solidFill>
                <a:schemeClr val="tx1">
                  <a:lumMod val="95000"/>
                  <a:lumOff val="5000"/>
                </a:schemeClr>
              </a:solidFill>
            </a:endParaRPr>
          </a:p>
          <a:p>
            <a:pPr marL="171450" lvl="1" indent="-171450">
              <a:spcBef>
                <a:spcPts val="200"/>
              </a:spcBef>
              <a:spcAft>
                <a:spcPts val="200"/>
              </a:spcAft>
              <a:buFont typeface="Arial" panose="020B0604020202020204" pitchFamily="34" charset="0"/>
              <a:buChar char="•"/>
            </a:pPr>
            <a:r>
              <a:rPr lang="pt-BR" sz="1200" dirty="0" smtClean="0">
                <a:solidFill>
                  <a:schemeClr val="tx1">
                    <a:lumMod val="95000"/>
                    <a:lumOff val="5000"/>
                  </a:schemeClr>
                </a:solidFill>
              </a:rPr>
              <a:t>Alinhar </a:t>
            </a:r>
            <a:r>
              <a:rPr lang="pt-BR" sz="1200" b="1" dirty="0" smtClean="0">
                <a:solidFill>
                  <a:schemeClr val="tx1">
                    <a:lumMod val="95000"/>
                    <a:lumOff val="5000"/>
                  </a:schemeClr>
                </a:solidFill>
              </a:rPr>
              <a:t>nova data para repetir os testes no site  Antártica</a:t>
            </a:r>
            <a:r>
              <a:rPr lang="pt-BR" sz="1200" dirty="0" smtClean="0">
                <a:solidFill>
                  <a:schemeClr val="tx1">
                    <a:lumMod val="95000"/>
                    <a:lumOff val="5000"/>
                  </a:schemeClr>
                </a:solidFill>
              </a:rPr>
              <a:t>.</a:t>
            </a:r>
          </a:p>
          <a:p>
            <a:pPr marL="171450" lvl="1" indent="-171450">
              <a:spcBef>
                <a:spcPts val="200"/>
              </a:spcBef>
              <a:spcAft>
                <a:spcPts val="200"/>
              </a:spcAft>
              <a:buFont typeface="Arial" panose="020B0604020202020204" pitchFamily="34" charset="0"/>
              <a:buChar char="•"/>
            </a:pPr>
            <a:r>
              <a:rPr lang="pt-BR" sz="1200" dirty="0" smtClean="0">
                <a:solidFill>
                  <a:schemeClr val="tx1">
                    <a:lumMod val="95000"/>
                    <a:lumOff val="5000"/>
                  </a:schemeClr>
                </a:solidFill>
              </a:rPr>
              <a:t>Agendar intervenção no site </a:t>
            </a:r>
            <a:r>
              <a:rPr lang="pt-BR" sz="1200" b="1" dirty="0" err="1" smtClean="0">
                <a:solidFill>
                  <a:schemeClr val="tx1">
                    <a:lumMod val="95000"/>
                    <a:lumOff val="5000"/>
                  </a:schemeClr>
                </a:solidFill>
              </a:rPr>
              <a:t>Sto</a:t>
            </a:r>
            <a:r>
              <a:rPr lang="pt-BR" sz="1200" b="1" dirty="0" smtClean="0">
                <a:solidFill>
                  <a:schemeClr val="tx1">
                    <a:lumMod val="95000"/>
                    <a:lumOff val="5000"/>
                  </a:schemeClr>
                </a:solidFill>
              </a:rPr>
              <a:t> Amaro para 28 de Junho</a:t>
            </a:r>
            <a:r>
              <a:rPr lang="pt-BR" sz="1200" dirty="0" smtClean="0">
                <a:solidFill>
                  <a:schemeClr val="tx1">
                    <a:lumMod val="95000"/>
                    <a:lumOff val="5000"/>
                  </a:schemeClr>
                </a:solidFill>
              </a:rPr>
              <a:t>.</a:t>
            </a:r>
          </a:p>
          <a:p>
            <a:pPr marL="171450" lvl="1" indent="-171450">
              <a:spcBef>
                <a:spcPts val="200"/>
              </a:spcBef>
              <a:spcAft>
                <a:spcPts val="200"/>
              </a:spcAft>
              <a:buFont typeface="Arial" panose="020B0604020202020204" pitchFamily="34" charset="0"/>
              <a:buChar char="•"/>
            </a:pPr>
            <a:r>
              <a:rPr lang="pt-PT" sz="1200" u="sng" dirty="0" smtClean="0">
                <a:solidFill>
                  <a:schemeClr val="tx1">
                    <a:lumMod val="95000"/>
                    <a:lumOff val="5000"/>
                  </a:schemeClr>
                </a:solidFill>
              </a:rPr>
              <a:t>Com a desmobilização dos sites </a:t>
            </a:r>
            <a:r>
              <a:rPr lang="pt-PT" sz="1200" dirty="0" smtClean="0">
                <a:solidFill>
                  <a:schemeClr val="tx1">
                    <a:lumMod val="95000"/>
                    <a:lumOff val="5000"/>
                  </a:schemeClr>
                </a:solidFill>
              </a:rPr>
              <a:t>Lapa e Hicham, Faupe e Rio Comprido,  saem do escopo do projeto.</a:t>
            </a:r>
            <a:endParaRPr lang="pt-BR" sz="1200" dirty="0" smtClean="0">
              <a:solidFill>
                <a:schemeClr val="tx1">
                  <a:lumMod val="95000"/>
                  <a:lumOff val="5000"/>
                </a:schemeClr>
              </a:solidFill>
            </a:endParaRPr>
          </a:p>
          <a:p>
            <a:pPr marL="0" lvl="1">
              <a:spcBef>
                <a:spcPts val="200"/>
              </a:spcBef>
              <a:spcAft>
                <a:spcPts val="200"/>
              </a:spcAft>
            </a:pPr>
            <a:endParaRPr lang="pt-BR" sz="1200" dirty="0" smtClean="0">
              <a:solidFill>
                <a:schemeClr val="tx1">
                  <a:lumMod val="95000"/>
                  <a:lumOff val="5000"/>
                </a:schemeClr>
              </a:solidFill>
            </a:endParaRPr>
          </a:p>
          <a:p>
            <a:pPr marL="0" lvl="1">
              <a:spcBef>
                <a:spcPts val="200"/>
              </a:spcBef>
              <a:spcAft>
                <a:spcPts val="200"/>
              </a:spcAft>
            </a:pPr>
            <a:endParaRPr lang="pt-BR" sz="1200" b="1" dirty="0" smtClean="0">
              <a:solidFill>
                <a:schemeClr val="tx1">
                  <a:lumMod val="95000"/>
                  <a:lumOff val="5000"/>
                </a:schemeClr>
              </a:solidFill>
            </a:endParaRPr>
          </a:p>
        </p:txBody>
      </p:sp>
      <p:sp>
        <p:nvSpPr>
          <p:cNvPr id="17" name="Retângulo 16"/>
          <p:cNvSpPr/>
          <p:nvPr/>
        </p:nvSpPr>
        <p:spPr>
          <a:xfrm>
            <a:off x="6004018" y="1879103"/>
            <a:ext cx="2716382" cy="3197845"/>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0" lvl="1" algn="ctr">
              <a:spcBef>
                <a:spcPts val="200"/>
              </a:spcBef>
              <a:spcAft>
                <a:spcPts val="200"/>
              </a:spcAft>
            </a:pPr>
            <a:r>
              <a:rPr lang="pt-BR" sz="1400" b="1" dirty="0" smtClean="0">
                <a:solidFill>
                  <a:schemeClr val="tx1">
                    <a:lumMod val="95000"/>
                    <a:lumOff val="5000"/>
                  </a:schemeClr>
                </a:solidFill>
              </a:rPr>
              <a:t>Riscos/Problemas/Observações</a:t>
            </a:r>
          </a:p>
          <a:p>
            <a:pPr marL="0" lvl="1">
              <a:spcBef>
                <a:spcPts val="200"/>
              </a:spcBef>
              <a:spcAft>
                <a:spcPts val="200"/>
              </a:spcAft>
            </a:pPr>
            <a:r>
              <a:rPr lang="pt-BR" sz="1200" dirty="0" err="1" smtClean="0">
                <a:solidFill>
                  <a:schemeClr val="tx1">
                    <a:lumMod val="95000"/>
                    <a:lumOff val="5000"/>
                  </a:schemeClr>
                </a:solidFill>
              </a:rPr>
              <a:t>Obs</a:t>
            </a:r>
            <a:r>
              <a:rPr lang="pt-BR" sz="1200" dirty="0" smtClean="0">
                <a:solidFill>
                  <a:schemeClr val="tx1">
                    <a:lumMod val="95000"/>
                    <a:lumOff val="5000"/>
                  </a:schemeClr>
                </a:solidFill>
              </a:rPr>
              <a:t>: </a:t>
            </a:r>
          </a:p>
          <a:p>
            <a:pPr marL="285750" lvl="1" indent="-285750">
              <a:spcBef>
                <a:spcPts val="200"/>
              </a:spcBef>
              <a:spcAft>
                <a:spcPts val="200"/>
              </a:spcAft>
              <a:buFont typeface="Arial" panose="020B0604020202020204" pitchFamily="34" charset="0"/>
              <a:buChar char="•"/>
            </a:pPr>
            <a:r>
              <a:rPr lang="pt-BR" sz="1200" dirty="0" smtClean="0">
                <a:solidFill>
                  <a:schemeClr val="tx1">
                    <a:lumMod val="95000"/>
                    <a:lumOff val="5000"/>
                  </a:schemeClr>
                </a:solidFill>
              </a:rPr>
              <a:t>O projeto deverá melhorar o processo de comunicação entre as áreas (RACI).</a:t>
            </a:r>
          </a:p>
          <a:p>
            <a:pPr marL="0" lvl="1">
              <a:spcBef>
                <a:spcPts val="200"/>
              </a:spcBef>
              <a:spcAft>
                <a:spcPts val="200"/>
              </a:spcAft>
            </a:pPr>
            <a:endParaRPr lang="pt-BR" sz="1200" dirty="0" smtClean="0">
              <a:solidFill>
                <a:schemeClr val="tx1">
                  <a:lumMod val="95000"/>
                  <a:lumOff val="5000"/>
                </a:schemeClr>
              </a:solidFill>
            </a:endParaRPr>
          </a:p>
          <a:p>
            <a:pPr marL="0" lvl="1">
              <a:spcBef>
                <a:spcPts val="200"/>
              </a:spcBef>
              <a:spcAft>
                <a:spcPts val="200"/>
              </a:spcAft>
            </a:pPr>
            <a:r>
              <a:rPr lang="pt-BR" sz="1200" b="1" dirty="0" smtClean="0">
                <a:solidFill>
                  <a:srgbClr val="FF0000"/>
                </a:solidFill>
              </a:rPr>
              <a:t>Risco: </a:t>
            </a:r>
            <a:r>
              <a:rPr lang="pt-BR" sz="1200" dirty="0" smtClean="0">
                <a:solidFill>
                  <a:schemeClr val="tx1"/>
                </a:solidFill>
              </a:rPr>
              <a:t>A OI não fornece previsões de instalação/intervenção.</a:t>
            </a:r>
          </a:p>
          <a:p>
            <a:pPr marL="285750" lvl="1" indent="-285750">
              <a:spcBef>
                <a:spcPts val="200"/>
              </a:spcBef>
              <a:spcAft>
                <a:spcPts val="200"/>
              </a:spcAft>
              <a:buFont typeface="Arial" panose="020B0604020202020204" pitchFamily="34" charset="0"/>
              <a:buChar char="•"/>
            </a:pPr>
            <a:endParaRPr lang="pt-BR" sz="1200" dirty="0" smtClean="0">
              <a:solidFill>
                <a:schemeClr val="tx1">
                  <a:lumMod val="95000"/>
                  <a:lumOff val="5000"/>
                </a:schemeClr>
              </a:solidFill>
            </a:endParaRPr>
          </a:p>
        </p:txBody>
      </p:sp>
      <p:sp>
        <p:nvSpPr>
          <p:cNvPr id="18" name="Retângulo de cantos arredondados 17"/>
          <p:cNvSpPr/>
          <p:nvPr/>
        </p:nvSpPr>
        <p:spPr>
          <a:xfrm>
            <a:off x="3382225" y="694875"/>
            <a:ext cx="5338175" cy="1080992"/>
          </a:xfrm>
          <a:prstGeom prst="roundRect">
            <a:avLst/>
          </a:prstGeom>
          <a:solidFill>
            <a:schemeClr val="accent1">
              <a:lumMod val="50000"/>
            </a:schemeClr>
          </a:soli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r>
              <a:rPr lang="pt-BR" sz="1400" b="1" dirty="0" smtClean="0">
                <a:effectLst>
                  <a:outerShdw blurRad="38100" dist="38100" dir="2700000" algn="tl">
                    <a:srgbClr val="000000">
                      <a:alpha val="43137"/>
                    </a:srgbClr>
                  </a:outerShdw>
                </a:effectLst>
              </a:rPr>
              <a:t>Descritivo:  </a:t>
            </a:r>
            <a:r>
              <a:rPr lang="pt-BR" sz="1400" dirty="0" smtClean="0"/>
              <a:t>Para </a:t>
            </a:r>
            <a:r>
              <a:rPr lang="pt-BR" sz="1400" dirty="0"/>
              <a:t>dar </a:t>
            </a:r>
            <a:r>
              <a:rPr lang="pt-BR" sz="1400" b="1" dirty="0"/>
              <a:t>resposta imediata </a:t>
            </a:r>
            <a:r>
              <a:rPr lang="pt-BR" sz="1400" dirty="0"/>
              <a:t>a situações recorrentes de incidentes, relacionados com a perda de </a:t>
            </a:r>
            <a:r>
              <a:rPr lang="pt-BR" sz="1400" b="1" dirty="0"/>
              <a:t>Links </a:t>
            </a:r>
            <a:r>
              <a:rPr lang="pt-BR" sz="1400" dirty="0"/>
              <a:t>que interligam os sites da Contax, </a:t>
            </a:r>
            <a:r>
              <a:rPr lang="pt-BR" sz="1400" dirty="0" smtClean="0"/>
              <a:t>este projeto visa, </a:t>
            </a:r>
            <a:r>
              <a:rPr lang="pt-BR" sz="1400" b="1" dirty="0" smtClean="0"/>
              <a:t>Garantir </a:t>
            </a:r>
            <a:r>
              <a:rPr lang="pt-BR" sz="1400" b="1" dirty="0"/>
              <a:t>e documentar a funcionalidade da </a:t>
            </a:r>
            <a:r>
              <a:rPr lang="pt-BR" sz="1400" b="1" dirty="0" smtClean="0"/>
              <a:t>contingência e </a:t>
            </a:r>
            <a:r>
              <a:rPr lang="pt-BR" sz="1400" dirty="0"/>
              <a:t>v</a:t>
            </a:r>
            <a:r>
              <a:rPr lang="pt-BR" sz="1400" dirty="0" smtClean="0"/>
              <a:t>alidar </a:t>
            </a:r>
            <a:r>
              <a:rPr lang="pt-BR" sz="1400" dirty="0"/>
              <a:t>caminhos possíveis e documentar </a:t>
            </a:r>
            <a:r>
              <a:rPr lang="pt-BR" sz="1400" dirty="0" smtClean="0"/>
              <a:t>ações. </a:t>
            </a:r>
            <a:endParaRPr lang="pt-BR" sz="1400" dirty="0"/>
          </a:p>
        </p:txBody>
      </p:sp>
      <p:grpSp>
        <p:nvGrpSpPr>
          <p:cNvPr id="19" name="Group 27"/>
          <p:cNvGrpSpPr>
            <a:grpSpLocks/>
          </p:cNvGrpSpPr>
          <p:nvPr/>
        </p:nvGrpSpPr>
        <p:grpSpPr bwMode="auto">
          <a:xfrm>
            <a:off x="2879694" y="1418250"/>
            <a:ext cx="274637" cy="274638"/>
            <a:chOff x="0" y="0"/>
            <a:chExt cx="173" cy="173"/>
          </a:xfrm>
        </p:grpSpPr>
        <p:sp>
          <p:nvSpPr>
            <p:cNvPr id="20" name="Oval 28"/>
            <p:cNvSpPr>
              <a:spLocks noChangeArrowheads="1"/>
            </p:cNvSpPr>
            <p:nvPr/>
          </p:nvSpPr>
          <p:spPr bwMode="auto">
            <a:xfrm>
              <a:off x="0" y="0"/>
              <a:ext cx="173" cy="173"/>
            </a:xfrm>
            <a:prstGeom prst="ellipse">
              <a:avLst/>
            </a:prstGeom>
            <a:noFill/>
            <a:ln w="63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sp>
          <p:nvSpPr>
            <p:cNvPr id="21" name="Arc 29"/>
            <p:cNvSpPr>
              <a:spLocks/>
            </p:cNvSpPr>
            <p:nvPr/>
          </p:nvSpPr>
          <p:spPr bwMode="auto">
            <a:xfrm>
              <a:off x="86" y="0"/>
              <a:ext cx="62" cy="86"/>
            </a:xfrm>
            <a:custGeom>
              <a:avLst/>
              <a:gdLst>
                <a:gd name="G0" fmla="+- 58 0 0"/>
                <a:gd name="G1" fmla="+- 21600 0 0"/>
                <a:gd name="G2" fmla="+- 21600 0 0"/>
                <a:gd name="T0" fmla="*/ 0 w 15318"/>
                <a:gd name="T1" fmla="*/ 1 h 21600"/>
                <a:gd name="T2" fmla="*/ 15318 w 15318"/>
                <a:gd name="T3" fmla="*/ 6314 h 21600"/>
                <a:gd name="T4" fmla="*/ 58 w 15318"/>
                <a:gd name="T5" fmla="*/ 21600 h 21600"/>
              </a:gdLst>
              <a:ahLst/>
              <a:cxnLst>
                <a:cxn ang="0">
                  <a:pos x="T0" y="T1"/>
                </a:cxn>
                <a:cxn ang="0">
                  <a:pos x="T2" y="T3"/>
                </a:cxn>
                <a:cxn ang="0">
                  <a:pos x="T4" y="T5"/>
                </a:cxn>
              </a:cxnLst>
              <a:rect l="0" t="0" r="r" b="b"/>
              <a:pathLst>
                <a:path w="15318" h="21600" fill="none" extrusionOk="0">
                  <a:moveTo>
                    <a:pt x="-1" y="0"/>
                  </a:moveTo>
                  <a:cubicBezTo>
                    <a:pt x="19" y="0"/>
                    <a:pt x="38" y="0"/>
                    <a:pt x="58" y="0"/>
                  </a:cubicBezTo>
                  <a:cubicBezTo>
                    <a:pt x="5780" y="0"/>
                    <a:pt x="11268" y="2270"/>
                    <a:pt x="15318" y="6313"/>
                  </a:cubicBezTo>
                </a:path>
                <a:path w="15318" h="21600" stroke="0" extrusionOk="0">
                  <a:moveTo>
                    <a:pt x="-1" y="0"/>
                  </a:moveTo>
                  <a:cubicBezTo>
                    <a:pt x="19" y="0"/>
                    <a:pt x="38" y="0"/>
                    <a:pt x="58" y="0"/>
                  </a:cubicBezTo>
                  <a:cubicBezTo>
                    <a:pt x="5780" y="0"/>
                    <a:pt x="11268" y="2270"/>
                    <a:pt x="15318" y="6313"/>
                  </a:cubicBezTo>
                  <a:lnTo>
                    <a:pt x="58" y="21600"/>
                  </a:lnTo>
                  <a:close/>
                </a:path>
              </a:pathLst>
            </a:custGeom>
            <a:solidFill>
              <a:srgbClr val="000000"/>
            </a:solidFill>
            <a:ln w="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sp>
          <p:nvSpPr>
            <p:cNvPr id="22" name="Arc 30"/>
            <p:cNvSpPr>
              <a:spLocks/>
            </p:cNvSpPr>
            <p:nvPr/>
          </p:nvSpPr>
          <p:spPr bwMode="auto">
            <a:xfrm>
              <a:off x="86" y="25"/>
              <a:ext cx="87" cy="62"/>
            </a:xfrm>
            <a:custGeom>
              <a:avLst/>
              <a:gdLst>
                <a:gd name="G0" fmla="+- 0 0 0"/>
                <a:gd name="G1" fmla="+- 15382 0 0"/>
                <a:gd name="G2" fmla="+- 21600 0 0"/>
                <a:gd name="T0" fmla="*/ 15163 w 21600"/>
                <a:gd name="T1" fmla="*/ 0 h 15382"/>
                <a:gd name="T2" fmla="*/ 21600 w 21600"/>
                <a:gd name="T3" fmla="*/ 15382 h 15382"/>
                <a:gd name="T4" fmla="*/ 0 w 21600"/>
                <a:gd name="T5" fmla="*/ 15382 h 15382"/>
              </a:gdLst>
              <a:ahLst/>
              <a:cxnLst>
                <a:cxn ang="0">
                  <a:pos x="T0" y="T1"/>
                </a:cxn>
                <a:cxn ang="0">
                  <a:pos x="T2" y="T3"/>
                </a:cxn>
                <a:cxn ang="0">
                  <a:pos x="T4" y="T5"/>
                </a:cxn>
              </a:cxnLst>
              <a:rect l="0" t="0" r="r" b="b"/>
              <a:pathLst>
                <a:path w="21600" h="15382" fill="none" extrusionOk="0">
                  <a:moveTo>
                    <a:pt x="15163" y="-1"/>
                  </a:moveTo>
                  <a:cubicBezTo>
                    <a:pt x="19281" y="4058"/>
                    <a:pt x="21600" y="9599"/>
                    <a:pt x="21600" y="15382"/>
                  </a:cubicBezTo>
                </a:path>
                <a:path w="21600" h="15382" stroke="0" extrusionOk="0">
                  <a:moveTo>
                    <a:pt x="15163" y="-1"/>
                  </a:moveTo>
                  <a:cubicBezTo>
                    <a:pt x="19281" y="4058"/>
                    <a:pt x="21600" y="9599"/>
                    <a:pt x="21600" y="15382"/>
                  </a:cubicBezTo>
                  <a:lnTo>
                    <a:pt x="0" y="15382"/>
                  </a:lnTo>
                  <a:close/>
                </a:path>
              </a:pathLst>
            </a:custGeom>
            <a:solidFill>
              <a:srgbClr val="000000"/>
            </a:solidFill>
            <a:ln w="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sp>
          <p:nvSpPr>
            <p:cNvPr id="23" name="Arc 31"/>
            <p:cNvSpPr>
              <a:spLocks/>
            </p:cNvSpPr>
            <p:nvPr/>
          </p:nvSpPr>
          <p:spPr bwMode="auto">
            <a:xfrm>
              <a:off x="86" y="87"/>
              <a:ext cx="87" cy="61"/>
            </a:xfrm>
            <a:custGeom>
              <a:avLst/>
              <a:gdLst>
                <a:gd name="G0" fmla="+- 0 0 0"/>
                <a:gd name="G1" fmla="+- 29 0 0"/>
                <a:gd name="G2" fmla="+- 21600 0 0"/>
                <a:gd name="T0" fmla="*/ 21599 w 21600"/>
                <a:gd name="T1" fmla="*/ 0 h 15266"/>
                <a:gd name="T2" fmla="*/ 15309 w 21600"/>
                <a:gd name="T3" fmla="*/ 15266 h 15266"/>
                <a:gd name="T4" fmla="*/ 0 w 21600"/>
                <a:gd name="T5" fmla="*/ 29 h 15266"/>
              </a:gdLst>
              <a:ahLst/>
              <a:cxnLst>
                <a:cxn ang="0">
                  <a:pos x="T0" y="T1"/>
                </a:cxn>
                <a:cxn ang="0">
                  <a:pos x="T2" y="T3"/>
                </a:cxn>
                <a:cxn ang="0">
                  <a:pos x="T4" y="T5"/>
                </a:cxn>
              </a:cxnLst>
              <a:rect l="0" t="0" r="r" b="b"/>
              <a:pathLst>
                <a:path w="21600" h="15266" fill="none" extrusionOk="0">
                  <a:moveTo>
                    <a:pt x="21599" y="-1"/>
                  </a:moveTo>
                  <a:cubicBezTo>
                    <a:pt x="21599" y="9"/>
                    <a:pt x="21600" y="19"/>
                    <a:pt x="21600" y="29"/>
                  </a:cubicBezTo>
                  <a:cubicBezTo>
                    <a:pt x="21600" y="5740"/>
                    <a:pt x="19338" y="11218"/>
                    <a:pt x="15309" y="15266"/>
                  </a:cubicBezTo>
                </a:path>
                <a:path w="21600" h="15266" stroke="0" extrusionOk="0">
                  <a:moveTo>
                    <a:pt x="21599" y="-1"/>
                  </a:moveTo>
                  <a:cubicBezTo>
                    <a:pt x="21599" y="9"/>
                    <a:pt x="21600" y="19"/>
                    <a:pt x="21600" y="29"/>
                  </a:cubicBezTo>
                  <a:cubicBezTo>
                    <a:pt x="21600" y="5740"/>
                    <a:pt x="19338" y="11218"/>
                    <a:pt x="15309" y="15266"/>
                  </a:cubicBezTo>
                  <a:lnTo>
                    <a:pt x="0" y="29"/>
                  </a:lnTo>
                  <a:close/>
                </a:path>
              </a:pathLst>
            </a:custGeom>
            <a:solidFill>
              <a:srgbClr val="000000"/>
            </a:solidFill>
            <a:ln w="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sp>
          <p:nvSpPr>
            <p:cNvPr id="24" name="Arc 32"/>
            <p:cNvSpPr>
              <a:spLocks/>
            </p:cNvSpPr>
            <p:nvPr/>
          </p:nvSpPr>
          <p:spPr bwMode="auto">
            <a:xfrm>
              <a:off x="86" y="87"/>
              <a:ext cx="62" cy="86"/>
            </a:xfrm>
            <a:custGeom>
              <a:avLst/>
              <a:gdLst>
                <a:gd name="G0" fmla="+- 0 0 0"/>
                <a:gd name="G1" fmla="+- 0 0 0"/>
                <a:gd name="G2" fmla="+- 21600 0 0"/>
                <a:gd name="T0" fmla="*/ 15386 w 15386"/>
                <a:gd name="T1" fmla="*/ 15159 h 21599"/>
                <a:gd name="T2" fmla="*/ 28 w 15386"/>
                <a:gd name="T3" fmla="*/ 21599 h 21599"/>
                <a:gd name="T4" fmla="*/ 0 w 15386"/>
                <a:gd name="T5" fmla="*/ 0 h 21599"/>
              </a:gdLst>
              <a:ahLst/>
              <a:cxnLst>
                <a:cxn ang="0">
                  <a:pos x="T0" y="T1"/>
                </a:cxn>
                <a:cxn ang="0">
                  <a:pos x="T2" y="T3"/>
                </a:cxn>
                <a:cxn ang="0">
                  <a:pos x="T4" y="T5"/>
                </a:cxn>
              </a:cxnLst>
              <a:rect l="0" t="0" r="r" b="b"/>
              <a:pathLst>
                <a:path w="15386" h="21599" fill="none" extrusionOk="0">
                  <a:moveTo>
                    <a:pt x="15386" y="15159"/>
                  </a:moveTo>
                  <a:cubicBezTo>
                    <a:pt x="11333" y="19273"/>
                    <a:pt x="5802" y="21592"/>
                    <a:pt x="28" y="21599"/>
                  </a:cubicBezTo>
                </a:path>
                <a:path w="15386" h="21599" stroke="0" extrusionOk="0">
                  <a:moveTo>
                    <a:pt x="15386" y="15159"/>
                  </a:moveTo>
                  <a:cubicBezTo>
                    <a:pt x="11333" y="19273"/>
                    <a:pt x="5802" y="21592"/>
                    <a:pt x="28" y="21599"/>
                  </a:cubicBezTo>
                  <a:lnTo>
                    <a:pt x="0" y="0"/>
                  </a:lnTo>
                  <a:close/>
                </a:path>
              </a:pathLst>
            </a:custGeom>
            <a:solidFill>
              <a:srgbClr val="000000"/>
            </a:solidFill>
            <a:ln w="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sp>
          <p:nvSpPr>
            <p:cNvPr id="25" name="Arc 33"/>
            <p:cNvSpPr>
              <a:spLocks/>
            </p:cNvSpPr>
            <p:nvPr/>
          </p:nvSpPr>
          <p:spPr bwMode="auto">
            <a:xfrm flipH="1">
              <a:off x="25" y="87"/>
              <a:ext cx="62" cy="86"/>
            </a:xfrm>
            <a:custGeom>
              <a:avLst/>
              <a:gdLst>
                <a:gd name="G0" fmla="+- 0 0 0"/>
                <a:gd name="G1" fmla="+- 0 0 0"/>
                <a:gd name="G2" fmla="+- 21600 0 0"/>
                <a:gd name="T0" fmla="*/ 15386 w 15386"/>
                <a:gd name="T1" fmla="*/ 15159 h 21599"/>
                <a:gd name="T2" fmla="*/ 28 w 15386"/>
                <a:gd name="T3" fmla="*/ 21599 h 21599"/>
                <a:gd name="T4" fmla="*/ 0 w 15386"/>
                <a:gd name="T5" fmla="*/ 0 h 21599"/>
              </a:gdLst>
              <a:ahLst/>
              <a:cxnLst>
                <a:cxn ang="0">
                  <a:pos x="T0" y="T1"/>
                </a:cxn>
                <a:cxn ang="0">
                  <a:pos x="T2" y="T3"/>
                </a:cxn>
                <a:cxn ang="0">
                  <a:pos x="T4" y="T5"/>
                </a:cxn>
              </a:cxnLst>
              <a:rect l="0" t="0" r="r" b="b"/>
              <a:pathLst>
                <a:path w="15386" h="21599" fill="none" extrusionOk="0">
                  <a:moveTo>
                    <a:pt x="15386" y="15159"/>
                  </a:moveTo>
                  <a:cubicBezTo>
                    <a:pt x="11333" y="19273"/>
                    <a:pt x="5802" y="21592"/>
                    <a:pt x="28" y="21599"/>
                  </a:cubicBezTo>
                </a:path>
                <a:path w="15386" h="21599" stroke="0" extrusionOk="0">
                  <a:moveTo>
                    <a:pt x="15386" y="15159"/>
                  </a:moveTo>
                  <a:cubicBezTo>
                    <a:pt x="11333" y="19273"/>
                    <a:pt x="5802" y="21592"/>
                    <a:pt x="28" y="21599"/>
                  </a:cubicBezTo>
                  <a:lnTo>
                    <a:pt x="0" y="0"/>
                  </a:lnTo>
                  <a:close/>
                </a:path>
              </a:pathLst>
            </a:custGeom>
            <a:solidFill>
              <a:srgbClr val="000000"/>
            </a:solidFill>
            <a:ln w="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grpSp>
      <p:pic>
        <p:nvPicPr>
          <p:cNvPr id="2" name="Imagem 1">
            <a:hlinkClick r:id="rId6" action="ppaction://hlinksldjump"/>
          </p:cNvPr>
          <p:cNvPicPr>
            <a:picLocks noChangeAspect="1"/>
          </p:cNvPicPr>
          <p:nvPr/>
        </p:nvPicPr>
        <p:blipFill>
          <a:blip r:embed="rId7"/>
          <a:stretch>
            <a:fillRect/>
          </a:stretch>
        </p:blipFill>
        <p:spPr>
          <a:xfrm>
            <a:off x="3595221" y="4385983"/>
            <a:ext cx="1701989" cy="762281"/>
          </a:xfrm>
          <a:prstGeom prst="rect">
            <a:avLst/>
          </a:prstGeom>
        </p:spPr>
      </p:pic>
    </p:spTree>
    <p:extLst>
      <p:ext uri="{BB962C8B-B14F-4D97-AF65-F5344CB8AC3E}">
        <p14:creationId xmlns:p14="http://schemas.microsoft.com/office/powerpoint/2010/main" val="1619682626"/>
      </p:ext>
    </p:extLst>
  </p:cSld>
  <p:clrMapOvr>
    <a:masterClrMapping/>
  </p:clrMapOvr>
  <mc:AlternateContent xmlns:mc="http://schemas.openxmlformats.org/markup-compatibility/2006">
    <mc:Choice xmlns:p14="http://schemas.microsoft.com/office/powerpoint/2010/main" Requires="p14">
      <p:transition p14:dur="250">
        <p14:reveal/>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childTnLst>
                                </p:cTn>
                              </p:par>
                              <p:par>
                                <p:cTn id="8" presetID="10" presetClass="entr" presetSubtype="0" fill="hold" grpId="0" nodeType="withEffect">
                                  <p:stCondLst>
                                    <p:cond delay="25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1000"/>
                                        <p:tgtEl>
                                          <p:spTgt spid="16"/>
                                        </p:tgtEl>
                                      </p:cBhvr>
                                    </p:animEffect>
                                  </p:childTnLst>
                                </p:cTn>
                              </p:par>
                              <p:par>
                                <p:cTn id="11" presetID="10" presetClass="entr" presetSubtype="0" fill="hold" grpId="0" nodeType="withEffect">
                                  <p:stCondLst>
                                    <p:cond delay="25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1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76780" t="78172" r="18395" b="12686"/>
          <a:stretch/>
        </p:blipFill>
        <p:spPr bwMode="auto">
          <a:xfrm>
            <a:off x="8188658" y="4384319"/>
            <a:ext cx="955343" cy="7639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9"/>
          <p:cNvPicPr>
            <a:picLocks noChangeAspect="1"/>
          </p:cNvPicPr>
          <p:nvPr/>
        </p:nvPicPr>
        <p:blipFill>
          <a:blip r:embed="rId4"/>
          <a:stretch>
            <a:fillRect/>
          </a:stretch>
        </p:blipFill>
        <p:spPr>
          <a:xfrm>
            <a:off x="7021333" y="289005"/>
            <a:ext cx="1603348" cy="291323"/>
          </a:xfrm>
          <a:prstGeom prst="rect">
            <a:avLst/>
          </a:prstGeom>
        </p:spPr>
      </p:pic>
      <p:pic>
        <p:nvPicPr>
          <p:cNvPr id="8" name="Picture 1" descr="t03-02.jpg"/>
          <p:cNvPicPr>
            <a:picLocks noChangeAspect="1"/>
          </p:cNvPicPr>
          <p:nvPr/>
        </p:nvPicPr>
        <p:blipFill rotWithShape="1">
          <a:blip r:embed="rId5">
            <a:extLst>
              <a:ext uri="{28A0092B-C50C-407E-A947-70E740481C1C}">
                <a14:useLocalDpi xmlns:a14="http://schemas.microsoft.com/office/drawing/2010/main" val="0"/>
              </a:ext>
            </a:extLst>
          </a:blip>
          <a:srcRect r="91368" b="84909"/>
          <a:stretch/>
        </p:blipFill>
        <p:spPr>
          <a:xfrm>
            <a:off x="0" y="0"/>
            <a:ext cx="789296" cy="776935"/>
          </a:xfrm>
          <a:prstGeom prst="rect">
            <a:avLst/>
          </a:prstGeom>
        </p:spPr>
      </p:pic>
      <p:sp>
        <p:nvSpPr>
          <p:cNvPr id="6" name="CaixaDeTexto 5"/>
          <p:cNvSpPr txBox="1"/>
          <p:nvPr/>
        </p:nvSpPr>
        <p:spPr>
          <a:xfrm>
            <a:off x="2039091" y="300128"/>
            <a:ext cx="184731" cy="369332"/>
          </a:xfrm>
          <a:prstGeom prst="rect">
            <a:avLst/>
          </a:prstGeom>
          <a:noFill/>
        </p:spPr>
        <p:txBody>
          <a:bodyPr wrap="none" rtlCol="0">
            <a:spAutoFit/>
          </a:bodyPr>
          <a:lstStyle/>
          <a:p>
            <a:endParaRPr lang="pt-BR" dirty="0"/>
          </a:p>
        </p:txBody>
      </p:sp>
      <p:sp>
        <p:nvSpPr>
          <p:cNvPr id="9" name="Title 1"/>
          <p:cNvSpPr txBox="1">
            <a:spLocks/>
          </p:cNvSpPr>
          <p:nvPr/>
        </p:nvSpPr>
        <p:spPr>
          <a:xfrm>
            <a:off x="562659" y="-86707"/>
            <a:ext cx="6254098" cy="619264"/>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pt-BR" sz="2000" b="1" dirty="0">
                <a:solidFill>
                  <a:schemeClr val="tx2"/>
                </a:solidFill>
                <a:latin typeface="Arial" pitchFamily="34" charset="0"/>
                <a:cs typeface="Arial" pitchFamily="34" charset="0"/>
              </a:rPr>
              <a:t>9. Projeto: T2R – Transição de Serviços</a:t>
            </a:r>
          </a:p>
        </p:txBody>
      </p:sp>
      <p:sp>
        <p:nvSpPr>
          <p:cNvPr id="12" name="Retângulo 11"/>
          <p:cNvSpPr/>
          <p:nvPr/>
        </p:nvSpPr>
        <p:spPr>
          <a:xfrm>
            <a:off x="254755" y="2012334"/>
            <a:ext cx="2821854" cy="3025332"/>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0" lvl="1" algn="ctr">
              <a:spcBef>
                <a:spcPts val="200"/>
              </a:spcBef>
              <a:spcAft>
                <a:spcPts val="200"/>
              </a:spcAft>
            </a:pPr>
            <a:r>
              <a:rPr lang="pt-BR" sz="1400" b="1" dirty="0">
                <a:solidFill>
                  <a:schemeClr val="tx1">
                    <a:lumMod val="95000"/>
                    <a:lumOff val="5000"/>
                  </a:schemeClr>
                </a:solidFill>
              </a:rPr>
              <a:t>Últimas Realizações</a:t>
            </a:r>
          </a:p>
          <a:p>
            <a:pPr marL="171450" lvl="1" indent="-171450">
              <a:spcBef>
                <a:spcPts val="200"/>
              </a:spcBef>
              <a:spcAft>
                <a:spcPts val="200"/>
              </a:spcAft>
              <a:buFont typeface="Arial" panose="020B0604020202020204" pitchFamily="34" charset="0"/>
              <a:buChar char="•"/>
            </a:pPr>
            <a:r>
              <a:rPr lang="pt-BR" sz="1200" dirty="0">
                <a:solidFill>
                  <a:schemeClr val="tx1">
                    <a:lumMod val="95000"/>
                    <a:lumOff val="5000"/>
                  </a:schemeClr>
                </a:solidFill>
              </a:rPr>
              <a:t>Desenho de Fluxograma, Matriz RACI e SLA para Gerenciamento de Projetos.</a:t>
            </a:r>
          </a:p>
          <a:p>
            <a:pPr marL="171450" lvl="1" indent="-171450">
              <a:spcBef>
                <a:spcPts val="200"/>
              </a:spcBef>
              <a:spcAft>
                <a:spcPts val="200"/>
              </a:spcAft>
              <a:buFont typeface="Arial" panose="020B0604020202020204" pitchFamily="34" charset="0"/>
              <a:buChar char="•"/>
            </a:pPr>
            <a:r>
              <a:rPr lang="pt-BR" sz="1200" dirty="0">
                <a:solidFill>
                  <a:schemeClr val="tx1">
                    <a:lumMod val="95000"/>
                    <a:lumOff val="5000"/>
                  </a:schemeClr>
                </a:solidFill>
              </a:rPr>
              <a:t>Desenho de Controles para Projetos.</a:t>
            </a:r>
          </a:p>
          <a:p>
            <a:pPr marL="171450" lvl="1" indent="-171450">
              <a:spcBef>
                <a:spcPts val="200"/>
              </a:spcBef>
              <a:spcAft>
                <a:spcPts val="200"/>
              </a:spcAft>
              <a:buFont typeface="Arial" panose="020B0604020202020204" pitchFamily="34" charset="0"/>
              <a:buChar char="•"/>
            </a:pPr>
            <a:r>
              <a:rPr lang="pt-BR" sz="1200" dirty="0">
                <a:solidFill>
                  <a:schemeClr val="tx1">
                    <a:lumMod val="95000"/>
                    <a:lumOff val="5000"/>
                  </a:schemeClr>
                </a:solidFill>
              </a:rPr>
              <a:t>Conclusão da definição de indicadores e de sua automação.</a:t>
            </a:r>
          </a:p>
          <a:p>
            <a:pPr marL="171450" lvl="1" indent="-171450">
              <a:spcBef>
                <a:spcPts val="200"/>
              </a:spcBef>
              <a:spcAft>
                <a:spcPts val="200"/>
              </a:spcAft>
              <a:buFont typeface="Arial" panose="020B0604020202020204" pitchFamily="34" charset="0"/>
              <a:buChar char="•"/>
            </a:pPr>
            <a:r>
              <a:rPr lang="pt-BR" sz="1200" dirty="0">
                <a:solidFill>
                  <a:schemeClr val="tx1">
                    <a:lumMod val="95000"/>
                    <a:lumOff val="5000"/>
                  </a:schemeClr>
                </a:solidFill>
              </a:rPr>
              <a:t>Planejamento da implantação dos novos processos e indicadores, considerando automação, treinamento e piloto. </a:t>
            </a:r>
          </a:p>
          <a:p>
            <a:pPr marL="171450" lvl="1" indent="-171450">
              <a:spcBef>
                <a:spcPts val="200"/>
              </a:spcBef>
              <a:spcAft>
                <a:spcPts val="200"/>
              </a:spcAft>
              <a:buFont typeface="Arial" panose="020B0604020202020204" pitchFamily="34" charset="0"/>
              <a:buChar char="•"/>
            </a:pPr>
            <a:endParaRPr lang="pt-BR" sz="1200" dirty="0">
              <a:solidFill>
                <a:schemeClr val="tx1">
                  <a:lumMod val="95000"/>
                  <a:lumOff val="5000"/>
                </a:schemeClr>
              </a:solidFill>
            </a:endParaRPr>
          </a:p>
        </p:txBody>
      </p:sp>
      <p:sp>
        <p:nvSpPr>
          <p:cNvPr id="15" name="Retângulo de cantos arredondados 14"/>
          <p:cNvSpPr/>
          <p:nvPr/>
        </p:nvSpPr>
        <p:spPr>
          <a:xfrm>
            <a:off x="263120" y="823866"/>
            <a:ext cx="2945646" cy="1080993"/>
          </a:xfrm>
          <a:prstGeom prst="roundRect">
            <a:avLst/>
          </a:prstGeom>
          <a:solidFill>
            <a:schemeClr val="accent6">
              <a:lumMod val="75000"/>
            </a:schemeClr>
          </a:soli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r>
              <a:rPr lang="pt-BR" sz="1400" b="1" dirty="0">
                <a:effectLst>
                  <a:outerShdw blurRad="38100" dist="38100" dir="2700000" algn="tl">
                    <a:srgbClr val="000000">
                      <a:alpha val="43137"/>
                    </a:srgbClr>
                  </a:outerShdw>
                </a:effectLst>
              </a:rPr>
              <a:t>Projeto: T2R – Transição de Serviços</a:t>
            </a:r>
          </a:p>
          <a:p>
            <a:r>
              <a:rPr lang="pt-BR" sz="1200" i="1" dirty="0"/>
              <a:t>Data Inicio: 22-03-2016</a:t>
            </a:r>
          </a:p>
          <a:p>
            <a:r>
              <a:rPr lang="pt-BR" sz="1200" i="1" dirty="0"/>
              <a:t>Data Conclusão: 22-07-2016</a:t>
            </a:r>
          </a:p>
          <a:p>
            <a:r>
              <a:rPr lang="pt-BR" sz="1200" i="1" dirty="0"/>
              <a:t>Progresso: 80%</a:t>
            </a:r>
          </a:p>
          <a:p>
            <a:r>
              <a:rPr lang="pt-BR" sz="1200" i="1" dirty="0"/>
              <a:t>PM: Adolpho Chacon</a:t>
            </a:r>
          </a:p>
        </p:txBody>
      </p:sp>
      <p:sp>
        <p:nvSpPr>
          <p:cNvPr id="16" name="Retângulo 15"/>
          <p:cNvSpPr/>
          <p:nvPr/>
        </p:nvSpPr>
        <p:spPr>
          <a:xfrm>
            <a:off x="3214721" y="2012333"/>
            <a:ext cx="2701049" cy="3025333"/>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0" lvl="1" algn="ctr">
              <a:spcBef>
                <a:spcPts val="200"/>
              </a:spcBef>
              <a:spcAft>
                <a:spcPts val="200"/>
              </a:spcAft>
            </a:pPr>
            <a:r>
              <a:rPr lang="pt-BR" sz="1400" b="1" dirty="0">
                <a:solidFill>
                  <a:schemeClr val="tx1">
                    <a:lumMod val="95000"/>
                    <a:lumOff val="5000"/>
                  </a:schemeClr>
                </a:solidFill>
              </a:rPr>
              <a:t>Próximas Ações</a:t>
            </a:r>
            <a:endParaRPr lang="pt-BR" sz="1400" dirty="0">
              <a:solidFill>
                <a:schemeClr val="tx1">
                  <a:lumMod val="95000"/>
                  <a:lumOff val="5000"/>
                </a:schemeClr>
              </a:solidFill>
            </a:endParaRPr>
          </a:p>
          <a:p>
            <a:pPr marL="171450" lvl="1" indent="-171450">
              <a:spcBef>
                <a:spcPts val="200"/>
              </a:spcBef>
              <a:spcAft>
                <a:spcPts val="200"/>
              </a:spcAft>
              <a:buFont typeface="Arial" panose="020B0604020202020204" pitchFamily="34" charset="0"/>
              <a:buChar char="•"/>
            </a:pPr>
            <a:r>
              <a:rPr lang="pt-BR" sz="1200" dirty="0">
                <a:solidFill>
                  <a:schemeClr val="tx1">
                    <a:lumMod val="95000"/>
                    <a:lumOff val="5000"/>
                  </a:schemeClr>
                </a:solidFill>
              </a:rPr>
              <a:t>Acompanhamento da solução de automação integrada no </a:t>
            </a:r>
            <a:r>
              <a:rPr lang="pt-BR" sz="1200" dirty="0" err="1">
                <a:solidFill>
                  <a:schemeClr val="tx1">
                    <a:lumMod val="95000"/>
                    <a:lumOff val="5000"/>
                  </a:schemeClr>
                </a:solidFill>
              </a:rPr>
              <a:t>tProcess</a:t>
            </a:r>
            <a:r>
              <a:rPr lang="pt-BR" sz="1200" dirty="0">
                <a:solidFill>
                  <a:schemeClr val="tx1">
                    <a:lumMod val="95000"/>
                    <a:lumOff val="5000"/>
                  </a:schemeClr>
                </a:solidFill>
              </a:rPr>
              <a:t>!</a:t>
            </a:r>
          </a:p>
          <a:p>
            <a:pPr marL="171450" lvl="1" indent="-171450">
              <a:spcBef>
                <a:spcPts val="200"/>
              </a:spcBef>
              <a:spcAft>
                <a:spcPts val="200"/>
              </a:spcAft>
              <a:buFont typeface="Arial" panose="020B0604020202020204" pitchFamily="34" charset="0"/>
              <a:buChar char="•"/>
            </a:pPr>
            <a:r>
              <a:rPr lang="pt-BR" sz="1200" dirty="0">
                <a:solidFill>
                  <a:schemeClr val="tx1">
                    <a:lumMod val="95000"/>
                    <a:lumOff val="5000"/>
                  </a:schemeClr>
                </a:solidFill>
              </a:rPr>
              <a:t>Implantação imediata de </a:t>
            </a:r>
            <a:r>
              <a:rPr lang="pt-BR" sz="1200" i="1" dirty="0" err="1">
                <a:solidFill>
                  <a:schemeClr val="tx1">
                    <a:lumMod val="95000"/>
                    <a:lumOff val="5000"/>
                  </a:schemeClr>
                </a:solidFill>
              </a:rPr>
              <a:t>checklist</a:t>
            </a:r>
            <a:r>
              <a:rPr lang="pt-BR" sz="1200" dirty="0">
                <a:solidFill>
                  <a:schemeClr val="tx1">
                    <a:lumMod val="95000"/>
                    <a:lumOff val="5000"/>
                  </a:schemeClr>
                </a:solidFill>
              </a:rPr>
              <a:t> sobre requerimentos mandatórios para Mudanças e produção de indicadores relacionados ao T2R.</a:t>
            </a:r>
          </a:p>
          <a:p>
            <a:pPr marL="171450" lvl="1" indent="-171450">
              <a:spcBef>
                <a:spcPts val="200"/>
              </a:spcBef>
              <a:spcAft>
                <a:spcPts val="200"/>
              </a:spcAft>
              <a:buFont typeface="Arial" panose="020B0604020202020204" pitchFamily="34" charset="0"/>
              <a:buChar char="•"/>
            </a:pPr>
            <a:r>
              <a:rPr lang="pt-BR" sz="1200" dirty="0">
                <a:solidFill>
                  <a:schemeClr val="tx1">
                    <a:lumMod val="95000"/>
                    <a:lumOff val="5000"/>
                  </a:schemeClr>
                </a:solidFill>
              </a:rPr>
              <a:t>Planejamento e Implantação dos novos critérios para definição de ritos de Mudança ou Projeto (</a:t>
            </a:r>
            <a:r>
              <a:rPr lang="pt-BR" sz="1200" i="1" dirty="0">
                <a:solidFill>
                  <a:schemeClr val="tx1">
                    <a:lumMod val="95000"/>
                    <a:lumOff val="5000"/>
                  </a:schemeClr>
                </a:solidFill>
              </a:rPr>
              <a:t>pipeline</a:t>
            </a:r>
            <a:r>
              <a:rPr lang="pt-BR" sz="1200" dirty="0">
                <a:solidFill>
                  <a:schemeClr val="tx1">
                    <a:lumMod val="95000"/>
                    <a:lumOff val="5000"/>
                  </a:schemeClr>
                </a:solidFill>
              </a:rPr>
              <a:t>).</a:t>
            </a:r>
          </a:p>
          <a:p>
            <a:pPr marL="171450" lvl="1" indent="-171450">
              <a:spcBef>
                <a:spcPts val="200"/>
              </a:spcBef>
              <a:spcAft>
                <a:spcPts val="200"/>
              </a:spcAft>
              <a:buFont typeface="Arial" panose="020B0604020202020204" pitchFamily="34" charset="0"/>
              <a:buChar char="•"/>
            </a:pPr>
            <a:r>
              <a:rPr lang="pt-BR" sz="1200" dirty="0">
                <a:solidFill>
                  <a:schemeClr val="tx1">
                    <a:lumMod val="95000"/>
                    <a:lumOff val="5000"/>
                  </a:schemeClr>
                </a:solidFill>
              </a:rPr>
              <a:t>Revisão da documentação de Gerenciamento de Projetos.</a:t>
            </a:r>
          </a:p>
          <a:p>
            <a:pPr marL="171450" lvl="1" indent="-171450">
              <a:spcBef>
                <a:spcPts val="200"/>
              </a:spcBef>
              <a:spcAft>
                <a:spcPts val="200"/>
              </a:spcAft>
              <a:buFont typeface="Arial" panose="020B0604020202020204" pitchFamily="34" charset="0"/>
              <a:buChar char="•"/>
            </a:pPr>
            <a:r>
              <a:rPr lang="pt-BR" sz="1200" dirty="0">
                <a:solidFill>
                  <a:schemeClr val="tx1">
                    <a:lumMod val="95000"/>
                    <a:lumOff val="5000"/>
                  </a:schemeClr>
                </a:solidFill>
              </a:rPr>
              <a:t>Planejamento da implantação dos processos automatizados.</a:t>
            </a:r>
          </a:p>
        </p:txBody>
      </p:sp>
      <p:sp>
        <p:nvSpPr>
          <p:cNvPr id="17" name="Retângulo 16"/>
          <p:cNvSpPr/>
          <p:nvPr/>
        </p:nvSpPr>
        <p:spPr>
          <a:xfrm>
            <a:off x="6053882" y="2012334"/>
            <a:ext cx="2623388" cy="3025332"/>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0" lvl="1" algn="ctr">
              <a:spcBef>
                <a:spcPts val="200"/>
              </a:spcBef>
              <a:spcAft>
                <a:spcPts val="200"/>
              </a:spcAft>
            </a:pPr>
            <a:r>
              <a:rPr lang="pt-BR" sz="1400" b="1" dirty="0">
                <a:solidFill>
                  <a:schemeClr val="tx1">
                    <a:lumMod val="95000"/>
                    <a:lumOff val="5000"/>
                  </a:schemeClr>
                </a:solidFill>
              </a:rPr>
              <a:t>Riscos/Problemas/Observações</a:t>
            </a:r>
          </a:p>
          <a:p>
            <a:pPr marL="285750" lvl="1" indent="-285750">
              <a:spcBef>
                <a:spcPts val="200"/>
              </a:spcBef>
              <a:spcAft>
                <a:spcPts val="200"/>
              </a:spcAft>
              <a:buFont typeface="Arial" panose="020B0604020202020204" pitchFamily="34" charset="0"/>
              <a:buChar char="•"/>
            </a:pPr>
            <a:r>
              <a:rPr lang="pt-BR" sz="1200" dirty="0">
                <a:solidFill>
                  <a:schemeClr val="tx1">
                    <a:lumMod val="95000"/>
                    <a:lumOff val="5000"/>
                  </a:schemeClr>
                </a:solidFill>
              </a:rPr>
              <a:t>Prazo para desenvolvimento de solução integrada no </a:t>
            </a:r>
            <a:r>
              <a:rPr lang="pt-BR" sz="1200" dirty="0" err="1">
                <a:solidFill>
                  <a:schemeClr val="tx1">
                    <a:lumMod val="95000"/>
                    <a:lumOff val="5000"/>
                  </a:schemeClr>
                </a:solidFill>
              </a:rPr>
              <a:t>tProcess</a:t>
            </a:r>
            <a:r>
              <a:rPr lang="pt-BR" sz="1200" dirty="0">
                <a:solidFill>
                  <a:schemeClr val="tx1">
                    <a:lumMod val="95000"/>
                    <a:lumOff val="5000"/>
                  </a:schemeClr>
                </a:solidFill>
              </a:rPr>
              <a:t>.</a:t>
            </a:r>
          </a:p>
        </p:txBody>
      </p:sp>
      <p:sp>
        <p:nvSpPr>
          <p:cNvPr id="18" name="Retângulo de cantos arredondados 17"/>
          <p:cNvSpPr/>
          <p:nvPr/>
        </p:nvSpPr>
        <p:spPr>
          <a:xfrm>
            <a:off x="3286506" y="823867"/>
            <a:ext cx="5390764" cy="1080992"/>
          </a:xfrm>
          <a:prstGeom prst="roundRect">
            <a:avLst/>
          </a:prstGeom>
          <a:solidFill>
            <a:schemeClr val="accent1">
              <a:lumMod val="50000"/>
            </a:schemeClr>
          </a:soli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r>
              <a:rPr lang="pt-BR" sz="1400" b="1" dirty="0">
                <a:effectLst>
                  <a:outerShdw blurRad="38100" dist="38100" dir="2700000" algn="tl">
                    <a:srgbClr val="000000">
                      <a:alpha val="43137"/>
                    </a:srgbClr>
                  </a:outerShdw>
                </a:effectLst>
              </a:rPr>
              <a:t>Descritivo:  </a:t>
            </a:r>
            <a:r>
              <a:rPr lang="pt-BR" sz="1400" dirty="0"/>
              <a:t>Integração entre os processos de gerenciamento de Demandas, Projetos e Mudanças, para controle sobre o desenvolvimento e a implantação de Serviços novos ou alterados. </a:t>
            </a:r>
          </a:p>
        </p:txBody>
      </p:sp>
      <p:grpSp>
        <p:nvGrpSpPr>
          <p:cNvPr id="19" name="Group 34"/>
          <p:cNvGrpSpPr>
            <a:grpSpLocks/>
          </p:cNvGrpSpPr>
          <p:nvPr/>
        </p:nvGrpSpPr>
        <p:grpSpPr bwMode="auto">
          <a:xfrm>
            <a:off x="2836497" y="1558566"/>
            <a:ext cx="274638" cy="274638"/>
            <a:chOff x="0" y="0"/>
            <a:chExt cx="173" cy="173"/>
          </a:xfrm>
        </p:grpSpPr>
        <p:sp>
          <p:nvSpPr>
            <p:cNvPr id="27" name="Arc 35"/>
            <p:cNvSpPr>
              <a:spLocks/>
            </p:cNvSpPr>
            <p:nvPr/>
          </p:nvSpPr>
          <p:spPr bwMode="auto">
            <a:xfrm>
              <a:off x="86" y="0"/>
              <a:ext cx="62" cy="86"/>
            </a:xfrm>
            <a:custGeom>
              <a:avLst/>
              <a:gdLst>
                <a:gd name="G0" fmla="+- 58 0 0"/>
                <a:gd name="G1" fmla="+- 21600 0 0"/>
                <a:gd name="G2" fmla="+- 21600 0 0"/>
                <a:gd name="T0" fmla="*/ 0 w 15318"/>
                <a:gd name="T1" fmla="*/ 1 h 21600"/>
                <a:gd name="T2" fmla="*/ 15318 w 15318"/>
                <a:gd name="T3" fmla="*/ 6314 h 21600"/>
                <a:gd name="T4" fmla="*/ 58 w 15318"/>
                <a:gd name="T5" fmla="*/ 21600 h 21600"/>
              </a:gdLst>
              <a:ahLst/>
              <a:cxnLst>
                <a:cxn ang="0">
                  <a:pos x="T0" y="T1"/>
                </a:cxn>
                <a:cxn ang="0">
                  <a:pos x="T2" y="T3"/>
                </a:cxn>
                <a:cxn ang="0">
                  <a:pos x="T4" y="T5"/>
                </a:cxn>
              </a:cxnLst>
              <a:rect l="0" t="0" r="r" b="b"/>
              <a:pathLst>
                <a:path w="15318" h="21600" fill="none" extrusionOk="0">
                  <a:moveTo>
                    <a:pt x="-1" y="0"/>
                  </a:moveTo>
                  <a:cubicBezTo>
                    <a:pt x="19" y="0"/>
                    <a:pt x="38" y="0"/>
                    <a:pt x="58" y="0"/>
                  </a:cubicBezTo>
                  <a:cubicBezTo>
                    <a:pt x="5780" y="0"/>
                    <a:pt x="11268" y="2270"/>
                    <a:pt x="15318" y="6313"/>
                  </a:cubicBezTo>
                </a:path>
                <a:path w="15318" h="21600" stroke="0" extrusionOk="0">
                  <a:moveTo>
                    <a:pt x="-1" y="0"/>
                  </a:moveTo>
                  <a:cubicBezTo>
                    <a:pt x="19" y="0"/>
                    <a:pt x="38" y="0"/>
                    <a:pt x="58" y="0"/>
                  </a:cubicBezTo>
                  <a:cubicBezTo>
                    <a:pt x="5780" y="0"/>
                    <a:pt x="11268" y="2270"/>
                    <a:pt x="15318" y="6313"/>
                  </a:cubicBezTo>
                  <a:lnTo>
                    <a:pt x="58" y="21600"/>
                  </a:lnTo>
                  <a:close/>
                </a:path>
              </a:pathLst>
            </a:custGeom>
            <a:solidFill>
              <a:srgbClr val="000000"/>
            </a:solidFill>
            <a:ln w="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sp>
          <p:nvSpPr>
            <p:cNvPr id="28" name="Arc 36"/>
            <p:cNvSpPr>
              <a:spLocks/>
            </p:cNvSpPr>
            <p:nvPr/>
          </p:nvSpPr>
          <p:spPr bwMode="auto">
            <a:xfrm>
              <a:off x="86" y="87"/>
              <a:ext cx="87" cy="61"/>
            </a:xfrm>
            <a:custGeom>
              <a:avLst/>
              <a:gdLst>
                <a:gd name="G0" fmla="+- 0 0 0"/>
                <a:gd name="G1" fmla="+- 29 0 0"/>
                <a:gd name="G2" fmla="+- 21600 0 0"/>
                <a:gd name="T0" fmla="*/ 21599 w 21600"/>
                <a:gd name="T1" fmla="*/ 0 h 15266"/>
                <a:gd name="T2" fmla="*/ 15309 w 21600"/>
                <a:gd name="T3" fmla="*/ 15266 h 15266"/>
                <a:gd name="T4" fmla="*/ 0 w 21600"/>
                <a:gd name="T5" fmla="*/ 29 h 15266"/>
              </a:gdLst>
              <a:ahLst/>
              <a:cxnLst>
                <a:cxn ang="0">
                  <a:pos x="T0" y="T1"/>
                </a:cxn>
                <a:cxn ang="0">
                  <a:pos x="T2" y="T3"/>
                </a:cxn>
                <a:cxn ang="0">
                  <a:pos x="T4" y="T5"/>
                </a:cxn>
              </a:cxnLst>
              <a:rect l="0" t="0" r="r" b="b"/>
              <a:pathLst>
                <a:path w="21600" h="15266" fill="none" extrusionOk="0">
                  <a:moveTo>
                    <a:pt x="21599" y="-1"/>
                  </a:moveTo>
                  <a:cubicBezTo>
                    <a:pt x="21599" y="9"/>
                    <a:pt x="21600" y="19"/>
                    <a:pt x="21600" y="29"/>
                  </a:cubicBezTo>
                  <a:cubicBezTo>
                    <a:pt x="21600" y="5740"/>
                    <a:pt x="19338" y="11218"/>
                    <a:pt x="15309" y="15266"/>
                  </a:cubicBezTo>
                </a:path>
                <a:path w="21600" h="15266" stroke="0" extrusionOk="0">
                  <a:moveTo>
                    <a:pt x="21599" y="-1"/>
                  </a:moveTo>
                  <a:cubicBezTo>
                    <a:pt x="21599" y="9"/>
                    <a:pt x="21600" y="19"/>
                    <a:pt x="21600" y="29"/>
                  </a:cubicBezTo>
                  <a:cubicBezTo>
                    <a:pt x="21600" y="5740"/>
                    <a:pt x="19338" y="11218"/>
                    <a:pt x="15309" y="15266"/>
                  </a:cubicBezTo>
                  <a:lnTo>
                    <a:pt x="0" y="29"/>
                  </a:lnTo>
                  <a:close/>
                </a:path>
              </a:pathLst>
            </a:custGeom>
            <a:solidFill>
              <a:srgbClr val="000000"/>
            </a:solidFill>
            <a:ln w="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sp>
          <p:nvSpPr>
            <p:cNvPr id="29" name="Arc 37"/>
            <p:cNvSpPr>
              <a:spLocks/>
            </p:cNvSpPr>
            <p:nvPr/>
          </p:nvSpPr>
          <p:spPr bwMode="auto">
            <a:xfrm>
              <a:off x="86" y="87"/>
              <a:ext cx="62" cy="86"/>
            </a:xfrm>
            <a:custGeom>
              <a:avLst/>
              <a:gdLst>
                <a:gd name="G0" fmla="+- 0 0 0"/>
                <a:gd name="G1" fmla="+- 0 0 0"/>
                <a:gd name="G2" fmla="+- 21600 0 0"/>
                <a:gd name="T0" fmla="*/ 15386 w 15386"/>
                <a:gd name="T1" fmla="*/ 15159 h 21599"/>
                <a:gd name="T2" fmla="*/ 28 w 15386"/>
                <a:gd name="T3" fmla="*/ 21599 h 21599"/>
                <a:gd name="T4" fmla="*/ 0 w 15386"/>
                <a:gd name="T5" fmla="*/ 0 h 21599"/>
              </a:gdLst>
              <a:ahLst/>
              <a:cxnLst>
                <a:cxn ang="0">
                  <a:pos x="T0" y="T1"/>
                </a:cxn>
                <a:cxn ang="0">
                  <a:pos x="T2" y="T3"/>
                </a:cxn>
                <a:cxn ang="0">
                  <a:pos x="T4" y="T5"/>
                </a:cxn>
              </a:cxnLst>
              <a:rect l="0" t="0" r="r" b="b"/>
              <a:pathLst>
                <a:path w="15386" h="21599" fill="none" extrusionOk="0">
                  <a:moveTo>
                    <a:pt x="15386" y="15159"/>
                  </a:moveTo>
                  <a:cubicBezTo>
                    <a:pt x="11333" y="19273"/>
                    <a:pt x="5802" y="21592"/>
                    <a:pt x="28" y="21599"/>
                  </a:cubicBezTo>
                </a:path>
                <a:path w="15386" h="21599" stroke="0" extrusionOk="0">
                  <a:moveTo>
                    <a:pt x="15386" y="15159"/>
                  </a:moveTo>
                  <a:cubicBezTo>
                    <a:pt x="11333" y="19273"/>
                    <a:pt x="5802" y="21592"/>
                    <a:pt x="28" y="21599"/>
                  </a:cubicBezTo>
                  <a:lnTo>
                    <a:pt x="0" y="0"/>
                  </a:lnTo>
                  <a:close/>
                </a:path>
              </a:pathLst>
            </a:custGeom>
            <a:solidFill>
              <a:srgbClr val="000000"/>
            </a:solidFill>
            <a:ln w="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sp>
          <p:nvSpPr>
            <p:cNvPr id="30" name="Arc 38"/>
            <p:cNvSpPr>
              <a:spLocks/>
            </p:cNvSpPr>
            <p:nvPr/>
          </p:nvSpPr>
          <p:spPr bwMode="auto">
            <a:xfrm flipH="1">
              <a:off x="0" y="87"/>
              <a:ext cx="87" cy="61"/>
            </a:xfrm>
            <a:custGeom>
              <a:avLst/>
              <a:gdLst>
                <a:gd name="G0" fmla="+- 0 0 0"/>
                <a:gd name="G1" fmla="+- 29 0 0"/>
                <a:gd name="G2" fmla="+- 21600 0 0"/>
                <a:gd name="T0" fmla="*/ 21599 w 21600"/>
                <a:gd name="T1" fmla="*/ 0 h 15266"/>
                <a:gd name="T2" fmla="*/ 15309 w 21600"/>
                <a:gd name="T3" fmla="*/ 15266 h 15266"/>
                <a:gd name="T4" fmla="*/ 0 w 21600"/>
                <a:gd name="T5" fmla="*/ 29 h 15266"/>
              </a:gdLst>
              <a:ahLst/>
              <a:cxnLst>
                <a:cxn ang="0">
                  <a:pos x="T0" y="T1"/>
                </a:cxn>
                <a:cxn ang="0">
                  <a:pos x="T2" y="T3"/>
                </a:cxn>
                <a:cxn ang="0">
                  <a:pos x="T4" y="T5"/>
                </a:cxn>
              </a:cxnLst>
              <a:rect l="0" t="0" r="r" b="b"/>
              <a:pathLst>
                <a:path w="21600" h="15266" fill="none" extrusionOk="0">
                  <a:moveTo>
                    <a:pt x="21599" y="-1"/>
                  </a:moveTo>
                  <a:cubicBezTo>
                    <a:pt x="21599" y="9"/>
                    <a:pt x="21600" y="19"/>
                    <a:pt x="21600" y="29"/>
                  </a:cubicBezTo>
                  <a:cubicBezTo>
                    <a:pt x="21600" y="5740"/>
                    <a:pt x="19338" y="11218"/>
                    <a:pt x="15309" y="15266"/>
                  </a:cubicBezTo>
                </a:path>
                <a:path w="21600" h="15266" stroke="0" extrusionOk="0">
                  <a:moveTo>
                    <a:pt x="21599" y="-1"/>
                  </a:moveTo>
                  <a:cubicBezTo>
                    <a:pt x="21599" y="9"/>
                    <a:pt x="21600" y="19"/>
                    <a:pt x="21600" y="29"/>
                  </a:cubicBezTo>
                  <a:cubicBezTo>
                    <a:pt x="21600" y="5740"/>
                    <a:pt x="19338" y="11218"/>
                    <a:pt x="15309" y="15266"/>
                  </a:cubicBezTo>
                  <a:lnTo>
                    <a:pt x="0" y="29"/>
                  </a:lnTo>
                  <a:close/>
                </a:path>
              </a:pathLst>
            </a:custGeom>
            <a:solidFill>
              <a:srgbClr val="000000"/>
            </a:solidFill>
            <a:ln w="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sp>
          <p:nvSpPr>
            <p:cNvPr id="31" name="Arc 39"/>
            <p:cNvSpPr>
              <a:spLocks/>
            </p:cNvSpPr>
            <p:nvPr/>
          </p:nvSpPr>
          <p:spPr bwMode="auto">
            <a:xfrm flipH="1">
              <a:off x="25" y="87"/>
              <a:ext cx="62" cy="86"/>
            </a:xfrm>
            <a:custGeom>
              <a:avLst/>
              <a:gdLst>
                <a:gd name="G0" fmla="+- 0 0 0"/>
                <a:gd name="G1" fmla="+- 0 0 0"/>
                <a:gd name="G2" fmla="+- 21600 0 0"/>
                <a:gd name="T0" fmla="*/ 15386 w 15386"/>
                <a:gd name="T1" fmla="*/ 15159 h 21599"/>
                <a:gd name="T2" fmla="*/ 28 w 15386"/>
                <a:gd name="T3" fmla="*/ 21599 h 21599"/>
                <a:gd name="T4" fmla="*/ 0 w 15386"/>
                <a:gd name="T5" fmla="*/ 0 h 21599"/>
              </a:gdLst>
              <a:ahLst/>
              <a:cxnLst>
                <a:cxn ang="0">
                  <a:pos x="T0" y="T1"/>
                </a:cxn>
                <a:cxn ang="0">
                  <a:pos x="T2" y="T3"/>
                </a:cxn>
                <a:cxn ang="0">
                  <a:pos x="T4" y="T5"/>
                </a:cxn>
              </a:cxnLst>
              <a:rect l="0" t="0" r="r" b="b"/>
              <a:pathLst>
                <a:path w="15386" h="21599" fill="none" extrusionOk="0">
                  <a:moveTo>
                    <a:pt x="15386" y="15159"/>
                  </a:moveTo>
                  <a:cubicBezTo>
                    <a:pt x="11333" y="19273"/>
                    <a:pt x="5802" y="21592"/>
                    <a:pt x="28" y="21599"/>
                  </a:cubicBezTo>
                </a:path>
                <a:path w="15386" h="21599" stroke="0" extrusionOk="0">
                  <a:moveTo>
                    <a:pt x="15386" y="15159"/>
                  </a:moveTo>
                  <a:cubicBezTo>
                    <a:pt x="11333" y="19273"/>
                    <a:pt x="5802" y="21592"/>
                    <a:pt x="28" y="21599"/>
                  </a:cubicBezTo>
                  <a:lnTo>
                    <a:pt x="0" y="0"/>
                  </a:lnTo>
                  <a:close/>
                </a:path>
              </a:pathLst>
            </a:custGeom>
            <a:solidFill>
              <a:srgbClr val="000000"/>
            </a:solidFill>
            <a:ln w="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sp>
          <p:nvSpPr>
            <p:cNvPr id="32" name="Oval 40"/>
            <p:cNvSpPr>
              <a:spLocks noChangeArrowheads="1"/>
            </p:cNvSpPr>
            <p:nvPr/>
          </p:nvSpPr>
          <p:spPr bwMode="auto">
            <a:xfrm>
              <a:off x="0" y="0"/>
              <a:ext cx="173" cy="173"/>
            </a:xfrm>
            <a:prstGeom prst="ellipse">
              <a:avLst/>
            </a:prstGeom>
            <a:noFill/>
            <a:ln w="63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sp>
          <p:nvSpPr>
            <p:cNvPr id="33" name="Arc 41"/>
            <p:cNvSpPr>
              <a:spLocks/>
            </p:cNvSpPr>
            <p:nvPr/>
          </p:nvSpPr>
          <p:spPr bwMode="auto">
            <a:xfrm>
              <a:off x="86" y="25"/>
              <a:ext cx="87" cy="62"/>
            </a:xfrm>
            <a:custGeom>
              <a:avLst/>
              <a:gdLst>
                <a:gd name="G0" fmla="+- 0 0 0"/>
                <a:gd name="G1" fmla="+- 15382 0 0"/>
                <a:gd name="G2" fmla="+- 21600 0 0"/>
                <a:gd name="T0" fmla="*/ 15163 w 21600"/>
                <a:gd name="T1" fmla="*/ 0 h 15382"/>
                <a:gd name="T2" fmla="*/ 21600 w 21600"/>
                <a:gd name="T3" fmla="*/ 15382 h 15382"/>
                <a:gd name="T4" fmla="*/ 0 w 21600"/>
                <a:gd name="T5" fmla="*/ 15382 h 15382"/>
              </a:gdLst>
              <a:ahLst/>
              <a:cxnLst>
                <a:cxn ang="0">
                  <a:pos x="T0" y="T1"/>
                </a:cxn>
                <a:cxn ang="0">
                  <a:pos x="T2" y="T3"/>
                </a:cxn>
                <a:cxn ang="0">
                  <a:pos x="T4" y="T5"/>
                </a:cxn>
              </a:cxnLst>
              <a:rect l="0" t="0" r="r" b="b"/>
              <a:pathLst>
                <a:path w="21600" h="15382" fill="none" extrusionOk="0">
                  <a:moveTo>
                    <a:pt x="15163" y="-1"/>
                  </a:moveTo>
                  <a:cubicBezTo>
                    <a:pt x="19281" y="4058"/>
                    <a:pt x="21600" y="9599"/>
                    <a:pt x="21600" y="15382"/>
                  </a:cubicBezTo>
                </a:path>
                <a:path w="21600" h="15382" stroke="0" extrusionOk="0">
                  <a:moveTo>
                    <a:pt x="15163" y="-1"/>
                  </a:moveTo>
                  <a:cubicBezTo>
                    <a:pt x="19281" y="4058"/>
                    <a:pt x="21600" y="9599"/>
                    <a:pt x="21600" y="15382"/>
                  </a:cubicBezTo>
                  <a:lnTo>
                    <a:pt x="0" y="15382"/>
                  </a:lnTo>
                  <a:close/>
                </a:path>
              </a:pathLst>
            </a:custGeom>
            <a:solidFill>
              <a:srgbClr val="000000"/>
            </a:solidFill>
            <a:ln w="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grpSp>
    </p:spTree>
    <p:extLst>
      <p:ext uri="{BB962C8B-B14F-4D97-AF65-F5344CB8AC3E}">
        <p14:creationId xmlns:p14="http://schemas.microsoft.com/office/powerpoint/2010/main" val="1859482623"/>
      </p:ext>
    </p:extLst>
  </p:cSld>
  <p:clrMapOvr>
    <a:masterClrMapping/>
  </p:clrMapOvr>
  <mc:AlternateContent xmlns:mc="http://schemas.openxmlformats.org/markup-compatibility/2006">
    <mc:Choice xmlns:p14="http://schemas.microsoft.com/office/powerpoint/2010/main" Requires="p14">
      <p:transition p14:dur="250">
        <p14:reveal/>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childTnLst>
                                </p:cTn>
                              </p:par>
                              <p:par>
                                <p:cTn id="8" presetID="10" presetClass="entr" presetSubtype="0" fill="hold" grpId="0" nodeType="withEffect">
                                  <p:stCondLst>
                                    <p:cond delay="25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1000"/>
                                        <p:tgtEl>
                                          <p:spTgt spid="16"/>
                                        </p:tgtEl>
                                      </p:cBhvr>
                                    </p:animEffect>
                                  </p:childTnLst>
                                </p:cTn>
                              </p:par>
                              <p:par>
                                <p:cTn id="11" presetID="10" presetClass="entr" presetSubtype="0" fill="hold" grpId="0" nodeType="withEffect">
                                  <p:stCondLst>
                                    <p:cond delay="25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17"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76780" t="78172" r="18395" b="12686"/>
          <a:stretch/>
        </p:blipFill>
        <p:spPr bwMode="auto">
          <a:xfrm>
            <a:off x="8188658" y="4384319"/>
            <a:ext cx="955343" cy="7639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9"/>
          <p:cNvPicPr>
            <a:picLocks noChangeAspect="1"/>
          </p:cNvPicPr>
          <p:nvPr/>
        </p:nvPicPr>
        <p:blipFill>
          <a:blip r:embed="rId4"/>
          <a:stretch>
            <a:fillRect/>
          </a:stretch>
        </p:blipFill>
        <p:spPr>
          <a:xfrm>
            <a:off x="7021333" y="289005"/>
            <a:ext cx="1603348" cy="291323"/>
          </a:xfrm>
          <a:prstGeom prst="rect">
            <a:avLst/>
          </a:prstGeom>
        </p:spPr>
      </p:pic>
      <p:pic>
        <p:nvPicPr>
          <p:cNvPr id="8" name="Picture 1" descr="t03-02.jpg"/>
          <p:cNvPicPr>
            <a:picLocks noChangeAspect="1"/>
          </p:cNvPicPr>
          <p:nvPr/>
        </p:nvPicPr>
        <p:blipFill rotWithShape="1">
          <a:blip r:embed="rId5">
            <a:extLst>
              <a:ext uri="{28A0092B-C50C-407E-A947-70E740481C1C}">
                <a14:useLocalDpi xmlns:a14="http://schemas.microsoft.com/office/drawing/2010/main" val="0"/>
              </a:ext>
            </a:extLst>
          </a:blip>
          <a:srcRect r="91368" b="84909"/>
          <a:stretch/>
        </p:blipFill>
        <p:spPr>
          <a:xfrm>
            <a:off x="0" y="0"/>
            <a:ext cx="789296" cy="776935"/>
          </a:xfrm>
          <a:prstGeom prst="rect">
            <a:avLst/>
          </a:prstGeom>
        </p:spPr>
      </p:pic>
      <p:sp>
        <p:nvSpPr>
          <p:cNvPr id="6" name="CaixaDeTexto 5"/>
          <p:cNvSpPr txBox="1"/>
          <p:nvPr/>
        </p:nvSpPr>
        <p:spPr>
          <a:xfrm>
            <a:off x="2039091" y="300128"/>
            <a:ext cx="184731" cy="369332"/>
          </a:xfrm>
          <a:prstGeom prst="rect">
            <a:avLst/>
          </a:prstGeom>
          <a:noFill/>
        </p:spPr>
        <p:txBody>
          <a:bodyPr wrap="none" rtlCol="0">
            <a:spAutoFit/>
          </a:bodyPr>
          <a:lstStyle/>
          <a:p>
            <a:endParaRPr lang="pt-BR" dirty="0"/>
          </a:p>
        </p:txBody>
      </p:sp>
      <p:sp>
        <p:nvSpPr>
          <p:cNvPr id="9" name="Title 1"/>
          <p:cNvSpPr txBox="1">
            <a:spLocks/>
          </p:cNvSpPr>
          <p:nvPr/>
        </p:nvSpPr>
        <p:spPr>
          <a:xfrm>
            <a:off x="576681" y="-43097"/>
            <a:ext cx="6254098" cy="5604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pt-BR" sz="2400" b="1" dirty="0">
                <a:solidFill>
                  <a:schemeClr val="tx2"/>
                </a:solidFill>
                <a:latin typeface="Arial" pitchFamily="34" charset="0"/>
                <a:cs typeface="Arial" pitchFamily="34" charset="0"/>
              </a:rPr>
              <a:t>9</a:t>
            </a:r>
            <a:r>
              <a:rPr lang="pt-BR" sz="2400" b="1" dirty="0" smtClean="0">
                <a:solidFill>
                  <a:schemeClr val="tx2"/>
                </a:solidFill>
                <a:latin typeface="Arial" pitchFamily="34" charset="0"/>
                <a:cs typeface="Arial" pitchFamily="34" charset="0"/>
              </a:rPr>
              <a:t>. Projeto: </a:t>
            </a:r>
            <a:r>
              <a:rPr lang="pt-BR" sz="2400" b="1" dirty="0">
                <a:solidFill>
                  <a:schemeClr val="tx2"/>
                </a:solidFill>
                <a:latin typeface="Arial" pitchFamily="34" charset="0"/>
                <a:cs typeface="Arial" pitchFamily="34" charset="0"/>
              </a:rPr>
              <a:t>Ura Internalização</a:t>
            </a:r>
          </a:p>
        </p:txBody>
      </p:sp>
      <p:sp>
        <p:nvSpPr>
          <p:cNvPr id="12" name="Retângulo 11"/>
          <p:cNvSpPr/>
          <p:nvPr/>
        </p:nvSpPr>
        <p:spPr>
          <a:xfrm>
            <a:off x="231619" y="2054536"/>
            <a:ext cx="2716382" cy="3009833"/>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0" lvl="1" algn="ctr">
              <a:spcBef>
                <a:spcPts val="200"/>
              </a:spcBef>
              <a:spcAft>
                <a:spcPts val="200"/>
              </a:spcAft>
            </a:pPr>
            <a:r>
              <a:rPr lang="pt-BR" sz="1400" b="1" dirty="0">
                <a:solidFill>
                  <a:schemeClr val="tx1">
                    <a:lumMod val="95000"/>
                    <a:lumOff val="5000"/>
                  </a:schemeClr>
                </a:solidFill>
              </a:rPr>
              <a:t>Últimas Realizações</a:t>
            </a:r>
            <a:endParaRPr lang="pt-BR" sz="1200" dirty="0">
              <a:solidFill>
                <a:schemeClr val="tx1">
                  <a:lumMod val="95000"/>
                  <a:lumOff val="5000"/>
                </a:schemeClr>
              </a:solidFill>
            </a:endParaRPr>
          </a:p>
          <a:p>
            <a:pPr lvl="0"/>
            <a:r>
              <a:rPr lang="pt-BR" sz="1200" b="1" dirty="0" smtClean="0">
                <a:solidFill>
                  <a:schemeClr val="tx1">
                    <a:lumMod val="95000"/>
                    <a:lumOff val="5000"/>
                  </a:schemeClr>
                </a:solidFill>
              </a:rPr>
              <a:t>Treinamento concluído:</a:t>
            </a:r>
          </a:p>
          <a:p>
            <a:pPr marL="171450" lvl="1" indent="-171450">
              <a:spcBef>
                <a:spcPts val="200"/>
              </a:spcBef>
              <a:spcAft>
                <a:spcPts val="200"/>
              </a:spcAft>
              <a:buFont typeface="Wingdings" panose="05000000000000000000" pitchFamily="2" charset="2"/>
              <a:buChar char="ü"/>
            </a:pPr>
            <a:r>
              <a:rPr lang="pt-PT" sz="1200" dirty="0">
                <a:solidFill>
                  <a:schemeClr val="tx1">
                    <a:lumMod val="95000"/>
                    <a:lumOff val="5000"/>
                  </a:schemeClr>
                </a:solidFill>
              </a:rPr>
              <a:t>Realizada a reunião para adequar e realinhar estratégia com a equipe de José Carlos</a:t>
            </a:r>
            <a:r>
              <a:rPr lang="pt-PT" sz="1200" dirty="0" smtClean="0">
                <a:solidFill>
                  <a:schemeClr val="tx1">
                    <a:lumMod val="95000"/>
                    <a:lumOff val="5000"/>
                  </a:schemeClr>
                </a:solidFill>
              </a:rPr>
              <a:t>.</a:t>
            </a:r>
            <a:endParaRPr lang="en-US" sz="1200" dirty="0" smtClean="0">
              <a:solidFill>
                <a:schemeClr val="tx1">
                  <a:lumMod val="95000"/>
                  <a:lumOff val="5000"/>
                </a:schemeClr>
              </a:solidFill>
            </a:endParaRPr>
          </a:p>
          <a:p>
            <a:pPr marL="171450" lvl="1" indent="-171450">
              <a:spcBef>
                <a:spcPts val="200"/>
              </a:spcBef>
              <a:spcAft>
                <a:spcPts val="200"/>
              </a:spcAft>
              <a:buFont typeface="Wingdings" panose="05000000000000000000" pitchFamily="2" charset="2"/>
              <a:buChar char="ü"/>
            </a:pPr>
            <a:r>
              <a:rPr lang="en-US" sz="1200" dirty="0" smtClean="0">
                <a:solidFill>
                  <a:schemeClr val="tx1">
                    <a:lumMod val="95000"/>
                    <a:lumOff val="5000"/>
                  </a:schemeClr>
                </a:solidFill>
              </a:rPr>
              <a:t>20 </a:t>
            </a:r>
            <a:r>
              <a:rPr lang="en-US" sz="1200" dirty="0" err="1">
                <a:solidFill>
                  <a:schemeClr val="tx1">
                    <a:lumMod val="95000"/>
                    <a:lumOff val="5000"/>
                  </a:schemeClr>
                </a:solidFill>
              </a:rPr>
              <a:t>Junho</a:t>
            </a:r>
            <a:r>
              <a:rPr lang="en-US" sz="1200" dirty="0">
                <a:solidFill>
                  <a:schemeClr val="tx1">
                    <a:lumMod val="95000"/>
                    <a:lumOff val="5000"/>
                  </a:schemeClr>
                </a:solidFill>
              </a:rPr>
              <a:t> - </a:t>
            </a:r>
            <a:r>
              <a:rPr lang="en-US" sz="1200" dirty="0" err="1">
                <a:solidFill>
                  <a:schemeClr val="tx1">
                    <a:lumMod val="95000"/>
                    <a:lumOff val="5000"/>
                  </a:schemeClr>
                </a:solidFill>
              </a:rPr>
              <a:t>Genesys</a:t>
            </a:r>
            <a:r>
              <a:rPr lang="en-US" sz="1200" dirty="0">
                <a:solidFill>
                  <a:schemeClr val="tx1">
                    <a:lumMod val="95000"/>
                    <a:lumOff val="5000"/>
                  </a:schemeClr>
                </a:solidFill>
              </a:rPr>
              <a:t> Core Applications Solution (Presales</a:t>
            </a:r>
            <a:r>
              <a:rPr lang="en-US" sz="1200" dirty="0" smtClean="0">
                <a:solidFill>
                  <a:schemeClr val="tx1">
                    <a:lumMod val="95000"/>
                    <a:lumOff val="5000"/>
                  </a:schemeClr>
                </a:solidFill>
              </a:rPr>
              <a:t>) – </a:t>
            </a:r>
            <a:r>
              <a:rPr lang="en-US" sz="1200" dirty="0" err="1" smtClean="0">
                <a:solidFill>
                  <a:schemeClr val="tx1">
                    <a:lumMod val="95000"/>
                    <a:lumOff val="5000"/>
                  </a:schemeClr>
                </a:solidFill>
              </a:rPr>
              <a:t>Conclusão</a:t>
            </a:r>
            <a:r>
              <a:rPr lang="en-US" sz="1200" dirty="0" smtClean="0">
                <a:solidFill>
                  <a:schemeClr val="tx1">
                    <a:lumMod val="95000"/>
                    <a:lumOff val="5000"/>
                  </a:schemeClr>
                </a:solidFill>
              </a:rPr>
              <a:t> (30/6) </a:t>
            </a:r>
            <a:endParaRPr lang="en-US" sz="1200" dirty="0">
              <a:solidFill>
                <a:schemeClr val="tx1">
                  <a:lumMod val="95000"/>
                  <a:lumOff val="5000"/>
                </a:schemeClr>
              </a:solidFill>
            </a:endParaRPr>
          </a:p>
          <a:p>
            <a:pPr marL="171450" lvl="1" indent="-171450">
              <a:spcBef>
                <a:spcPts val="200"/>
              </a:spcBef>
              <a:spcAft>
                <a:spcPts val="200"/>
              </a:spcAft>
              <a:buFont typeface="Wingdings" panose="05000000000000000000" pitchFamily="2" charset="2"/>
              <a:buChar char="ü"/>
            </a:pPr>
            <a:r>
              <a:rPr lang="en-US" sz="1200" dirty="0">
                <a:solidFill>
                  <a:schemeClr val="tx1">
                    <a:lumMod val="95000"/>
                    <a:lumOff val="5000"/>
                  </a:schemeClr>
                </a:solidFill>
              </a:rPr>
              <a:t> 21 </a:t>
            </a:r>
            <a:r>
              <a:rPr lang="en-US" sz="1200" dirty="0" err="1">
                <a:solidFill>
                  <a:schemeClr val="tx1">
                    <a:lumMod val="95000"/>
                    <a:lumOff val="5000"/>
                  </a:schemeClr>
                </a:solidFill>
              </a:rPr>
              <a:t>Junho</a:t>
            </a:r>
            <a:r>
              <a:rPr lang="en-US" sz="1200" dirty="0">
                <a:solidFill>
                  <a:schemeClr val="tx1">
                    <a:lumMod val="95000"/>
                    <a:lumOff val="5000"/>
                  </a:schemeClr>
                </a:solidFill>
              </a:rPr>
              <a:t>  - CIM Platform </a:t>
            </a:r>
            <a:r>
              <a:rPr lang="en-US" sz="1200" dirty="0" smtClean="0">
                <a:solidFill>
                  <a:schemeClr val="tx1">
                    <a:lumMod val="95000"/>
                    <a:lumOff val="5000"/>
                  </a:schemeClr>
                </a:solidFill>
              </a:rPr>
              <a:t>troubleshooting – </a:t>
            </a:r>
            <a:r>
              <a:rPr lang="en-US" sz="1200" dirty="0" err="1" smtClean="0">
                <a:solidFill>
                  <a:schemeClr val="tx1">
                    <a:lumMod val="95000"/>
                    <a:lumOff val="5000"/>
                  </a:schemeClr>
                </a:solidFill>
              </a:rPr>
              <a:t>Conclusão</a:t>
            </a:r>
            <a:r>
              <a:rPr lang="en-US" sz="1200" dirty="0" smtClean="0">
                <a:solidFill>
                  <a:schemeClr val="tx1">
                    <a:lumMod val="95000"/>
                    <a:lumOff val="5000"/>
                  </a:schemeClr>
                </a:solidFill>
              </a:rPr>
              <a:t> (24/6)</a:t>
            </a:r>
          </a:p>
          <a:p>
            <a:pPr marL="0" lvl="1">
              <a:spcBef>
                <a:spcPts val="200"/>
              </a:spcBef>
              <a:spcAft>
                <a:spcPts val="200"/>
              </a:spcAft>
            </a:pPr>
            <a:endParaRPr lang="pt-BR" sz="1200" dirty="0">
              <a:solidFill>
                <a:schemeClr val="tx1">
                  <a:lumMod val="95000"/>
                  <a:lumOff val="5000"/>
                </a:schemeClr>
              </a:solidFill>
            </a:endParaRPr>
          </a:p>
          <a:p>
            <a:pPr lvl="0"/>
            <a:endParaRPr lang="pt-BR" sz="1200" dirty="0">
              <a:solidFill>
                <a:schemeClr val="tx1">
                  <a:lumMod val="95000"/>
                  <a:lumOff val="5000"/>
                </a:schemeClr>
              </a:solidFill>
            </a:endParaRPr>
          </a:p>
          <a:p>
            <a:pPr lvl="0"/>
            <a:endParaRPr lang="pt-BR" sz="1200" dirty="0">
              <a:solidFill>
                <a:schemeClr val="tx1">
                  <a:lumMod val="95000"/>
                  <a:lumOff val="5000"/>
                </a:schemeClr>
              </a:solidFill>
            </a:endParaRPr>
          </a:p>
          <a:p>
            <a:pPr marL="285750" lvl="1" indent="-285750">
              <a:spcBef>
                <a:spcPts val="200"/>
              </a:spcBef>
              <a:spcAft>
                <a:spcPts val="200"/>
              </a:spcAft>
              <a:buFont typeface="Wingdings" panose="05000000000000000000" pitchFamily="2" charset="2"/>
              <a:buChar char="Ø"/>
            </a:pPr>
            <a:endParaRPr lang="pt-BR" sz="1200" dirty="0" smtClean="0">
              <a:solidFill>
                <a:schemeClr val="tx1">
                  <a:lumMod val="95000"/>
                  <a:lumOff val="5000"/>
                </a:schemeClr>
              </a:solidFill>
            </a:endParaRPr>
          </a:p>
          <a:p>
            <a:pPr marL="0" lvl="1">
              <a:spcBef>
                <a:spcPts val="200"/>
              </a:spcBef>
              <a:spcAft>
                <a:spcPts val="200"/>
              </a:spcAft>
            </a:pPr>
            <a:r>
              <a:rPr lang="pt-BR" sz="1200" dirty="0" smtClean="0">
                <a:solidFill>
                  <a:srgbClr val="00B050"/>
                </a:solidFill>
              </a:rPr>
              <a:t> </a:t>
            </a:r>
            <a:endParaRPr lang="pt-BR" sz="1200" dirty="0">
              <a:solidFill>
                <a:srgbClr val="00B050"/>
              </a:solidFill>
            </a:endParaRPr>
          </a:p>
          <a:p>
            <a:pPr marL="0" lvl="1">
              <a:spcBef>
                <a:spcPts val="200"/>
              </a:spcBef>
              <a:spcAft>
                <a:spcPts val="200"/>
              </a:spcAft>
            </a:pPr>
            <a:endParaRPr lang="pt-BR" sz="1200" dirty="0">
              <a:solidFill>
                <a:schemeClr val="tx1">
                  <a:lumMod val="95000"/>
                  <a:lumOff val="5000"/>
                </a:schemeClr>
              </a:solidFill>
            </a:endParaRPr>
          </a:p>
        </p:txBody>
      </p:sp>
      <p:sp>
        <p:nvSpPr>
          <p:cNvPr id="15" name="Retângulo de cantos arredondados 14"/>
          <p:cNvSpPr/>
          <p:nvPr/>
        </p:nvSpPr>
        <p:spPr>
          <a:xfrm>
            <a:off x="231619" y="776935"/>
            <a:ext cx="3064339" cy="1080993"/>
          </a:xfrm>
          <a:prstGeom prst="roundRect">
            <a:avLst/>
          </a:prstGeom>
          <a:solidFill>
            <a:schemeClr val="accent6">
              <a:lumMod val="75000"/>
            </a:schemeClr>
          </a:soli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r>
              <a:rPr lang="pt-BR" sz="1400" b="1" dirty="0" smtClean="0">
                <a:effectLst>
                  <a:outerShdw blurRad="38100" dist="38100" dir="2700000" algn="tl">
                    <a:srgbClr val="000000">
                      <a:alpha val="43137"/>
                    </a:srgbClr>
                  </a:outerShdw>
                </a:effectLst>
              </a:rPr>
              <a:t>Projeto: </a:t>
            </a:r>
            <a:r>
              <a:rPr lang="pt-BR" sz="1400" b="1" dirty="0">
                <a:effectLst>
                  <a:outerShdw blurRad="38100" dist="38100" dir="2700000" algn="tl">
                    <a:srgbClr val="000000">
                      <a:alpha val="43137"/>
                    </a:srgbClr>
                  </a:outerShdw>
                </a:effectLst>
              </a:rPr>
              <a:t>Ura Internalização</a:t>
            </a:r>
            <a:endParaRPr lang="pt-BR" sz="1400" b="1" dirty="0" smtClean="0">
              <a:effectLst>
                <a:outerShdw blurRad="38100" dist="38100" dir="2700000" algn="tl">
                  <a:srgbClr val="000000">
                    <a:alpha val="43137"/>
                  </a:srgbClr>
                </a:outerShdw>
              </a:effectLst>
            </a:endParaRPr>
          </a:p>
          <a:p>
            <a:r>
              <a:rPr lang="pt-BR" sz="1200" i="1" dirty="0" smtClean="0"/>
              <a:t>Data Inicio: 14-4-2016</a:t>
            </a:r>
          </a:p>
          <a:p>
            <a:r>
              <a:rPr lang="pt-BR" sz="1200" i="1" dirty="0" smtClean="0"/>
              <a:t>Data Conclusão: 02-09-2016</a:t>
            </a:r>
          </a:p>
          <a:p>
            <a:r>
              <a:rPr lang="pt-BR" sz="1200" i="1" dirty="0" smtClean="0"/>
              <a:t>Progresso: 32%</a:t>
            </a:r>
          </a:p>
          <a:p>
            <a:r>
              <a:rPr lang="pt-BR" sz="1200" i="1" dirty="0" smtClean="0"/>
              <a:t>PM</a:t>
            </a:r>
            <a:r>
              <a:rPr lang="pt-BR" sz="1200" i="1" dirty="0"/>
              <a:t>: </a:t>
            </a:r>
            <a:r>
              <a:rPr lang="pt-BR" sz="1200" i="1" dirty="0" err="1" smtClean="0"/>
              <a:t>Luis</a:t>
            </a:r>
            <a:r>
              <a:rPr lang="pt-BR" sz="1200" i="1" dirty="0" smtClean="0"/>
              <a:t> Marçal</a:t>
            </a:r>
          </a:p>
        </p:txBody>
      </p:sp>
      <p:sp>
        <p:nvSpPr>
          <p:cNvPr id="16" name="Retângulo 15"/>
          <p:cNvSpPr/>
          <p:nvPr/>
        </p:nvSpPr>
        <p:spPr>
          <a:xfrm>
            <a:off x="3131587" y="2054535"/>
            <a:ext cx="2716382" cy="2983027"/>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0" lvl="1" algn="ctr">
              <a:spcBef>
                <a:spcPts val="200"/>
              </a:spcBef>
              <a:spcAft>
                <a:spcPts val="200"/>
              </a:spcAft>
            </a:pPr>
            <a:r>
              <a:rPr lang="pt-BR" sz="1400" b="1" dirty="0">
                <a:solidFill>
                  <a:schemeClr val="tx1">
                    <a:lumMod val="95000"/>
                    <a:lumOff val="5000"/>
                  </a:schemeClr>
                </a:solidFill>
              </a:rPr>
              <a:t>Próximas Ações</a:t>
            </a:r>
            <a:endParaRPr lang="pt-BR" sz="1400" dirty="0">
              <a:solidFill>
                <a:schemeClr val="tx1">
                  <a:lumMod val="95000"/>
                  <a:lumOff val="5000"/>
                </a:schemeClr>
              </a:solidFill>
            </a:endParaRPr>
          </a:p>
          <a:p>
            <a:pPr marL="171450" lvl="1" indent="-171450">
              <a:spcBef>
                <a:spcPts val="200"/>
              </a:spcBef>
              <a:spcAft>
                <a:spcPts val="200"/>
              </a:spcAft>
              <a:buFont typeface="Wingdings" panose="05000000000000000000" pitchFamily="2" charset="2"/>
              <a:buChar char="§"/>
            </a:pPr>
            <a:r>
              <a:rPr lang="pt-BR" sz="1200" dirty="0" smtClean="0">
                <a:solidFill>
                  <a:schemeClr val="tx1">
                    <a:lumMod val="95000"/>
                    <a:lumOff val="5000"/>
                  </a:schemeClr>
                </a:solidFill>
              </a:rPr>
              <a:t>Pendente de data da </a:t>
            </a:r>
            <a:r>
              <a:rPr lang="pt-BR" sz="1200" dirty="0" err="1" smtClean="0">
                <a:solidFill>
                  <a:schemeClr val="tx1">
                    <a:lumMod val="95000"/>
                    <a:lumOff val="5000"/>
                  </a:schemeClr>
                </a:solidFill>
              </a:rPr>
              <a:t>Genesys</a:t>
            </a:r>
            <a:r>
              <a:rPr lang="pt-BR" sz="1200" dirty="0" smtClean="0">
                <a:solidFill>
                  <a:schemeClr val="tx1">
                    <a:lumMod val="95000"/>
                    <a:lumOff val="5000"/>
                  </a:schemeClr>
                </a:solidFill>
              </a:rPr>
              <a:t>:</a:t>
            </a:r>
          </a:p>
          <a:p>
            <a:pPr marL="628650" lvl="1" indent="-171450">
              <a:buFont typeface="Wingdings" panose="05000000000000000000" pitchFamily="2" charset="2"/>
              <a:buChar char="§"/>
            </a:pPr>
            <a:r>
              <a:rPr lang="en-US" sz="1200" dirty="0" err="1" smtClean="0">
                <a:solidFill>
                  <a:schemeClr val="tx1">
                    <a:lumMod val="95000"/>
                    <a:lumOff val="5000"/>
                  </a:schemeClr>
                </a:solidFill>
              </a:rPr>
              <a:t>Genesys</a:t>
            </a:r>
            <a:r>
              <a:rPr lang="en-US" sz="1200" dirty="0" smtClean="0">
                <a:solidFill>
                  <a:schemeClr val="tx1">
                    <a:lumMod val="95000"/>
                    <a:lumOff val="5000"/>
                  </a:schemeClr>
                </a:solidFill>
              </a:rPr>
              <a:t> </a:t>
            </a:r>
            <a:r>
              <a:rPr lang="en-US" sz="1200" dirty="0">
                <a:solidFill>
                  <a:schemeClr val="tx1">
                    <a:lumMod val="95000"/>
                    <a:lumOff val="5000"/>
                  </a:schemeClr>
                </a:solidFill>
              </a:rPr>
              <a:t>Routing and Solution Reporting 8.1 </a:t>
            </a:r>
            <a:r>
              <a:rPr lang="en-US" sz="1200" dirty="0" smtClean="0">
                <a:solidFill>
                  <a:schemeClr val="tx1">
                    <a:lumMod val="95000"/>
                    <a:lumOff val="5000"/>
                  </a:schemeClr>
                </a:solidFill>
              </a:rPr>
              <a:t>Deployment</a:t>
            </a:r>
            <a:endParaRPr lang="pt-BR" sz="1200" dirty="0">
              <a:solidFill>
                <a:schemeClr val="tx1">
                  <a:lumMod val="95000"/>
                  <a:lumOff val="5000"/>
                </a:schemeClr>
              </a:solidFill>
            </a:endParaRPr>
          </a:p>
          <a:p>
            <a:pPr marL="171450" indent="-171450">
              <a:buFont typeface="Wingdings" panose="05000000000000000000" pitchFamily="2" charset="2"/>
              <a:buChar char="§"/>
            </a:pPr>
            <a:r>
              <a:rPr lang="pt-BR" sz="1200" dirty="0" smtClean="0">
                <a:solidFill>
                  <a:schemeClr val="tx1">
                    <a:lumMod val="95000"/>
                    <a:lumOff val="5000"/>
                  </a:schemeClr>
                </a:solidFill>
              </a:rPr>
              <a:t>Atribuição de acesso </a:t>
            </a:r>
            <a:r>
              <a:rPr lang="pt-BR" sz="1200" dirty="0">
                <a:solidFill>
                  <a:schemeClr val="tx1">
                    <a:lumMod val="95000"/>
                    <a:lumOff val="5000"/>
                  </a:schemeClr>
                </a:solidFill>
              </a:rPr>
              <a:t>aos </a:t>
            </a:r>
            <a:r>
              <a:rPr lang="pt-BR" sz="1200" dirty="0" smtClean="0">
                <a:solidFill>
                  <a:schemeClr val="tx1">
                    <a:lumMod val="95000"/>
                    <a:lumOff val="5000"/>
                  </a:schemeClr>
                </a:solidFill>
              </a:rPr>
              <a:t>servidores da URA para um utilizador.</a:t>
            </a:r>
          </a:p>
          <a:p>
            <a:pPr marL="171450" indent="-171450">
              <a:buFont typeface="Wingdings" panose="05000000000000000000" pitchFamily="2" charset="2"/>
              <a:buChar char="§"/>
            </a:pPr>
            <a:r>
              <a:rPr lang="pt-BR" sz="1200" dirty="0">
                <a:solidFill>
                  <a:schemeClr val="tx1">
                    <a:lumMod val="95000"/>
                    <a:lumOff val="5000"/>
                  </a:schemeClr>
                </a:solidFill>
              </a:rPr>
              <a:t>Aplicações de URA - Conhecimento e gestão do código </a:t>
            </a:r>
            <a:r>
              <a:rPr lang="pt-BR" sz="1200" dirty="0" smtClean="0">
                <a:solidFill>
                  <a:schemeClr val="tx1">
                    <a:lumMod val="95000"/>
                    <a:lumOff val="5000"/>
                  </a:schemeClr>
                </a:solidFill>
              </a:rPr>
              <a:t>fonte.</a:t>
            </a:r>
            <a:endParaRPr lang="en-US" sz="1200" dirty="0">
              <a:solidFill>
                <a:schemeClr val="tx1">
                  <a:lumMod val="95000"/>
                  <a:lumOff val="5000"/>
                </a:schemeClr>
              </a:solidFill>
            </a:endParaRPr>
          </a:p>
        </p:txBody>
      </p:sp>
      <p:sp>
        <p:nvSpPr>
          <p:cNvPr id="17" name="Retângulo 16"/>
          <p:cNvSpPr/>
          <p:nvPr/>
        </p:nvSpPr>
        <p:spPr>
          <a:xfrm>
            <a:off x="5949947" y="2054535"/>
            <a:ext cx="2716382" cy="3009834"/>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0" lvl="1" algn="ctr">
              <a:spcBef>
                <a:spcPts val="200"/>
              </a:spcBef>
              <a:spcAft>
                <a:spcPts val="200"/>
              </a:spcAft>
            </a:pPr>
            <a:r>
              <a:rPr lang="pt-BR" sz="1400" b="1" dirty="0" smtClean="0">
                <a:solidFill>
                  <a:schemeClr val="tx1">
                    <a:lumMod val="95000"/>
                    <a:lumOff val="5000"/>
                  </a:schemeClr>
                </a:solidFill>
              </a:rPr>
              <a:t>Riscos/Problemas/Observações</a:t>
            </a:r>
          </a:p>
          <a:p>
            <a:pPr marL="171450" lvl="1" indent="-171450">
              <a:spcBef>
                <a:spcPts val="200"/>
              </a:spcBef>
              <a:spcAft>
                <a:spcPts val="200"/>
              </a:spcAft>
              <a:buFont typeface="Arial" panose="020B0604020202020204" pitchFamily="34" charset="0"/>
              <a:buChar char="•"/>
            </a:pPr>
            <a:r>
              <a:rPr lang="pt-BR" sz="1200" dirty="0" smtClean="0">
                <a:solidFill>
                  <a:schemeClr val="tx1">
                    <a:lumMod val="95000"/>
                    <a:lumOff val="5000"/>
                  </a:schemeClr>
                </a:solidFill>
              </a:rPr>
              <a:t>A equipe do José Carlos, esta a adequar-se ao escopo traçado pela equipe, de quem herdou o legado da “Internalização da URA”. </a:t>
            </a:r>
          </a:p>
          <a:p>
            <a:pPr marL="285750" lvl="1" indent="-285750">
              <a:spcBef>
                <a:spcPts val="200"/>
              </a:spcBef>
              <a:spcAft>
                <a:spcPts val="200"/>
              </a:spcAft>
              <a:buFont typeface="Wingdings" panose="05000000000000000000" pitchFamily="2" charset="2"/>
              <a:buChar char="§"/>
            </a:pPr>
            <a:r>
              <a:rPr lang="pt-PT" sz="1200" b="1" dirty="0" smtClean="0">
                <a:solidFill>
                  <a:schemeClr val="tx1">
                    <a:lumMod val="95000"/>
                    <a:lumOff val="5000"/>
                  </a:schemeClr>
                </a:solidFill>
              </a:rPr>
              <a:t>Treinamento só para 1 pessoa</a:t>
            </a:r>
            <a:r>
              <a:rPr lang="pt-PT" sz="1200" dirty="0" smtClean="0">
                <a:solidFill>
                  <a:schemeClr val="tx1">
                    <a:lumMod val="95000"/>
                    <a:lumOff val="5000"/>
                  </a:schemeClr>
                </a:solidFill>
              </a:rPr>
              <a:t>. Necessita de mais tempo para passar conhecimneto para os demais elementos.</a:t>
            </a:r>
          </a:p>
          <a:p>
            <a:pPr marL="285750" lvl="1" indent="-285750">
              <a:spcBef>
                <a:spcPts val="200"/>
              </a:spcBef>
              <a:spcAft>
                <a:spcPts val="200"/>
              </a:spcAft>
              <a:buFont typeface="Wingdings" panose="05000000000000000000" pitchFamily="2" charset="2"/>
              <a:buChar char="§"/>
            </a:pPr>
            <a:r>
              <a:rPr lang="pt-BR" sz="1200" dirty="0" smtClean="0">
                <a:solidFill>
                  <a:schemeClr val="tx1">
                    <a:lumMod val="95000"/>
                    <a:lumOff val="5000"/>
                  </a:schemeClr>
                </a:solidFill>
              </a:rPr>
              <a:t>Como </a:t>
            </a:r>
            <a:r>
              <a:rPr lang="pt-BR" sz="1200" dirty="0">
                <a:solidFill>
                  <a:schemeClr val="tx1">
                    <a:lumMod val="95000"/>
                    <a:lumOff val="5000"/>
                  </a:schemeClr>
                </a:solidFill>
              </a:rPr>
              <a:t>o modelo de contratação é “spot”, será necessário </a:t>
            </a:r>
            <a:r>
              <a:rPr lang="pt-BR" sz="1200" b="1" dirty="0">
                <a:solidFill>
                  <a:schemeClr val="tx1">
                    <a:lumMod val="95000"/>
                    <a:lumOff val="5000"/>
                  </a:schemeClr>
                </a:solidFill>
              </a:rPr>
              <a:t>adequar as demandas ao nosso prazo de execução</a:t>
            </a:r>
            <a:r>
              <a:rPr lang="pt-BR" sz="1200" dirty="0">
                <a:solidFill>
                  <a:schemeClr val="tx1">
                    <a:lumMod val="95000"/>
                    <a:lumOff val="5000"/>
                  </a:schemeClr>
                </a:solidFill>
              </a:rPr>
              <a:t>, tendo em vista que estes recursos são suportados pelo contrato de outro cliente.  </a:t>
            </a:r>
          </a:p>
          <a:p>
            <a:pPr marL="0" lvl="1">
              <a:spcBef>
                <a:spcPts val="200"/>
              </a:spcBef>
              <a:spcAft>
                <a:spcPts val="200"/>
              </a:spcAft>
            </a:pPr>
            <a:endParaRPr lang="pt-PT" sz="1400" dirty="0" smtClean="0">
              <a:solidFill>
                <a:schemeClr val="tx1">
                  <a:lumMod val="95000"/>
                  <a:lumOff val="5000"/>
                </a:schemeClr>
              </a:solidFill>
            </a:endParaRPr>
          </a:p>
          <a:p>
            <a:pPr marL="0" lvl="1">
              <a:spcBef>
                <a:spcPts val="200"/>
              </a:spcBef>
              <a:spcAft>
                <a:spcPts val="200"/>
              </a:spcAft>
            </a:pPr>
            <a:endParaRPr lang="pt-BR" sz="1200" u="sng" dirty="0">
              <a:solidFill>
                <a:schemeClr val="tx1">
                  <a:lumMod val="95000"/>
                  <a:lumOff val="5000"/>
                </a:schemeClr>
              </a:solidFill>
            </a:endParaRPr>
          </a:p>
        </p:txBody>
      </p:sp>
      <p:sp>
        <p:nvSpPr>
          <p:cNvPr id="18" name="Retângulo de cantos arredondados 17"/>
          <p:cNvSpPr/>
          <p:nvPr/>
        </p:nvSpPr>
        <p:spPr>
          <a:xfrm>
            <a:off x="3382225" y="776936"/>
            <a:ext cx="5338175" cy="1080992"/>
          </a:xfrm>
          <a:prstGeom prst="roundRect">
            <a:avLst/>
          </a:prstGeom>
          <a:solidFill>
            <a:schemeClr val="accent1">
              <a:lumMod val="50000"/>
            </a:schemeClr>
          </a:soli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r>
              <a:rPr lang="pt-BR" sz="1400" b="1" dirty="0" smtClean="0">
                <a:effectLst>
                  <a:outerShdw blurRad="38100" dist="38100" dir="2700000" algn="tl">
                    <a:srgbClr val="000000">
                      <a:alpha val="43137"/>
                    </a:srgbClr>
                  </a:outerShdw>
                </a:effectLst>
              </a:rPr>
              <a:t>Descritivo:  </a:t>
            </a:r>
            <a:r>
              <a:rPr lang="pt-BR" sz="1400" dirty="0" smtClean="0"/>
              <a:t>Capacitação e treinamento interno.</a:t>
            </a:r>
          </a:p>
          <a:p>
            <a:r>
              <a:rPr lang="pt-BR" sz="1400" dirty="0" smtClean="0"/>
              <a:t>O objetivo é não depender de terceiros, e obter prestação de serviço interno com maior qualidade e rapidez, gerando “</a:t>
            </a:r>
            <a:r>
              <a:rPr lang="pt-BR" sz="1400" dirty="0" err="1" smtClean="0"/>
              <a:t>saving</a:t>
            </a:r>
            <a:r>
              <a:rPr lang="pt-BR" sz="1400" dirty="0" smtClean="0"/>
              <a:t>” no investimento de treinamento e certificado. </a:t>
            </a:r>
            <a:endParaRPr lang="pt-BR" sz="1400" dirty="0"/>
          </a:p>
        </p:txBody>
      </p:sp>
      <p:grpSp>
        <p:nvGrpSpPr>
          <p:cNvPr id="22" name="Group 16"/>
          <p:cNvGrpSpPr>
            <a:grpSpLocks/>
          </p:cNvGrpSpPr>
          <p:nvPr/>
        </p:nvGrpSpPr>
        <p:grpSpPr bwMode="auto">
          <a:xfrm>
            <a:off x="2945850" y="1522415"/>
            <a:ext cx="274638" cy="274638"/>
            <a:chOff x="0" y="0"/>
            <a:chExt cx="173" cy="173"/>
          </a:xfrm>
        </p:grpSpPr>
        <p:sp>
          <p:nvSpPr>
            <p:cNvPr id="23" name="Oval 17"/>
            <p:cNvSpPr>
              <a:spLocks noChangeArrowheads="1"/>
            </p:cNvSpPr>
            <p:nvPr/>
          </p:nvSpPr>
          <p:spPr bwMode="auto">
            <a:xfrm>
              <a:off x="0" y="0"/>
              <a:ext cx="173" cy="173"/>
            </a:xfrm>
            <a:prstGeom prst="ellipse">
              <a:avLst/>
            </a:prstGeom>
            <a:noFill/>
            <a:ln w="63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sp>
          <p:nvSpPr>
            <p:cNvPr id="24" name="Arc 18"/>
            <p:cNvSpPr>
              <a:spLocks/>
            </p:cNvSpPr>
            <p:nvPr/>
          </p:nvSpPr>
          <p:spPr bwMode="auto">
            <a:xfrm>
              <a:off x="86" y="0"/>
              <a:ext cx="62" cy="86"/>
            </a:xfrm>
            <a:custGeom>
              <a:avLst/>
              <a:gdLst>
                <a:gd name="G0" fmla="+- 58 0 0"/>
                <a:gd name="G1" fmla="+- 21600 0 0"/>
                <a:gd name="G2" fmla="+- 21600 0 0"/>
                <a:gd name="T0" fmla="*/ 0 w 15318"/>
                <a:gd name="T1" fmla="*/ 1 h 21600"/>
                <a:gd name="T2" fmla="*/ 15318 w 15318"/>
                <a:gd name="T3" fmla="*/ 6314 h 21600"/>
                <a:gd name="T4" fmla="*/ 58 w 15318"/>
                <a:gd name="T5" fmla="*/ 21600 h 21600"/>
              </a:gdLst>
              <a:ahLst/>
              <a:cxnLst>
                <a:cxn ang="0">
                  <a:pos x="T0" y="T1"/>
                </a:cxn>
                <a:cxn ang="0">
                  <a:pos x="T2" y="T3"/>
                </a:cxn>
                <a:cxn ang="0">
                  <a:pos x="T4" y="T5"/>
                </a:cxn>
              </a:cxnLst>
              <a:rect l="0" t="0" r="r" b="b"/>
              <a:pathLst>
                <a:path w="15318" h="21600" fill="none" extrusionOk="0">
                  <a:moveTo>
                    <a:pt x="-1" y="0"/>
                  </a:moveTo>
                  <a:cubicBezTo>
                    <a:pt x="19" y="0"/>
                    <a:pt x="38" y="0"/>
                    <a:pt x="58" y="0"/>
                  </a:cubicBezTo>
                  <a:cubicBezTo>
                    <a:pt x="5780" y="0"/>
                    <a:pt x="11268" y="2270"/>
                    <a:pt x="15318" y="6313"/>
                  </a:cubicBezTo>
                </a:path>
                <a:path w="15318" h="21600" stroke="0" extrusionOk="0">
                  <a:moveTo>
                    <a:pt x="-1" y="0"/>
                  </a:moveTo>
                  <a:cubicBezTo>
                    <a:pt x="19" y="0"/>
                    <a:pt x="38" y="0"/>
                    <a:pt x="58" y="0"/>
                  </a:cubicBezTo>
                  <a:cubicBezTo>
                    <a:pt x="5780" y="0"/>
                    <a:pt x="11268" y="2270"/>
                    <a:pt x="15318" y="6313"/>
                  </a:cubicBezTo>
                  <a:lnTo>
                    <a:pt x="58" y="21600"/>
                  </a:lnTo>
                  <a:close/>
                </a:path>
              </a:pathLst>
            </a:custGeom>
            <a:solidFill>
              <a:srgbClr val="000000"/>
            </a:solidFill>
            <a:ln w="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sp>
          <p:nvSpPr>
            <p:cNvPr id="26" name="Arc 19"/>
            <p:cNvSpPr>
              <a:spLocks/>
            </p:cNvSpPr>
            <p:nvPr/>
          </p:nvSpPr>
          <p:spPr bwMode="auto">
            <a:xfrm>
              <a:off x="86" y="25"/>
              <a:ext cx="87" cy="62"/>
            </a:xfrm>
            <a:custGeom>
              <a:avLst/>
              <a:gdLst>
                <a:gd name="G0" fmla="+- 0 0 0"/>
                <a:gd name="G1" fmla="+- 15382 0 0"/>
                <a:gd name="G2" fmla="+- 21600 0 0"/>
                <a:gd name="T0" fmla="*/ 15163 w 21600"/>
                <a:gd name="T1" fmla="*/ 0 h 15382"/>
                <a:gd name="T2" fmla="*/ 21600 w 21600"/>
                <a:gd name="T3" fmla="*/ 15382 h 15382"/>
                <a:gd name="T4" fmla="*/ 0 w 21600"/>
                <a:gd name="T5" fmla="*/ 15382 h 15382"/>
              </a:gdLst>
              <a:ahLst/>
              <a:cxnLst>
                <a:cxn ang="0">
                  <a:pos x="T0" y="T1"/>
                </a:cxn>
                <a:cxn ang="0">
                  <a:pos x="T2" y="T3"/>
                </a:cxn>
                <a:cxn ang="0">
                  <a:pos x="T4" y="T5"/>
                </a:cxn>
              </a:cxnLst>
              <a:rect l="0" t="0" r="r" b="b"/>
              <a:pathLst>
                <a:path w="21600" h="15382" fill="none" extrusionOk="0">
                  <a:moveTo>
                    <a:pt x="15163" y="-1"/>
                  </a:moveTo>
                  <a:cubicBezTo>
                    <a:pt x="19281" y="4058"/>
                    <a:pt x="21600" y="9599"/>
                    <a:pt x="21600" y="15382"/>
                  </a:cubicBezTo>
                </a:path>
                <a:path w="21600" h="15382" stroke="0" extrusionOk="0">
                  <a:moveTo>
                    <a:pt x="15163" y="-1"/>
                  </a:moveTo>
                  <a:cubicBezTo>
                    <a:pt x="19281" y="4058"/>
                    <a:pt x="21600" y="9599"/>
                    <a:pt x="21600" y="15382"/>
                  </a:cubicBezTo>
                  <a:lnTo>
                    <a:pt x="0" y="15382"/>
                  </a:lnTo>
                  <a:close/>
                </a:path>
              </a:pathLst>
            </a:custGeom>
            <a:solidFill>
              <a:srgbClr val="000000"/>
            </a:solidFill>
            <a:ln w="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sp>
          <p:nvSpPr>
            <p:cNvPr id="27" name="Arc 20"/>
            <p:cNvSpPr>
              <a:spLocks/>
            </p:cNvSpPr>
            <p:nvPr/>
          </p:nvSpPr>
          <p:spPr bwMode="auto">
            <a:xfrm>
              <a:off x="86" y="87"/>
              <a:ext cx="87" cy="61"/>
            </a:xfrm>
            <a:custGeom>
              <a:avLst/>
              <a:gdLst>
                <a:gd name="G0" fmla="+- 0 0 0"/>
                <a:gd name="G1" fmla="+- 29 0 0"/>
                <a:gd name="G2" fmla="+- 21600 0 0"/>
                <a:gd name="T0" fmla="*/ 21599 w 21600"/>
                <a:gd name="T1" fmla="*/ 0 h 15266"/>
                <a:gd name="T2" fmla="*/ 15309 w 21600"/>
                <a:gd name="T3" fmla="*/ 15266 h 15266"/>
                <a:gd name="T4" fmla="*/ 0 w 21600"/>
                <a:gd name="T5" fmla="*/ 29 h 15266"/>
              </a:gdLst>
              <a:ahLst/>
              <a:cxnLst>
                <a:cxn ang="0">
                  <a:pos x="T0" y="T1"/>
                </a:cxn>
                <a:cxn ang="0">
                  <a:pos x="T2" y="T3"/>
                </a:cxn>
                <a:cxn ang="0">
                  <a:pos x="T4" y="T5"/>
                </a:cxn>
              </a:cxnLst>
              <a:rect l="0" t="0" r="r" b="b"/>
              <a:pathLst>
                <a:path w="21600" h="15266" fill="none" extrusionOk="0">
                  <a:moveTo>
                    <a:pt x="21599" y="-1"/>
                  </a:moveTo>
                  <a:cubicBezTo>
                    <a:pt x="21599" y="9"/>
                    <a:pt x="21600" y="19"/>
                    <a:pt x="21600" y="29"/>
                  </a:cubicBezTo>
                  <a:cubicBezTo>
                    <a:pt x="21600" y="5740"/>
                    <a:pt x="19338" y="11218"/>
                    <a:pt x="15309" y="15266"/>
                  </a:cubicBezTo>
                </a:path>
                <a:path w="21600" h="15266" stroke="0" extrusionOk="0">
                  <a:moveTo>
                    <a:pt x="21599" y="-1"/>
                  </a:moveTo>
                  <a:cubicBezTo>
                    <a:pt x="21599" y="9"/>
                    <a:pt x="21600" y="19"/>
                    <a:pt x="21600" y="29"/>
                  </a:cubicBezTo>
                  <a:cubicBezTo>
                    <a:pt x="21600" y="5740"/>
                    <a:pt x="19338" y="11218"/>
                    <a:pt x="15309" y="15266"/>
                  </a:cubicBezTo>
                  <a:lnTo>
                    <a:pt x="0" y="29"/>
                  </a:lnTo>
                  <a:close/>
                </a:path>
              </a:pathLst>
            </a:custGeom>
            <a:solidFill>
              <a:srgbClr val="000000"/>
            </a:solidFill>
            <a:ln w="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grpSp>
    </p:spTree>
    <p:extLst>
      <p:ext uri="{BB962C8B-B14F-4D97-AF65-F5344CB8AC3E}">
        <p14:creationId xmlns:p14="http://schemas.microsoft.com/office/powerpoint/2010/main" val="1391538793"/>
      </p:ext>
    </p:extLst>
  </p:cSld>
  <p:clrMapOvr>
    <a:masterClrMapping/>
  </p:clrMapOvr>
  <mc:AlternateContent xmlns:mc="http://schemas.openxmlformats.org/markup-compatibility/2006">
    <mc:Choice xmlns:p14="http://schemas.microsoft.com/office/powerpoint/2010/main" Requires="p14">
      <p:transition p14:dur="250">
        <p14:reveal/>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childTnLst>
                                </p:cTn>
                              </p:par>
                              <p:par>
                                <p:cTn id="8" presetID="10" presetClass="entr" presetSubtype="0" fill="hold" grpId="0" nodeType="withEffect">
                                  <p:stCondLst>
                                    <p:cond delay="25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1000"/>
                                        <p:tgtEl>
                                          <p:spTgt spid="16"/>
                                        </p:tgtEl>
                                      </p:cBhvr>
                                    </p:animEffect>
                                  </p:childTnLst>
                                </p:cTn>
                              </p:par>
                              <p:par>
                                <p:cTn id="11" presetID="10" presetClass="entr" presetSubtype="0" fill="hold" grpId="0" nodeType="withEffect">
                                  <p:stCondLst>
                                    <p:cond delay="25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17"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hlinkClick r:id="rId3" action="ppaction://hlinksldjump"/>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6780" t="78172" r="18395" b="12686"/>
          <a:stretch/>
        </p:blipFill>
        <p:spPr bwMode="auto">
          <a:xfrm>
            <a:off x="8188658" y="4384319"/>
            <a:ext cx="955343" cy="7639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9"/>
          <p:cNvPicPr>
            <a:picLocks noChangeAspect="1"/>
          </p:cNvPicPr>
          <p:nvPr/>
        </p:nvPicPr>
        <p:blipFill>
          <a:blip r:embed="rId5"/>
          <a:stretch>
            <a:fillRect/>
          </a:stretch>
        </p:blipFill>
        <p:spPr>
          <a:xfrm>
            <a:off x="7021333" y="289005"/>
            <a:ext cx="1603348" cy="291323"/>
          </a:xfrm>
          <a:prstGeom prst="rect">
            <a:avLst/>
          </a:prstGeom>
        </p:spPr>
      </p:pic>
      <p:pic>
        <p:nvPicPr>
          <p:cNvPr id="8" name="Picture 1" descr="t03-02.jpg"/>
          <p:cNvPicPr>
            <a:picLocks noChangeAspect="1"/>
          </p:cNvPicPr>
          <p:nvPr/>
        </p:nvPicPr>
        <p:blipFill rotWithShape="1">
          <a:blip r:embed="rId6">
            <a:extLst>
              <a:ext uri="{28A0092B-C50C-407E-A947-70E740481C1C}">
                <a14:useLocalDpi xmlns:a14="http://schemas.microsoft.com/office/drawing/2010/main" val="0"/>
              </a:ext>
            </a:extLst>
          </a:blip>
          <a:srcRect r="91368" b="84909"/>
          <a:stretch/>
        </p:blipFill>
        <p:spPr>
          <a:xfrm>
            <a:off x="0" y="0"/>
            <a:ext cx="789296" cy="776935"/>
          </a:xfrm>
          <a:prstGeom prst="rect">
            <a:avLst/>
          </a:prstGeom>
        </p:spPr>
      </p:pic>
      <p:sp>
        <p:nvSpPr>
          <p:cNvPr id="6" name="CaixaDeTexto 5"/>
          <p:cNvSpPr txBox="1"/>
          <p:nvPr/>
        </p:nvSpPr>
        <p:spPr>
          <a:xfrm>
            <a:off x="2039091" y="300128"/>
            <a:ext cx="184731" cy="369332"/>
          </a:xfrm>
          <a:prstGeom prst="rect">
            <a:avLst/>
          </a:prstGeom>
          <a:noFill/>
        </p:spPr>
        <p:txBody>
          <a:bodyPr wrap="none" rtlCol="0">
            <a:spAutoFit/>
          </a:bodyPr>
          <a:lstStyle/>
          <a:p>
            <a:endParaRPr lang="pt-BR" dirty="0"/>
          </a:p>
        </p:txBody>
      </p:sp>
      <p:sp>
        <p:nvSpPr>
          <p:cNvPr id="9" name="Title 1"/>
          <p:cNvSpPr txBox="1">
            <a:spLocks/>
          </p:cNvSpPr>
          <p:nvPr/>
        </p:nvSpPr>
        <p:spPr>
          <a:xfrm>
            <a:off x="562659" y="90471"/>
            <a:ext cx="6254098" cy="560400"/>
          </a:xfrm>
          <a:prstGeom prst="rect">
            <a:avLst/>
          </a:prstGeom>
        </p:spPr>
        <p:txBody>
          <a:bodyPr vert="horz" lIns="91440" tIns="45720" rIns="91440" bIns="45720" rtlCol="0" anchor="ctr">
            <a:normAutofit fontScale="775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pt-BR" sz="2800" b="1" dirty="0">
                <a:solidFill>
                  <a:schemeClr val="tx2"/>
                </a:solidFill>
                <a:latin typeface="Arial" pitchFamily="34" charset="0"/>
                <a:cs typeface="Arial" pitchFamily="34" charset="0"/>
              </a:rPr>
              <a:t>9</a:t>
            </a:r>
            <a:r>
              <a:rPr lang="pt-BR" sz="2800" b="1" dirty="0" smtClean="0">
                <a:solidFill>
                  <a:schemeClr val="tx2"/>
                </a:solidFill>
                <a:latin typeface="Arial" pitchFamily="34" charset="0"/>
                <a:cs typeface="Arial" pitchFamily="34" charset="0"/>
              </a:rPr>
              <a:t>. Projeto: </a:t>
            </a:r>
            <a:r>
              <a:rPr lang="pt-BR" sz="2800" b="1" dirty="0">
                <a:solidFill>
                  <a:schemeClr val="tx2"/>
                </a:solidFill>
                <a:latin typeface="Arial" pitchFamily="34" charset="0"/>
                <a:cs typeface="Arial" pitchFamily="34" charset="0"/>
              </a:rPr>
              <a:t>Backups </a:t>
            </a:r>
            <a:r>
              <a:rPr lang="pt-BR" sz="2800" b="1" dirty="0" smtClean="0">
                <a:solidFill>
                  <a:schemeClr val="tx2"/>
                </a:solidFill>
                <a:latin typeface="Arial" pitchFamily="34" charset="0"/>
                <a:cs typeface="Arial" pitchFamily="34" charset="0"/>
              </a:rPr>
              <a:t>e </a:t>
            </a:r>
            <a:r>
              <a:rPr lang="pt-BR" sz="2800" b="1" dirty="0" err="1" smtClean="0">
                <a:solidFill>
                  <a:schemeClr val="tx2"/>
                </a:solidFill>
                <a:latin typeface="Arial" pitchFamily="34" charset="0"/>
                <a:cs typeface="Arial" pitchFamily="34" charset="0"/>
              </a:rPr>
              <a:t>Restore</a:t>
            </a:r>
            <a:r>
              <a:rPr lang="pt-BR" sz="2800" b="1" dirty="0" smtClean="0">
                <a:solidFill>
                  <a:schemeClr val="tx2"/>
                </a:solidFill>
                <a:latin typeface="Arial" pitchFamily="34" charset="0"/>
                <a:cs typeface="Arial" pitchFamily="34" charset="0"/>
              </a:rPr>
              <a:t> em Produção</a:t>
            </a:r>
            <a:endParaRPr lang="pt-BR" sz="2800" b="1" dirty="0">
              <a:solidFill>
                <a:schemeClr val="tx2"/>
              </a:solidFill>
              <a:latin typeface="Arial" pitchFamily="34" charset="0"/>
              <a:cs typeface="Arial" pitchFamily="34" charset="0"/>
            </a:endParaRPr>
          </a:p>
        </p:txBody>
      </p:sp>
      <p:sp>
        <p:nvSpPr>
          <p:cNvPr id="12" name="Retângulo 11"/>
          <p:cNvSpPr/>
          <p:nvPr/>
        </p:nvSpPr>
        <p:spPr>
          <a:xfrm>
            <a:off x="221121" y="2081342"/>
            <a:ext cx="2716382" cy="2475419"/>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0" lvl="1" algn="ctr">
              <a:spcBef>
                <a:spcPts val="200"/>
              </a:spcBef>
              <a:spcAft>
                <a:spcPts val="200"/>
              </a:spcAft>
            </a:pPr>
            <a:r>
              <a:rPr lang="pt-BR" sz="1400" b="1" dirty="0" smtClean="0">
                <a:solidFill>
                  <a:schemeClr val="tx1">
                    <a:lumMod val="95000"/>
                    <a:lumOff val="5000"/>
                  </a:schemeClr>
                </a:solidFill>
              </a:rPr>
              <a:t>Último Status</a:t>
            </a:r>
            <a:r>
              <a:rPr lang="pt-BR" sz="1200" dirty="0" smtClean="0">
                <a:solidFill>
                  <a:schemeClr val="tx1">
                    <a:lumMod val="95000"/>
                    <a:lumOff val="5000"/>
                  </a:schemeClr>
                </a:solidFill>
              </a:rPr>
              <a:t>  </a:t>
            </a:r>
          </a:p>
          <a:p>
            <a:pPr marL="171450" lvl="1" indent="-171450">
              <a:spcBef>
                <a:spcPts val="200"/>
              </a:spcBef>
              <a:spcAft>
                <a:spcPts val="200"/>
              </a:spcAft>
              <a:buFont typeface="Arial" pitchFamily="34" charset="0"/>
              <a:buChar char="•"/>
            </a:pPr>
            <a:r>
              <a:rPr lang="pt-BR" sz="1200" dirty="0">
                <a:solidFill>
                  <a:schemeClr val="tx1">
                    <a:lumMod val="95000"/>
                    <a:lumOff val="5000"/>
                  </a:schemeClr>
                </a:solidFill>
              </a:rPr>
              <a:t>Escopo do projeto </a:t>
            </a:r>
            <a:r>
              <a:rPr lang="pt-BR" sz="1200">
                <a:solidFill>
                  <a:schemeClr val="tx1">
                    <a:lumMod val="95000"/>
                    <a:lumOff val="5000"/>
                  </a:schemeClr>
                </a:solidFill>
              </a:rPr>
              <a:t>ampliado </a:t>
            </a:r>
            <a:r>
              <a:rPr lang="pt-BR" sz="1200" smtClean="0">
                <a:solidFill>
                  <a:schemeClr val="tx1">
                    <a:lumMod val="95000"/>
                    <a:lumOff val="5000"/>
                  </a:schemeClr>
                </a:solidFill>
              </a:rPr>
              <a:t>para </a:t>
            </a:r>
            <a:r>
              <a:rPr lang="pt-BR" sz="1200" dirty="0">
                <a:solidFill>
                  <a:schemeClr val="tx1">
                    <a:lumMod val="95000"/>
                    <a:lumOff val="5000"/>
                  </a:schemeClr>
                </a:solidFill>
              </a:rPr>
              <a:t>30 de </a:t>
            </a:r>
            <a:r>
              <a:rPr lang="pt-BR" sz="1200" dirty="0" smtClean="0">
                <a:solidFill>
                  <a:schemeClr val="tx1">
                    <a:lumMod val="95000"/>
                    <a:lumOff val="5000"/>
                  </a:schemeClr>
                </a:solidFill>
              </a:rPr>
              <a:t>junho, devido a falta de insumos (fitas e etiquetas) nos sites assim como equipamentos aguardando reparo</a:t>
            </a:r>
            <a:br>
              <a:rPr lang="pt-BR" sz="1200" dirty="0" smtClean="0">
                <a:solidFill>
                  <a:schemeClr val="tx1">
                    <a:lumMod val="95000"/>
                    <a:lumOff val="5000"/>
                  </a:schemeClr>
                </a:solidFill>
              </a:rPr>
            </a:br>
            <a:endParaRPr lang="pt-BR" sz="1200" dirty="0">
              <a:solidFill>
                <a:schemeClr val="tx1">
                  <a:lumMod val="95000"/>
                  <a:lumOff val="5000"/>
                </a:schemeClr>
              </a:solidFill>
            </a:endParaRPr>
          </a:p>
          <a:p>
            <a:pPr marL="171450" lvl="1" indent="-171450">
              <a:spcBef>
                <a:spcPts val="200"/>
              </a:spcBef>
              <a:spcAft>
                <a:spcPts val="200"/>
              </a:spcAft>
              <a:buFont typeface="Arial" pitchFamily="34" charset="0"/>
              <a:buChar char="•"/>
            </a:pPr>
            <a:r>
              <a:rPr lang="pt-BR" sz="1200" dirty="0" smtClean="0">
                <a:solidFill>
                  <a:schemeClr val="tx1">
                    <a:lumMod val="95000"/>
                    <a:lumOff val="5000"/>
                  </a:schemeClr>
                </a:solidFill>
              </a:rPr>
              <a:t>Liberação </a:t>
            </a:r>
            <a:r>
              <a:rPr lang="pt-BR" sz="1200" dirty="0">
                <a:solidFill>
                  <a:schemeClr val="tx1">
                    <a:lumMod val="95000"/>
                    <a:lumOff val="5000"/>
                  </a:schemeClr>
                </a:solidFill>
              </a:rPr>
              <a:t>de redes em sites pilotos para uso do </a:t>
            </a:r>
            <a:r>
              <a:rPr lang="pt-BR" sz="1200" dirty="0" smtClean="0">
                <a:solidFill>
                  <a:schemeClr val="tx1">
                    <a:lumMod val="95000"/>
                    <a:lumOff val="5000"/>
                  </a:schemeClr>
                </a:solidFill>
              </a:rPr>
              <a:t>UDP</a:t>
            </a:r>
          </a:p>
          <a:p>
            <a:pPr marL="171450" lvl="1" indent="-171450">
              <a:spcBef>
                <a:spcPts val="200"/>
              </a:spcBef>
              <a:spcAft>
                <a:spcPts val="200"/>
              </a:spcAft>
              <a:buFont typeface="Arial" pitchFamily="34" charset="0"/>
              <a:buChar char="•"/>
            </a:pPr>
            <a:r>
              <a:rPr lang="pt-BR" sz="1200" dirty="0" smtClean="0">
                <a:solidFill>
                  <a:schemeClr val="tx1">
                    <a:lumMod val="95000"/>
                    <a:lumOff val="5000"/>
                  </a:schemeClr>
                </a:solidFill>
              </a:rPr>
              <a:t>Instalações dos </a:t>
            </a:r>
            <a:r>
              <a:rPr lang="pt-BR" sz="1200" dirty="0" err="1" smtClean="0">
                <a:solidFill>
                  <a:schemeClr val="tx1">
                    <a:lumMod val="95000"/>
                    <a:lumOff val="5000"/>
                  </a:schemeClr>
                </a:solidFill>
              </a:rPr>
              <a:t>clients</a:t>
            </a:r>
            <a:r>
              <a:rPr lang="pt-BR" sz="1200" dirty="0" smtClean="0">
                <a:solidFill>
                  <a:schemeClr val="tx1">
                    <a:lumMod val="95000"/>
                    <a:lumOff val="5000"/>
                  </a:schemeClr>
                </a:solidFill>
              </a:rPr>
              <a:t> junto com as GMUD de WSUS</a:t>
            </a:r>
            <a:endParaRPr lang="pt-BR" sz="1200" dirty="0">
              <a:solidFill>
                <a:schemeClr val="tx1">
                  <a:lumMod val="95000"/>
                  <a:lumOff val="5000"/>
                </a:schemeClr>
              </a:solidFill>
            </a:endParaRPr>
          </a:p>
          <a:p>
            <a:pPr marL="171450" lvl="1" indent="-171450">
              <a:spcBef>
                <a:spcPts val="200"/>
              </a:spcBef>
              <a:spcAft>
                <a:spcPts val="200"/>
              </a:spcAft>
              <a:buFont typeface="Wingdings" panose="05000000000000000000" pitchFamily="2" charset="2"/>
              <a:buChar char="ü"/>
            </a:pPr>
            <a:endParaRPr lang="pt-BR" sz="1200" dirty="0">
              <a:solidFill>
                <a:schemeClr val="tx1">
                  <a:lumMod val="95000"/>
                  <a:lumOff val="5000"/>
                </a:schemeClr>
              </a:solidFill>
            </a:endParaRPr>
          </a:p>
          <a:p>
            <a:pPr marL="0" lvl="1">
              <a:spcBef>
                <a:spcPts val="200"/>
              </a:spcBef>
              <a:spcAft>
                <a:spcPts val="200"/>
              </a:spcAft>
            </a:pPr>
            <a:endParaRPr lang="pt-BR" sz="1200" dirty="0" smtClean="0">
              <a:solidFill>
                <a:schemeClr val="tx1">
                  <a:lumMod val="95000"/>
                  <a:lumOff val="5000"/>
                </a:schemeClr>
              </a:solidFill>
            </a:endParaRPr>
          </a:p>
          <a:p>
            <a:pPr marL="0" lvl="1">
              <a:spcBef>
                <a:spcPts val="200"/>
              </a:spcBef>
              <a:spcAft>
                <a:spcPts val="200"/>
              </a:spcAft>
            </a:pPr>
            <a:endParaRPr lang="pt-BR" sz="1200" dirty="0">
              <a:solidFill>
                <a:schemeClr val="tx1"/>
              </a:solidFill>
            </a:endParaRPr>
          </a:p>
        </p:txBody>
      </p:sp>
      <p:sp>
        <p:nvSpPr>
          <p:cNvPr id="15" name="Retângulo de cantos arredondados 14"/>
          <p:cNvSpPr/>
          <p:nvPr/>
        </p:nvSpPr>
        <p:spPr>
          <a:xfrm>
            <a:off x="158943" y="776935"/>
            <a:ext cx="3064339" cy="1178343"/>
          </a:xfrm>
          <a:prstGeom prst="roundRect">
            <a:avLst/>
          </a:prstGeom>
          <a:solidFill>
            <a:schemeClr val="accent6">
              <a:lumMod val="75000"/>
            </a:schemeClr>
          </a:soli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r>
              <a:rPr lang="pt-BR" sz="1400" b="1" dirty="0" smtClean="0">
                <a:effectLst>
                  <a:outerShdw blurRad="38100" dist="38100" dir="2700000" algn="tl">
                    <a:srgbClr val="000000">
                      <a:alpha val="43137"/>
                    </a:srgbClr>
                  </a:outerShdw>
                </a:effectLst>
              </a:rPr>
              <a:t>Projeto: Backup &amp; Restore </a:t>
            </a:r>
            <a:r>
              <a:rPr lang="pt-BR" sz="1400" b="1" dirty="0">
                <a:effectLst>
                  <a:outerShdw blurRad="38100" dist="38100" dir="2700000" algn="tl">
                    <a:srgbClr val="000000">
                      <a:alpha val="43137"/>
                    </a:srgbClr>
                  </a:outerShdw>
                </a:effectLst>
              </a:rPr>
              <a:t>Ambiente de Produção</a:t>
            </a:r>
            <a:endParaRPr lang="pt-BR" sz="1400" b="1" dirty="0" smtClean="0">
              <a:effectLst>
                <a:outerShdw blurRad="38100" dist="38100" dir="2700000" algn="tl">
                  <a:srgbClr val="000000">
                    <a:alpha val="43137"/>
                  </a:srgbClr>
                </a:outerShdw>
              </a:effectLst>
            </a:endParaRPr>
          </a:p>
          <a:p>
            <a:r>
              <a:rPr lang="pt-BR" sz="1200" i="1" dirty="0" smtClean="0"/>
              <a:t>Data Inicio: 14-10-2015</a:t>
            </a:r>
          </a:p>
          <a:p>
            <a:r>
              <a:rPr lang="pt-BR" sz="1200" i="1" dirty="0" smtClean="0"/>
              <a:t>Data Conclusão: 30-06-2016</a:t>
            </a:r>
          </a:p>
          <a:p>
            <a:r>
              <a:rPr lang="pt-BR" sz="1200" i="1" dirty="0" smtClean="0"/>
              <a:t>Progresso: 81%</a:t>
            </a:r>
          </a:p>
          <a:p>
            <a:r>
              <a:rPr lang="pt-BR" sz="1200" i="1" dirty="0" smtClean="0"/>
              <a:t>PM: Rafael Alves</a:t>
            </a:r>
          </a:p>
        </p:txBody>
      </p:sp>
      <p:sp>
        <p:nvSpPr>
          <p:cNvPr id="16" name="Retângulo 15"/>
          <p:cNvSpPr/>
          <p:nvPr/>
        </p:nvSpPr>
        <p:spPr>
          <a:xfrm>
            <a:off x="3112569" y="2081341"/>
            <a:ext cx="2716382" cy="2475419"/>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0" lvl="1" algn="ctr">
              <a:spcBef>
                <a:spcPts val="200"/>
              </a:spcBef>
              <a:spcAft>
                <a:spcPts val="200"/>
              </a:spcAft>
            </a:pPr>
            <a:r>
              <a:rPr lang="pt-BR" sz="1400" b="1" dirty="0">
                <a:solidFill>
                  <a:schemeClr val="tx1">
                    <a:lumMod val="95000"/>
                    <a:lumOff val="5000"/>
                  </a:schemeClr>
                </a:solidFill>
              </a:rPr>
              <a:t>Objetivos alcançados na última </a:t>
            </a:r>
            <a:r>
              <a:rPr lang="pt-BR" sz="1400" b="1" dirty="0" smtClean="0">
                <a:solidFill>
                  <a:schemeClr val="tx1">
                    <a:lumMod val="95000"/>
                    <a:lumOff val="5000"/>
                  </a:schemeClr>
                </a:solidFill>
              </a:rPr>
              <a:t>semana</a:t>
            </a:r>
            <a:endParaRPr lang="pt-BR" sz="1400" dirty="0" smtClean="0">
              <a:solidFill>
                <a:schemeClr val="tx1">
                  <a:lumMod val="95000"/>
                  <a:lumOff val="5000"/>
                </a:schemeClr>
              </a:solidFill>
            </a:endParaRPr>
          </a:p>
          <a:p>
            <a:pPr marL="171450" lvl="1" indent="-171450">
              <a:spcBef>
                <a:spcPts val="200"/>
              </a:spcBef>
              <a:spcAft>
                <a:spcPts val="200"/>
              </a:spcAft>
              <a:buFont typeface="Arial" panose="020B0604020202020204" pitchFamily="34" charset="0"/>
              <a:buChar char="•"/>
            </a:pPr>
            <a:r>
              <a:rPr lang="pt-BR" sz="1200" dirty="0">
                <a:solidFill>
                  <a:schemeClr val="tx1">
                    <a:lumMod val="95000"/>
                    <a:lumOff val="5000"/>
                  </a:schemeClr>
                </a:solidFill>
              </a:rPr>
              <a:t>Instalação do piloto do </a:t>
            </a:r>
            <a:r>
              <a:rPr lang="pt-BR" sz="1200" dirty="0" err="1">
                <a:solidFill>
                  <a:schemeClr val="tx1">
                    <a:lumMod val="95000"/>
                    <a:lumOff val="5000"/>
                  </a:schemeClr>
                </a:solidFill>
              </a:rPr>
              <a:t>ArcServe</a:t>
            </a:r>
            <a:r>
              <a:rPr lang="pt-BR" sz="1200" dirty="0">
                <a:solidFill>
                  <a:schemeClr val="tx1">
                    <a:lumMod val="95000"/>
                    <a:lumOff val="5000"/>
                  </a:schemeClr>
                </a:solidFill>
              </a:rPr>
              <a:t> UDP para teste de backup e </a:t>
            </a:r>
            <a:r>
              <a:rPr lang="pt-BR" sz="1200" dirty="0" err="1">
                <a:solidFill>
                  <a:schemeClr val="tx1">
                    <a:lumMod val="95000"/>
                    <a:lumOff val="5000"/>
                  </a:schemeClr>
                </a:solidFill>
              </a:rPr>
              <a:t>restore</a:t>
            </a:r>
            <a:r>
              <a:rPr lang="pt-BR" sz="1200" dirty="0">
                <a:solidFill>
                  <a:schemeClr val="tx1">
                    <a:lumMod val="95000"/>
                    <a:lumOff val="5000"/>
                  </a:schemeClr>
                </a:solidFill>
              </a:rPr>
              <a:t> de ambientes Windows e Linux  (Virtuais e Físicas) – Ambiente Windows Finalizado e Linux em andamento</a:t>
            </a:r>
          </a:p>
          <a:p>
            <a:pPr marL="171450" lvl="1" indent="-171450">
              <a:spcBef>
                <a:spcPts val="200"/>
              </a:spcBef>
              <a:spcAft>
                <a:spcPts val="200"/>
              </a:spcAft>
              <a:buFont typeface="Arial" panose="020B0604020202020204" pitchFamily="34" charset="0"/>
              <a:buChar char="•"/>
            </a:pPr>
            <a:r>
              <a:rPr lang="pt-BR" sz="1200" dirty="0" smtClean="0">
                <a:solidFill>
                  <a:schemeClr val="tx1">
                    <a:lumMod val="95000"/>
                    <a:lumOff val="5000"/>
                  </a:schemeClr>
                </a:solidFill>
              </a:rPr>
              <a:t>Apoio do CSE para instalações dos </a:t>
            </a:r>
            <a:r>
              <a:rPr lang="pt-BR" sz="1200" dirty="0" err="1" smtClean="0">
                <a:solidFill>
                  <a:schemeClr val="tx1">
                    <a:lumMod val="95000"/>
                    <a:lumOff val="5000"/>
                  </a:schemeClr>
                </a:solidFill>
              </a:rPr>
              <a:t>clients</a:t>
            </a:r>
            <a:r>
              <a:rPr lang="pt-BR" sz="1200" dirty="0" smtClean="0">
                <a:solidFill>
                  <a:schemeClr val="tx1">
                    <a:lumMod val="95000"/>
                    <a:lumOff val="5000"/>
                  </a:schemeClr>
                </a:solidFill>
              </a:rPr>
              <a:t> nos servidores Windows e Linux </a:t>
            </a:r>
          </a:p>
          <a:p>
            <a:pPr marL="171450" lvl="1" indent="-171450">
              <a:spcBef>
                <a:spcPts val="200"/>
              </a:spcBef>
              <a:spcAft>
                <a:spcPts val="200"/>
              </a:spcAft>
              <a:buFont typeface="Arial" panose="020B0604020202020204" pitchFamily="34" charset="0"/>
              <a:buChar char="•"/>
            </a:pPr>
            <a:endParaRPr lang="pt-BR" sz="1200" dirty="0">
              <a:solidFill>
                <a:schemeClr val="tx1">
                  <a:lumMod val="95000"/>
                  <a:lumOff val="5000"/>
                </a:schemeClr>
              </a:solidFill>
            </a:endParaRPr>
          </a:p>
        </p:txBody>
      </p:sp>
      <p:sp>
        <p:nvSpPr>
          <p:cNvPr id="17" name="Retângulo 16"/>
          <p:cNvSpPr/>
          <p:nvPr/>
        </p:nvSpPr>
        <p:spPr>
          <a:xfrm>
            <a:off x="6004018" y="2081342"/>
            <a:ext cx="2716382" cy="2475419"/>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0" lvl="1" algn="ctr">
              <a:spcBef>
                <a:spcPts val="200"/>
              </a:spcBef>
              <a:spcAft>
                <a:spcPts val="200"/>
              </a:spcAft>
            </a:pPr>
            <a:r>
              <a:rPr lang="pt-BR" sz="1400" b="1" dirty="0" smtClean="0">
                <a:solidFill>
                  <a:schemeClr val="tx1">
                    <a:lumMod val="95000"/>
                    <a:lumOff val="5000"/>
                  </a:schemeClr>
                </a:solidFill>
              </a:rPr>
              <a:t>Riscos/Problemas/Observações</a:t>
            </a:r>
          </a:p>
          <a:p>
            <a:pPr marL="285750" lvl="1" indent="-285750">
              <a:spcBef>
                <a:spcPts val="200"/>
              </a:spcBef>
              <a:spcAft>
                <a:spcPts val="200"/>
              </a:spcAft>
              <a:buFont typeface="Arial" panose="020B0604020202020204" pitchFamily="34" charset="0"/>
              <a:buChar char="•"/>
            </a:pPr>
            <a:r>
              <a:rPr lang="pt-BR" sz="1200" dirty="0" smtClean="0">
                <a:solidFill>
                  <a:schemeClr val="tx1">
                    <a:lumMod val="95000"/>
                    <a:lumOff val="5000"/>
                  </a:schemeClr>
                </a:solidFill>
              </a:rPr>
              <a:t>Regional SP e RJ com falta de fitas, aguardando compra</a:t>
            </a:r>
          </a:p>
          <a:p>
            <a:pPr marL="285750" lvl="1" indent="-285750">
              <a:spcBef>
                <a:spcPts val="200"/>
              </a:spcBef>
              <a:spcAft>
                <a:spcPts val="200"/>
              </a:spcAft>
              <a:buFont typeface="Arial" panose="020B0604020202020204" pitchFamily="34" charset="0"/>
              <a:buChar char="•"/>
            </a:pPr>
            <a:r>
              <a:rPr lang="pt-BR" sz="1200" dirty="0" smtClean="0">
                <a:solidFill>
                  <a:schemeClr val="tx1">
                    <a:lumMod val="95000"/>
                    <a:lumOff val="5000"/>
                  </a:schemeClr>
                </a:solidFill>
              </a:rPr>
              <a:t>HW de backup (robô) sem garantias e com mais de 5 anos de uso, ocorrendo desgastes por vida útil</a:t>
            </a:r>
          </a:p>
          <a:p>
            <a:pPr marL="285750" lvl="1" indent="-285750">
              <a:spcBef>
                <a:spcPts val="200"/>
              </a:spcBef>
              <a:spcAft>
                <a:spcPts val="200"/>
              </a:spcAft>
              <a:buFont typeface="Arial" panose="020B0604020202020204" pitchFamily="34" charset="0"/>
              <a:buChar char="•"/>
            </a:pPr>
            <a:r>
              <a:rPr lang="pt-BR" sz="1200" dirty="0" smtClean="0">
                <a:solidFill>
                  <a:schemeClr val="tx1">
                    <a:lumMod val="95000"/>
                    <a:lumOff val="5000"/>
                  </a:schemeClr>
                </a:solidFill>
              </a:rPr>
              <a:t>Armazenamento indevido das mídias causando degradação das mesmas.</a:t>
            </a:r>
          </a:p>
          <a:p>
            <a:pPr marL="0" lvl="1">
              <a:spcBef>
                <a:spcPts val="200"/>
              </a:spcBef>
              <a:spcAft>
                <a:spcPts val="200"/>
              </a:spcAft>
            </a:pPr>
            <a:endParaRPr lang="pt-BR" sz="1200" dirty="0" smtClean="0">
              <a:solidFill>
                <a:schemeClr val="tx1">
                  <a:lumMod val="95000"/>
                  <a:lumOff val="5000"/>
                </a:schemeClr>
              </a:solidFill>
            </a:endParaRPr>
          </a:p>
        </p:txBody>
      </p:sp>
      <p:sp>
        <p:nvSpPr>
          <p:cNvPr id="18" name="Retângulo de cantos arredondados 17"/>
          <p:cNvSpPr/>
          <p:nvPr/>
        </p:nvSpPr>
        <p:spPr>
          <a:xfrm>
            <a:off x="3382225" y="776936"/>
            <a:ext cx="5338175" cy="1080992"/>
          </a:xfrm>
          <a:prstGeom prst="roundRect">
            <a:avLst/>
          </a:prstGeom>
          <a:solidFill>
            <a:schemeClr val="accent1">
              <a:lumMod val="50000"/>
            </a:schemeClr>
          </a:soli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r>
              <a:rPr lang="pt-BR" sz="1400" b="1" dirty="0" smtClean="0">
                <a:effectLst>
                  <a:outerShdw blurRad="38100" dist="38100" dir="2700000" algn="tl">
                    <a:srgbClr val="000000">
                      <a:alpha val="43137"/>
                    </a:srgbClr>
                  </a:outerShdw>
                </a:effectLst>
              </a:rPr>
              <a:t>Descritivo:  </a:t>
            </a:r>
            <a:r>
              <a:rPr lang="pt-BR" sz="1400" dirty="0" smtClean="0"/>
              <a:t>Providenciar Backup em todos os equipamentos de produção da Contax. Garantir plano de </a:t>
            </a:r>
            <a:r>
              <a:rPr lang="pt-BR" sz="1400" dirty="0" err="1" smtClean="0"/>
              <a:t>restore</a:t>
            </a:r>
            <a:r>
              <a:rPr lang="pt-BR" sz="1400" dirty="0" smtClean="0"/>
              <a:t> do ambiente. </a:t>
            </a:r>
            <a:endParaRPr lang="pt-BR" sz="1400" dirty="0"/>
          </a:p>
        </p:txBody>
      </p:sp>
      <p:grpSp>
        <p:nvGrpSpPr>
          <p:cNvPr id="13" name="Group 34"/>
          <p:cNvGrpSpPr>
            <a:grpSpLocks/>
          </p:cNvGrpSpPr>
          <p:nvPr/>
        </p:nvGrpSpPr>
        <p:grpSpPr bwMode="auto">
          <a:xfrm>
            <a:off x="2890927" y="1634768"/>
            <a:ext cx="274638" cy="274638"/>
            <a:chOff x="0" y="0"/>
            <a:chExt cx="173" cy="173"/>
          </a:xfrm>
        </p:grpSpPr>
        <p:sp>
          <p:nvSpPr>
            <p:cNvPr id="14" name="Arc 35"/>
            <p:cNvSpPr>
              <a:spLocks/>
            </p:cNvSpPr>
            <p:nvPr/>
          </p:nvSpPr>
          <p:spPr bwMode="auto">
            <a:xfrm>
              <a:off x="86" y="0"/>
              <a:ext cx="62" cy="86"/>
            </a:xfrm>
            <a:custGeom>
              <a:avLst/>
              <a:gdLst>
                <a:gd name="G0" fmla="+- 58 0 0"/>
                <a:gd name="G1" fmla="+- 21600 0 0"/>
                <a:gd name="G2" fmla="+- 21600 0 0"/>
                <a:gd name="T0" fmla="*/ 0 w 15318"/>
                <a:gd name="T1" fmla="*/ 1 h 21600"/>
                <a:gd name="T2" fmla="*/ 15318 w 15318"/>
                <a:gd name="T3" fmla="*/ 6314 h 21600"/>
                <a:gd name="T4" fmla="*/ 58 w 15318"/>
                <a:gd name="T5" fmla="*/ 21600 h 21600"/>
              </a:gdLst>
              <a:ahLst/>
              <a:cxnLst>
                <a:cxn ang="0">
                  <a:pos x="T0" y="T1"/>
                </a:cxn>
                <a:cxn ang="0">
                  <a:pos x="T2" y="T3"/>
                </a:cxn>
                <a:cxn ang="0">
                  <a:pos x="T4" y="T5"/>
                </a:cxn>
              </a:cxnLst>
              <a:rect l="0" t="0" r="r" b="b"/>
              <a:pathLst>
                <a:path w="15318" h="21600" fill="none" extrusionOk="0">
                  <a:moveTo>
                    <a:pt x="-1" y="0"/>
                  </a:moveTo>
                  <a:cubicBezTo>
                    <a:pt x="19" y="0"/>
                    <a:pt x="38" y="0"/>
                    <a:pt x="58" y="0"/>
                  </a:cubicBezTo>
                  <a:cubicBezTo>
                    <a:pt x="5780" y="0"/>
                    <a:pt x="11268" y="2270"/>
                    <a:pt x="15318" y="6313"/>
                  </a:cubicBezTo>
                </a:path>
                <a:path w="15318" h="21600" stroke="0" extrusionOk="0">
                  <a:moveTo>
                    <a:pt x="-1" y="0"/>
                  </a:moveTo>
                  <a:cubicBezTo>
                    <a:pt x="19" y="0"/>
                    <a:pt x="38" y="0"/>
                    <a:pt x="58" y="0"/>
                  </a:cubicBezTo>
                  <a:cubicBezTo>
                    <a:pt x="5780" y="0"/>
                    <a:pt x="11268" y="2270"/>
                    <a:pt x="15318" y="6313"/>
                  </a:cubicBezTo>
                  <a:lnTo>
                    <a:pt x="58" y="21600"/>
                  </a:lnTo>
                  <a:close/>
                </a:path>
              </a:pathLst>
            </a:custGeom>
            <a:solidFill>
              <a:srgbClr val="000000"/>
            </a:solidFill>
            <a:ln w="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sp>
          <p:nvSpPr>
            <p:cNvPr id="19" name="Arc 36"/>
            <p:cNvSpPr>
              <a:spLocks/>
            </p:cNvSpPr>
            <p:nvPr/>
          </p:nvSpPr>
          <p:spPr bwMode="auto">
            <a:xfrm>
              <a:off x="86" y="87"/>
              <a:ext cx="87" cy="61"/>
            </a:xfrm>
            <a:custGeom>
              <a:avLst/>
              <a:gdLst>
                <a:gd name="G0" fmla="+- 0 0 0"/>
                <a:gd name="G1" fmla="+- 29 0 0"/>
                <a:gd name="G2" fmla="+- 21600 0 0"/>
                <a:gd name="T0" fmla="*/ 21599 w 21600"/>
                <a:gd name="T1" fmla="*/ 0 h 15266"/>
                <a:gd name="T2" fmla="*/ 15309 w 21600"/>
                <a:gd name="T3" fmla="*/ 15266 h 15266"/>
                <a:gd name="T4" fmla="*/ 0 w 21600"/>
                <a:gd name="T5" fmla="*/ 29 h 15266"/>
              </a:gdLst>
              <a:ahLst/>
              <a:cxnLst>
                <a:cxn ang="0">
                  <a:pos x="T0" y="T1"/>
                </a:cxn>
                <a:cxn ang="0">
                  <a:pos x="T2" y="T3"/>
                </a:cxn>
                <a:cxn ang="0">
                  <a:pos x="T4" y="T5"/>
                </a:cxn>
              </a:cxnLst>
              <a:rect l="0" t="0" r="r" b="b"/>
              <a:pathLst>
                <a:path w="21600" h="15266" fill="none" extrusionOk="0">
                  <a:moveTo>
                    <a:pt x="21599" y="-1"/>
                  </a:moveTo>
                  <a:cubicBezTo>
                    <a:pt x="21599" y="9"/>
                    <a:pt x="21600" y="19"/>
                    <a:pt x="21600" y="29"/>
                  </a:cubicBezTo>
                  <a:cubicBezTo>
                    <a:pt x="21600" y="5740"/>
                    <a:pt x="19338" y="11218"/>
                    <a:pt x="15309" y="15266"/>
                  </a:cubicBezTo>
                </a:path>
                <a:path w="21600" h="15266" stroke="0" extrusionOk="0">
                  <a:moveTo>
                    <a:pt x="21599" y="-1"/>
                  </a:moveTo>
                  <a:cubicBezTo>
                    <a:pt x="21599" y="9"/>
                    <a:pt x="21600" y="19"/>
                    <a:pt x="21600" y="29"/>
                  </a:cubicBezTo>
                  <a:cubicBezTo>
                    <a:pt x="21600" y="5740"/>
                    <a:pt x="19338" y="11218"/>
                    <a:pt x="15309" y="15266"/>
                  </a:cubicBezTo>
                  <a:lnTo>
                    <a:pt x="0" y="29"/>
                  </a:lnTo>
                  <a:close/>
                </a:path>
              </a:pathLst>
            </a:custGeom>
            <a:solidFill>
              <a:srgbClr val="000000"/>
            </a:solidFill>
            <a:ln w="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sp>
          <p:nvSpPr>
            <p:cNvPr id="20" name="Arc 37"/>
            <p:cNvSpPr>
              <a:spLocks/>
            </p:cNvSpPr>
            <p:nvPr/>
          </p:nvSpPr>
          <p:spPr bwMode="auto">
            <a:xfrm>
              <a:off x="86" y="87"/>
              <a:ext cx="62" cy="86"/>
            </a:xfrm>
            <a:custGeom>
              <a:avLst/>
              <a:gdLst>
                <a:gd name="G0" fmla="+- 0 0 0"/>
                <a:gd name="G1" fmla="+- 0 0 0"/>
                <a:gd name="G2" fmla="+- 21600 0 0"/>
                <a:gd name="T0" fmla="*/ 15386 w 15386"/>
                <a:gd name="T1" fmla="*/ 15159 h 21599"/>
                <a:gd name="T2" fmla="*/ 28 w 15386"/>
                <a:gd name="T3" fmla="*/ 21599 h 21599"/>
                <a:gd name="T4" fmla="*/ 0 w 15386"/>
                <a:gd name="T5" fmla="*/ 0 h 21599"/>
              </a:gdLst>
              <a:ahLst/>
              <a:cxnLst>
                <a:cxn ang="0">
                  <a:pos x="T0" y="T1"/>
                </a:cxn>
                <a:cxn ang="0">
                  <a:pos x="T2" y="T3"/>
                </a:cxn>
                <a:cxn ang="0">
                  <a:pos x="T4" y="T5"/>
                </a:cxn>
              </a:cxnLst>
              <a:rect l="0" t="0" r="r" b="b"/>
              <a:pathLst>
                <a:path w="15386" h="21599" fill="none" extrusionOk="0">
                  <a:moveTo>
                    <a:pt x="15386" y="15159"/>
                  </a:moveTo>
                  <a:cubicBezTo>
                    <a:pt x="11333" y="19273"/>
                    <a:pt x="5802" y="21592"/>
                    <a:pt x="28" y="21599"/>
                  </a:cubicBezTo>
                </a:path>
                <a:path w="15386" h="21599" stroke="0" extrusionOk="0">
                  <a:moveTo>
                    <a:pt x="15386" y="15159"/>
                  </a:moveTo>
                  <a:cubicBezTo>
                    <a:pt x="11333" y="19273"/>
                    <a:pt x="5802" y="21592"/>
                    <a:pt x="28" y="21599"/>
                  </a:cubicBezTo>
                  <a:lnTo>
                    <a:pt x="0" y="0"/>
                  </a:lnTo>
                  <a:close/>
                </a:path>
              </a:pathLst>
            </a:custGeom>
            <a:solidFill>
              <a:srgbClr val="000000"/>
            </a:solidFill>
            <a:ln w="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sp>
          <p:nvSpPr>
            <p:cNvPr id="21" name="Arc 38"/>
            <p:cNvSpPr>
              <a:spLocks/>
            </p:cNvSpPr>
            <p:nvPr/>
          </p:nvSpPr>
          <p:spPr bwMode="auto">
            <a:xfrm flipH="1">
              <a:off x="0" y="87"/>
              <a:ext cx="87" cy="61"/>
            </a:xfrm>
            <a:custGeom>
              <a:avLst/>
              <a:gdLst>
                <a:gd name="G0" fmla="+- 0 0 0"/>
                <a:gd name="G1" fmla="+- 29 0 0"/>
                <a:gd name="G2" fmla="+- 21600 0 0"/>
                <a:gd name="T0" fmla="*/ 21599 w 21600"/>
                <a:gd name="T1" fmla="*/ 0 h 15266"/>
                <a:gd name="T2" fmla="*/ 15309 w 21600"/>
                <a:gd name="T3" fmla="*/ 15266 h 15266"/>
                <a:gd name="T4" fmla="*/ 0 w 21600"/>
                <a:gd name="T5" fmla="*/ 29 h 15266"/>
              </a:gdLst>
              <a:ahLst/>
              <a:cxnLst>
                <a:cxn ang="0">
                  <a:pos x="T0" y="T1"/>
                </a:cxn>
                <a:cxn ang="0">
                  <a:pos x="T2" y="T3"/>
                </a:cxn>
                <a:cxn ang="0">
                  <a:pos x="T4" y="T5"/>
                </a:cxn>
              </a:cxnLst>
              <a:rect l="0" t="0" r="r" b="b"/>
              <a:pathLst>
                <a:path w="21600" h="15266" fill="none" extrusionOk="0">
                  <a:moveTo>
                    <a:pt x="21599" y="-1"/>
                  </a:moveTo>
                  <a:cubicBezTo>
                    <a:pt x="21599" y="9"/>
                    <a:pt x="21600" y="19"/>
                    <a:pt x="21600" y="29"/>
                  </a:cubicBezTo>
                  <a:cubicBezTo>
                    <a:pt x="21600" y="5740"/>
                    <a:pt x="19338" y="11218"/>
                    <a:pt x="15309" y="15266"/>
                  </a:cubicBezTo>
                </a:path>
                <a:path w="21600" h="15266" stroke="0" extrusionOk="0">
                  <a:moveTo>
                    <a:pt x="21599" y="-1"/>
                  </a:moveTo>
                  <a:cubicBezTo>
                    <a:pt x="21599" y="9"/>
                    <a:pt x="21600" y="19"/>
                    <a:pt x="21600" y="29"/>
                  </a:cubicBezTo>
                  <a:cubicBezTo>
                    <a:pt x="21600" y="5740"/>
                    <a:pt x="19338" y="11218"/>
                    <a:pt x="15309" y="15266"/>
                  </a:cubicBezTo>
                  <a:lnTo>
                    <a:pt x="0" y="29"/>
                  </a:lnTo>
                  <a:close/>
                </a:path>
              </a:pathLst>
            </a:custGeom>
            <a:solidFill>
              <a:srgbClr val="000000"/>
            </a:solidFill>
            <a:ln w="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sp>
          <p:nvSpPr>
            <p:cNvPr id="22" name="Arc 39"/>
            <p:cNvSpPr>
              <a:spLocks/>
            </p:cNvSpPr>
            <p:nvPr/>
          </p:nvSpPr>
          <p:spPr bwMode="auto">
            <a:xfrm flipH="1">
              <a:off x="25" y="87"/>
              <a:ext cx="62" cy="86"/>
            </a:xfrm>
            <a:custGeom>
              <a:avLst/>
              <a:gdLst>
                <a:gd name="G0" fmla="+- 0 0 0"/>
                <a:gd name="G1" fmla="+- 0 0 0"/>
                <a:gd name="G2" fmla="+- 21600 0 0"/>
                <a:gd name="T0" fmla="*/ 15386 w 15386"/>
                <a:gd name="T1" fmla="*/ 15159 h 21599"/>
                <a:gd name="T2" fmla="*/ 28 w 15386"/>
                <a:gd name="T3" fmla="*/ 21599 h 21599"/>
                <a:gd name="T4" fmla="*/ 0 w 15386"/>
                <a:gd name="T5" fmla="*/ 0 h 21599"/>
              </a:gdLst>
              <a:ahLst/>
              <a:cxnLst>
                <a:cxn ang="0">
                  <a:pos x="T0" y="T1"/>
                </a:cxn>
                <a:cxn ang="0">
                  <a:pos x="T2" y="T3"/>
                </a:cxn>
                <a:cxn ang="0">
                  <a:pos x="T4" y="T5"/>
                </a:cxn>
              </a:cxnLst>
              <a:rect l="0" t="0" r="r" b="b"/>
              <a:pathLst>
                <a:path w="15386" h="21599" fill="none" extrusionOk="0">
                  <a:moveTo>
                    <a:pt x="15386" y="15159"/>
                  </a:moveTo>
                  <a:cubicBezTo>
                    <a:pt x="11333" y="19273"/>
                    <a:pt x="5802" y="21592"/>
                    <a:pt x="28" y="21599"/>
                  </a:cubicBezTo>
                </a:path>
                <a:path w="15386" h="21599" stroke="0" extrusionOk="0">
                  <a:moveTo>
                    <a:pt x="15386" y="15159"/>
                  </a:moveTo>
                  <a:cubicBezTo>
                    <a:pt x="11333" y="19273"/>
                    <a:pt x="5802" y="21592"/>
                    <a:pt x="28" y="21599"/>
                  </a:cubicBezTo>
                  <a:lnTo>
                    <a:pt x="0" y="0"/>
                  </a:lnTo>
                  <a:close/>
                </a:path>
              </a:pathLst>
            </a:custGeom>
            <a:solidFill>
              <a:srgbClr val="000000"/>
            </a:solidFill>
            <a:ln w="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sp>
          <p:nvSpPr>
            <p:cNvPr id="23" name="Oval 40"/>
            <p:cNvSpPr>
              <a:spLocks noChangeArrowheads="1"/>
            </p:cNvSpPr>
            <p:nvPr/>
          </p:nvSpPr>
          <p:spPr bwMode="auto">
            <a:xfrm>
              <a:off x="0" y="0"/>
              <a:ext cx="173" cy="173"/>
            </a:xfrm>
            <a:prstGeom prst="ellipse">
              <a:avLst/>
            </a:prstGeom>
            <a:noFill/>
            <a:ln w="63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sp>
          <p:nvSpPr>
            <p:cNvPr id="24" name="Arc 41"/>
            <p:cNvSpPr>
              <a:spLocks/>
            </p:cNvSpPr>
            <p:nvPr/>
          </p:nvSpPr>
          <p:spPr bwMode="auto">
            <a:xfrm>
              <a:off x="86" y="25"/>
              <a:ext cx="87" cy="62"/>
            </a:xfrm>
            <a:custGeom>
              <a:avLst/>
              <a:gdLst>
                <a:gd name="G0" fmla="+- 0 0 0"/>
                <a:gd name="G1" fmla="+- 15382 0 0"/>
                <a:gd name="G2" fmla="+- 21600 0 0"/>
                <a:gd name="T0" fmla="*/ 15163 w 21600"/>
                <a:gd name="T1" fmla="*/ 0 h 15382"/>
                <a:gd name="T2" fmla="*/ 21600 w 21600"/>
                <a:gd name="T3" fmla="*/ 15382 h 15382"/>
                <a:gd name="T4" fmla="*/ 0 w 21600"/>
                <a:gd name="T5" fmla="*/ 15382 h 15382"/>
              </a:gdLst>
              <a:ahLst/>
              <a:cxnLst>
                <a:cxn ang="0">
                  <a:pos x="T0" y="T1"/>
                </a:cxn>
                <a:cxn ang="0">
                  <a:pos x="T2" y="T3"/>
                </a:cxn>
                <a:cxn ang="0">
                  <a:pos x="T4" y="T5"/>
                </a:cxn>
              </a:cxnLst>
              <a:rect l="0" t="0" r="r" b="b"/>
              <a:pathLst>
                <a:path w="21600" h="15382" fill="none" extrusionOk="0">
                  <a:moveTo>
                    <a:pt x="15163" y="-1"/>
                  </a:moveTo>
                  <a:cubicBezTo>
                    <a:pt x="19281" y="4058"/>
                    <a:pt x="21600" y="9599"/>
                    <a:pt x="21600" y="15382"/>
                  </a:cubicBezTo>
                </a:path>
                <a:path w="21600" h="15382" stroke="0" extrusionOk="0">
                  <a:moveTo>
                    <a:pt x="15163" y="-1"/>
                  </a:moveTo>
                  <a:cubicBezTo>
                    <a:pt x="19281" y="4058"/>
                    <a:pt x="21600" y="9599"/>
                    <a:pt x="21600" y="15382"/>
                  </a:cubicBezTo>
                  <a:lnTo>
                    <a:pt x="0" y="15382"/>
                  </a:lnTo>
                  <a:close/>
                </a:path>
              </a:pathLst>
            </a:custGeom>
            <a:solidFill>
              <a:srgbClr val="000000"/>
            </a:solidFill>
            <a:ln w="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grpSp>
    </p:spTree>
    <p:extLst>
      <p:ext uri="{BB962C8B-B14F-4D97-AF65-F5344CB8AC3E}">
        <p14:creationId xmlns:p14="http://schemas.microsoft.com/office/powerpoint/2010/main" val="839090759"/>
      </p:ext>
    </p:extLst>
  </p:cSld>
  <p:clrMapOvr>
    <a:masterClrMapping/>
  </p:clrMapOvr>
  <mc:AlternateContent xmlns:mc="http://schemas.openxmlformats.org/markup-compatibility/2006">
    <mc:Choice xmlns:p14="http://schemas.microsoft.com/office/powerpoint/2010/main" Requires="p14">
      <p:transition p14:dur="250">
        <p14:reveal/>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childTnLst>
                                </p:cTn>
                              </p:par>
                              <p:par>
                                <p:cTn id="8" presetID="10" presetClass="entr" presetSubtype="0" fill="hold" grpId="0" nodeType="withEffect">
                                  <p:stCondLst>
                                    <p:cond delay="25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1000"/>
                                        <p:tgtEl>
                                          <p:spTgt spid="16"/>
                                        </p:tgtEl>
                                      </p:cBhvr>
                                    </p:animEffect>
                                  </p:childTnLst>
                                </p:cTn>
                              </p:par>
                              <p:par>
                                <p:cTn id="11" presetID="10" presetClass="entr" presetSubtype="0" fill="hold" grpId="0" nodeType="withEffect">
                                  <p:stCondLst>
                                    <p:cond delay="25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1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76780" t="78172" r="18395" b="12686"/>
          <a:stretch/>
        </p:blipFill>
        <p:spPr bwMode="auto">
          <a:xfrm>
            <a:off x="8188658" y="4384319"/>
            <a:ext cx="955343" cy="7639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CaixaDeTexto 5"/>
          <p:cNvSpPr txBox="1"/>
          <p:nvPr/>
        </p:nvSpPr>
        <p:spPr>
          <a:xfrm>
            <a:off x="2039091" y="300128"/>
            <a:ext cx="184731" cy="369332"/>
          </a:xfrm>
          <a:prstGeom prst="rect">
            <a:avLst/>
          </a:prstGeom>
          <a:noFill/>
        </p:spPr>
        <p:txBody>
          <a:bodyPr wrap="none" rtlCol="0">
            <a:spAutoFit/>
          </a:bodyPr>
          <a:lstStyle/>
          <a:p>
            <a:endParaRPr lang="pt-BR" dirty="0"/>
          </a:p>
        </p:txBody>
      </p:sp>
      <p:sp>
        <p:nvSpPr>
          <p:cNvPr id="9" name="Title 1"/>
          <p:cNvSpPr txBox="1">
            <a:spLocks/>
          </p:cNvSpPr>
          <p:nvPr/>
        </p:nvSpPr>
        <p:spPr>
          <a:xfrm>
            <a:off x="862358" y="8805"/>
            <a:ext cx="4724449" cy="5604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pt-BR" sz="2200" b="1" dirty="0">
                <a:solidFill>
                  <a:schemeClr val="tx2"/>
                </a:solidFill>
                <a:latin typeface="Arial" pitchFamily="34" charset="0"/>
                <a:cs typeface="Arial" pitchFamily="34" charset="0"/>
              </a:rPr>
              <a:t>9</a:t>
            </a:r>
            <a:r>
              <a:rPr lang="pt-BR" sz="2200" b="1" dirty="0" smtClean="0">
                <a:solidFill>
                  <a:schemeClr val="tx2"/>
                </a:solidFill>
                <a:latin typeface="Arial" pitchFamily="34" charset="0"/>
                <a:cs typeface="Arial" pitchFamily="34" charset="0"/>
              </a:rPr>
              <a:t>. </a:t>
            </a:r>
            <a:r>
              <a:rPr lang="pt-BR" sz="2200" b="1" dirty="0">
                <a:solidFill>
                  <a:schemeClr val="tx2"/>
                </a:solidFill>
                <a:latin typeface="Arial" pitchFamily="34" charset="0"/>
                <a:cs typeface="Arial" pitchFamily="34" charset="0"/>
              </a:rPr>
              <a:t>Projeto: OCS </a:t>
            </a:r>
            <a:r>
              <a:rPr lang="pt-BR" sz="2200" b="1" dirty="0" err="1">
                <a:solidFill>
                  <a:schemeClr val="tx2"/>
                </a:solidFill>
                <a:latin typeface="Arial" pitchFamily="34" charset="0"/>
                <a:cs typeface="Arial" pitchFamily="34" charset="0"/>
              </a:rPr>
              <a:t>Inventory</a:t>
            </a:r>
            <a:endParaRPr lang="pt-BR" sz="2200" b="1" dirty="0">
              <a:solidFill>
                <a:schemeClr val="tx2"/>
              </a:solidFill>
              <a:latin typeface="Arial" pitchFamily="34" charset="0"/>
              <a:cs typeface="Arial" pitchFamily="34" charset="0"/>
            </a:endParaRPr>
          </a:p>
        </p:txBody>
      </p:sp>
      <p:sp>
        <p:nvSpPr>
          <p:cNvPr id="12" name="Retângulo 11"/>
          <p:cNvSpPr/>
          <p:nvPr/>
        </p:nvSpPr>
        <p:spPr>
          <a:xfrm>
            <a:off x="110572" y="1995233"/>
            <a:ext cx="3223281" cy="2624646"/>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0" lvl="1" algn="ctr">
              <a:spcBef>
                <a:spcPts val="200"/>
              </a:spcBef>
              <a:spcAft>
                <a:spcPts val="200"/>
              </a:spcAft>
            </a:pPr>
            <a:r>
              <a:rPr lang="pt-BR" sz="1400" b="1" dirty="0" smtClean="0">
                <a:solidFill>
                  <a:schemeClr val="tx1">
                    <a:lumMod val="95000"/>
                    <a:lumOff val="5000"/>
                  </a:schemeClr>
                </a:solidFill>
              </a:rPr>
              <a:t>Último Status</a:t>
            </a:r>
            <a:r>
              <a:rPr lang="pt-BR" sz="1200" dirty="0" smtClean="0">
                <a:solidFill>
                  <a:schemeClr val="tx1">
                    <a:lumMod val="95000"/>
                    <a:lumOff val="5000"/>
                  </a:schemeClr>
                </a:solidFill>
              </a:rPr>
              <a:t>  </a:t>
            </a:r>
          </a:p>
          <a:p>
            <a:pPr marL="216000" lvl="1" indent="-216000">
              <a:spcBef>
                <a:spcPts val="200"/>
              </a:spcBef>
              <a:spcAft>
                <a:spcPts val="200"/>
              </a:spcAft>
              <a:buFont typeface="Wingdings" panose="05000000000000000000" pitchFamily="2" charset="2"/>
              <a:buChar char="ü"/>
            </a:pPr>
            <a:r>
              <a:rPr lang="pt-BR" sz="1400" dirty="0" smtClean="0">
                <a:solidFill>
                  <a:schemeClr val="tx1">
                    <a:lumMod val="95000"/>
                    <a:lumOff val="5000"/>
                  </a:schemeClr>
                </a:solidFill>
              </a:rPr>
              <a:t>Servidores </a:t>
            </a:r>
            <a:r>
              <a:rPr lang="pt-BR" sz="1400" dirty="0">
                <a:solidFill>
                  <a:schemeClr val="tx1">
                    <a:lumMod val="95000"/>
                    <a:lumOff val="5000"/>
                  </a:schemeClr>
                </a:solidFill>
              </a:rPr>
              <a:t>cadastrados no OCS: </a:t>
            </a:r>
            <a:r>
              <a:rPr lang="pt-BR" sz="1400" dirty="0" smtClean="0">
                <a:solidFill>
                  <a:schemeClr val="tx1">
                    <a:lumMod val="95000"/>
                    <a:lumOff val="5000"/>
                  </a:schemeClr>
                </a:solidFill>
              </a:rPr>
              <a:t>3.716/3.965</a:t>
            </a:r>
          </a:p>
          <a:p>
            <a:pPr marL="171450" lvl="1" indent="-171450">
              <a:spcBef>
                <a:spcPts val="200"/>
              </a:spcBef>
              <a:spcAft>
                <a:spcPts val="200"/>
              </a:spcAft>
              <a:buFont typeface="Arial" panose="020B0604020202020204" pitchFamily="34" charset="0"/>
              <a:buChar char="•"/>
            </a:pPr>
            <a:r>
              <a:rPr lang="pt-BR" sz="1400" dirty="0" smtClean="0">
                <a:solidFill>
                  <a:schemeClr val="tx1">
                    <a:lumMod val="95000"/>
                    <a:lumOff val="5000"/>
                  </a:schemeClr>
                </a:solidFill>
              </a:rPr>
              <a:t>Microsoft	(2.903/3.046)		</a:t>
            </a:r>
            <a:r>
              <a:rPr lang="pt-BR" sz="1400" dirty="0" smtClean="0">
                <a:solidFill>
                  <a:srgbClr val="FF0000"/>
                </a:solidFill>
              </a:rPr>
              <a:t>143</a:t>
            </a:r>
          </a:p>
          <a:p>
            <a:pPr marL="628650" lvl="2" indent="-171450">
              <a:spcBef>
                <a:spcPts val="200"/>
              </a:spcBef>
              <a:spcAft>
                <a:spcPts val="200"/>
              </a:spcAft>
              <a:buFont typeface="Arial" panose="020B0604020202020204" pitchFamily="34" charset="0"/>
              <a:buChar char="•"/>
            </a:pPr>
            <a:r>
              <a:rPr lang="pt-BR" sz="1000" dirty="0">
                <a:solidFill>
                  <a:schemeClr val="tx1">
                    <a:lumMod val="95000"/>
                    <a:lumOff val="5000"/>
                  </a:schemeClr>
                </a:solidFill>
              </a:rPr>
              <a:t>Agente Instalado - Pendencia de Rede </a:t>
            </a:r>
            <a:r>
              <a:rPr lang="pt-BR" sz="1000" dirty="0" smtClean="0">
                <a:solidFill>
                  <a:schemeClr val="tx1">
                    <a:lumMod val="95000"/>
                    <a:lumOff val="5000"/>
                  </a:schemeClr>
                </a:solidFill>
              </a:rPr>
              <a:t>	87</a:t>
            </a:r>
            <a:endParaRPr lang="pt-BR" sz="1000" dirty="0">
              <a:solidFill>
                <a:schemeClr val="tx1">
                  <a:lumMod val="95000"/>
                  <a:lumOff val="5000"/>
                </a:schemeClr>
              </a:solidFill>
            </a:endParaRPr>
          </a:p>
          <a:p>
            <a:pPr marL="628650" lvl="2" indent="-171450">
              <a:spcBef>
                <a:spcPts val="200"/>
              </a:spcBef>
              <a:spcAft>
                <a:spcPts val="200"/>
              </a:spcAft>
              <a:buFont typeface="Arial" panose="020B0604020202020204" pitchFamily="34" charset="0"/>
              <a:buChar char="•"/>
            </a:pPr>
            <a:r>
              <a:rPr lang="pt-BR" sz="1000" dirty="0">
                <a:solidFill>
                  <a:schemeClr val="tx1">
                    <a:lumMod val="95000"/>
                    <a:lumOff val="5000"/>
                  </a:schemeClr>
                </a:solidFill>
              </a:rPr>
              <a:t>Pendente (Host) </a:t>
            </a:r>
            <a:r>
              <a:rPr lang="pt-BR" sz="1000" dirty="0" smtClean="0">
                <a:solidFill>
                  <a:schemeClr val="tx1">
                    <a:lumMod val="95000"/>
                    <a:lumOff val="5000"/>
                  </a:schemeClr>
                </a:solidFill>
              </a:rPr>
              <a:t>			42</a:t>
            </a:r>
            <a:endParaRPr lang="pt-BR" sz="1000" dirty="0">
              <a:solidFill>
                <a:schemeClr val="tx1">
                  <a:lumMod val="95000"/>
                  <a:lumOff val="5000"/>
                </a:schemeClr>
              </a:solidFill>
            </a:endParaRPr>
          </a:p>
          <a:p>
            <a:pPr marL="628650" lvl="2" indent="-171450">
              <a:spcBef>
                <a:spcPts val="200"/>
              </a:spcBef>
              <a:spcAft>
                <a:spcPts val="200"/>
              </a:spcAft>
              <a:buFont typeface="Arial" panose="020B0604020202020204" pitchFamily="34" charset="0"/>
              <a:buChar char="•"/>
            </a:pPr>
            <a:r>
              <a:rPr lang="pt-BR" sz="1000" dirty="0" smtClean="0">
                <a:solidFill>
                  <a:schemeClr val="tx1">
                    <a:lumMod val="95000"/>
                    <a:lumOff val="5000"/>
                  </a:schemeClr>
                </a:solidFill>
              </a:rPr>
              <a:t>Pendente </a:t>
            </a:r>
            <a:r>
              <a:rPr lang="pt-BR" sz="1000" dirty="0">
                <a:solidFill>
                  <a:schemeClr val="tx1">
                    <a:lumMod val="95000"/>
                    <a:lumOff val="5000"/>
                  </a:schemeClr>
                </a:solidFill>
              </a:rPr>
              <a:t>(Host) </a:t>
            </a:r>
            <a:r>
              <a:rPr lang="pt-BR" sz="1000" dirty="0" smtClean="0">
                <a:solidFill>
                  <a:schemeClr val="tx1">
                    <a:lumMod val="95000"/>
                    <a:lumOff val="5000"/>
                  </a:schemeClr>
                </a:solidFill>
              </a:rPr>
              <a:t>Usuário </a:t>
            </a:r>
            <a:r>
              <a:rPr lang="pt-BR" sz="1000" dirty="0">
                <a:solidFill>
                  <a:schemeClr val="tx1">
                    <a:lumMod val="95000"/>
                    <a:lumOff val="5000"/>
                  </a:schemeClr>
                </a:solidFill>
              </a:rPr>
              <a:t>e Senha </a:t>
            </a:r>
            <a:r>
              <a:rPr lang="pt-BR" sz="1000" dirty="0" smtClean="0">
                <a:solidFill>
                  <a:schemeClr val="tx1">
                    <a:lumMod val="95000"/>
                    <a:lumOff val="5000"/>
                  </a:schemeClr>
                </a:solidFill>
              </a:rPr>
              <a:t>             14</a:t>
            </a:r>
            <a:endParaRPr lang="pt-BR" sz="1000" dirty="0">
              <a:solidFill>
                <a:schemeClr val="tx1">
                  <a:lumMod val="95000"/>
                  <a:lumOff val="5000"/>
                </a:schemeClr>
              </a:solidFill>
            </a:endParaRPr>
          </a:p>
          <a:p>
            <a:pPr marL="457200" lvl="2">
              <a:spcBef>
                <a:spcPts val="200"/>
              </a:spcBef>
              <a:spcAft>
                <a:spcPts val="200"/>
              </a:spcAft>
            </a:pPr>
            <a:endParaRPr lang="pt-BR" sz="900" dirty="0">
              <a:solidFill>
                <a:schemeClr val="tx1">
                  <a:lumMod val="95000"/>
                  <a:lumOff val="5000"/>
                </a:schemeClr>
              </a:solidFill>
            </a:endParaRPr>
          </a:p>
          <a:p>
            <a:pPr marL="171450" lvl="1" indent="-171450">
              <a:spcBef>
                <a:spcPts val="200"/>
              </a:spcBef>
              <a:spcAft>
                <a:spcPts val="200"/>
              </a:spcAft>
              <a:buFont typeface="Arial" panose="020B0604020202020204" pitchFamily="34" charset="0"/>
              <a:buChar char="•"/>
            </a:pPr>
            <a:r>
              <a:rPr lang="pt-BR" sz="1400" dirty="0" smtClean="0">
                <a:solidFill>
                  <a:schemeClr val="tx1">
                    <a:lumMod val="95000"/>
                    <a:lumOff val="5000"/>
                  </a:schemeClr>
                </a:solidFill>
              </a:rPr>
              <a:t>Linux	(813/919)		</a:t>
            </a:r>
            <a:r>
              <a:rPr lang="pt-BR" sz="1400" dirty="0" smtClean="0">
                <a:solidFill>
                  <a:srgbClr val="FF0000"/>
                </a:solidFill>
              </a:rPr>
              <a:t>106</a:t>
            </a:r>
          </a:p>
          <a:p>
            <a:pPr marL="628650" lvl="2" indent="-171450">
              <a:spcBef>
                <a:spcPts val="200"/>
              </a:spcBef>
              <a:spcAft>
                <a:spcPts val="200"/>
              </a:spcAft>
              <a:buFont typeface="Arial" panose="020B0604020202020204" pitchFamily="34" charset="0"/>
              <a:buChar char="•"/>
            </a:pPr>
            <a:r>
              <a:rPr lang="pt-BR" sz="1000" dirty="0" smtClean="0">
                <a:solidFill>
                  <a:schemeClr val="tx1">
                    <a:lumMod val="95000"/>
                    <a:lumOff val="5000"/>
                  </a:schemeClr>
                </a:solidFill>
              </a:rPr>
              <a:t>Agente Instalado - Pendencia de Rede	04</a:t>
            </a:r>
          </a:p>
          <a:p>
            <a:pPr marL="628650" lvl="2" indent="-171450">
              <a:spcBef>
                <a:spcPts val="200"/>
              </a:spcBef>
              <a:spcAft>
                <a:spcPts val="200"/>
              </a:spcAft>
              <a:buFont typeface="Arial" panose="020B0604020202020204" pitchFamily="34" charset="0"/>
              <a:buChar char="•"/>
            </a:pPr>
            <a:r>
              <a:rPr lang="pt-BR" sz="1000" dirty="0" smtClean="0">
                <a:solidFill>
                  <a:schemeClr val="tx1">
                    <a:lumMod val="95000"/>
                    <a:lumOff val="5000"/>
                  </a:schemeClr>
                </a:solidFill>
              </a:rPr>
              <a:t>Pendente </a:t>
            </a:r>
            <a:r>
              <a:rPr lang="pt-BR" sz="1000" dirty="0">
                <a:solidFill>
                  <a:schemeClr val="tx1">
                    <a:lumMod val="95000"/>
                    <a:lumOff val="5000"/>
                  </a:schemeClr>
                </a:solidFill>
              </a:rPr>
              <a:t>(Host) </a:t>
            </a:r>
            <a:r>
              <a:rPr lang="pt-BR" sz="1000" dirty="0" smtClean="0">
                <a:solidFill>
                  <a:schemeClr val="tx1">
                    <a:lumMod val="95000"/>
                    <a:lumOff val="5000"/>
                  </a:schemeClr>
                </a:solidFill>
              </a:rPr>
              <a:t>Usuário </a:t>
            </a:r>
            <a:r>
              <a:rPr lang="pt-BR" sz="1000" dirty="0">
                <a:solidFill>
                  <a:schemeClr val="tx1">
                    <a:lumMod val="95000"/>
                    <a:lumOff val="5000"/>
                  </a:schemeClr>
                </a:solidFill>
              </a:rPr>
              <a:t>e </a:t>
            </a:r>
            <a:r>
              <a:rPr lang="pt-BR" sz="1000" dirty="0" smtClean="0">
                <a:solidFill>
                  <a:schemeClr val="tx1">
                    <a:lumMod val="95000"/>
                    <a:lumOff val="5000"/>
                  </a:schemeClr>
                </a:solidFill>
              </a:rPr>
              <a:t>Senha            102</a:t>
            </a:r>
            <a:endParaRPr lang="pt-BR" sz="1000" dirty="0">
              <a:solidFill>
                <a:schemeClr val="tx1">
                  <a:lumMod val="95000"/>
                  <a:lumOff val="5000"/>
                </a:schemeClr>
              </a:solidFill>
            </a:endParaRPr>
          </a:p>
          <a:p>
            <a:pPr marL="628650" lvl="2" indent="-171450">
              <a:spcBef>
                <a:spcPts val="200"/>
              </a:spcBef>
              <a:spcAft>
                <a:spcPts val="200"/>
              </a:spcAft>
              <a:buFont typeface="Arial" panose="020B0604020202020204" pitchFamily="34" charset="0"/>
              <a:buChar char="•"/>
            </a:pPr>
            <a:endParaRPr lang="pt-BR" sz="1400" dirty="0" smtClean="0">
              <a:solidFill>
                <a:schemeClr val="tx1"/>
              </a:solidFill>
            </a:endParaRPr>
          </a:p>
          <a:p>
            <a:pPr marL="628650" lvl="2" indent="-171450">
              <a:spcBef>
                <a:spcPts val="200"/>
              </a:spcBef>
              <a:spcAft>
                <a:spcPts val="200"/>
              </a:spcAft>
              <a:buFont typeface="Arial" panose="020B0604020202020204" pitchFamily="34" charset="0"/>
              <a:buChar char="•"/>
            </a:pPr>
            <a:endParaRPr lang="pt-BR" sz="1400" dirty="0">
              <a:solidFill>
                <a:schemeClr val="tx1"/>
              </a:solidFill>
            </a:endParaRPr>
          </a:p>
          <a:p>
            <a:pPr marL="0" lvl="1">
              <a:spcBef>
                <a:spcPts val="200"/>
              </a:spcBef>
              <a:spcAft>
                <a:spcPts val="200"/>
              </a:spcAft>
            </a:pPr>
            <a:endParaRPr lang="pt-BR" sz="1200" dirty="0" smtClean="0">
              <a:solidFill>
                <a:srgbClr val="FF0000"/>
              </a:solidFill>
            </a:endParaRPr>
          </a:p>
        </p:txBody>
      </p:sp>
      <p:sp>
        <p:nvSpPr>
          <p:cNvPr id="15" name="Retângulo de cantos arredondados 14"/>
          <p:cNvSpPr/>
          <p:nvPr/>
        </p:nvSpPr>
        <p:spPr>
          <a:xfrm>
            <a:off x="158943" y="776935"/>
            <a:ext cx="3064339" cy="1080993"/>
          </a:xfrm>
          <a:prstGeom prst="roundRect">
            <a:avLst/>
          </a:prstGeom>
          <a:solidFill>
            <a:srgbClr val="FFC000"/>
          </a:soli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r>
              <a:rPr lang="pt-BR" sz="1400" b="1" dirty="0" smtClean="0">
                <a:solidFill>
                  <a:schemeClr val="bg1"/>
                </a:solidFill>
                <a:effectLst>
                  <a:outerShdw blurRad="38100" dist="38100" dir="2700000" algn="tl">
                    <a:srgbClr val="000000">
                      <a:alpha val="43137"/>
                    </a:srgbClr>
                  </a:outerShdw>
                </a:effectLst>
              </a:rPr>
              <a:t>Projeto: OCS </a:t>
            </a:r>
            <a:r>
              <a:rPr lang="pt-BR" sz="1400" b="1" dirty="0" err="1" smtClean="0">
                <a:solidFill>
                  <a:schemeClr val="bg1"/>
                </a:solidFill>
                <a:effectLst>
                  <a:outerShdw blurRad="38100" dist="38100" dir="2700000" algn="tl">
                    <a:srgbClr val="000000">
                      <a:alpha val="43137"/>
                    </a:srgbClr>
                  </a:outerShdw>
                </a:effectLst>
              </a:rPr>
              <a:t>Inventory</a:t>
            </a:r>
            <a:endParaRPr lang="pt-BR" sz="1400" b="1" dirty="0" smtClean="0">
              <a:solidFill>
                <a:schemeClr val="bg1"/>
              </a:solidFill>
              <a:effectLst>
                <a:outerShdw blurRad="38100" dist="38100" dir="2700000" algn="tl">
                  <a:srgbClr val="000000">
                    <a:alpha val="43137"/>
                  </a:srgbClr>
                </a:outerShdw>
              </a:effectLst>
            </a:endParaRPr>
          </a:p>
          <a:p>
            <a:r>
              <a:rPr lang="pt-BR" sz="1200" i="1" dirty="0" smtClean="0">
                <a:solidFill>
                  <a:schemeClr val="bg1"/>
                </a:solidFill>
              </a:rPr>
              <a:t>Data Inicio: </a:t>
            </a:r>
            <a:r>
              <a:rPr lang="pt-BR" sz="1200" i="1" dirty="0">
                <a:solidFill>
                  <a:schemeClr val="bg1"/>
                </a:solidFill>
              </a:rPr>
              <a:t>0</a:t>
            </a:r>
            <a:r>
              <a:rPr lang="pt-BR" sz="1200" i="1" dirty="0" smtClean="0">
                <a:solidFill>
                  <a:schemeClr val="bg1"/>
                </a:solidFill>
              </a:rPr>
              <a:t>4-12-2015</a:t>
            </a:r>
          </a:p>
          <a:p>
            <a:r>
              <a:rPr lang="pt-BR" sz="1200" i="1" dirty="0" smtClean="0">
                <a:solidFill>
                  <a:schemeClr val="bg1"/>
                </a:solidFill>
              </a:rPr>
              <a:t>Data Conclusão: </a:t>
            </a:r>
            <a:r>
              <a:rPr lang="pt-BR" sz="1200" i="1" strike="sngStrike" dirty="0" smtClean="0">
                <a:solidFill>
                  <a:schemeClr val="bg1"/>
                </a:solidFill>
              </a:rPr>
              <a:t>10-06-2016 </a:t>
            </a:r>
          </a:p>
          <a:p>
            <a:r>
              <a:rPr lang="pt-BR" sz="1200" i="1" dirty="0" smtClean="0">
                <a:solidFill>
                  <a:schemeClr val="bg1"/>
                </a:solidFill>
              </a:rPr>
              <a:t>Progresso: 94%</a:t>
            </a:r>
          </a:p>
          <a:p>
            <a:r>
              <a:rPr lang="pt-BR" sz="1200" i="1" dirty="0" smtClean="0">
                <a:solidFill>
                  <a:schemeClr val="bg1"/>
                </a:solidFill>
              </a:rPr>
              <a:t>PM: Thiago Augusto</a:t>
            </a:r>
          </a:p>
        </p:txBody>
      </p:sp>
      <p:sp>
        <p:nvSpPr>
          <p:cNvPr id="16" name="Retângulo 15"/>
          <p:cNvSpPr/>
          <p:nvPr/>
        </p:nvSpPr>
        <p:spPr>
          <a:xfrm>
            <a:off x="3439885" y="2053020"/>
            <a:ext cx="2716382" cy="2566859"/>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0" lvl="1" algn="ctr">
              <a:spcBef>
                <a:spcPts val="200"/>
              </a:spcBef>
              <a:spcAft>
                <a:spcPts val="200"/>
              </a:spcAft>
            </a:pPr>
            <a:r>
              <a:rPr lang="pt-BR" sz="1400" b="1" dirty="0">
                <a:solidFill>
                  <a:schemeClr val="tx1">
                    <a:lumMod val="95000"/>
                    <a:lumOff val="5000"/>
                  </a:schemeClr>
                </a:solidFill>
              </a:rPr>
              <a:t>Objetivos alcançados na última </a:t>
            </a:r>
            <a:r>
              <a:rPr lang="pt-BR" sz="1400" b="1" dirty="0" smtClean="0">
                <a:solidFill>
                  <a:schemeClr val="tx1">
                    <a:lumMod val="95000"/>
                    <a:lumOff val="5000"/>
                  </a:schemeClr>
                </a:solidFill>
              </a:rPr>
              <a:t>semana</a:t>
            </a:r>
            <a:endParaRPr lang="pt-BR" sz="1400" dirty="0" smtClean="0">
              <a:solidFill>
                <a:schemeClr val="tx1">
                  <a:lumMod val="95000"/>
                  <a:lumOff val="5000"/>
                </a:schemeClr>
              </a:solidFill>
            </a:endParaRPr>
          </a:p>
          <a:p>
            <a:pPr marL="171450" lvl="1" indent="-171450">
              <a:spcBef>
                <a:spcPts val="200"/>
              </a:spcBef>
              <a:spcAft>
                <a:spcPts val="200"/>
              </a:spcAft>
              <a:buFont typeface="Arial" panose="020B0604020202020204" pitchFamily="34" charset="0"/>
              <a:buChar char="•"/>
            </a:pPr>
            <a:r>
              <a:rPr lang="pt-BR" sz="1200" dirty="0" smtClean="0">
                <a:solidFill>
                  <a:schemeClr val="tx1">
                    <a:lumMod val="95000"/>
                    <a:lumOff val="5000"/>
                  </a:schemeClr>
                </a:solidFill>
              </a:rPr>
              <a:t>Equipe de controle de ativos esta utilizando a ferramenta.</a:t>
            </a:r>
          </a:p>
          <a:p>
            <a:pPr marL="171450" lvl="1" indent="-171450">
              <a:spcBef>
                <a:spcPts val="200"/>
              </a:spcBef>
              <a:spcAft>
                <a:spcPts val="200"/>
              </a:spcAft>
              <a:buFont typeface="Arial" panose="020B0604020202020204" pitchFamily="34" charset="0"/>
              <a:buChar char="•"/>
            </a:pPr>
            <a:endParaRPr lang="pt-BR" sz="1200" dirty="0" smtClean="0">
              <a:solidFill>
                <a:schemeClr val="tx1">
                  <a:lumMod val="95000"/>
                  <a:lumOff val="5000"/>
                </a:schemeClr>
              </a:solidFill>
            </a:endParaRPr>
          </a:p>
        </p:txBody>
      </p:sp>
      <p:sp>
        <p:nvSpPr>
          <p:cNvPr id="17" name="Retângulo 16"/>
          <p:cNvSpPr/>
          <p:nvPr/>
        </p:nvSpPr>
        <p:spPr>
          <a:xfrm>
            <a:off x="6262299" y="2053077"/>
            <a:ext cx="2620663" cy="2566858"/>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0" lvl="1" algn="ctr">
              <a:spcBef>
                <a:spcPts val="200"/>
              </a:spcBef>
              <a:spcAft>
                <a:spcPts val="200"/>
              </a:spcAft>
            </a:pPr>
            <a:r>
              <a:rPr lang="pt-BR" sz="1400" b="1" dirty="0" smtClean="0">
                <a:solidFill>
                  <a:schemeClr val="tx1">
                    <a:lumMod val="95000"/>
                    <a:lumOff val="5000"/>
                  </a:schemeClr>
                </a:solidFill>
              </a:rPr>
              <a:t>Riscos/Problemas/Observações</a:t>
            </a:r>
          </a:p>
          <a:p>
            <a:pPr marL="0" lvl="1">
              <a:spcBef>
                <a:spcPts val="200"/>
              </a:spcBef>
              <a:spcAft>
                <a:spcPts val="200"/>
              </a:spcAft>
            </a:pPr>
            <a:endParaRPr lang="pt-BR" sz="1200" dirty="0" smtClean="0">
              <a:solidFill>
                <a:schemeClr val="tx1">
                  <a:lumMod val="95000"/>
                  <a:lumOff val="5000"/>
                </a:schemeClr>
              </a:solidFill>
            </a:endParaRPr>
          </a:p>
          <a:p>
            <a:pPr marL="0" lvl="1">
              <a:spcBef>
                <a:spcPts val="200"/>
              </a:spcBef>
              <a:spcAft>
                <a:spcPts val="200"/>
              </a:spcAft>
            </a:pPr>
            <a:endParaRPr lang="pt-BR" sz="1200" dirty="0" smtClean="0">
              <a:solidFill>
                <a:schemeClr val="tx1">
                  <a:lumMod val="95000"/>
                  <a:lumOff val="5000"/>
                </a:schemeClr>
              </a:solidFill>
            </a:endParaRPr>
          </a:p>
          <a:p>
            <a:pPr marL="285750" lvl="1" indent="-285750">
              <a:spcBef>
                <a:spcPts val="200"/>
              </a:spcBef>
              <a:spcAft>
                <a:spcPts val="200"/>
              </a:spcAft>
              <a:buFont typeface="Arial" panose="020B0604020202020204" pitchFamily="34" charset="0"/>
              <a:buChar char="•"/>
            </a:pPr>
            <a:endParaRPr lang="pt-BR" sz="1200" dirty="0" smtClean="0">
              <a:solidFill>
                <a:schemeClr val="tx1">
                  <a:lumMod val="95000"/>
                  <a:lumOff val="5000"/>
                </a:schemeClr>
              </a:solidFill>
            </a:endParaRPr>
          </a:p>
        </p:txBody>
      </p:sp>
      <p:sp>
        <p:nvSpPr>
          <p:cNvPr id="18" name="Retângulo de cantos arredondados 17"/>
          <p:cNvSpPr/>
          <p:nvPr/>
        </p:nvSpPr>
        <p:spPr>
          <a:xfrm>
            <a:off x="3382225" y="776936"/>
            <a:ext cx="5500737" cy="1080992"/>
          </a:xfrm>
          <a:prstGeom prst="roundRect">
            <a:avLst/>
          </a:prstGeom>
          <a:solidFill>
            <a:schemeClr val="accent1">
              <a:lumMod val="50000"/>
            </a:schemeClr>
          </a:soli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r>
              <a:rPr lang="pt-BR" sz="1400" b="1" dirty="0" smtClean="0">
                <a:effectLst>
                  <a:outerShdw blurRad="38100" dist="38100" dir="2700000" algn="tl">
                    <a:srgbClr val="000000">
                      <a:alpha val="43137"/>
                    </a:srgbClr>
                  </a:outerShdw>
                </a:effectLst>
              </a:rPr>
              <a:t>Descritivo:  </a:t>
            </a:r>
            <a:r>
              <a:rPr lang="pt-BR" sz="1400" dirty="0" smtClean="0">
                <a:effectLst>
                  <a:outerShdw blurRad="38100" dist="38100" dir="2700000" algn="tl">
                    <a:srgbClr val="000000">
                      <a:alpha val="43137"/>
                    </a:srgbClr>
                  </a:outerShdw>
                </a:effectLst>
              </a:rPr>
              <a:t>O</a:t>
            </a:r>
            <a:r>
              <a:rPr lang="pt-BR" sz="1400" dirty="0" smtClean="0"/>
              <a:t> OCS </a:t>
            </a:r>
            <a:r>
              <a:rPr lang="pt-BR" sz="1400" dirty="0"/>
              <a:t>é uma ferramenta de </a:t>
            </a:r>
            <a:r>
              <a:rPr lang="pt-BR" sz="1400" dirty="0" smtClean="0"/>
              <a:t>Inventário de servidores para auxiliar a </a:t>
            </a:r>
            <a:r>
              <a:rPr lang="pt-BR" sz="1400" dirty="0"/>
              <a:t>equipe de Controle de Ativos</a:t>
            </a:r>
            <a:r>
              <a:rPr lang="pt-BR" sz="1400" dirty="0" smtClean="0"/>
              <a:t>. </a:t>
            </a:r>
            <a:endParaRPr lang="pt-BR" sz="1400" dirty="0"/>
          </a:p>
        </p:txBody>
      </p:sp>
      <p:pic>
        <p:nvPicPr>
          <p:cNvPr id="25" name="Picture 1" descr="t03-02.jpg"/>
          <p:cNvPicPr>
            <a:picLocks noChangeAspect="1"/>
          </p:cNvPicPr>
          <p:nvPr/>
        </p:nvPicPr>
        <p:blipFill rotWithShape="1">
          <a:blip r:embed="rId4">
            <a:extLst>
              <a:ext uri="{28A0092B-C50C-407E-A947-70E740481C1C}">
                <a14:useLocalDpi xmlns:a14="http://schemas.microsoft.com/office/drawing/2010/main" val="0"/>
              </a:ext>
            </a:extLst>
          </a:blip>
          <a:srcRect r="91368" b="84909"/>
          <a:stretch/>
        </p:blipFill>
        <p:spPr>
          <a:xfrm>
            <a:off x="0" y="0"/>
            <a:ext cx="789296" cy="776935"/>
          </a:xfrm>
          <a:prstGeom prst="rect">
            <a:avLst/>
          </a:prstGeom>
        </p:spPr>
      </p:pic>
      <p:pic>
        <p:nvPicPr>
          <p:cNvPr id="27" name="Picture 9"/>
          <p:cNvPicPr>
            <a:picLocks noChangeAspect="1"/>
          </p:cNvPicPr>
          <p:nvPr/>
        </p:nvPicPr>
        <p:blipFill>
          <a:blip r:embed="rId5"/>
          <a:stretch>
            <a:fillRect/>
          </a:stretch>
        </p:blipFill>
        <p:spPr>
          <a:xfrm>
            <a:off x="7021333" y="289005"/>
            <a:ext cx="1603348" cy="291323"/>
          </a:xfrm>
          <a:prstGeom prst="rect">
            <a:avLst/>
          </a:prstGeom>
        </p:spPr>
      </p:pic>
      <p:grpSp>
        <p:nvGrpSpPr>
          <p:cNvPr id="20" name="Group 42"/>
          <p:cNvGrpSpPr>
            <a:grpSpLocks/>
          </p:cNvGrpSpPr>
          <p:nvPr/>
        </p:nvGrpSpPr>
        <p:grpSpPr bwMode="auto">
          <a:xfrm>
            <a:off x="2872581" y="1497012"/>
            <a:ext cx="274638" cy="274641"/>
            <a:chOff x="0" y="0"/>
            <a:chExt cx="173" cy="173"/>
          </a:xfrm>
        </p:grpSpPr>
        <p:sp>
          <p:nvSpPr>
            <p:cNvPr id="21" name="Arc 43"/>
            <p:cNvSpPr>
              <a:spLocks/>
            </p:cNvSpPr>
            <p:nvPr/>
          </p:nvSpPr>
          <p:spPr bwMode="auto">
            <a:xfrm>
              <a:off x="86" y="0"/>
              <a:ext cx="62" cy="86"/>
            </a:xfrm>
            <a:custGeom>
              <a:avLst/>
              <a:gdLst>
                <a:gd name="G0" fmla="+- 58 0 0"/>
                <a:gd name="G1" fmla="+- 21600 0 0"/>
                <a:gd name="G2" fmla="+- 21600 0 0"/>
                <a:gd name="T0" fmla="*/ 0 w 15318"/>
                <a:gd name="T1" fmla="*/ 1 h 21600"/>
                <a:gd name="T2" fmla="*/ 15318 w 15318"/>
                <a:gd name="T3" fmla="*/ 6314 h 21600"/>
                <a:gd name="T4" fmla="*/ 58 w 15318"/>
                <a:gd name="T5" fmla="*/ 21600 h 21600"/>
              </a:gdLst>
              <a:ahLst/>
              <a:cxnLst>
                <a:cxn ang="0">
                  <a:pos x="T0" y="T1"/>
                </a:cxn>
                <a:cxn ang="0">
                  <a:pos x="T2" y="T3"/>
                </a:cxn>
                <a:cxn ang="0">
                  <a:pos x="T4" y="T5"/>
                </a:cxn>
              </a:cxnLst>
              <a:rect l="0" t="0" r="r" b="b"/>
              <a:pathLst>
                <a:path w="15318" h="21600" fill="none" extrusionOk="0">
                  <a:moveTo>
                    <a:pt x="-1" y="0"/>
                  </a:moveTo>
                  <a:cubicBezTo>
                    <a:pt x="19" y="0"/>
                    <a:pt x="38" y="0"/>
                    <a:pt x="58" y="0"/>
                  </a:cubicBezTo>
                  <a:cubicBezTo>
                    <a:pt x="5780" y="0"/>
                    <a:pt x="11268" y="2270"/>
                    <a:pt x="15318" y="6313"/>
                  </a:cubicBezTo>
                </a:path>
                <a:path w="15318" h="21600" stroke="0" extrusionOk="0">
                  <a:moveTo>
                    <a:pt x="-1" y="0"/>
                  </a:moveTo>
                  <a:cubicBezTo>
                    <a:pt x="19" y="0"/>
                    <a:pt x="38" y="0"/>
                    <a:pt x="58" y="0"/>
                  </a:cubicBezTo>
                  <a:cubicBezTo>
                    <a:pt x="5780" y="0"/>
                    <a:pt x="11268" y="2270"/>
                    <a:pt x="15318" y="6313"/>
                  </a:cubicBezTo>
                  <a:lnTo>
                    <a:pt x="58" y="21600"/>
                  </a:lnTo>
                  <a:close/>
                </a:path>
              </a:pathLst>
            </a:custGeom>
            <a:solidFill>
              <a:srgbClr val="000000"/>
            </a:solidFill>
            <a:ln w="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sp>
          <p:nvSpPr>
            <p:cNvPr id="22" name="Arc 44"/>
            <p:cNvSpPr>
              <a:spLocks/>
            </p:cNvSpPr>
            <p:nvPr/>
          </p:nvSpPr>
          <p:spPr bwMode="auto">
            <a:xfrm>
              <a:off x="86" y="25"/>
              <a:ext cx="87" cy="62"/>
            </a:xfrm>
            <a:custGeom>
              <a:avLst/>
              <a:gdLst>
                <a:gd name="G0" fmla="+- 0 0 0"/>
                <a:gd name="G1" fmla="+- 15382 0 0"/>
                <a:gd name="G2" fmla="+- 21600 0 0"/>
                <a:gd name="T0" fmla="*/ 15163 w 21600"/>
                <a:gd name="T1" fmla="*/ 0 h 15382"/>
                <a:gd name="T2" fmla="*/ 21600 w 21600"/>
                <a:gd name="T3" fmla="*/ 15382 h 15382"/>
                <a:gd name="T4" fmla="*/ 0 w 21600"/>
                <a:gd name="T5" fmla="*/ 15382 h 15382"/>
              </a:gdLst>
              <a:ahLst/>
              <a:cxnLst>
                <a:cxn ang="0">
                  <a:pos x="T0" y="T1"/>
                </a:cxn>
                <a:cxn ang="0">
                  <a:pos x="T2" y="T3"/>
                </a:cxn>
                <a:cxn ang="0">
                  <a:pos x="T4" y="T5"/>
                </a:cxn>
              </a:cxnLst>
              <a:rect l="0" t="0" r="r" b="b"/>
              <a:pathLst>
                <a:path w="21600" h="15382" fill="none" extrusionOk="0">
                  <a:moveTo>
                    <a:pt x="15163" y="-1"/>
                  </a:moveTo>
                  <a:cubicBezTo>
                    <a:pt x="19281" y="4058"/>
                    <a:pt x="21600" y="9599"/>
                    <a:pt x="21600" y="15382"/>
                  </a:cubicBezTo>
                </a:path>
                <a:path w="21600" h="15382" stroke="0" extrusionOk="0">
                  <a:moveTo>
                    <a:pt x="15163" y="-1"/>
                  </a:moveTo>
                  <a:cubicBezTo>
                    <a:pt x="19281" y="4058"/>
                    <a:pt x="21600" y="9599"/>
                    <a:pt x="21600" y="15382"/>
                  </a:cubicBezTo>
                  <a:lnTo>
                    <a:pt x="0" y="15382"/>
                  </a:lnTo>
                  <a:close/>
                </a:path>
              </a:pathLst>
            </a:custGeom>
            <a:solidFill>
              <a:srgbClr val="000000"/>
            </a:solidFill>
            <a:ln w="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sp>
          <p:nvSpPr>
            <p:cNvPr id="23" name="Arc 45"/>
            <p:cNvSpPr>
              <a:spLocks/>
            </p:cNvSpPr>
            <p:nvPr/>
          </p:nvSpPr>
          <p:spPr bwMode="auto">
            <a:xfrm>
              <a:off x="86" y="87"/>
              <a:ext cx="87" cy="61"/>
            </a:xfrm>
            <a:custGeom>
              <a:avLst/>
              <a:gdLst>
                <a:gd name="G0" fmla="+- 0 0 0"/>
                <a:gd name="G1" fmla="+- 29 0 0"/>
                <a:gd name="G2" fmla="+- 21600 0 0"/>
                <a:gd name="T0" fmla="*/ 21599 w 21600"/>
                <a:gd name="T1" fmla="*/ 0 h 15266"/>
                <a:gd name="T2" fmla="*/ 15309 w 21600"/>
                <a:gd name="T3" fmla="*/ 15266 h 15266"/>
                <a:gd name="T4" fmla="*/ 0 w 21600"/>
                <a:gd name="T5" fmla="*/ 29 h 15266"/>
              </a:gdLst>
              <a:ahLst/>
              <a:cxnLst>
                <a:cxn ang="0">
                  <a:pos x="T0" y="T1"/>
                </a:cxn>
                <a:cxn ang="0">
                  <a:pos x="T2" y="T3"/>
                </a:cxn>
                <a:cxn ang="0">
                  <a:pos x="T4" y="T5"/>
                </a:cxn>
              </a:cxnLst>
              <a:rect l="0" t="0" r="r" b="b"/>
              <a:pathLst>
                <a:path w="21600" h="15266" fill="none" extrusionOk="0">
                  <a:moveTo>
                    <a:pt x="21599" y="-1"/>
                  </a:moveTo>
                  <a:cubicBezTo>
                    <a:pt x="21599" y="9"/>
                    <a:pt x="21600" y="19"/>
                    <a:pt x="21600" y="29"/>
                  </a:cubicBezTo>
                  <a:cubicBezTo>
                    <a:pt x="21600" y="5740"/>
                    <a:pt x="19338" y="11218"/>
                    <a:pt x="15309" y="15266"/>
                  </a:cubicBezTo>
                </a:path>
                <a:path w="21600" h="15266" stroke="0" extrusionOk="0">
                  <a:moveTo>
                    <a:pt x="21599" y="-1"/>
                  </a:moveTo>
                  <a:cubicBezTo>
                    <a:pt x="21599" y="9"/>
                    <a:pt x="21600" y="19"/>
                    <a:pt x="21600" y="29"/>
                  </a:cubicBezTo>
                  <a:cubicBezTo>
                    <a:pt x="21600" y="5740"/>
                    <a:pt x="19338" y="11218"/>
                    <a:pt x="15309" y="15266"/>
                  </a:cubicBezTo>
                  <a:lnTo>
                    <a:pt x="0" y="29"/>
                  </a:lnTo>
                  <a:close/>
                </a:path>
              </a:pathLst>
            </a:custGeom>
            <a:solidFill>
              <a:srgbClr val="000000"/>
            </a:solidFill>
            <a:ln w="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sp>
          <p:nvSpPr>
            <p:cNvPr id="24" name="Arc 46"/>
            <p:cNvSpPr>
              <a:spLocks/>
            </p:cNvSpPr>
            <p:nvPr/>
          </p:nvSpPr>
          <p:spPr bwMode="auto">
            <a:xfrm>
              <a:off x="86" y="87"/>
              <a:ext cx="62" cy="86"/>
            </a:xfrm>
            <a:custGeom>
              <a:avLst/>
              <a:gdLst>
                <a:gd name="G0" fmla="+- 0 0 0"/>
                <a:gd name="G1" fmla="+- 0 0 0"/>
                <a:gd name="G2" fmla="+- 21600 0 0"/>
                <a:gd name="T0" fmla="*/ 15386 w 15386"/>
                <a:gd name="T1" fmla="*/ 15159 h 21599"/>
                <a:gd name="T2" fmla="*/ 28 w 15386"/>
                <a:gd name="T3" fmla="*/ 21599 h 21599"/>
                <a:gd name="T4" fmla="*/ 0 w 15386"/>
                <a:gd name="T5" fmla="*/ 0 h 21599"/>
              </a:gdLst>
              <a:ahLst/>
              <a:cxnLst>
                <a:cxn ang="0">
                  <a:pos x="T0" y="T1"/>
                </a:cxn>
                <a:cxn ang="0">
                  <a:pos x="T2" y="T3"/>
                </a:cxn>
                <a:cxn ang="0">
                  <a:pos x="T4" y="T5"/>
                </a:cxn>
              </a:cxnLst>
              <a:rect l="0" t="0" r="r" b="b"/>
              <a:pathLst>
                <a:path w="15386" h="21599" fill="none" extrusionOk="0">
                  <a:moveTo>
                    <a:pt x="15386" y="15159"/>
                  </a:moveTo>
                  <a:cubicBezTo>
                    <a:pt x="11333" y="19273"/>
                    <a:pt x="5802" y="21592"/>
                    <a:pt x="28" y="21599"/>
                  </a:cubicBezTo>
                </a:path>
                <a:path w="15386" h="21599" stroke="0" extrusionOk="0">
                  <a:moveTo>
                    <a:pt x="15386" y="15159"/>
                  </a:moveTo>
                  <a:cubicBezTo>
                    <a:pt x="11333" y="19273"/>
                    <a:pt x="5802" y="21592"/>
                    <a:pt x="28" y="21599"/>
                  </a:cubicBezTo>
                  <a:lnTo>
                    <a:pt x="0" y="0"/>
                  </a:lnTo>
                  <a:close/>
                </a:path>
              </a:pathLst>
            </a:custGeom>
            <a:solidFill>
              <a:srgbClr val="000000"/>
            </a:solidFill>
            <a:ln w="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sp>
          <p:nvSpPr>
            <p:cNvPr id="36" name="Arc 47"/>
            <p:cNvSpPr>
              <a:spLocks/>
            </p:cNvSpPr>
            <p:nvPr/>
          </p:nvSpPr>
          <p:spPr bwMode="auto">
            <a:xfrm flipH="1">
              <a:off x="0" y="25"/>
              <a:ext cx="87" cy="62"/>
            </a:xfrm>
            <a:custGeom>
              <a:avLst/>
              <a:gdLst>
                <a:gd name="G0" fmla="+- 0 0 0"/>
                <a:gd name="G1" fmla="+- 15382 0 0"/>
                <a:gd name="G2" fmla="+- 21600 0 0"/>
                <a:gd name="T0" fmla="*/ 15163 w 21600"/>
                <a:gd name="T1" fmla="*/ 0 h 15382"/>
                <a:gd name="T2" fmla="*/ 21600 w 21600"/>
                <a:gd name="T3" fmla="*/ 15382 h 15382"/>
                <a:gd name="T4" fmla="*/ 0 w 21600"/>
                <a:gd name="T5" fmla="*/ 15382 h 15382"/>
              </a:gdLst>
              <a:ahLst/>
              <a:cxnLst>
                <a:cxn ang="0">
                  <a:pos x="T0" y="T1"/>
                </a:cxn>
                <a:cxn ang="0">
                  <a:pos x="T2" y="T3"/>
                </a:cxn>
                <a:cxn ang="0">
                  <a:pos x="T4" y="T5"/>
                </a:cxn>
              </a:cxnLst>
              <a:rect l="0" t="0" r="r" b="b"/>
              <a:pathLst>
                <a:path w="21600" h="15382" fill="none" extrusionOk="0">
                  <a:moveTo>
                    <a:pt x="15163" y="-1"/>
                  </a:moveTo>
                  <a:cubicBezTo>
                    <a:pt x="19281" y="4058"/>
                    <a:pt x="21600" y="9599"/>
                    <a:pt x="21600" y="15382"/>
                  </a:cubicBezTo>
                </a:path>
                <a:path w="21600" h="15382" stroke="0" extrusionOk="0">
                  <a:moveTo>
                    <a:pt x="15163" y="-1"/>
                  </a:moveTo>
                  <a:cubicBezTo>
                    <a:pt x="19281" y="4058"/>
                    <a:pt x="21600" y="9599"/>
                    <a:pt x="21600" y="15382"/>
                  </a:cubicBezTo>
                  <a:lnTo>
                    <a:pt x="0" y="15382"/>
                  </a:lnTo>
                  <a:close/>
                </a:path>
              </a:pathLst>
            </a:custGeom>
            <a:solidFill>
              <a:srgbClr val="000000"/>
            </a:solidFill>
            <a:ln w="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sp>
          <p:nvSpPr>
            <p:cNvPr id="37" name="Arc 48"/>
            <p:cNvSpPr>
              <a:spLocks/>
            </p:cNvSpPr>
            <p:nvPr/>
          </p:nvSpPr>
          <p:spPr bwMode="auto">
            <a:xfrm flipH="1">
              <a:off x="0" y="87"/>
              <a:ext cx="87" cy="61"/>
            </a:xfrm>
            <a:custGeom>
              <a:avLst/>
              <a:gdLst>
                <a:gd name="G0" fmla="+- 0 0 0"/>
                <a:gd name="G1" fmla="+- 29 0 0"/>
                <a:gd name="G2" fmla="+- 21600 0 0"/>
                <a:gd name="T0" fmla="*/ 21599 w 21600"/>
                <a:gd name="T1" fmla="*/ 0 h 15266"/>
                <a:gd name="T2" fmla="*/ 15309 w 21600"/>
                <a:gd name="T3" fmla="*/ 15266 h 15266"/>
                <a:gd name="T4" fmla="*/ 0 w 21600"/>
                <a:gd name="T5" fmla="*/ 29 h 15266"/>
              </a:gdLst>
              <a:ahLst/>
              <a:cxnLst>
                <a:cxn ang="0">
                  <a:pos x="T0" y="T1"/>
                </a:cxn>
                <a:cxn ang="0">
                  <a:pos x="T2" y="T3"/>
                </a:cxn>
                <a:cxn ang="0">
                  <a:pos x="T4" y="T5"/>
                </a:cxn>
              </a:cxnLst>
              <a:rect l="0" t="0" r="r" b="b"/>
              <a:pathLst>
                <a:path w="21600" h="15266" fill="none" extrusionOk="0">
                  <a:moveTo>
                    <a:pt x="21599" y="-1"/>
                  </a:moveTo>
                  <a:cubicBezTo>
                    <a:pt x="21599" y="9"/>
                    <a:pt x="21600" y="19"/>
                    <a:pt x="21600" y="29"/>
                  </a:cubicBezTo>
                  <a:cubicBezTo>
                    <a:pt x="21600" y="5740"/>
                    <a:pt x="19338" y="11218"/>
                    <a:pt x="15309" y="15266"/>
                  </a:cubicBezTo>
                </a:path>
                <a:path w="21600" h="15266" stroke="0" extrusionOk="0">
                  <a:moveTo>
                    <a:pt x="21599" y="-1"/>
                  </a:moveTo>
                  <a:cubicBezTo>
                    <a:pt x="21599" y="9"/>
                    <a:pt x="21600" y="19"/>
                    <a:pt x="21600" y="29"/>
                  </a:cubicBezTo>
                  <a:cubicBezTo>
                    <a:pt x="21600" y="5740"/>
                    <a:pt x="19338" y="11218"/>
                    <a:pt x="15309" y="15266"/>
                  </a:cubicBezTo>
                  <a:lnTo>
                    <a:pt x="0" y="29"/>
                  </a:lnTo>
                  <a:close/>
                </a:path>
              </a:pathLst>
            </a:custGeom>
            <a:solidFill>
              <a:srgbClr val="000000"/>
            </a:solidFill>
            <a:ln w="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sp>
          <p:nvSpPr>
            <p:cNvPr id="38" name="Arc 49"/>
            <p:cNvSpPr>
              <a:spLocks/>
            </p:cNvSpPr>
            <p:nvPr/>
          </p:nvSpPr>
          <p:spPr bwMode="auto">
            <a:xfrm flipH="1">
              <a:off x="25" y="87"/>
              <a:ext cx="62" cy="86"/>
            </a:xfrm>
            <a:custGeom>
              <a:avLst/>
              <a:gdLst>
                <a:gd name="G0" fmla="+- 0 0 0"/>
                <a:gd name="G1" fmla="+- 0 0 0"/>
                <a:gd name="G2" fmla="+- 21600 0 0"/>
                <a:gd name="T0" fmla="*/ 15386 w 15386"/>
                <a:gd name="T1" fmla="*/ 15159 h 21599"/>
                <a:gd name="T2" fmla="*/ 28 w 15386"/>
                <a:gd name="T3" fmla="*/ 21599 h 21599"/>
                <a:gd name="T4" fmla="*/ 0 w 15386"/>
                <a:gd name="T5" fmla="*/ 0 h 21599"/>
              </a:gdLst>
              <a:ahLst/>
              <a:cxnLst>
                <a:cxn ang="0">
                  <a:pos x="T0" y="T1"/>
                </a:cxn>
                <a:cxn ang="0">
                  <a:pos x="T2" y="T3"/>
                </a:cxn>
                <a:cxn ang="0">
                  <a:pos x="T4" y="T5"/>
                </a:cxn>
              </a:cxnLst>
              <a:rect l="0" t="0" r="r" b="b"/>
              <a:pathLst>
                <a:path w="15386" h="21599" fill="none" extrusionOk="0">
                  <a:moveTo>
                    <a:pt x="15386" y="15159"/>
                  </a:moveTo>
                  <a:cubicBezTo>
                    <a:pt x="11333" y="19273"/>
                    <a:pt x="5802" y="21592"/>
                    <a:pt x="28" y="21599"/>
                  </a:cubicBezTo>
                </a:path>
                <a:path w="15386" h="21599" stroke="0" extrusionOk="0">
                  <a:moveTo>
                    <a:pt x="15386" y="15159"/>
                  </a:moveTo>
                  <a:cubicBezTo>
                    <a:pt x="11333" y="19273"/>
                    <a:pt x="5802" y="21592"/>
                    <a:pt x="28" y="21599"/>
                  </a:cubicBezTo>
                  <a:lnTo>
                    <a:pt x="0" y="0"/>
                  </a:lnTo>
                  <a:close/>
                </a:path>
              </a:pathLst>
            </a:custGeom>
            <a:solidFill>
              <a:srgbClr val="000000"/>
            </a:solidFill>
            <a:ln w="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sp>
          <p:nvSpPr>
            <p:cNvPr id="39" name="Oval 50"/>
            <p:cNvSpPr>
              <a:spLocks noChangeArrowheads="1"/>
            </p:cNvSpPr>
            <p:nvPr/>
          </p:nvSpPr>
          <p:spPr bwMode="auto">
            <a:xfrm>
              <a:off x="0" y="0"/>
              <a:ext cx="173" cy="173"/>
            </a:xfrm>
            <a:prstGeom prst="ellipse">
              <a:avLst/>
            </a:prstGeom>
            <a:noFill/>
            <a:ln w="63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grpSp>
    </p:spTree>
    <p:extLst>
      <p:ext uri="{BB962C8B-B14F-4D97-AF65-F5344CB8AC3E}">
        <p14:creationId xmlns:p14="http://schemas.microsoft.com/office/powerpoint/2010/main" val="1984157575"/>
      </p:ext>
    </p:extLst>
  </p:cSld>
  <p:clrMapOvr>
    <a:masterClrMapping/>
  </p:clrMapOvr>
  <mc:AlternateContent xmlns:mc="http://schemas.openxmlformats.org/markup-compatibility/2006">
    <mc:Choice xmlns:p14="http://schemas.microsoft.com/office/powerpoint/2010/main" Requires="p14">
      <p:transition p14:dur="250">
        <p14:reveal/>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childTnLst>
                                </p:cTn>
                              </p:par>
                              <p:par>
                                <p:cTn id="8" presetID="10" presetClass="entr" presetSubtype="0" fill="hold" grpId="0" nodeType="withEffect">
                                  <p:stCondLst>
                                    <p:cond delay="25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1000"/>
                                        <p:tgtEl>
                                          <p:spTgt spid="16"/>
                                        </p:tgtEl>
                                      </p:cBhvr>
                                    </p:animEffect>
                                  </p:childTnLst>
                                </p:cTn>
                              </p:par>
                              <p:par>
                                <p:cTn id="11" presetID="10" presetClass="entr" presetSubtype="0" fill="hold" grpId="0" nodeType="withEffect">
                                  <p:stCondLst>
                                    <p:cond delay="25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1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76780" t="78172" r="18395" b="12686"/>
          <a:stretch/>
        </p:blipFill>
        <p:spPr bwMode="auto">
          <a:xfrm>
            <a:off x="8188658" y="4384319"/>
            <a:ext cx="955343" cy="7639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9"/>
          <p:cNvPicPr>
            <a:picLocks noChangeAspect="1"/>
          </p:cNvPicPr>
          <p:nvPr/>
        </p:nvPicPr>
        <p:blipFill>
          <a:blip r:embed="rId4"/>
          <a:stretch>
            <a:fillRect/>
          </a:stretch>
        </p:blipFill>
        <p:spPr>
          <a:xfrm>
            <a:off x="7021333" y="289005"/>
            <a:ext cx="1603348" cy="291323"/>
          </a:xfrm>
          <a:prstGeom prst="rect">
            <a:avLst/>
          </a:prstGeom>
        </p:spPr>
      </p:pic>
      <p:pic>
        <p:nvPicPr>
          <p:cNvPr id="8" name="Picture 1" descr="t03-02.jpg"/>
          <p:cNvPicPr>
            <a:picLocks noChangeAspect="1"/>
          </p:cNvPicPr>
          <p:nvPr/>
        </p:nvPicPr>
        <p:blipFill rotWithShape="1">
          <a:blip r:embed="rId5">
            <a:extLst>
              <a:ext uri="{28A0092B-C50C-407E-A947-70E740481C1C}">
                <a14:useLocalDpi xmlns:a14="http://schemas.microsoft.com/office/drawing/2010/main" val="0"/>
              </a:ext>
            </a:extLst>
          </a:blip>
          <a:srcRect r="91368" b="84909"/>
          <a:stretch/>
        </p:blipFill>
        <p:spPr>
          <a:xfrm>
            <a:off x="0" y="0"/>
            <a:ext cx="789296" cy="776935"/>
          </a:xfrm>
          <a:prstGeom prst="rect">
            <a:avLst/>
          </a:prstGeom>
        </p:spPr>
      </p:pic>
      <p:sp>
        <p:nvSpPr>
          <p:cNvPr id="6" name="CaixaDeTexto 5"/>
          <p:cNvSpPr txBox="1"/>
          <p:nvPr/>
        </p:nvSpPr>
        <p:spPr>
          <a:xfrm>
            <a:off x="2039091" y="300128"/>
            <a:ext cx="184731" cy="369332"/>
          </a:xfrm>
          <a:prstGeom prst="rect">
            <a:avLst/>
          </a:prstGeom>
          <a:noFill/>
        </p:spPr>
        <p:txBody>
          <a:bodyPr wrap="none" rtlCol="0">
            <a:spAutoFit/>
          </a:bodyPr>
          <a:lstStyle/>
          <a:p>
            <a:endParaRPr lang="pt-BR" dirty="0"/>
          </a:p>
        </p:txBody>
      </p:sp>
      <p:sp>
        <p:nvSpPr>
          <p:cNvPr id="9" name="Title 1"/>
          <p:cNvSpPr txBox="1">
            <a:spLocks/>
          </p:cNvSpPr>
          <p:nvPr/>
        </p:nvSpPr>
        <p:spPr>
          <a:xfrm>
            <a:off x="562659" y="90471"/>
            <a:ext cx="6254098" cy="560400"/>
          </a:xfrm>
          <a:prstGeom prst="rect">
            <a:avLst/>
          </a:prstGeom>
        </p:spPr>
        <p:txBody>
          <a:bodyPr vert="horz" lIns="91440" tIns="45720" rIns="91440" bIns="45720" rtlCol="0" anchor="ctr">
            <a:normAutofit fontScale="775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pt-BR" sz="2800" b="1" dirty="0">
                <a:solidFill>
                  <a:schemeClr val="tx2"/>
                </a:solidFill>
                <a:latin typeface="Arial" pitchFamily="34" charset="0"/>
                <a:cs typeface="Arial" pitchFamily="34" charset="0"/>
              </a:rPr>
              <a:t>9</a:t>
            </a:r>
            <a:r>
              <a:rPr lang="pt-BR" sz="2800" b="1" dirty="0" smtClean="0">
                <a:solidFill>
                  <a:schemeClr val="tx2"/>
                </a:solidFill>
                <a:latin typeface="Arial" pitchFamily="34" charset="0"/>
                <a:cs typeface="Arial" pitchFamily="34" charset="0"/>
              </a:rPr>
              <a:t>. Projeto: Monitoração Dell – Open Manager</a:t>
            </a:r>
            <a:endParaRPr lang="pt-BR" sz="2800" b="1" dirty="0">
              <a:solidFill>
                <a:schemeClr val="tx2"/>
              </a:solidFill>
              <a:latin typeface="Arial" pitchFamily="34" charset="0"/>
              <a:cs typeface="Arial" pitchFamily="34" charset="0"/>
            </a:endParaRPr>
          </a:p>
        </p:txBody>
      </p:sp>
      <p:sp>
        <p:nvSpPr>
          <p:cNvPr id="12" name="Retângulo 11"/>
          <p:cNvSpPr/>
          <p:nvPr/>
        </p:nvSpPr>
        <p:spPr>
          <a:xfrm>
            <a:off x="221121" y="2081342"/>
            <a:ext cx="2716382" cy="2475419"/>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0" lvl="1" algn="ctr">
              <a:spcBef>
                <a:spcPts val="200"/>
              </a:spcBef>
              <a:spcAft>
                <a:spcPts val="200"/>
              </a:spcAft>
            </a:pPr>
            <a:r>
              <a:rPr lang="pt-BR" sz="1400" b="1" dirty="0" smtClean="0">
                <a:solidFill>
                  <a:schemeClr val="tx1">
                    <a:lumMod val="95000"/>
                    <a:lumOff val="5000"/>
                  </a:schemeClr>
                </a:solidFill>
              </a:rPr>
              <a:t>Últimas Realizações</a:t>
            </a:r>
            <a:endParaRPr lang="pt-BR" sz="1200" dirty="0" smtClean="0">
              <a:solidFill>
                <a:schemeClr val="tx1">
                  <a:lumMod val="95000"/>
                  <a:lumOff val="5000"/>
                </a:schemeClr>
              </a:solidFill>
            </a:endParaRPr>
          </a:p>
          <a:p>
            <a:pPr marL="171450" lvl="1" indent="-171450">
              <a:spcBef>
                <a:spcPts val="200"/>
              </a:spcBef>
              <a:spcAft>
                <a:spcPts val="200"/>
              </a:spcAft>
              <a:buFont typeface="Arial" panose="020B0604020202020204" pitchFamily="34" charset="0"/>
              <a:buChar char="•"/>
            </a:pPr>
            <a:r>
              <a:rPr lang="pt-BR" sz="1200" dirty="0" smtClean="0">
                <a:solidFill>
                  <a:schemeClr val="tx1">
                    <a:lumMod val="95000"/>
                    <a:lumOff val="5000"/>
                  </a:schemeClr>
                </a:solidFill>
              </a:rPr>
              <a:t>Em execução o cadastramento de </a:t>
            </a:r>
            <a:r>
              <a:rPr lang="pt-BR" sz="1200" dirty="0" err="1">
                <a:solidFill>
                  <a:schemeClr val="tx1">
                    <a:lumMod val="95000"/>
                    <a:lumOff val="5000"/>
                  </a:schemeClr>
                </a:solidFill>
              </a:rPr>
              <a:t>V</a:t>
            </a:r>
            <a:r>
              <a:rPr lang="pt-BR" sz="1200" dirty="0" err="1" smtClean="0">
                <a:solidFill>
                  <a:schemeClr val="tx1">
                    <a:lumMod val="95000"/>
                    <a:lumOff val="5000"/>
                  </a:schemeClr>
                </a:solidFill>
              </a:rPr>
              <a:t>lans</a:t>
            </a:r>
            <a:r>
              <a:rPr lang="pt-BR" sz="1200" dirty="0" smtClean="0">
                <a:solidFill>
                  <a:schemeClr val="tx1">
                    <a:lumMod val="95000"/>
                    <a:lumOff val="5000"/>
                  </a:schemeClr>
                </a:solidFill>
              </a:rPr>
              <a:t> de servidores (Total).</a:t>
            </a:r>
          </a:p>
          <a:p>
            <a:pPr marL="171450" lvl="1" indent="-171450">
              <a:spcBef>
                <a:spcPts val="200"/>
              </a:spcBef>
              <a:spcAft>
                <a:spcPts val="200"/>
              </a:spcAft>
              <a:buFont typeface="Arial" panose="020B0604020202020204" pitchFamily="34" charset="0"/>
              <a:buChar char="•"/>
            </a:pPr>
            <a:r>
              <a:rPr lang="pt-BR" sz="1200" b="1" dirty="0">
                <a:solidFill>
                  <a:schemeClr val="tx1">
                    <a:lumMod val="95000"/>
                    <a:lumOff val="5000"/>
                  </a:schemeClr>
                </a:solidFill>
              </a:rPr>
              <a:t>70% dos servidores Dell com monitorização de HW.</a:t>
            </a:r>
            <a:endParaRPr lang="pt-BR" sz="1400" b="1" dirty="0">
              <a:solidFill>
                <a:schemeClr val="tx1">
                  <a:lumMod val="95000"/>
                  <a:lumOff val="5000"/>
                </a:schemeClr>
              </a:solidFill>
            </a:endParaRPr>
          </a:p>
          <a:p>
            <a:pPr marL="171450" lvl="1" indent="-171450">
              <a:spcBef>
                <a:spcPts val="200"/>
              </a:spcBef>
              <a:spcAft>
                <a:spcPts val="200"/>
              </a:spcAft>
              <a:buFont typeface="Arial" panose="020B0604020202020204" pitchFamily="34" charset="0"/>
              <a:buChar char="•"/>
            </a:pPr>
            <a:endParaRPr lang="pt-BR" sz="1200" dirty="0" smtClean="0">
              <a:solidFill>
                <a:schemeClr val="tx1">
                  <a:lumMod val="95000"/>
                  <a:lumOff val="5000"/>
                </a:schemeClr>
              </a:solidFill>
            </a:endParaRPr>
          </a:p>
          <a:p>
            <a:pPr marL="0" lvl="1">
              <a:spcBef>
                <a:spcPts val="200"/>
              </a:spcBef>
              <a:spcAft>
                <a:spcPts val="200"/>
              </a:spcAft>
            </a:pPr>
            <a:endParaRPr lang="pt-BR" sz="1200" dirty="0">
              <a:solidFill>
                <a:schemeClr val="tx1"/>
              </a:solidFill>
            </a:endParaRPr>
          </a:p>
        </p:txBody>
      </p:sp>
      <p:sp>
        <p:nvSpPr>
          <p:cNvPr id="15" name="Retângulo de cantos arredondados 14"/>
          <p:cNvSpPr/>
          <p:nvPr/>
        </p:nvSpPr>
        <p:spPr>
          <a:xfrm>
            <a:off x="158943" y="776935"/>
            <a:ext cx="3064339" cy="1178343"/>
          </a:xfrm>
          <a:prstGeom prst="roundRect">
            <a:avLst/>
          </a:prstGeom>
          <a:solidFill>
            <a:schemeClr val="accent5">
              <a:lumMod val="40000"/>
              <a:lumOff val="60000"/>
            </a:schemeClr>
          </a:soli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r>
              <a:rPr lang="pt-BR" sz="1400" b="1" dirty="0" smtClean="0">
                <a:effectLst>
                  <a:outerShdw blurRad="38100" dist="38100" dir="2700000" algn="tl">
                    <a:srgbClr val="000000">
                      <a:alpha val="43137"/>
                    </a:srgbClr>
                  </a:outerShdw>
                </a:effectLst>
              </a:rPr>
              <a:t>Projeto: Monitoração </a:t>
            </a:r>
            <a:r>
              <a:rPr lang="pt-BR" sz="1400" b="1" dirty="0">
                <a:effectLst>
                  <a:outerShdw blurRad="38100" dist="38100" dir="2700000" algn="tl">
                    <a:srgbClr val="000000">
                      <a:alpha val="43137"/>
                    </a:srgbClr>
                  </a:outerShdw>
                </a:effectLst>
              </a:rPr>
              <a:t>(Dell-Open Manager)</a:t>
            </a:r>
            <a:endParaRPr lang="pt-BR" sz="1400" b="1" dirty="0" smtClean="0">
              <a:effectLst>
                <a:outerShdw blurRad="38100" dist="38100" dir="2700000" algn="tl">
                  <a:srgbClr val="000000">
                    <a:alpha val="43137"/>
                  </a:srgbClr>
                </a:outerShdw>
              </a:effectLst>
            </a:endParaRPr>
          </a:p>
          <a:p>
            <a:r>
              <a:rPr lang="pt-BR" sz="1200" i="1" dirty="0" smtClean="0"/>
              <a:t>Data Inicio: 14-10-2015</a:t>
            </a:r>
          </a:p>
          <a:p>
            <a:r>
              <a:rPr lang="pt-BR" sz="1200" i="1" dirty="0" smtClean="0"/>
              <a:t>Data Conclusão: 22-04-2016</a:t>
            </a:r>
          </a:p>
          <a:p>
            <a:r>
              <a:rPr lang="pt-BR" sz="1200" i="1" dirty="0" smtClean="0"/>
              <a:t>Progresso: 75%</a:t>
            </a:r>
          </a:p>
          <a:p>
            <a:r>
              <a:rPr lang="pt-BR" sz="1200" i="1" dirty="0" smtClean="0"/>
              <a:t>PM</a:t>
            </a:r>
            <a:r>
              <a:rPr lang="pt-BR" sz="1200" i="1" dirty="0"/>
              <a:t>: </a:t>
            </a:r>
            <a:r>
              <a:rPr lang="pt-BR" sz="1200" i="1" dirty="0" smtClean="0"/>
              <a:t>Júlio Cesar</a:t>
            </a:r>
          </a:p>
        </p:txBody>
      </p:sp>
      <p:sp>
        <p:nvSpPr>
          <p:cNvPr id="16" name="Retângulo 15"/>
          <p:cNvSpPr/>
          <p:nvPr/>
        </p:nvSpPr>
        <p:spPr>
          <a:xfrm>
            <a:off x="3112569" y="2081341"/>
            <a:ext cx="2716382" cy="2475419"/>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0" lvl="1" algn="ctr">
              <a:spcBef>
                <a:spcPts val="200"/>
              </a:spcBef>
              <a:spcAft>
                <a:spcPts val="200"/>
              </a:spcAft>
            </a:pPr>
            <a:r>
              <a:rPr lang="pt-BR" sz="1400" b="1" dirty="0">
                <a:solidFill>
                  <a:schemeClr val="tx1">
                    <a:lumMod val="95000"/>
                    <a:lumOff val="5000"/>
                  </a:schemeClr>
                </a:solidFill>
              </a:rPr>
              <a:t>Próximas Ações</a:t>
            </a:r>
            <a:endParaRPr lang="pt-BR" sz="1400" dirty="0">
              <a:solidFill>
                <a:schemeClr val="tx1">
                  <a:lumMod val="95000"/>
                  <a:lumOff val="5000"/>
                </a:schemeClr>
              </a:solidFill>
            </a:endParaRPr>
          </a:p>
          <a:p>
            <a:pPr marL="171450" lvl="1" indent="-171450">
              <a:spcBef>
                <a:spcPts val="200"/>
              </a:spcBef>
              <a:spcAft>
                <a:spcPts val="200"/>
              </a:spcAft>
              <a:buFont typeface="Arial" panose="020B0604020202020204" pitchFamily="34" charset="0"/>
              <a:buChar char="•"/>
            </a:pPr>
            <a:r>
              <a:rPr lang="pt-BR" sz="1200" dirty="0" smtClean="0">
                <a:solidFill>
                  <a:schemeClr val="tx1">
                    <a:lumMod val="95000"/>
                    <a:lumOff val="5000"/>
                  </a:schemeClr>
                </a:solidFill>
              </a:rPr>
              <a:t>Homologação do SW.</a:t>
            </a:r>
          </a:p>
          <a:p>
            <a:pPr marL="171450" lvl="1" indent="-171450">
              <a:spcBef>
                <a:spcPts val="200"/>
              </a:spcBef>
              <a:spcAft>
                <a:spcPts val="200"/>
              </a:spcAft>
              <a:buFont typeface="Arial" panose="020B0604020202020204" pitchFamily="34" charset="0"/>
              <a:buChar char="•"/>
            </a:pPr>
            <a:r>
              <a:rPr lang="pt-BR" sz="1200" dirty="0" smtClean="0">
                <a:solidFill>
                  <a:schemeClr val="tx1">
                    <a:lumMod val="95000"/>
                    <a:lumOff val="5000"/>
                  </a:schemeClr>
                </a:solidFill>
              </a:rPr>
              <a:t>Aceitação das regras de liberação por SI.</a:t>
            </a:r>
          </a:p>
        </p:txBody>
      </p:sp>
      <p:sp>
        <p:nvSpPr>
          <p:cNvPr id="17" name="Retângulo 16"/>
          <p:cNvSpPr/>
          <p:nvPr/>
        </p:nvSpPr>
        <p:spPr>
          <a:xfrm>
            <a:off x="6004018" y="2081342"/>
            <a:ext cx="2716382" cy="2475419"/>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0" lvl="1" algn="ctr">
              <a:spcBef>
                <a:spcPts val="200"/>
              </a:spcBef>
              <a:spcAft>
                <a:spcPts val="200"/>
              </a:spcAft>
            </a:pPr>
            <a:r>
              <a:rPr lang="pt-BR" sz="1400" b="1" dirty="0" smtClean="0">
                <a:solidFill>
                  <a:schemeClr val="tx1">
                    <a:lumMod val="95000"/>
                    <a:lumOff val="5000"/>
                  </a:schemeClr>
                </a:solidFill>
              </a:rPr>
              <a:t>Riscos/Problemas/Observações</a:t>
            </a:r>
          </a:p>
          <a:p>
            <a:pPr marL="171450" lvl="1" indent="-171450">
              <a:spcBef>
                <a:spcPts val="200"/>
              </a:spcBef>
              <a:spcAft>
                <a:spcPts val="200"/>
              </a:spcAft>
              <a:buFont typeface="Arial" panose="020B0604020202020204" pitchFamily="34" charset="0"/>
              <a:buChar char="•"/>
            </a:pPr>
            <a:r>
              <a:rPr lang="pt-BR" sz="1200" dirty="0" smtClean="0">
                <a:solidFill>
                  <a:schemeClr val="tx1">
                    <a:lumMod val="95000"/>
                    <a:lumOff val="5000"/>
                  </a:schemeClr>
                </a:solidFill>
              </a:rPr>
              <a:t>Servidores sem </a:t>
            </a:r>
            <a:r>
              <a:rPr lang="pt-BR" sz="1200" dirty="0" err="1" smtClean="0">
                <a:solidFill>
                  <a:schemeClr val="tx1">
                    <a:lumMod val="95000"/>
                    <a:lumOff val="5000"/>
                  </a:schemeClr>
                </a:solidFill>
              </a:rPr>
              <a:t>client</a:t>
            </a:r>
            <a:r>
              <a:rPr lang="pt-BR" sz="1200" dirty="0" smtClean="0">
                <a:solidFill>
                  <a:schemeClr val="tx1">
                    <a:lumMod val="95000"/>
                    <a:lumOff val="5000"/>
                  </a:schemeClr>
                </a:solidFill>
              </a:rPr>
              <a:t> OMSE.</a:t>
            </a:r>
          </a:p>
          <a:p>
            <a:pPr marL="171450" lvl="1" indent="-171450">
              <a:spcBef>
                <a:spcPts val="200"/>
              </a:spcBef>
              <a:spcAft>
                <a:spcPts val="200"/>
              </a:spcAft>
              <a:buFont typeface="Arial" panose="020B0604020202020204" pitchFamily="34" charset="0"/>
              <a:buChar char="•"/>
            </a:pPr>
            <a:endParaRPr lang="pt-BR" sz="1200" dirty="0">
              <a:solidFill>
                <a:schemeClr val="tx1">
                  <a:lumMod val="95000"/>
                  <a:lumOff val="5000"/>
                </a:schemeClr>
              </a:solidFill>
            </a:endParaRPr>
          </a:p>
          <a:p>
            <a:pPr marL="171450" lvl="1" indent="-171450">
              <a:spcBef>
                <a:spcPts val="200"/>
              </a:spcBef>
              <a:spcAft>
                <a:spcPts val="200"/>
              </a:spcAft>
              <a:buFont typeface="Arial" panose="020B0604020202020204" pitchFamily="34" charset="0"/>
              <a:buChar char="•"/>
            </a:pPr>
            <a:r>
              <a:rPr lang="pt-BR" sz="1200" b="1" u="sng" dirty="0" smtClean="0">
                <a:solidFill>
                  <a:srgbClr val="FF0000"/>
                </a:solidFill>
              </a:rPr>
              <a:t>Projeto temporariamente parado</a:t>
            </a:r>
            <a:r>
              <a:rPr lang="pt-BR" sz="1200" dirty="0" smtClean="0">
                <a:solidFill>
                  <a:schemeClr val="tx1">
                    <a:lumMod val="95000"/>
                    <a:lumOff val="5000"/>
                  </a:schemeClr>
                </a:solidFill>
              </a:rPr>
              <a:t>. O recurso que dá andamento a este projeto, </a:t>
            </a:r>
            <a:r>
              <a:rPr lang="pt-BR" sz="1200" u="sng" dirty="0" smtClean="0">
                <a:solidFill>
                  <a:schemeClr val="tx1">
                    <a:lumMod val="95000"/>
                    <a:lumOff val="5000"/>
                  </a:schemeClr>
                </a:solidFill>
              </a:rPr>
              <a:t>esta dedicado totalmente ao projeto OCS e Backup</a:t>
            </a:r>
            <a:r>
              <a:rPr lang="pt-BR" sz="1200" dirty="0" smtClean="0">
                <a:solidFill>
                  <a:schemeClr val="tx1">
                    <a:lumMod val="95000"/>
                    <a:lumOff val="5000"/>
                  </a:schemeClr>
                </a:solidFill>
              </a:rPr>
              <a:t>.</a:t>
            </a:r>
          </a:p>
          <a:p>
            <a:pPr marL="0" lvl="1">
              <a:spcBef>
                <a:spcPts val="200"/>
              </a:spcBef>
              <a:spcAft>
                <a:spcPts val="200"/>
              </a:spcAft>
            </a:pPr>
            <a:r>
              <a:rPr lang="pt-BR" sz="1200" dirty="0" smtClean="0">
                <a:solidFill>
                  <a:schemeClr val="tx1">
                    <a:lumMod val="95000"/>
                    <a:lumOff val="5000"/>
                  </a:schemeClr>
                </a:solidFill>
              </a:rPr>
              <a:t> </a:t>
            </a:r>
          </a:p>
        </p:txBody>
      </p:sp>
      <p:sp>
        <p:nvSpPr>
          <p:cNvPr id="18" name="Retângulo de cantos arredondados 17"/>
          <p:cNvSpPr/>
          <p:nvPr/>
        </p:nvSpPr>
        <p:spPr>
          <a:xfrm>
            <a:off x="3382225" y="776936"/>
            <a:ext cx="5338175" cy="1080992"/>
          </a:xfrm>
          <a:prstGeom prst="roundRect">
            <a:avLst/>
          </a:prstGeom>
          <a:solidFill>
            <a:schemeClr val="accent1">
              <a:lumMod val="50000"/>
            </a:schemeClr>
          </a:soli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r>
              <a:rPr lang="pt-BR" sz="1400" b="1" dirty="0" smtClean="0">
                <a:effectLst>
                  <a:outerShdw blurRad="38100" dist="38100" dir="2700000" algn="tl">
                    <a:srgbClr val="000000">
                      <a:alpha val="43137"/>
                    </a:srgbClr>
                  </a:outerShdw>
                </a:effectLst>
              </a:rPr>
              <a:t>Descritivo:  </a:t>
            </a:r>
            <a:r>
              <a:rPr lang="pt-BR" sz="1400" dirty="0"/>
              <a:t>M</a:t>
            </a:r>
            <a:r>
              <a:rPr lang="pt-BR" sz="1400" dirty="0" smtClean="0"/>
              <a:t>onitoração </a:t>
            </a:r>
            <a:r>
              <a:rPr lang="pt-BR" sz="1400" dirty="0"/>
              <a:t>pró ativa de </a:t>
            </a:r>
            <a:r>
              <a:rPr lang="pt-BR" sz="1400" dirty="0" smtClean="0"/>
              <a:t>hardware para eliminar </a:t>
            </a:r>
            <a:r>
              <a:rPr lang="pt-BR" sz="1400" dirty="0"/>
              <a:t>a possibilidade de perda de dados por falta de visibilidade do </a:t>
            </a:r>
            <a:r>
              <a:rPr lang="pt-BR" sz="1400" dirty="0" smtClean="0"/>
              <a:t>ambiente. </a:t>
            </a:r>
            <a:endParaRPr lang="pt-BR" sz="1400" dirty="0"/>
          </a:p>
        </p:txBody>
      </p:sp>
      <p:pic>
        <p:nvPicPr>
          <p:cNvPr id="2" name="Imagem 1"/>
          <p:cNvPicPr>
            <a:picLocks noChangeAspect="1"/>
          </p:cNvPicPr>
          <p:nvPr/>
        </p:nvPicPr>
        <p:blipFill>
          <a:blip r:embed="rId6"/>
          <a:stretch>
            <a:fillRect/>
          </a:stretch>
        </p:blipFill>
        <p:spPr>
          <a:xfrm>
            <a:off x="2903609" y="1548974"/>
            <a:ext cx="280440" cy="280440"/>
          </a:xfrm>
          <a:prstGeom prst="rect">
            <a:avLst/>
          </a:prstGeom>
        </p:spPr>
      </p:pic>
      <p:sp>
        <p:nvSpPr>
          <p:cNvPr id="3" name="Estrela de 6 Pontas 2"/>
          <p:cNvSpPr/>
          <p:nvPr/>
        </p:nvSpPr>
        <p:spPr>
          <a:xfrm>
            <a:off x="3032887" y="4009877"/>
            <a:ext cx="2875747" cy="1093766"/>
          </a:xfrm>
          <a:prstGeom prst="star6">
            <a:avLst>
              <a:gd name="adj" fmla="val 24365"/>
              <a:gd name="hf" fmla="val 115470"/>
            </a:avLst>
          </a:prstGeom>
          <a:effectLst>
            <a:innerShdw blurRad="63500" dist="50800" dir="54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err="1"/>
              <a:t>Freezing</a:t>
            </a:r>
            <a:endParaRPr lang="pt-BR" dirty="0"/>
          </a:p>
        </p:txBody>
      </p:sp>
    </p:spTree>
    <p:extLst>
      <p:ext uri="{BB962C8B-B14F-4D97-AF65-F5344CB8AC3E}">
        <p14:creationId xmlns:p14="http://schemas.microsoft.com/office/powerpoint/2010/main" val="335534224"/>
      </p:ext>
    </p:extLst>
  </p:cSld>
  <p:clrMapOvr>
    <a:masterClrMapping/>
  </p:clrMapOvr>
  <mc:AlternateContent xmlns:mc="http://schemas.openxmlformats.org/markup-compatibility/2006">
    <mc:Choice xmlns:p14="http://schemas.microsoft.com/office/powerpoint/2010/main" Requires="p14">
      <p:transition p14:dur="250">
        <p14:reveal/>
      </p:transition>
    </mc:Choice>
    <mc:Fallback>
      <p:transition>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2"/>
          <a:stretch>
            <a:fillRect/>
          </a:stretch>
        </p:blipFill>
        <p:spPr>
          <a:xfrm>
            <a:off x="7021333" y="289005"/>
            <a:ext cx="1603348" cy="291323"/>
          </a:xfrm>
          <a:prstGeom prst="rect">
            <a:avLst/>
          </a:prstGeom>
        </p:spPr>
      </p:pic>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76780" t="78172" r="18395" b="12686"/>
          <a:stretch/>
        </p:blipFill>
        <p:spPr bwMode="auto">
          <a:xfrm>
            <a:off x="8188658" y="4384319"/>
            <a:ext cx="955343" cy="7639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1" descr="t03-02.jpg"/>
          <p:cNvPicPr>
            <a:picLocks noChangeAspect="1"/>
          </p:cNvPicPr>
          <p:nvPr/>
        </p:nvPicPr>
        <p:blipFill rotWithShape="1">
          <a:blip r:embed="rId4">
            <a:extLst>
              <a:ext uri="{28A0092B-C50C-407E-A947-70E740481C1C}">
                <a14:useLocalDpi xmlns:a14="http://schemas.microsoft.com/office/drawing/2010/main" val="0"/>
              </a:ext>
            </a:extLst>
          </a:blip>
          <a:srcRect r="91368" b="84909"/>
          <a:stretch/>
        </p:blipFill>
        <p:spPr>
          <a:xfrm>
            <a:off x="0" y="0"/>
            <a:ext cx="789296" cy="776935"/>
          </a:xfrm>
          <a:prstGeom prst="rect">
            <a:avLst/>
          </a:prstGeom>
        </p:spPr>
      </p:pic>
      <p:pic>
        <p:nvPicPr>
          <p:cNvPr id="4" name="Imagem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7656" y="3888759"/>
            <a:ext cx="1524000" cy="1143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7" name="Title 1"/>
          <p:cNvSpPr txBox="1">
            <a:spLocks/>
          </p:cNvSpPr>
          <p:nvPr/>
        </p:nvSpPr>
        <p:spPr>
          <a:xfrm>
            <a:off x="562659" y="90471"/>
            <a:ext cx="6254098" cy="5604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buClr>
                <a:srgbClr val="800000"/>
              </a:buClr>
            </a:pPr>
            <a:r>
              <a:rPr lang="pt-BR" sz="2800" b="1" dirty="0" smtClean="0">
                <a:solidFill>
                  <a:schemeClr val="tx2"/>
                </a:solidFill>
                <a:latin typeface="Arial" pitchFamily="34" charset="0"/>
                <a:cs typeface="Arial" pitchFamily="34" charset="0"/>
              </a:rPr>
              <a:t>10. </a:t>
            </a:r>
            <a:r>
              <a:rPr lang="pt-BR" sz="2800" b="1" dirty="0" smtClean="0">
                <a:solidFill>
                  <a:schemeClr val="tx2"/>
                </a:solidFill>
                <a:latin typeface="Arial" pitchFamily="34" charset="0"/>
                <a:cs typeface="Arial" pitchFamily="34" charset="0"/>
              </a:rPr>
              <a:t>Alinhamentos</a:t>
            </a:r>
            <a:endParaRPr lang="pt-BR" sz="1800" b="1" dirty="0" smtClean="0">
              <a:solidFill>
                <a:schemeClr val="tx2"/>
              </a:solidFill>
              <a:latin typeface="Arial" pitchFamily="34" charset="0"/>
              <a:cs typeface="Arial" pitchFamily="34" charset="0"/>
            </a:endParaRPr>
          </a:p>
        </p:txBody>
      </p:sp>
      <p:pic>
        <p:nvPicPr>
          <p:cNvPr id="9" name="Imagem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0743" y="1885837"/>
            <a:ext cx="2015419" cy="151156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1" name="Imagem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46162" y="1885837"/>
            <a:ext cx="2574943" cy="193120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2" name="Imagem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73596" y="1346058"/>
            <a:ext cx="3218155" cy="241361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4181886949"/>
      </p:ext>
    </p:extLst>
  </p:cSld>
  <p:clrMapOvr>
    <a:masterClrMapping/>
  </p:clrMapOvr>
  <mc:AlternateContent xmlns:mc="http://schemas.openxmlformats.org/markup-compatibility/2006">
    <mc:Choice xmlns:p14="http://schemas.microsoft.com/office/powerpoint/2010/main" Requires="p14">
      <p:transition p14:dur="250">
        <p14:reveal/>
      </p:transition>
    </mc:Choice>
    <mc:Fallback>
      <p:transition>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upo 7"/>
          <p:cNvGrpSpPr/>
          <p:nvPr/>
        </p:nvGrpSpPr>
        <p:grpSpPr>
          <a:xfrm>
            <a:off x="0" y="12123"/>
            <a:ext cx="9144002" cy="5140931"/>
            <a:chOff x="-1" y="12500"/>
            <a:chExt cx="9144002" cy="5140931"/>
          </a:xfrm>
        </p:grpSpPr>
        <p:grpSp>
          <p:nvGrpSpPr>
            <p:cNvPr id="2" name="Agrupar 1"/>
            <p:cNvGrpSpPr/>
            <p:nvPr/>
          </p:nvGrpSpPr>
          <p:grpSpPr>
            <a:xfrm>
              <a:off x="1763688" y="309780"/>
              <a:ext cx="7380313" cy="4843651"/>
              <a:chOff x="2039091" y="300128"/>
              <a:chExt cx="7104910" cy="4848136"/>
            </a:xfrm>
          </p:grpSpPr>
          <p:sp>
            <p:nvSpPr>
              <p:cNvPr id="6" name="CaixaDeTexto 5"/>
              <p:cNvSpPr txBox="1"/>
              <p:nvPr/>
            </p:nvSpPr>
            <p:spPr>
              <a:xfrm>
                <a:off x="2039091" y="300128"/>
                <a:ext cx="184731" cy="462093"/>
              </a:xfrm>
              <a:prstGeom prst="rect">
                <a:avLst/>
              </a:prstGeom>
              <a:noFill/>
              <a:scene3d>
                <a:camera prst="orthographicFront"/>
                <a:lightRig rig="threePt" dir="t"/>
              </a:scene3d>
              <a:sp3d>
                <a:bevelT w="114300" prst="artDeco"/>
                <a:bevelB/>
              </a:sp3d>
            </p:spPr>
            <p:txBody>
              <a:bodyPr wrap="none" rtlCol="0">
                <a:spAutoFit/>
              </a:bodyPr>
              <a:lstStyle/>
              <a:p>
                <a:endParaRPr lang="pt-BR" sz="2400" dirty="0">
                  <a:solidFill>
                    <a:prstClr val="black"/>
                  </a:solidFill>
                </a:endParaRPr>
              </a:p>
            </p:txBody>
          </p:sp>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76780" t="78172" r="18395" b="12686"/>
              <a:stretch/>
            </p:blipFill>
            <p:spPr bwMode="auto">
              <a:xfrm>
                <a:off x="8188658" y="4384319"/>
                <a:ext cx="955343" cy="763945"/>
              </a:xfrm>
              <a:prstGeom prst="rect">
                <a:avLst/>
              </a:prstGeom>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4" name="Imagem 3"/>
            <p:cNvPicPr>
              <a:picLocks noChangeAspect="1"/>
            </p:cNvPicPr>
            <p:nvPr/>
          </p:nvPicPr>
          <p:blipFill>
            <a:blip r:embed="rId4"/>
            <a:stretch>
              <a:fillRect/>
            </a:stretch>
          </p:blipFill>
          <p:spPr>
            <a:xfrm>
              <a:off x="-1" y="12500"/>
              <a:ext cx="928369" cy="913131"/>
            </a:xfrm>
            <a:prstGeom prst="rect">
              <a:avLst/>
            </a:prstGeom>
          </p:spPr>
        </p:pic>
        <p:pic>
          <p:nvPicPr>
            <p:cNvPr id="26" name="Picture 9"/>
            <p:cNvPicPr>
              <a:picLocks noChangeAspect="1"/>
            </p:cNvPicPr>
            <p:nvPr/>
          </p:nvPicPr>
          <p:blipFill>
            <a:blip r:embed="rId5"/>
            <a:stretch>
              <a:fillRect/>
            </a:stretch>
          </p:blipFill>
          <p:spPr>
            <a:xfrm>
              <a:off x="7020272" y="201819"/>
              <a:ext cx="1866343" cy="338794"/>
            </a:xfrm>
            <a:prstGeom prst="rect">
              <a:avLst/>
            </a:prstGeom>
          </p:spPr>
        </p:pic>
      </p:grpSp>
      <p:sp>
        <p:nvSpPr>
          <p:cNvPr id="20" name="CaixaDeTexto 5"/>
          <p:cNvSpPr txBox="1"/>
          <p:nvPr/>
        </p:nvSpPr>
        <p:spPr>
          <a:xfrm>
            <a:off x="1259085" y="176961"/>
            <a:ext cx="5761187" cy="461665"/>
          </a:xfrm>
          <a:prstGeom prst="rect">
            <a:avLst/>
          </a:prstGeom>
          <a:noFill/>
        </p:spPr>
        <p:txBody>
          <a:bodyPr wrap="square"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pt-BR" sz="2400" b="1" dirty="0">
                <a:solidFill>
                  <a:schemeClr val="tx2"/>
                </a:solidFill>
                <a:latin typeface="Arial" pitchFamily="34" charset="0"/>
                <a:cs typeface="Arial" pitchFamily="34" charset="0"/>
              </a:rPr>
              <a:t>9</a:t>
            </a:r>
            <a:r>
              <a:rPr lang="pt-BR" sz="2400" b="1" dirty="0" smtClean="0">
                <a:solidFill>
                  <a:schemeClr val="tx2"/>
                </a:solidFill>
                <a:latin typeface="Arial" pitchFamily="34" charset="0"/>
                <a:cs typeface="Arial" pitchFamily="34" charset="0"/>
              </a:rPr>
              <a:t>. </a:t>
            </a:r>
            <a:r>
              <a:rPr lang="pt-BR" sz="2400" b="1" dirty="0">
                <a:solidFill>
                  <a:schemeClr val="tx2"/>
                </a:solidFill>
                <a:latin typeface="Arial" pitchFamily="34" charset="0"/>
                <a:cs typeface="Arial" pitchFamily="34" charset="0"/>
              </a:rPr>
              <a:t>Projeto: Redundância links MPLS</a:t>
            </a:r>
          </a:p>
        </p:txBody>
      </p:sp>
      <p:pic>
        <p:nvPicPr>
          <p:cNvPr id="3" name="Imagem 2">
            <a:hlinkClick r:id="rId6" action="ppaction://hlinksldjump"/>
          </p:cNvPr>
          <p:cNvPicPr>
            <a:picLocks noChangeAspect="1"/>
          </p:cNvPicPr>
          <p:nvPr/>
        </p:nvPicPr>
        <p:blipFill>
          <a:blip r:embed="rId7"/>
          <a:stretch>
            <a:fillRect/>
          </a:stretch>
        </p:blipFill>
        <p:spPr>
          <a:xfrm>
            <a:off x="313206" y="4735765"/>
            <a:ext cx="780356" cy="225572"/>
          </a:xfrm>
          <a:prstGeom prst="rect">
            <a:avLst/>
          </a:prstGeom>
        </p:spPr>
      </p:pic>
      <p:pic>
        <p:nvPicPr>
          <p:cNvPr id="7" name="Imagem 6"/>
          <p:cNvPicPr>
            <a:picLocks noChangeAspect="1"/>
          </p:cNvPicPr>
          <p:nvPr/>
        </p:nvPicPr>
        <p:blipFill>
          <a:blip r:embed="rId8"/>
          <a:stretch>
            <a:fillRect/>
          </a:stretch>
        </p:blipFill>
        <p:spPr>
          <a:xfrm>
            <a:off x="1204668" y="938319"/>
            <a:ext cx="2467476" cy="1662422"/>
          </a:xfrm>
          <a:prstGeom prst="rect">
            <a:avLst/>
          </a:prstGeom>
        </p:spPr>
      </p:pic>
      <p:pic>
        <p:nvPicPr>
          <p:cNvPr id="11" name="Imagem 10"/>
          <p:cNvPicPr>
            <a:picLocks noChangeAspect="1"/>
          </p:cNvPicPr>
          <p:nvPr/>
        </p:nvPicPr>
        <p:blipFill>
          <a:blip r:embed="rId9"/>
          <a:stretch>
            <a:fillRect/>
          </a:stretch>
        </p:blipFill>
        <p:spPr>
          <a:xfrm>
            <a:off x="5471855" y="1014421"/>
            <a:ext cx="2467476" cy="1005563"/>
          </a:xfrm>
          <a:prstGeom prst="rect">
            <a:avLst/>
          </a:prstGeom>
        </p:spPr>
      </p:pic>
      <p:pic>
        <p:nvPicPr>
          <p:cNvPr id="5" name="Imagem 4"/>
          <p:cNvPicPr>
            <a:picLocks noChangeAspect="1"/>
          </p:cNvPicPr>
          <p:nvPr/>
        </p:nvPicPr>
        <p:blipFill>
          <a:blip r:embed="rId10"/>
          <a:stretch>
            <a:fillRect/>
          </a:stretch>
        </p:blipFill>
        <p:spPr>
          <a:xfrm>
            <a:off x="1259085" y="2767991"/>
            <a:ext cx="6734663" cy="2311172"/>
          </a:xfrm>
          <a:prstGeom prst="rect">
            <a:avLst/>
          </a:prstGeom>
        </p:spPr>
      </p:pic>
    </p:spTree>
    <p:extLst>
      <p:ext uri="{BB962C8B-B14F-4D97-AF65-F5344CB8AC3E}">
        <p14:creationId xmlns:p14="http://schemas.microsoft.com/office/powerpoint/2010/main" val="3726780690"/>
      </p:ext>
    </p:extLst>
  </p:cSld>
  <p:clrMapOvr>
    <a:masterClrMapping/>
  </p:clrMapOvr>
  <mc:AlternateContent xmlns:mc="http://schemas.openxmlformats.org/markup-compatibility/2006">
    <mc:Choice xmlns:p14="http://schemas.microsoft.com/office/powerpoint/2010/main" Requires="p14">
      <p:transition p14:dur="250">
        <p14:reveal/>
      </p:transition>
    </mc:Choice>
    <mc:Fallback>
      <p:transition>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2404326" y="894156"/>
            <a:ext cx="4186529" cy="644129"/>
          </a:xfrm>
          <a:prstGeom prst="rect">
            <a:avLst/>
          </a:prstGeom>
        </p:spPr>
        <p:txBody>
          <a:bodyPr vert="horz" lIns="68644" tIns="34322" rIns="68644" bIns="34322"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2252" b="1" dirty="0" err="1">
                <a:solidFill>
                  <a:schemeClr val="tx2"/>
                </a:solidFill>
                <a:latin typeface="Arial"/>
                <a:cs typeface="Arial"/>
              </a:rPr>
              <a:t>Visão</a:t>
            </a:r>
            <a:r>
              <a:rPr lang="en-US" sz="2252" b="1" dirty="0">
                <a:solidFill>
                  <a:schemeClr val="tx2"/>
                </a:solidFill>
                <a:latin typeface="Arial"/>
                <a:cs typeface="Arial"/>
              </a:rPr>
              <a:t> Macro - </a:t>
            </a:r>
            <a:r>
              <a:rPr lang="en-US" sz="2252" b="1" dirty="0" err="1">
                <a:solidFill>
                  <a:schemeClr val="tx2"/>
                </a:solidFill>
                <a:latin typeface="Arial"/>
                <a:cs typeface="Arial"/>
              </a:rPr>
              <a:t>Cenário</a:t>
            </a:r>
            <a:r>
              <a:rPr lang="en-US" sz="2252" b="1" dirty="0">
                <a:solidFill>
                  <a:schemeClr val="tx2"/>
                </a:solidFill>
                <a:latin typeface="Arial"/>
                <a:cs typeface="Arial"/>
              </a:rPr>
              <a:t> </a:t>
            </a:r>
            <a:r>
              <a:rPr lang="en-US" sz="2252" b="1" dirty="0" err="1">
                <a:solidFill>
                  <a:schemeClr val="tx2"/>
                </a:solidFill>
                <a:latin typeface="Arial"/>
                <a:cs typeface="Arial"/>
              </a:rPr>
              <a:t>Atual</a:t>
            </a:r>
            <a:endParaRPr lang="en-US" sz="2252" b="1" dirty="0">
              <a:solidFill>
                <a:schemeClr val="tx2"/>
              </a:solidFill>
              <a:latin typeface="Arial"/>
              <a:cs typeface="Arial"/>
            </a:endParaRPr>
          </a:p>
        </p:txBody>
      </p:sp>
      <p:sp>
        <p:nvSpPr>
          <p:cNvPr id="6" name="Title 1"/>
          <p:cNvSpPr txBox="1">
            <a:spLocks/>
          </p:cNvSpPr>
          <p:nvPr/>
        </p:nvSpPr>
        <p:spPr>
          <a:xfrm>
            <a:off x="562659" y="0"/>
            <a:ext cx="6254098" cy="560400"/>
          </a:xfrm>
          <a:prstGeom prst="rect">
            <a:avLst/>
          </a:prstGeom>
        </p:spPr>
        <p:txBody>
          <a:bodyPr vert="horz" lIns="91440" tIns="45720" rIns="91440" bIns="45720" rtlCol="0" anchor="ctr">
            <a:normAutofit fontScale="775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pt-BR" sz="2800" b="1" dirty="0">
                <a:solidFill>
                  <a:schemeClr val="tx2"/>
                </a:solidFill>
                <a:latin typeface="Arial" pitchFamily="34" charset="0"/>
                <a:cs typeface="Arial" pitchFamily="34" charset="0"/>
              </a:rPr>
              <a:t>7</a:t>
            </a:r>
            <a:r>
              <a:rPr lang="pt-BR" sz="2800" b="1" dirty="0" smtClean="0">
                <a:solidFill>
                  <a:schemeClr val="tx2"/>
                </a:solidFill>
                <a:latin typeface="Arial" pitchFamily="34" charset="0"/>
                <a:cs typeface="Arial" pitchFamily="34" charset="0"/>
              </a:rPr>
              <a:t>. Projeto: </a:t>
            </a:r>
            <a:r>
              <a:rPr lang="pt-BR" sz="2800" b="1" dirty="0">
                <a:solidFill>
                  <a:schemeClr val="tx2"/>
                </a:solidFill>
                <a:latin typeface="Arial" pitchFamily="34" charset="0"/>
                <a:cs typeface="Arial" pitchFamily="34" charset="0"/>
              </a:rPr>
              <a:t>Backups </a:t>
            </a:r>
            <a:r>
              <a:rPr lang="pt-BR" sz="2800" b="1" dirty="0" smtClean="0">
                <a:solidFill>
                  <a:schemeClr val="tx2"/>
                </a:solidFill>
                <a:latin typeface="Arial" pitchFamily="34" charset="0"/>
                <a:cs typeface="Arial" pitchFamily="34" charset="0"/>
              </a:rPr>
              <a:t>e </a:t>
            </a:r>
            <a:r>
              <a:rPr lang="pt-BR" sz="2800" b="1" dirty="0" err="1" smtClean="0">
                <a:solidFill>
                  <a:schemeClr val="tx2"/>
                </a:solidFill>
                <a:latin typeface="Arial" pitchFamily="34" charset="0"/>
                <a:cs typeface="Arial" pitchFamily="34" charset="0"/>
              </a:rPr>
              <a:t>Restore</a:t>
            </a:r>
            <a:r>
              <a:rPr lang="pt-BR" sz="2800" b="1" dirty="0" smtClean="0">
                <a:solidFill>
                  <a:schemeClr val="tx2"/>
                </a:solidFill>
                <a:latin typeface="Arial" pitchFamily="34" charset="0"/>
                <a:cs typeface="Arial" pitchFamily="34" charset="0"/>
              </a:rPr>
              <a:t> em Produção</a:t>
            </a:r>
            <a:endParaRPr lang="pt-BR" sz="2800" b="1" dirty="0">
              <a:solidFill>
                <a:schemeClr val="tx2"/>
              </a:solidFill>
              <a:latin typeface="Arial" pitchFamily="34" charset="0"/>
              <a:cs typeface="Arial" pitchFamily="34" charset="0"/>
            </a:endParaRPr>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595" y="1345765"/>
            <a:ext cx="9277350" cy="40231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732456"/>
      </p:ext>
    </p:extLst>
  </p:cSld>
  <p:clrMapOvr>
    <a:masterClrMapping/>
  </p:clrMapOvr>
  <mc:AlternateContent xmlns:mc="http://schemas.openxmlformats.org/markup-compatibility/2006">
    <mc:Choice xmlns:p14="http://schemas.microsoft.com/office/powerpoint/2010/main" Requires="p14">
      <p:transition p14:dur="250">
        <p14:reveal/>
      </p:transition>
    </mc:Choice>
    <mc:Fallback>
      <p:transition>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ChangeArrowheads="1"/>
          </p:cNvSpPr>
          <p:nvPr/>
        </p:nvSpPr>
        <p:spPr bwMode="auto">
          <a:xfrm>
            <a:off x="-76200" y="49911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sz="1100" b="0" i="0" u="none" strike="noStrike" cap="none" normalizeH="0" baseline="0" dirty="0" smtClean="0">
                <a:ln>
                  <a:noFill/>
                </a:ln>
                <a:solidFill>
                  <a:srgbClr val="1F497D"/>
                </a:solidFill>
                <a:effectLst/>
                <a:latin typeface="Arial" pitchFamily="34" charset="0"/>
                <a:ea typeface="Calibri" pitchFamily="34" charset="0"/>
                <a:cs typeface="Times New Roman" pitchFamily="18" charset="0"/>
              </a:rPr>
              <a:t>O números de servidores ainda são os da nossa base devido a planilha de CA estar confusa para a atualização e entendimento dos ativos.</a:t>
            </a:r>
            <a:endParaRPr kumimoji="0" lang="pt-BR"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5" name="CaixaDeTexto 4"/>
          <p:cNvSpPr txBox="1"/>
          <p:nvPr/>
        </p:nvSpPr>
        <p:spPr>
          <a:xfrm>
            <a:off x="5082764" y="180753"/>
            <a:ext cx="3561505" cy="369332"/>
          </a:xfrm>
          <a:prstGeom prst="rect">
            <a:avLst/>
          </a:prstGeom>
          <a:noFill/>
        </p:spPr>
        <p:txBody>
          <a:bodyPr wrap="square" rtlCol="0">
            <a:spAutoFit/>
          </a:bodyPr>
          <a:lstStyle/>
          <a:p>
            <a:r>
              <a:rPr lang="pt-BR" dirty="0" smtClean="0"/>
              <a:t>Visão de backup por site e evolução</a:t>
            </a:r>
            <a:endParaRPr lang="pt-BR" dirty="0"/>
          </a:p>
        </p:txBody>
      </p:sp>
      <p:pic>
        <p:nvPicPr>
          <p:cNvPr id="15362" name="Imagem 3" descr="image0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852" y="1"/>
            <a:ext cx="4416948" cy="4829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3" descr="image0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32898" y="1438276"/>
            <a:ext cx="4061236" cy="2614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41002443"/>
      </p:ext>
    </p:extLst>
  </p:cSld>
  <p:clrMapOvr>
    <a:masterClrMapping/>
  </p:clrMapOvr>
  <mc:AlternateContent xmlns:mc="http://schemas.openxmlformats.org/markup-compatibility/2006">
    <mc:Choice xmlns:p14="http://schemas.microsoft.com/office/powerpoint/2010/main" Requires="p14">
      <p:transition p14:dur="250">
        <p14:reveal/>
      </p:transition>
    </mc:Choice>
    <mc:Fallback>
      <p:transition>
        <p:fad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552411" y="109829"/>
            <a:ext cx="5449569" cy="644129"/>
          </a:xfrm>
          <a:prstGeom prst="rect">
            <a:avLst/>
          </a:prstGeom>
        </p:spPr>
        <p:txBody>
          <a:bodyPr vert="horz" lIns="68644" tIns="34322" rIns="68644" bIns="34322"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2252" b="1" dirty="0" err="1">
                <a:solidFill>
                  <a:schemeClr val="tx2"/>
                </a:solidFill>
                <a:latin typeface="Arial"/>
                <a:cs typeface="Arial"/>
              </a:rPr>
              <a:t>Detalhamento</a:t>
            </a:r>
            <a:r>
              <a:rPr lang="en-US" sz="2252" b="1" dirty="0">
                <a:solidFill>
                  <a:schemeClr val="tx2"/>
                </a:solidFill>
                <a:latin typeface="Arial"/>
                <a:cs typeface="Arial"/>
              </a:rPr>
              <a:t> - </a:t>
            </a:r>
            <a:r>
              <a:rPr lang="en-US" sz="2252" b="1" dirty="0" err="1">
                <a:solidFill>
                  <a:schemeClr val="tx2"/>
                </a:solidFill>
                <a:latin typeface="Arial"/>
                <a:cs typeface="Arial"/>
              </a:rPr>
              <a:t>Ofensores</a:t>
            </a:r>
            <a:endParaRPr lang="en-US" sz="2252" b="1" dirty="0">
              <a:solidFill>
                <a:schemeClr val="tx2"/>
              </a:solidFill>
              <a:latin typeface="Arial"/>
              <a:cs typeface="Arial"/>
            </a:endParaRPr>
          </a:p>
        </p:txBody>
      </p:sp>
      <p:sp>
        <p:nvSpPr>
          <p:cNvPr id="5" name="Rectangle 3"/>
          <p:cNvSpPr>
            <a:spLocks noChangeArrowheads="1"/>
          </p:cNvSpPr>
          <p:nvPr/>
        </p:nvSpPr>
        <p:spPr bwMode="auto">
          <a:xfrm>
            <a:off x="1547813" y="130333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altLang="pt-BR" sz="1100" b="0" i="0" u="none" strike="noStrike" cap="none" normalizeH="0" baseline="0" smtClean="0">
                <a:ln>
                  <a:noFill/>
                </a:ln>
                <a:solidFill>
                  <a:srgbClr val="1F497D"/>
                </a:solidFill>
                <a:effectLst/>
                <a:latin typeface="Arial" pitchFamily="34" charset="0"/>
                <a:ea typeface="Calibri" pitchFamily="34" charset="0"/>
                <a:cs typeface="Times New Roman" pitchFamily="18" charset="0"/>
              </a:rPr>
              <a:t> </a:t>
            </a:r>
            <a:endParaRPr kumimoji="0" lang="pt-BR" altLang="pt-BR" sz="1800" b="0" i="0" u="none" strike="noStrike" cap="none" normalizeH="0" baseline="0" smtClean="0">
              <a:ln>
                <a:noFill/>
              </a:ln>
              <a:solidFill>
                <a:schemeClr val="tx1"/>
              </a:solidFill>
              <a:effectLst/>
              <a:latin typeface="Arial" pitchFamily="34" charset="0"/>
              <a:cs typeface="Arial" pitchFamily="34" charset="0"/>
            </a:endParaRPr>
          </a:p>
        </p:txBody>
      </p:sp>
      <p:graphicFrame>
        <p:nvGraphicFramePr>
          <p:cNvPr id="2" name="Tabela 1"/>
          <p:cNvGraphicFramePr>
            <a:graphicFrameLocks noGrp="1"/>
          </p:cNvGraphicFramePr>
          <p:nvPr>
            <p:extLst/>
          </p:nvPr>
        </p:nvGraphicFramePr>
        <p:xfrm>
          <a:off x="152400" y="1132820"/>
          <a:ext cx="8648700" cy="3074710"/>
        </p:xfrm>
        <a:graphic>
          <a:graphicData uri="http://schemas.openxmlformats.org/drawingml/2006/table">
            <a:tbl>
              <a:tblPr firstRow="1" firstCol="1" bandRow="1">
                <a:tableStyleId>{5C22544A-7EE6-4342-B048-85BDC9FD1C3A}</a:tableStyleId>
              </a:tblPr>
              <a:tblGrid>
                <a:gridCol w="2997742"/>
                <a:gridCol w="919741"/>
                <a:gridCol w="1028761"/>
                <a:gridCol w="2778531"/>
                <a:gridCol w="923925"/>
              </a:tblGrid>
              <a:tr h="351521">
                <a:tc>
                  <a:txBody>
                    <a:bodyPr/>
                    <a:lstStyle/>
                    <a:p>
                      <a:pPr algn="ctr">
                        <a:spcAft>
                          <a:spcPts val="0"/>
                        </a:spcAft>
                      </a:pPr>
                      <a:r>
                        <a:rPr lang="pt-BR" sz="1400">
                          <a:effectLst/>
                        </a:rPr>
                        <a:t>Assunto</a:t>
                      </a:r>
                      <a:endParaRPr lang="pt-BR" sz="1000">
                        <a:effectLst/>
                        <a:latin typeface="Calibri"/>
                        <a:ea typeface="Calibri"/>
                        <a:cs typeface="Times New Roman"/>
                      </a:endParaRPr>
                    </a:p>
                  </a:txBody>
                  <a:tcPr marL="79092" marR="79092" marT="39546" marB="39546" anchor="ctr"/>
                </a:tc>
                <a:tc>
                  <a:txBody>
                    <a:bodyPr/>
                    <a:lstStyle/>
                    <a:p>
                      <a:pPr algn="ctr">
                        <a:spcAft>
                          <a:spcPts val="0"/>
                        </a:spcAft>
                      </a:pPr>
                      <a:r>
                        <a:rPr lang="pt-BR" sz="1400">
                          <a:effectLst/>
                        </a:rPr>
                        <a:t>Resp.</a:t>
                      </a:r>
                      <a:endParaRPr lang="pt-BR" sz="1000">
                        <a:effectLst/>
                        <a:latin typeface="Calibri"/>
                        <a:ea typeface="Calibri"/>
                        <a:cs typeface="Times New Roman"/>
                      </a:endParaRPr>
                    </a:p>
                  </a:txBody>
                  <a:tcPr marL="79092" marR="79092" marT="39546" marB="39546" anchor="ctr"/>
                </a:tc>
                <a:tc>
                  <a:txBody>
                    <a:bodyPr/>
                    <a:lstStyle/>
                    <a:p>
                      <a:pPr algn="ctr">
                        <a:spcAft>
                          <a:spcPts val="0"/>
                        </a:spcAft>
                      </a:pPr>
                      <a:r>
                        <a:rPr lang="pt-BR" sz="1400">
                          <a:effectLst/>
                        </a:rPr>
                        <a:t>Status</a:t>
                      </a:r>
                      <a:endParaRPr lang="pt-BR" sz="1000">
                        <a:effectLst/>
                        <a:latin typeface="Calibri"/>
                        <a:ea typeface="Calibri"/>
                        <a:cs typeface="Times New Roman"/>
                      </a:endParaRPr>
                    </a:p>
                  </a:txBody>
                  <a:tcPr marL="79092" marR="79092" marT="39546" marB="39546" anchor="ctr"/>
                </a:tc>
                <a:tc>
                  <a:txBody>
                    <a:bodyPr/>
                    <a:lstStyle/>
                    <a:p>
                      <a:pPr algn="ctr">
                        <a:spcAft>
                          <a:spcPts val="0"/>
                        </a:spcAft>
                      </a:pPr>
                      <a:r>
                        <a:rPr lang="pt-BR" sz="1400">
                          <a:effectLst/>
                        </a:rPr>
                        <a:t>Observação</a:t>
                      </a:r>
                      <a:endParaRPr lang="pt-BR" sz="1000">
                        <a:effectLst/>
                        <a:latin typeface="Calibri"/>
                        <a:ea typeface="Calibri"/>
                        <a:cs typeface="Times New Roman"/>
                      </a:endParaRPr>
                    </a:p>
                  </a:txBody>
                  <a:tcPr marL="79092" marR="79092" marT="39546" marB="39546" anchor="ctr"/>
                </a:tc>
                <a:tc>
                  <a:txBody>
                    <a:bodyPr/>
                    <a:lstStyle/>
                    <a:p>
                      <a:pPr algn="ctr">
                        <a:spcAft>
                          <a:spcPts val="0"/>
                        </a:spcAft>
                      </a:pPr>
                      <a:r>
                        <a:rPr lang="pt-BR" sz="1400">
                          <a:effectLst/>
                        </a:rPr>
                        <a:t>Previsão</a:t>
                      </a:r>
                      <a:endParaRPr lang="pt-BR" sz="1000">
                        <a:effectLst/>
                        <a:latin typeface="Calibri"/>
                        <a:ea typeface="Calibri"/>
                        <a:cs typeface="Times New Roman"/>
                      </a:endParaRPr>
                    </a:p>
                  </a:txBody>
                  <a:tcPr marL="79092" marR="79092" marT="39546" marB="39546" anchor="ctr"/>
                </a:tc>
              </a:tr>
              <a:tr h="351521">
                <a:tc>
                  <a:txBody>
                    <a:bodyPr/>
                    <a:lstStyle/>
                    <a:p>
                      <a:pPr algn="ctr" fontAlgn="b">
                        <a:spcAft>
                          <a:spcPts val="0"/>
                        </a:spcAft>
                      </a:pPr>
                      <a:r>
                        <a:rPr lang="pt-BR" sz="1000">
                          <a:effectLst/>
                        </a:rPr>
                        <a:t>RJ - Compra de fitas para a regional </a:t>
                      </a:r>
                    </a:p>
                    <a:p>
                      <a:pPr algn="ctr" fontAlgn="b">
                        <a:spcAft>
                          <a:spcPts val="0"/>
                        </a:spcAft>
                      </a:pPr>
                      <a:r>
                        <a:rPr lang="pt-BR" sz="1000">
                          <a:effectLst/>
                        </a:rPr>
                        <a:t>- SC 245</a:t>
                      </a:r>
                      <a:endParaRPr lang="pt-BR" sz="1000">
                        <a:effectLst/>
                        <a:latin typeface="Calibri"/>
                        <a:ea typeface="Calibri"/>
                        <a:cs typeface="Times New Roman"/>
                      </a:endParaRPr>
                    </a:p>
                  </a:txBody>
                  <a:tcPr marL="8239" marR="8239" marT="8239" marB="0" anchor="ctr"/>
                </a:tc>
                <a:tc>
                  <a:txBody>
                    <a:bodyPr/>
                    <a:lstStyle/>
                    <a:p>
                      <a:pPr algn="ctr" fontAlgn="b">
                        <a:spcAft>
                          <a:spcPts val="0"/>
                        </a:spcAft>
                      </a:pPr>
                      <a:r>
                        <a:rPr lang="pt-BR" sz="1000">
                          <a:effectLst/>
                        </a:rPr>
                        <a:t>Eugenio Silva</a:t>
                      </a:r>
                      <a:endParaRPr lang="pt-BR" sz="1000">
                        <a:effectLst/>
                        <a:latin typeface="Calibri"/>
                        <a:ea typeface="Calibri"/>
                        <a:cs typeface="Times New Roman"/>
                      </a:endParaRPr>
                    </a:p>
                  </a:txBody>
                  <a:tcPr marL="8239" marR="8239" marT="8239" marB="0" anchor="ctr"/>
                </a:tc>
                <a:tc>
                  <a:txBody>
                    <a:bodyPr/>
                    <a:lstStyle/>
                    <a:p>
                      <a:pPr algn="ctr" fontAlgn="b">
                        <a:spcAft>
                          <a:spcPts val="0"/>
                        </a:spcAft>
                      </a:pPr>
                      <a:r>
                        <a:rPr lang="pt-BR" sz="1000">
                          <a:effectLst/>
                        </a:rPr>
                        <a:t>Aguardando status</a:t>
                      </a:r>
                      <a:endParaRPr lang="pt-BR" sz="1000">
                        <a:effectLst/>
                        <a:latin typeface="Calibri"/>
                        <a:ea typeface="Calibri"/>
                        <a:cs typeface="Times New Roman"/>
                      </a:endParaRPr>
                    </a:p>
                  </a:txBody>
                  <a:tcPr marL="8239" marR="8239" marT="8239" marB="0" anchor="ctr"/>
                </a:tc>
                <a:tc>
                  <a:txBody>
                    <a:bodyPr/>
                    <a:lstStyle/>
                    <a:p>
                      <a:pPr algn="ctr" fontAlgn="b">
                        <a:spcAft>
                          <a:spcPts val="0"/>
                        </a:spcAft>
                      </a:pPr>
                      <a:r>
                        <a:rPr lang="pt-BR" sz="1000">
                          <a:effectLst/>
                        </a:rPr>
                        <a:t>Aguardando status sobre as aprovações</a:t>
                      </a:r>
                      <a:endParaRPr lang="pt-BR" sz="1000">
                        <a:effectLst/>
                        <a:latin typeface="Calibri"/>
                        <a:ea typeface="Calibri"/>
                        <a:cs typeface="Times New Roman"/>
                      </a:endParaRPr>
                    </a:p>
                  </a:txBody>
                  <a:tcPr marL="8239" marR="8239" marT="8239" marB="0" anchor="ctr"/>
                </a:tc>
                <a:tc>
                  <a:txBody>
                    <a:bodyPr/>
                    <a:lstStyle/>
                    <a:p>
                      <a:pPr algn="ctr" fontAlgn="b">
                        <a:spcAft>
                          <a:spcPts val="0"/>
                        </a:spcAft>
                      </a:pPr>
                      <a:r>
                        <a:rPr lang="pt-BR" sz="1000">
                          <a:effectLst/>
                        </a:rPr>
                        <a:t> </a:t>
                      </a:r>
                      <a:endParaRPr lang="pt-BR" sz="1000">
                        <a:effectLst/>
                        <a:latin typeface="Calibri"/>
                        <a:ea typeface="Calibri"/>
                        <a:cs typeface="Times New Roman"/>
                      </a:endParaRPr>
                    </a:p>
                  </a:txBody>
                  <a:tcPr marL="8239" marR="8239" marT="8239" marB="0" anchor="ctr"/>
                </a:tc>
              </a:tr>
              <a:tr h="351521">
                <a:tc>
                  <a:txBody>
                    <a:bodyPr/>
                    <a:lstStyle/>
                    <a:p>
                      <a:pPr algn="ctr" fontAlgn="b">
                        <a:spcAft>
                          <a:spcPts val="0"/>
                        </a:spcAft>
                      </a:pPr>
                      <a:r>
                        <a:rPr lang="pt-BR" sz="1000">
                          <a:effectLst/>
                        </a:rPr>
                        <a:t>RJ - Manutenção de 02 robôs no site MCK</a:t>
                      </a:r>
                      <a:endParaRPr lang="pt-BR" sz="1000">
                        <a:effectLst/>
                        <a:latin typeface="Calibri"/>
                        <a:ea typeface="Calibri"/>
                        <a:cs typeface="Times New Roman"/>
                      </a:endParaRPr>
                    </a:p>
                  </a:txBody>
                  <a:tcPr marL="8239" marR="8239" marT="8239" marB="0" anchor="ctr"/>
                </a:tc>
                <a:tc>
                  <a:txBody>
                    <a:bodyPr/>
                    <a:lstStyle/>
                    <a:p>
                      <a:pPr algn="ctr" fontAlgn="b">
                        <a:spcAft>
                          <a:spcPts val="0"/>
                        </a:spcAft>
                      </a:pPr>
                      <a:r>
                        <a:rPr lang="pt-BR" sz="1000">
                          <a:effectLst/>
                        </a:rPr>
                        <a:t>Eugenio Silva</a:t>
                      </a:r>
                      <a:endParaRPr lang="pt-BR" sz="1000">
                        <a:effectLst/>
                        <a:latin typeface="Calibri"/>
                        <a:ea typeface="Calibri"/>
                        <a:cs typeface="Times New Roman"/>
                      </a:endParaRPr>
                    </a:p>
                  </a:txBody>
                  <a:tcPr marL="8239" marR="8239" marT="8239" marB="0" anchor="ctr"/>
                </a:tc>
                <a:tc>
                  <a:txBody>
                    <a:bodyPr/>
                    <a:lstStyle/>
                    <a:p>
                      <a:pPr algn="ctr" fontAlgn="b">
                        <a:spcAft>
                          <a:spcPts val="0"/>
                        </a:spcAft>
                      </a:pPr>
                      <a:r>
                        <a:rPr lang="pt-BR" sz="1000">
                          <a:effectLst/>
                        </a:rPr>
                        <a:t>Aguardando o site</a:t>
                      </a:r>
                      <a:endParaRPr lang="pt-BR" sz="1000">
                        <a:effectLst/>
                        <a:latin typeface="Calibri"/>
                        <a:ea typeface="Calibri"/>
                        <a:cs typeface="Times New Roman"/>
                      </a:endParaRPr>
                    </a:p>
                  </a:txBody>
                  <a:tcPr marL="8239" marR="8239" marT="8239" marB="0" anchor="ctr"/>
                </a:tc>
                <a:tc>
                  <a:txBody>
                    <a:bodyPr/>
                    <a:lstStyle/>
                    <a:p>
                      <a:pPr algn="ctr" fontAlgn="b">
                        <a:spcAft>
                          <a:spcPts val="0"/>
                        </a:spcAft>
                      </a:pPr>
                      <a:r>
                        <a:rPr lang="pt-BR" sz="1000">
                          <a:effectLst/>
                        </a:rPr>
                        <a:t>1 – Aguardando aprovação SC 993</a:t>
                      </a:r>
                    </a:p>
                    <a:p>
                      <a:pPr algn="ctr" fontAlgn="b">
                        <a:spcAft>
                          <a:spcPts val="0"/>
                        </a:spcAft>
                      </a:pPr>
                      <a:r>
                        <a:rPr lang="pt-BR" sz="1000">
                          <a:effectLst/>
                        </a:rPr>
                        <a:t>2 – Dell realizando teste ainda</a:t>
                      </a:r>
                      <a:endParaRPr lang="pt-BR" sz="1000">
                        <a:effectLst/>
                        <a:latin typeface="Calibri"/>
                        <a:ea typeface="Calibri"/>
                        <a:cs typeface="Times New Roman"/>
                      </a:endParaRPr>
                    </a:p>
                  </a:txBody>
                  <a:tcPr marL="8239" marR="8239" marT="8239" marB="0" anchor="ctr"/>
                </a:tc>
                <a:tc>
                  <a:txBody>
                    <a:bodyPr/>
                    <a:lstStyle/>
                    <a:p>
                      <a:pPr algn="ctr" fontAlgn="b">
                        <a:spcAft>
                          <a:spcPts val="0"/>
                        </a:spcAft>
                      </a:pPr>
                      <a:r>
                        <a:rPr lang="pt-BR" sz="1000">
                          <a:effectLst/>
                        </a:rPr>
                        <a:t>30/05/2016</a:t>
                      </a:r>
                      <a:endParaRPr lang="pt-BR" sz="1000">
                        <a:effectLst/>
                        <a:latin typeface="Calibri"/>
                        <a:ea typeface="Calibri"/>
                        <a:cs typeface="Times New Roman"/>
                      </a:endParaRPr>
                    </a:p>
                  </a:txBody>
                  <a:tcPr marL="8239" marR="8239" marT="8239" marB="0" anchor="ctr"/>
                </a:tc>
              </a:tr>
              <a:tr h="351521">
                <a:tc>
                  <a:txBody>
                    <a:bodyPr/>
                    <a:lstStyle/>
                    <a:p>
                      <a:pPr algn="ctr" fontAlgn="b">
                        <a:spcAft>
                          <a:spcPts val="0"/>
                        </a:spcAft>
                      </a:pPr>
                      <a:r>
                        <a:rPr lang="pt-BR" sz="1000">
                          <a:effectLst/>
                        </a:rPr>
                        <a:t>RJ - Manutenção do robô no site Mauá</a:t>
                      </a:r>
                      <a:endParaRPr lang="pt-BR" sz="1000">
                        <a:effectLst/>
                        <a:latin typeface="Calibri"/>
                        <a:ea typeface="Calibri"/>
                        <a:cs typeface="Times New Roman"/>
                      </a:endParaRPr>
                    </a:p>
                  </a:txBody>
                  <a:tcPr marL="8239" marR="8239" marT="8239" marB="0" anchor="ctr"/>
                </a:tc>
                <a:tc>
                  <a:txBody>
                    <a:bodyPr/>
                    <a:lstStyle/>
                    <a:p>
                      <a:pPr algn="ctr" fontAlgn="b">
                        <a:spcAft>
                          <a:spcPts val="0"/>
                        </a:spcAft>
                      </a:pPr>
                      <a:r>
                        <a:rPr lang="pt-BR" sz="1000">
                          <a:effectLst/>
                        </a:rPr>
                        <a:t>Eugenio Silva</a:t>
                      </a:r>
                      <a:endParaRPr lang="pt-BR" sz="1000">
                        <a:effectLst/>
                        <a:latin typeface="Calibri"/>
                        <a:ea typeface="Calibri"/>
                        <a:cs typeface="Times New Roman"/>
                      </a:endParaRPr>
                    </a:p>
                  </a:txBody>
                  <a:tcPr marL="8239" marR="8239" marT="8239" marB="0" anchor="ctr"/>
                </a:tc>
                <a:tc>
                  <a:txBody>
                    <a:bodyPr/>
                    <a:lstStyle/>
                    <a:p>
                      <a:pPr algn="ctr" fontAlgn="b">
                        <a:spcAft>
                          <a:spcPts val="0"/>
                        </a:spcAft>
                      </a:pPr>
                      <a:r>
                        <a:rPr lang="pt-BR" sz="1000">
                          <a:effectLst/>
                        </a:rPr>
                        <a:t>Em contato com a DELL</a:t>
                      </a:r>
                      <a:endParaRPr lang="pt-BR" sz="1000">
                        <a:effectLst/>
                        <a:latin typeface="Calibri"/>
                        <a:ea typeface="Calibri"/>
                        <a:cs typeface="Times New Roman"/>
                      </a:endParaRPr>
                    </a:p>
                  </a:txBody>
                  <a:tcPr marL="8239" marR="8239" marT="8239" marB="0" anchor="ctr"/>
                </a:tc>
                <a:tc>
                  <a:txBody>
                    <a:bodyPr/>
                    <a:lstStyle/>
                    <a:p>
                      <a:pPr algn="ctr" fontAlgn="b">
                        <a:spcAft>
                          <a:spcPts val="0"/>
                        </a:spcAft>
                      </a:pPr>
                      <a:r>
                        <a:rPr lang="pt-BR" sz="1000">
                          <a:effectLst/>
                        </a:rPr>
                        <a:t>Robô apresentou falha na GMUD elétrica</a:t>
                      </a:r>
                      <a:endParaRPr lang="pt-BR" sz="1000">
                        <a:effectLst/>
                        <a:latin typeface="Calibri"/>
                        <a:ea typeface="Calibri"/>
                        <a:cs typeface="Times New Roman"/>
                      </a:endParaRPr>
                    </a:p>
                  </a:txBody>
                  <a:tcPr marL="8239" marR="8239" marT="8239" marB="0" anchor="ctr"/>
                </a:tc>
                <a:tc>
                  <a:txBody>
                    <a:bodyPr/>
                    <a:lstStyle/>
                    <a:p>
                      <a:pPr algn="ctr" fontAlgn="b">
                        <a:spcAft>
                          <a:spcPts val="0"/>
                        </a:spcAft>
                      </a:pPr>
                      <a:r>
                        <a:rPr lang="pt-BR" sz="1000">
                          <a:effectLst/>
                        </a:rPr>
                        <a:t> </a:t>
                      </a:r>
                      <a:endParaRPr lang="pt-BR" sz="1000">
                        <a:effectLst/>
                        <a:latin typeface="Calibri"/>
                        <a:ea typeface="Calibri"/>
                        <a:cs typeface="Times New Roman"/>
                      </a:endParaRPr>
                    </a:p>
                  </a:txBody>
                  <a:tcPr marL="8239" marR="8239" marT="8239" marB="0" anchor="ctr"/>
                </a:tc>
              </a:tr>
              <a:tr h="351521">
                <a:tc>
                  <a:txBody>
                    <a:bodyPr/>
                    <a:lstStyle/>
                    <a:p>
                      <a:pPr algn="ctr">
                        <a:spcAft>
                          <a:spcPts val="0"/>
                        </a:spcAft>
                      </a:pPr>
                      <a:r>
                        <a:rPr lang="pt-BR" sz="1000">
                          <a:effectLst/>
                        </a:rPr>
                        <a:t>SP - Compra de fitas para a regional</a:t>
                      </a:r>
                      <a:endParaRPr lang="pt-BR" sz="1000">
                        <a:effectLst/>
                        <a:latin typeface="Calibri"/>
                        <a:ea typeface="Calibri"/>
                        <a:cs typeface="Times New Roman"/>
                      </a:endParaRPr>
                    </a:p>
                  </a:txBody>
                  <a:tcPr marL="8239" marR="8239" marT="8239" marB="0" anchor="ctr"/>
                </a:tc>
                <a:tc>
                  <a:txBody>
                    <a:bodyPr/>
                    <a:lstStyle/>
                    <a:p>
                      <a:pPr algn="ctr" fontAlgn="b">
                        <a:spcAft>
                          <a:spcPts val="0"/>
                        </a:spcAft>
                      </a:pPr>
                      <a:r>
                        <a:rPr lang="pt-BR" sz="1000">
                          <a:effectLst/>
                        </a:rPr>
                        <a:t>Roberto Elias</a:t>
                      </a:r>
                      <a:endParaRPr lang="pt-BR" sz="1000">
                        <a:effectLst/>
                        <a:latin typeface="Calibri"/>
                        <a:ea typeface="Calibri"/>
                        <a:cs typeface="Times New Roman"/>
                      </a:endParaRPr>
                    </a:p>
                  </a:txBody>
                  <a:tcPr marL="8239" marR="8239" marT="8239" marB="0" anchor="ctr"/>
                </a:tc>
                <a:tc>
                  <a:txBody>
                    <a:bodyPr/>
                    <a:lstStyle/>
                    <a:p>
                      <a:pPr algn="ctr" fontAlgn="b">
                        <a:spcAft>
                          <a:spcPts val="0"/>
                        </a:spcAft>
                      </a:pPr>
                      <a:r>
                        <a:rPr lang="pt-BR" sz="1000">
                          <a:effectLst/>
                        </a:rPr>
                        <a:t>Concluído </a:t>
                      </a:r>
                      <a:endParaRPr lang="pt-BR" sz="1000">
                        <a:effectLst/>
                        <a:latin typeface="Calibri"/>
                        <a:ea typeface="Calibri"/>
                        <a:cs typeface="Times New Roman"/>
                      </a:endParaRPr>
                    </a:p>
                  </a:txBody>
                  <a:tcPr marL="8239" marR="8239" marT="8239" marB="0" anchor="ctr"/>
                </a:tc>
                <a:tc>
                  <a:txBody>
                    <a:bodyPr/>
                    <a:lstStyle/>
                    <a:p>
                      <a:pPr algn="ctr" fontAlgn="b">
                        <a:spcAft>
                          <a:spcPts val="0"/>
                        </a:spcAft>
                      </a:pPr>
                      <a:r>
                        <a:rPr lang="pt-BR" sz="1000">
                          <a:effectLst/>
                        </a:rPr>
                        <a:t>Fitas entregues e enviada aos sites</a:t>
                      </a:r>
                      <a:endParaRPr lang="pt-BR" sz="1000">
                        <a:effectLst/>
                        <a:latin typeface="Calibri"/>
                        <a:ea typeface="Calibri"/>
                        <a:cs typeface="Times New Roman"/>
                      </a:endParaRPr>
                    </a:p>
                  </a:txBody>
                  <a:tcPr marL="8239" marR="8239" marT="8239" marB="0" anchor="ctr"/>
                </a:tc>
                <a:tc>
                  <a:txBody>
                    <a:bodyPr/>
                    <a:lstStyle/>
                    <a:p>
                      <a:pPr algn="ctr" fontAlgn="b">
                        <a:spcAft>
                          <a:spcPts val="0"/>
                        </a:spcAft>
                      </a:pPr>
                      <a:r>
                        <a:rPr lang="pt-BR" sz="1000">
                          <a:effectLst/>
                        </a:rPr>
                        <a:t>15/06/2016 </a:t>
                      </a:r>
                      <a:endParaRPr lang="pt-BR" sz="1000">
                        <a:effectLst/>
                        <a:latin typeface="Calibri"/>
                        <a:ea typeface="Calibri"/>
                        <a:cs typeface="Times New Roman"/>
                      </a:endParaRPr>
                    </a:p>
                  </a:txBody>
                  <a:tcPr marL="8239" marR="8239" marT="8239" marB="0" anchor="ctr"/>
                </a:tc>
              </a:tr>
              <a:tr h="482792">
                <a:tc>
                  <a:txBody>
                    <a:bodyPr/>
                    <a:lstStyle/>
                    <a:p>
                      <a:pPr algn="ctr" fontAlgn="b">
                        <a:spcAft>
                          <a:spcPts val="0"/>
                        </a:spcAft>
                      </a:pPr>
                      <a:r>
                        <a:rPr lang="pt-BR" sz="1000">
                          <a:effectLst/>
                        </a:rPr>
                        <a:t>DC - GAP de licenças DATA PROTECTOR</a:t>
                      </a:r>
                      <a:endParaRPr lang="pt-BR" sz="1000">
                        <a:effectLst/>
                        <a:latin typeface="Calibri"/>
                        <a:ea typeface="Calibri"/>
                        <a:cs typeface="Times New Roman"/>
                      </a:endParaRPr>
                    </a:p>
                  </a:txBody>
                  <a:tcPr marL="8239" marR="8239" marT="8239" marB="0" anchor="ctr"/>
                </a:tc>
                <a:tc>
                  <a:txBody>
                    <a:bodyPr/>
                    <a:lstStyle/>
                    <a:p>
                      <a:pPr algn="ctr" fontAlgn="b">
                        <a:spcAft>
                          <a:spcPts val="0"/>
                        </a:spcAft>
                      </a:pPr>
                      <a:r>
                        <a:rPr lang="pt-BR" sz="1000">
                          <a:effectLst/>
                        </a:rPr>
                        <a:t>Rafael Alves</a:t>
                      </a:r>
                      <a:endParaRPr lang="pt-BR" sz="1000">
                        <a:effectLst/>
                        <a:latin typeface="Calibri"/>
                        <a:ea typeface="Calibri"/>
                        <a:cs typeface="Times New Roman"/>
                      </a:endParaRPr>
                    </a:p>
                  </a:txBody>
                  <a:tcPr marL="8239" marR="8239" marT="8239" marB="0" anchor="ctr"/>
                </a:tc>
                <a:tc>
                  <a:txBody>
                    <a:bodyPr/>
                    <a:lstStyle/>
                    <a:p>
                      <a:pPr algn="ctr" fontAlgn="b">
                        <a:spcAft>
                          <a:spcPts val="0"/>
                        </a:spcAft>
                      </a:pPr>
                      <a:r>
                        <a:rPr lang="pt-BR" sz="1000">
                          <a:effectLst/>
                        </a:rPr>
                        <a:t>Aguardando</a:t>
                      </a:r>
                      <a:endParaRPr lang="pt-BR" sz="1000">
                        <a:effectLst/>
                        <a:latin typeface="Calibri"/>
                        <a:ea typeface="Calibri"/>
                        <a:cs typeface="Times New Roman"/>
                      </a:endParaRPr>
                    </a:p>
                  </a:txBody>
                  <a:tcPr marL="8239" marR="8239" marT="8239" marB="0" anchor="ctr"/>
                </a:tc>
                <a:tc>
                  <a:txBody>
                    <a:bodyPr/>
                    <a:lstStyle/>
                    <a:p>
                      <a:pPr algn="ctr" fontAlgn="b">
                        <a:spcAft>
                          <a:spcPts val="0"/>
                        </a:spcAft>
                      </a:pPr>
                      <a:r>
                        <a:rPr lang="pt-BR" sz="1000">
                          <a:effectLst/>
                        </a:rPr>
                        <a:t>Valores já enviados pela HP e aprovados pela Engenharia. Enviado o formulário para abertura de SC para o time de FINANCEIRO_TI</a:t>
                      </a:r>
                      <a:endParaRPr lang="pt-BR" sz="1000">
                        <a:effectLst/>
                        <a:latin typeface="Calibri"/>
                        <a:ea typeface="Calibri"/>
                        <a:cs typeface="Times New Roman"/>
                      </a:endParaRPr>
                    </a:p>
                  </a:txBody>
                  <a:tcPr marL="8239" marR="8239" marT="8239" marB="0" anchor="ctr"/>
                </a:tc>
                <a:tc>
                  <a:txBody>
                    <a:bodyPr/>
                    <a:lstStyle/>
                    <a:p>
                      <a:pPr algn="ctr" fontAlgn="b">
                        <a:spcAft>
                          <a:spcPts val="0"/>
                        </a:spcAft>
                      </a:pPr>
                      <a:r>
                        <a:rPr lang="pt-BR" sz="1000">
                          <a:effectLst/>
                        </a:rPr>
                        <a:t>Sem prazo</a:t>
                      </a:r>
                      <a:endParaRPr lang="pt-BR" sz="1000">
                        <a:effectLst/>
                        <a:latin typeface="Calibri"/>
                        <a:ea typeface="Calibri"/>
                        <a:cs typeface="Times New Roman"/>
                      </a:endParaRPr>
                    </a:p>
                  </a:txBody>
                  <a:tcPr marL="8239" marR="8239" marT="8239" marB="0" anchor="ctr"/>
                </a:tc>
              </a:tr>
              <a:tr h="482792">
                <a:tc>
                  <a:txBody>
                    <a:bodyPr/>
                    <a:lstStyle/>
                    <a:p>
                      <a:pPr algn="ctr" fontAlgn="b">
                        <a:spcAft>
                          <a:spcPts val="0"/>
                        </a:spcAft>
                      </a:pPr>
                      <a:r>
                        <a:rPr lang="pt-BR" sz="1000">
                          <a:effectLst/>
                        </a:rPr>
                        <a:t>BR - Contrato de suporte ao HW de BKP</a:t>
                      </a:r>
                      <a:endParaRPr lang="pt-BR" sz="1000">
                        <a:effectLst/>
                        <a:latin typeface="Calibri"/>
                        <a:ea typeface="Calibri"/>
                        <a:cs typeface="Times New Roman"/>
                      </a:endParaRPr>
                    </a:p>
                  </a:txBody>
                  <a:tcPr marL="8239" marR="8239" marT="8239" marB="0" anchor="ctr"/>
                </a:tc>
                <a:tc>
                  <a:txBody>
                    <a:bodyPr/>
                    <a:lstStyle/>
                    <a:p>
                      <a:pPr algn="ctr" fontAlgn="b">
                        <a:spcAft>
                          <a:spcPts val="0"/>
                        </a:spcAft>
                      </a:pPr>
                      <a:r>
                        <a:rPr lang="pt-BR" sz="1000">
                          <a:effectLst/>
                        </a:rPr>
                        <a:t>Mafê</a:t>
                      </a:r>
                      <a:endParaRPr lang="pt-BR" sz="1000">
                        <a:effectLst/>
                        <a:latin typeface="Calibri"/>
                        <a:ea typeface="Calibri"/>
                        <a:cs typeface="Times New Roman"/>
                      </a:endParaRPr>
                    </a:p>
                  </a:txBody>
                  <a:tcPr marL="8239" marR="8239" marT="8239" marB="0" anchor="ctr"/>
                </a:tc>
                <a:tc>
                  <a:txBody>
                    <a:bodyPr/>
                    <a:lstStyle/>
                    <a:p>
                      <a:pPr algn="ctr" fontAlgn="b">
                        <a:spcAft>
                          <a:spcPts val="0"/>
                        </a:spcAft>
                      </a:pPr>
                      <a:r>
                        <a:rPr lang="pt-BR" sz="1000">
                          <a:effectLst/>
                        </a:rPr>
                        <a:t>Aguardando</a:t>
                      </a:r>
                      <a:endParaRPr lang="pt-BR" sz="1000">
                        <a:effectLst/>
                        <a:latin typeface="Calibri"/>
                        <a:ea typeface="Calibri"/>
                        <a:cs typeface="Times New Roman"/>
                      </a:endParaRPr>
                    </a:p>
                  </a:txBody>
                  <a:tcPr marL="8239" marR="8239" marT="8239" marB="0" anchor="ctr"/>
                </a:tc>
                <a:tc>
                  <a:txBody>
                    <a:bodyPr/>
                    <a:lstStyle/>
                    <a:p>
                      <a:pPr algn="ctr" fontAlgn="b">
                        <a:spcAft>
                          <a:spcPts val="0"/>
                        </a:spcAft>
                      </a:pPr>
                      <a:r>
                        <a:rPr lang="pt-BR" sz="1000">
                          <a:effectLst/>
                        </a:rPr>
                        <a:t>Enviado novamente a listagem de todos os robôs que estão em nosso parque para renovação de suporte de HW</a:t>
                      </a:r>
                      <a:endParaRPr lang="pt-BR" sz="1000">
                        <a:effectLst/>
                        <a:latin typeface="Calibri"/>
                        <a:ea typeface="Calibri"/>
                        <a:cs typeface="Times New Roman"/>
                      </a:endParaRPr>
                    </a:p>
                  </a:txBody>
                  <a:tcPr marL="8239" marR="8239" marT="8239" marB="0" anchor="ctr"/>
                </a:tc>
                <a:tc>
                  <a:txBody>
                    <a:bodyPr/>
                    <a:lstStyle/>
                    <a:p>
                      <a:pPr algn="ctr" fontAlgn="b">
                        <a:spcAft>
                          <a:spcPts val="0"/>
                        </a:spcAft>
                      </a:pPr>
                      <a:r>
                        <a:rPr lang="pt-BR" sz="1000">
                          <a:effectLst/>
                        </a:rPr>
                        <a:t>Sem prazo</a:t>
                      </a:r>
                      <a:endParaRPr lang="pt-BR" sz="1000">
                        <a:effectLst/>
                        <a:latin typeface="Calibri"/>
                        <a:ea typeface="Calibri"/>
                        <a:cs typeface="Times New Roman"/>
                      </a:endParaRPr>
                    </a:p>
                  </a:txBody>
                  <a:tcPr marL="8239" marR="8239" marT="8239" marB="0" anchor="ctr"/>
                </a:tc>
              </a:tr>
              <a:tr h="351521">
                <a:tc>
                  <a:txBody>
                    <a:bodyPr/>
                    <a:lstStyle/>
                    <a:p>
                      <a:pPr algn="ctr" fontAlgn="b">
                        <a:spcAft>
                          <a:spcPts val="0"/>
                        </a:spcAft>
                      </a:pPr>
                      <a:r>
                        <a:rPr lang="pt-BR" sz="1000">
                          <a:effectLst/>
                        </a:rPr>
                        <a:t>BR - Instalação de agentes nos servidores</a:t>
                      </a:r>
                      <a:endParaRPr lang="pt-BR" sz="1000">
                        <a:effectLst/>
                        <a:latin typeface="Calibri"/>
                        <a:ea typeface="Calibri"/>
                        <a:cs typeface="Times New Roman"/>
                      </a:endParaRPr>
                    </a:p>
                  </a:txBody>
                  <a:tcPr marL="8239" marR="8239" marT="8239" marB="0" anchor="ctr"/>
                </a:tc>
                <a:tc>
                  <a:txBody>
                    <a:bodyPr/>
                    <a:lstStyle/>
                    <a:p>
                      <a:pPr algn="ctr" fontAlgn="b">
                        <a:spcAft>
                          <a:spcPts val="0"/>
                        </a:spcAft>
                      </a:pPr>
                      <a:r>
                        <a:rPr lang="pt-BR" sz="1000">
                          <a:effectLst/>
                        </a:rPr>
                        <a:t>Celio Ricardo</a:t>
                      </a:r>
                      <a:endParaRPr lang="pt-BR" sz="1000">
                        <a:effectLst/>
                        <a:latin typeface="Calibri"/>
                        <a:ea typeface="Calibri"/>
                        <a:cs typeface="Times New Roman"/>
                      </a:endParaRPr>
                    </a:p>
                  </a:txBody>
                  <a:tcPr marL="8239" marR="8239" marT="8239" marB="0" anchor="ctr"/>
                </a:tc>
                <a:tc>
                  <a:txBody>
                    <a:bodyPr/>
                    <a:lstStyle/>
                    <a:p>
                      <a:pPr algn="ctr" fontAlgn="b">
                        <a:spcAft>
                          <a:spcPts val="0"/>
                        </a:spcAft>
                      </a:pPr>
                      <a:r>
                        <a:rPr lang="pt-BR" sz="1000">
                          <a:effectLst/>
                        </a:rPr>
                        <a:t>Em andamento</a:t>
                      </a:r>
                      <a:endParaRPr lang="pt-BR" sz="1000">
                        <a:effectLst/>
                        <a:latin typeface="Calibri"/>
                        <a:ea typeface="Calibri"/>
                        <a:cs typeface="Times New Roman"/>
                      </a:endParaRPr>
                    </a:p>
                  </a:txBody>
                  <a:tcPr marL="8239" marR="8239" marT="8239" marB="0" anchor="ctr"/>
                </a:tc>
                <a:tc>
                  <a:txBody>
                    <a:bodyPr/>
                    <a:lstStyle/>
                    <a:p>
                      <a:pPr algn="ctr" fontAlgn="b">
                        <a:spcAft>
                          <a:spcPts val="0"/>
                        </a:spcAft>
                      </a:pPr>
                      <a:r>
                        <a:rPr lang="pt-BR" sz="1000">
                          <a:effectLst/>
                        </a:rPr>
                        <a:t>Disponibilizado um analista do CSE para atender diariamente nossos chamado</a:t>
                      </a:r>
                      <a:endParaRPr lang="pt-BR" sz="1000">
                        <a:effectLst/>
                        <a:latin typeface="Calibri"/>
                        <a:ea typeface="Calibri"/>
                        <a:cs typeface="Times New Roman"/>
                      </a:endParaRPr>
                    </a:p>
                  </a:txBody>
                  <a:tcPr marL="8239" marR="8239" marT="8239" marB="0" anchor="ctr"/>
                </a:tc>
                <a:tc>
                  <a:txBody>
                    <a:bodyPr/>
                    <a:lstStyle/>
                    <a:p>
                      <a:pPr algn="ctr" fontAlgn="b">
                        <a:spcAft>
                          <a:spcPts val="0"/>
                        </a:spcAft>
                      </a:pPr>
                      <a:r>
                        <a:rPr lang="pt-BR" sz="1000" dirty="0">
                          <a:effectLst/>
                        </a:rPr>
                        <a:t> </a:t>
                      </a:r>
                      <a:endParaRPr lang="pt-BR" sz="1000" dirty="0">
                        <a:effectLst/>
                        <a:latin typeface="Calibri"/>
                        <a:ea typeface="Calibri"/>
                        <a:cs typeface="Times New Roman"/>
                      </a:endParaRPr>
                    </a:p>
                  </a:txBody>
                  <a:tcPr marL="8239" marR="8239" marT="8239" marB="0" anchor="ctr"/>
                </a:tc>
              </a:tr>
            </a:tbl>
          </a:graphicData>
        </a:graphic>
      </p:graphicFrame>
    </p:spTree>
    <p:extLst>
      <p:ext uri="{BB962C8B-B14F-4D97-AF65-F5344CB8AC3E}">
        <p14:creationId xmlns:p14="http://schemas.microsoft.com/office/powerpoint/2010/main" val="1330957304"/>
      </p:ext>
    </p:extLst>
  </p:cSld>
  <p:clrMapOvr>
    <a:masterClrMapping/>
  </p:clrMapOvr>
  <mc:AlternateContent xmlns:mc="http://schemas.openxmlformats.org/markup-compatibility/2006">
    <mc:Choice xmlns:p14="http://schemas.microsoft.com/office/powerpoint/2010/main" Requires="p14">
      <p:transition p14:dur="250">
        <p14:reveal/>
      </p:transition>
    </mc:Choice>
    <mc:Fallback>
      <p:transition>
        <p:fad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1511225" y="100125"/>
            <a:ext cx="1523161" cy="644129"/>
          </a:xfrm>
          <a:prstGeom prst="rect">
            <a:avLst/>
          </a:prstGeom>
        </p:spPr>
        <p:txBody>
          <a:bodyPr vert="horz" lIns="68644" tIns="34322" rIns="68644" bIns="34322"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2252" b="1" dirty="0">
                <a:solidFill>
                  <a:schemeClr val="tx2"/>
                </a:solidFill>
                <a:latin typeface="Arial"/>
                <a:cs typeface="Arial"/>
              </a:rPr>
              <a:t>Time Line</a:t>
            </a:r>
          </a:p>
        </p:txBody>
      </p:sp>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1" y="923925"/>
            <a:ext cx="8892188" cy="2930242"/>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m 3">
            <a:hlinkClick r:id="rId3" action="ppaction://hlinksldjump"/>
          </p:cNvPr>
          <p:cNvPicPr>
            <a:picLocks noChangeAspect="1"/>
          </p:cNvPicPr>
          <p:nvPr/>
        </p:nvPicPr>
        <p:blipFill>
          <a:blip r:embed="rId4"/>
          <a:stretch>
            <a:fillRect/>
          </a:stretch>
        </p:blipFill>
        <p:spPr>
          <a:xfrm>
            <a:off x="313206" y="4735765"/>
            <a:ext cx="780356" cy="225572"/>
          </a:xfrm>
          <a:prstGeom prst="rect">
            <a:avLst/>
          </a:prstGeom>
        </p:spPr>
      </p:pic>
    </p:spTree>
    <p:extLst>
      <p:ext uri="{BB962C8B-B14F-4D97-AF65-F5344CB8AC3E}">
        <p14:creationId xmlns:p14="http://schemas.microsoft.com/office/powerpoint/2010/main" val="3867118908"/>
      </p:ext>
    </p:extLst>
  </p:cSld>
  <p:clrMapOvr>
    <a:masterClrMapping/>
  </p:clrMapOvr>
  <mc:AlternateContent xmlns:mc="http://schemas.openxmlformats.org/markup-compatibility/2006">
    <mc:Choice xmlns:p14="http://schemas.microsoft.com/office/powerpoint/2010/main" Requires="p14">
      <p:transition p14:dur="250">
        <p14:reveal/>
      </p:transition>
    </mc:Choice>
    <mc:Fallback>
      <p:transition>
        <p:fade/>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5_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7_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0_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3.xml><?xml version="1.0" encoding="utf-8"?>
<a:themeOverride xmlns:a="http://schemas.openxmlformats.org/drawingml/2006/main">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4.xml><?xml version="1.0" encoding="utf-8"?>
<a:themeOverride xmlns:a="http://schemas.openxmlformats.org/drawingml/2006/main">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5.xml><?xml version="1.0" encoding="utf-8"?>
<a:themeOverride xmlns:a="http://schemas.openxmlformats.org/drawingml/2006/main">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6.xml><?xml version="1.0" encoding="utf-8"?>
<a:themeOverride xmlns:a="http://schemas.openxmlformats.org/drawingml/2006/main">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7.xml><?xml version="1.0" encoding="utf-8"?>
<a:themeOverride xmlns:a="http://schemas.openxmlformats.org/drawingml/2006/main">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8.xml><?xml version="1.0" encoding="utf-8"?>
<a:themeOverride xmlns:a="http://schemas.openxmlformats.org/drawingml/2006/main">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9.xml><?xml version="1.0" encoding="utf-8"?>
<a:themeOverride xmlns:a="http://schemas.openxmlformats.org/drawingml/2006/main">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0.xml><?xml version="1.0" encoding="utf-8"?>
<a:themeOverride xmlns:a="http://schemas.openxmlformats.org/drawingml/2006/main">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2.xml><?xml version="1.0" encoding="utf-8"?>
<a:themeOverride xmlns:a="http://schemas.openxmlformats.org/drawingml/2006/main">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
  <TotalTime>22810</TotalTime>
  <Words>2735</Words>
  <Application>Microsoft Office PowerPoint</Application>
  <PresentationFormat>Personalizar</PresentationFormat>
  <Paragraphs>550</Paragraphs>
  <Slides>38</Slides>
  <Notes>24</Notes>
  <HiddenSlides>0</HiddenSlides>
  <MMClips>0</MMClips>
  <ScaleCrop>false</ScaleCrop>
  <HeadingPairs>
    <vt:vector size="8" baseType="variant">
      <vt:variant>
        <vt:lpstr>Fontes usadas</vt:lpstr>
      </vt:variant>
      <vt:variant>
        <vt:i4>5</vt:i4>
      </vt:variant>
      <vt:variant>
        <vt:lpstr>Tema</vt:lpstr>
      </vt:variant>
      <vt:variant>
        <vt:i4>4</vt:i4>
      </vt:variant>
      <vt:variant>
        <vt:lpstr>Servidores OLE inseridos</vt:lpstr>
      </vt:variant>
      <vt:variant>
        <vt:i4>1</vt:i4>
      </vt:variant>
      <vt:variant>
        <vt:lpstr>Títulos de slides</vt:lpstr>
      </vt:variant>
      <vt:variant>
        <vt:i4>38</vt:i4>
      </vt:variant>
    </vt:vector>
  </HeadingPairs>
  <TitlesOfParts>
    <vt:vector size="48" baseType="lpstr">
      <vt:lpstr>Arial</vt:lpstr>
      <vt:lpstr>Calibri</vt:lpstr>
      <vt:lpstr>Calibri Light</vt:lpstr>
      <vt:lpstr>Times New Roman</vt:lpstr>
      <vt:lpstr>Wingdings</vt:lpstr>
      <vt:lpstr>Tema do Office</vt:lpstr>
      <vt:lpstr>5_Tema do Office</vt:lpstr>
      <vt:lpstr>7_Tema do Office</vt:lpstr>
      <vt:lpstr>10_Tema do Office</vt:lpstr>
      <vt:lpstr>Slide do think-cell</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Home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Gustavo Nitzsche</dc:creator>
  <cp:lastModifiedBy>Luis Marçal</cp:lastModifiedBy>
  <cp:revision>1668</cp:revision>
  <dcterms:created xsi:type="dcterms:W3CDTF">2015-08-20T14:57:26Z</dcterms:created>
  <dcterms:modified xsi:type="dcterms:W3CDTF">2016-06-24T17:48:43Z</dcterms:modified>
</cp:coreProperties>
</file>