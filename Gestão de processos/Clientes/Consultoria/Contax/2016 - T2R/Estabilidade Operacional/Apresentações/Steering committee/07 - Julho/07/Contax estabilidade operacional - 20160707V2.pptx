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theme/themeOverride3.xml" ContentType="application/vnd.openxmlformats-officedocument.themeOverride+xml"/>
  <Override PartName="/ppt/charts/chart7.xml" ContentType="application/vnd.openxmlformats-officedocument.drawingml.chart+xml"/>
  <Override PartName="/ppt/theme/themeOverride4.xml" ContentType="application/vnd.openxmlformats-officedocument.themeOverride+xml"/>
  <Override PartName="/ppt/charts/chart8.xml" ContentType="application/vnd.openxmlformats-officedocument.drawingml.chart+xml"/>
  <Override PartName="/ppt/theme/themeOverride5.xml" ContentType="application/vnd.openxmlformats-officedocument.themeOverride+xml"/>
  <Override PartName="/ppt/charts/chart9.xml" ContentType="application/vnd.openxmlformats-officedocument.drawingml.chart+xml"/>
  <Override PartName="/ppt/theme/themeOverride6.xml" ContentType="application/vnd.openxmlformats-officedocument.themeOverride+xml"/>
  <Override PartName="/ppt/charts/chart10.xml" ContentType="application/vnd.openxmlformats-officedocument.drawingml.chart+xml"/>
  <Override PartName="/ppt/theme/themeOverride7.xml" ContentType="application/vnd.openxmlformats-officedocument.themeOverride+xml"/>
  <Override PartName="/ppt/charts/chart11.xml" ContentType="application/vnd.openxmlformats-officedocument.drawingml.chart+xml"/>
  <Override PartName="/ppt/theme/themeOverride8.xml" ContentType="application/vnd.openxmlformats-officedocument.themeOverride+xml"/>
  <Override PartName="/ppt/charts/chart12.xml" ContentType="application/vnd.openxmlformats-officedocument.drawingml.chart+xml"/>
  <Override PartName="/ppt/theme/themeOverride9.xml" ContentType="application/vnd.openxmlformats-officedocument.themeOverride+xml"/>
  <Override PartName="/ppt/charts/chart13.xml" ContentType="application/vnd.openxmlformats-officedocument.drawingml.chart+xml"/>
  <Override PartName="/ppt/theme/themeOverride10.xml" ContentType="application/vnd.openxmlformats-officedocument.themeOverride+xml"/>
  <Override PartName="/ppt/notesSlides/notesSlide9.xml" ContentType="application/vnd.openxmlformats-officedocument.presentationml.notesSlide+xml"/>
  <Override PartName="/ppt/charts/chart14.xml" ContentType="application/vnd.openxmlformats-officedocument.drawingml.chart+xml"/>
  <Override PartName="/ppt/theme/themeOverride11.xml" ContentType="application/vnd.openxmlformats-officedocument.themeOverride+xml"/>
  <Override PartName="/ppt/notesSlides/notesSlide10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heme/themeOverride12.xml" ContentType="application/vnd.openxmlformats-officedocument.themeOverride+xml"/>
  <Override PartName="/ppt/charts/chart17.xml" ContentType="application/vnd.openxmlformats-officedocument.drawingml.chart+xml"/>
  <Override PartName="/ppt/notesSlides/notesSlide11.xml" ContentType="application/vnd.openxmlformats-officedocument.presentationml.notesSlide+xml"/>
  <Override PartName="/ppt/charts/chart18.xml" ContentType="application/vnd.openxmlformats-officedocument.drawingml.chart+xml"/>
  <Override PartName="/ppt/theme/themeOverride13.xml" ContentType="application/vnd.openxmlformats-officedocument.themeOverride+xml"/>
  <Override PartName="/ppt/notesSlides/notesSlide12.xml" ContentType="application/vnd.openxmlformats-officedocument.presentationml.notesSlide+xml"/>
  <Override PartName="/ppt/charts/chart19.xml" ContentType="application/vnd.openxmlformats-officedocument.drawingml.chart+xml"/>
  <Override PartName="/ppt/theme/themeOverride14.xml" ContentType="application/vnd.openxmlformats-officedocument.themeOverride+xml"/>
  <Override PartName="/ppt/notesSlides/notesSlide13.xml" ContentType="application/vnd.openxmlformats-officedocument.presentationml.notesSlide+xml"/>
  <Override PartName="/ppt/charts/chart20.xml" ContentType="application/vnd.openxmlformats-officedocument.drawingml.chart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theme/themeOverride15.xml" ContentType="application/vnd.openxmlformats-officedocument.themeOverride+xml"/>
  <Override PartName="/ppt/notesSlides/notesSlide15.xml" ContentType="application/vnd.openxmlformats-officedocument.presentationml.notes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notesSlides/notesSlide16.xml" ContentType="application/vnd.openxmlformats-officedocument.presentationml.notesSlide+xml"/>
  <Override PartName="/ppt/charts/chart24.xml" ContentType="application/vnd.openxmlformats-officedocument.drawingml.chart+xml"/>
  <Override PartName="/ppt/notesSlides/notesSlide17.xml" ContentType="application/vnd.openxmlformats-officedocument.presentationml.notesSlide+xml"/>
  <Override PartName="/ppt/charts/chart25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48"/>
  </p:notesMasterIdLst>
  <p:sldIdLst>
    <p:sldId id="600" r:id="rId5"/>
    <p:sldId id="265" r:id="rId6"/>
    <p:sldId id="737" r:id="rId7"/>
    <p:sldId id="738" r:id="rId8"/>
    <p:sldId id="765" r:id="rId9"/>
    <p:sldId id="766" r:id="rId10"/>
    <p:sldId id="757" r:id="rId11"/>
    <p:sldId id="740" r:id="rId12"/>
    <p:sldId id="741" r:id="rId13"/>
    <p:sldId id="742" r:id="rId14"/>
    <p:sldId id="743" r:id="rId15"/>
    <p:sldId id="764" r:id="rId16"/>
    <p:sldId id="769" r:id="rId17"/>
    <p:sldId id="747" r:id="rId18"/>
    <p:sldId id="748" r:id="rId19"/>
    <p:sldId id="770" r:id="rId20"/>
    <p:sldId id="750" r:id="rId21"/>
    <p:sldId id="751" r:id="rId22"/>
    <p:sldId id="767" r:id="rId23"/>
    <p:sldId id="768" r:id="rId24"/>
    <p:sldId id="754" r:id="rId25"/>
    <p:sldId id="729" r:id="rId26"/>
    <p:sldId id="730" r:id="rId27"/>
    <p:sldId id="731" r:id="rId28"/>
    <p:sldId id="732" r:id="rId29"/>
    <p:sldId id="733" r:id="rId30"/>
    <p:sldId id="734" r:id="rId31"/>
    <p:sldId id="735" r:id="rId32"/>
    <p:sldId id="736" r:id="rId33"/>
    <p:sldId id="490" r:id="rId34"/>
    <p:sldId id="621" r:id="rId35"/>
    <p:sldId id="461" r:id="rId36"/>
    <p:sldId id="758" r:id="rId37"/>
    <p:sldId id="464" r:id="rId38"/>
    <p:sldId id="759" r:id="rId39"/>
    <p:sldId id="663" r:id="rId40"/>
    <p:sldId id="411" r:id="rId41"/>
    <p:sldId id="756" r:id="rId42"/>
    <p:sldId id="664" r:id="rId43"/>
    <p:sldId id="760" r:id="rId44"/>
    <p:sldId id="761" r:id="rId45"/>
    <p:sldId id="762" r:id="rId46"/>
    <p:sldId id="771" r:id="rId47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A0A0A0"/>
    <a:srgbClr val="BABABA"/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89206" autoAdjust="0"/>
  </p:normalViewPr>
  <p:slideViewPr>
    <p:cSldViewPr snapToGrid="0" snapToObjects="1">
      <p:cViewPr varScale="1">
        <p:scale>
          <a:sx n="87" d="100"/>
          <a:sy n="87" d="100"/>
        </p:scale>
        <p:origin x="180" y="96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1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2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3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themeOverride" Target="../theme/themeOverride4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5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6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7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8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9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10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11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24.%20Book%20RR%20do%20CSC\07%20-%20Julho\Informa&#231;oes%20Medio%20e%20Baixo.xlsb" TargetMode="Externa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100.10.211\GEQ_Medicao%20e%20Analise\02.%20Relatorios\24.%20Book%20RR%20do%20CSC\07%20-%20Julho\Informa&#231;&#245;es%20Gerenciamento%20de%20Mudan&#231;as.xls" TargetMode="External"/><Relationship Id="rId1" Type="http://schemas.openxmlformats.org/officeDocument/2006/relationships/themeOverride" Target="../theme/themeOverride12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24.%20Book%20RR%20do%20CSC\07%20-%20Julho\Informa&#231;&#245;es%20Gerenciamento%20de%20Mudan&#231;as.xls" TargetMode="Externa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4.bin"/><Relationship Id="rId1" Type="http://schemas.openxmlformats.org/officeDocument/2006/relationships/themeOverride" Target="../theme/themeOverride13.xm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5.bin"/><Relationship Id="rId1" Type="http://schemas.openxmlformats.org/officeDocument/2006/relationships/themeOverride" Target="../theme/themeOverride14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.CONTAX-BR\Downloads\Gest&#227;o%20de%20Problemas%20-%20Ficha%20de%20Problemas(2016-07-07).xlsx" TargetMode="External"/></Relationships>
</file>

<file path=ppt/charts/_rels/chart2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6.bin"/><Relationship Id="rId1" Type="http://schemas.openxmlformats.org/officeDocument/2006/relationships/themeOverride" Target="../theme/themeOverride15.xm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.CONTAX-BR\Downloads\Gest&#227;o%20de%20Problemas%20-%20Ficha%20de%20Problemas(2016-07-07).xlsx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.CONTAX-BR\Downloads\Gest&#227;o%20de%20Problemas%20-%20Ficha%20de%20Problemas(2016-07-07).xlsx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.CONTAX-BR\Downloads\Gest&#227;o%20de%20Problemas%20-%20Ficha%20de%20Problemas(2016-07-07).xlsx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.CONTAX-BR\Downloads\Gest&#227;o%20de%20Problemas%20-%20Ficha%20de%20Problemas(2016-07-07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 dirty="0" smtClean="0">
                <a:solidFill>
                  <a:schemeClr val="accent2"/>
                </a:solidFill>
              </a:rPr>
              <a:t>Incidentes Todos os Impactos</a:t>
            </a:r>
            <a:endParaRPr lang="pt-BR" dirty="0">
              <a:solidFill>
                <a:schemeClr val="accent2"/>
              </a:solidFill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2.4382486517836682E-2"/>
          <c:y val="4.4759007402136779E-2"/>
          <c:w val="0.95633487271295414"/>
          <c:h val="0.7472383304090560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19345B"/>
            </a:solidFill>
            <a:ln w="635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Pt>
            <c:idx val="6"/>
            <c:invertIfNegative val="0"/>
            <c:bubble3D val="0"/>
          </c:dPt>
          <c:dLbls>
            <c:dLbl>
              <c:idx val="0"/>
              <c:layout>
                <c:manualLayout>
                  <c:x val="2.9725132765506763E-4"/>
                  <c:y val="-0.3372457571349988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2.4369452091275432E-3"/>
                  <c:y val="-0.317194528906152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3.9489857296034448E-3"/>
                  <c:y val="-0.293738209576776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4.8940264024498127E-4"/>
                  <c:y val="-0.2986403258628311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3.4890503833019649E-3"/>
                  <c:y val="-0.301076197772010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6.2286492573075517E-4"/>
                  <c:y val="-0.2775240364334623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8.8860542485755831E-4"/>
                  <c:y val="-0.256064875590997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Ago</c:v>
                </c:pt>
                <c:pt idx="1">
                  <c:v>Jan</c:v>
                </c:pt>
                <c:pt idx="2">
                  <c:v>Fev</c:v>
                </c:pt>
                <c:pt idx="3">
                  <c:v>Mar</c:v>
                </c:pt>
                <c:pt idx="4">
                  <c:v>Abr</c:v>
                </c:pt>
                <c:pt idx="5">
                  <c:v>Mai</c:v>
                </c:pt>
                <c:pt idx="6">
                  <c:v>Jun</c:v>
                </c:pt>
              </c:strCache>
            </c:strRef>
          </c:cat>
          <c:val>
            <c:numRef>
              <c:f>Plan1!$B$2:$B$8</c:f>
              <c:numCache>
                <c:formatCode>#,##0</c:formatCode>
                <c:ptCount val="7"/>
                <c:pt idx="0">
                  <c:v>24272</c:v>
                </c:pt>
                <c:pt idx="1">
                  <c:v>21648</c:v>
                </c:pt>
                <c:pt idx="2">
                  <c:v>19660</c:v>
                </c:pt>
                <c:pt idx="3">
                  <c:v>21144</c:v>
                </c:pt>
                <c:pt idx="4">
                  <c:v>20388</c:v>
                </c:pt>
                <c:pt idx="5">
                  <c:v>19846</c:v>
                </c:pt>
                <c:pt idx="6">
                  <c:v>17849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58106952"/>
        <c:axId val="283060840"/>
      </c:barChart>
      <c:catAx>
        <c:axId val="258106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83060840"/>
        <c:crosses val="autoZero"/>
        <c:auto val="1"/>
        <c:lblAlgn val="ctr"/>
        <c:lblOffset val="100"/>
        <c:noMultiLvlLbl val="0"/>
      </c:catAx>
      <c:valAx>
        <c:axId val="28306084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5810695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>
                <a:solidFill>
                  <a:schemeClr val="accent2">
                    <a:lumMod val="75000"/>
                  </a:schemeClr>
                </a:solidFill>
              </a:rPr>
              <a:t>Volume</a:t>
            </a:r>
            <a:r>
              <a:rPr lang="pt-BR" sz="1400" b="1" baseline="0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lang="pt-BR" sz="1400" b="1" dirty="0">
                <a:solidFill>
                  <a:schemeClr val="accent2">
                    <a:lumMod val="75000"/>
                  </a:schemeClr>
                </a:solidFill>
              </a:rPr>
              <a:t>Incidentes Alto Impacto</a:t>
            </a:r>
          </a:p>
        </c:rich>
      </c:tx>
      <c:layout>
        <c:manualLayout>
          <c:xMode val="edge"/>
          <c:yMode val="edge"/>
          <c:x val="0.14041433831977174"/>
          <c:y val="1.5303345953272837E-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19345B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A68B-42D7-9922-1033F30CA165}"/>
              </c:ext>
            </c:extLst>
          </c:dPt>
          <c:dPt>
            <c:idx val="6"/>
            <c:invertIfNegative val="0"/>
            <c:bubble3D val="0"/>
          </c:dPt>
          <c:dLbls>
            <c:dLbl>
              <c:idx val="0"/>
              <c:layout>
                <c:manualLayout>
                  <c:x val="6.5411141225126665E-3"/>
                  <c:y val="-0.346399811702489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2.6721793069625129E-3"/>
                  <c:y val="-0.1536001882975100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6.504318586557381E-3"/>
                  <c:y val="-0.118411256451860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3.0013501655837115E-3"/>
                  <c:y val="-9.26725404499212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2.9699455560383854E-3"/>
                  <c:y val="-0.10325285105830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2.9543595646345168E-3"/>
                  <c:y val="-0.1015678887476376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68B-42D7-9922-1033F30CA16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6.2706797988121331E-4"/>
                  <c:y val="-7.326450792251758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Ago</c:v>
                </c:pt>
                <c:pt idx="1">
                  <c:v>Jan</c:v>
                </c:pt>
                <c:pt idx="2">
                  <c:v>Fev</c:v>
                </c:pt>
                <c:pt idx="3">
                  <c:v>Mar</c:v>
                </c:pt>
                <c:pt idx="4">
                  <c:v>Abr</c:v>
                </c:pt>
                <c:pt idx="5">
                  <c:v>Mai</c:v>
                </c:pt>
                <c:pt idx="6">
                  <c:v>Jun</c:v>
                </c:pt>
              </c:strCache>
            </c:strRef>
          </c:cat>
          <c:val>
            <c:numRef>
              <c:f>Plan1!$B$2:$B$8</c:f>
              <c:numCache>
                <c:formatCode>#,##0</c:formatCode>
                <c:ptCount val="7"/>
                <c:pt idx="0">
                  <c:v>1494</c:v>
                </c:pt>
                <c:pt idx="1">
                  <c:v>210</c:v>
                </c:pt>
                <c:pt idx="2">
                  <c:v>204</c:v>
                </c:pt>
                <c:pt idx="3">
                  <c:v>180</c:v>
                </c:pt>
                <c:pt idx="4">
                  <c:v>183</c:v>
                </c:pt>
                <c:pt idx="5">
                  <c:v>183</c:v>
                </c:pt>
                <c:pt idx="6">
                  <c:v>149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83061624"/>
        <c:axId val="283062016"/>
      </c:barChart>
      <c:catAx>
        <c:axId val="283061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83062016"/>
        <c:crosses val="autoZero"/>
        <c:auto val="1"/>
        <c:lblAlgn val="ctr"/>
        <c:lblOffset val="100"/>
        <c:noMultiLvlLbl val="0"/>
      </c:catAx>
      <c:valAx>
        <c:axId val="28306201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8306162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>
                <a:solidFill>
                  <a:schemeClr val="accent2">
                    <a:lumMod val="75000"/>
                  </a:schemeClr>
                </a:solidFill>
              </a:rPr>
              <a:t>Média diária de Incidentes Alto Impacto</a:t>
            </a:r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7264752567693746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19345B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5CA6-4A76-8126-37E9773D9510}"/>
              </c:ext>
            </c:extLst>
          </c:dPt>
          <c:dPt>
            <c:idx val="6"/>
            <c:invertIfNegative val="0"/>
            <c:bubble3D val="0"/>
          </c:dPt>
          <c:dLbls>
            <c:dLbl>
              <c:idx val="0"/>
              <c:layout>
                <c:manualLayout>
                  <c:x val="-2.9880988961915756E-3"/>
                  <c:y val="-0.3299722395062690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8.9642966885746869E-3"/>
                  <c:y val="-0.164986119753134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7829218106995886E-4"/>
                  <c:y val="-0.2030900673400673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2.9881687242798356E-3"/>
                  <c:y val="-0.1008446969696969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43949915824915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2.9645061728395062E-3"/>
                  <c:y val="-0.1073177609427609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5CA6-4A76-8126-37E9773D9510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3.2664609053499141E-3"/>
                  <c:y val="-6.414141414141413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Ago</c:v>
                </c:pt>
                <c:pt idx="1">
                  <c:v>Jan</c:v>
                </c:pt>
                <c:pt idx="2">
                  <c:v>Fev</c:v>
                </c:pt>
                <c:pt idx="3">
                  <c:v>Mar</c:v>
                </c:pt>
                <c:pt idx="4">
                  <c:v>Abr</c:v>
                </c:pt>
                <c:pt idx="5">
                  <c:v>Mai</c:v>
                </c:pt>
                <c:pt idx="6">
                  <c:v>Jun</c:v>
                </c:pt>
              </c:strCache>
            </c:strRef>
          </c:cat>
          <c:val>
            <c:numRef>
              <c:f>Plan1!$B$2:$B$8</c:f>
              <c:numCache>
                <c:formatCode>#,##0.00</c:formatCode>
                <c:ptCount val="7"/>
                <c:pt idx="0">
                  <c:v>48.19</c:v>
                </c:pt>
                <c:pt idx="1">
                  <c:v>6.77</c:v>
                </c:pt>
                <c:pt idx="2">
                  <c:v>7.03</c:v>
                </c:pt>
                <c:pt idx="3">
                  <c:v>5.806451612903226</c:v>
                </c:pt>
                <c:pt idx="4">
                  <c:v>6.1</c:v>
                </c:pt>
                <c:pt idx="5">
                  <c:v>5.9</c:v>
                </c:pt>
                <c:pt idx="6">
                  <c:v>4.97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83062800"/>
        <c:axId val="283063584"/>
      </c:barChart>
      <c:catAx>
        <c:axId val="283062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83063584"/>
        <c:crosses val="autoZero"/>
        <c:auto val="1"/>
        <c:lblAlgn val="ctr"/>
        <c:lblOffset val="100"/>
        <c:noMultiLvlLbl val="0"/>
      </c:catAx>
      <c:valAx>
        <c:axId val="283063584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2830628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19345B"/>
            </a:solidFill>
            <a:ln w="635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A68B-42D7-9922-1033F30CA165}"/>
              </c:ext>
            </c:extLst>
          </c:dPt>
          <c:dLbls>
            <c:dLbl>
              <c:idx val="0"/>
              <c:layout>
                <c:manualLayout>
                  <c:x val="0"/>
                  <c:y val="-0.2854221750847744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2748162493314059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5.3393869836060113E-17"/>
                  <c:y val="-0.250565139014610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254050842621626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1.4562132721800201E-3"/>
                  <c:y val="-0.243147287003619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199052850192300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Plan1!$A$2:$A$8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210</c:v>
                </c:pt>
                <c:pt idx="1">
                  <c:v>204</c:v>
                </c:pt>
                <c:pt idx="2">
                  <c:v>180</c:v>
                </c:pt>
                <c:pt idx="3">
                  <c:v>183</c:v>
                </c:pt>
                <c:pt idx="4">
                  <c:v>183</c:v>
                </c:pt>
                <c:pt idx="5">
                  <c:v>149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285079832"/>
        <c:axId val="285074344"/>
      </c:barChart>
      <c:lineChart>
        <c:grouping val="standard"/>
        <c:varyColors val="0"/>
        <c:ser>
          <c:idx val="1"/>
          <c:order val="1"/>
          <c:tx>
            <c:v>Contax</c:v>
          </c:tx>
          <c:spPr>
            <a:ln w="25400">
              <a:solidFill>
                <a:srgbClr val="19345B"/>
              </a:solidFill>
              <a:prstDash val="sysDash"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Plan1!$C$2:$C$7</c:f>
              <c:numCache>
                <c:formatCode>General</c:formatCode>
                <c:ptCount val="6"/>
                <c:pt idx="0">
                  <c:v>90</c:v>
                </c:pt>
                <c:pt idx="1">
                  <c:v>105</c:v>
                </c:pt>
                <c:pt idx="2">
                  <c:v>101</c:v>
                </c:pt>
                <c:pt idx="3">
                  <c:v>104</c:v>
                </c:pt>
                <c:pt idx="4">
                  <c:v>118</c:v>
                </c:pt>
                <c:pt idx="5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Cliente</c:v>
                </c:pt>
              </c:strCache>
            </c:strRef>
          </c:tx>
          <c:spPr>
            <a:ln w="25400">
              <a:solidFill>
                <a:srgbClr val="FF0000"/>
              </a:solidFill>
              <a:prstDash val="sysDash"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Plan1!$D$2:$D$7</c:f>
              <c:numCache>
                <c:formatCode>General</c:formatCode>
                <c:ptCount val="6"/>
                <c:pt idx="0">
                  <c:v>108</c:v>
                </c:pt>
                <c:pt idx="1">
                  <c:v>79</c:v>
                </c:pt>
                <c:pt idx="2">
                  <c:v>62</c:v>
                </c:pt>
                <c:pt idx="3">
                  <c:v>61</c:v>
                </c:pt>
                <c:pt idx="4">
                  <c:v>61</c:v>
                </c:pt>
                <c:pt idx="5">
                  <c:v>61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Plan1!$E$1</c:f>
              <c:strCache>
                <c:ptCount val="1"/>
                <c:pt idx="0">
                  <c:v>Fornecedor</c:v>
                </c:pt>
              </c:strCache>
            </c:strRef>
          </c:tx>
          <c:spPr>
            <a:ln w="25400">
              <a:solidFill>
                <a:sysClr val="windowText" lastClr="000000">
                  <a:lumMod val="50000"/>
                  <a:lumOff val="50000"/>
                </a:sysClr>
              </a:solidFill>
              <a:prstDash val="sys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-3.7020757110281771E-2"/>
                  <c:y val="-3.634518539335650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2.5688848643932338E-2"/>
                  <c:y val="-1.0903555618006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3.0036953668604777E-2"/>
                  <c:y val="-1.45380741573426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Plan1!$E$2:$E$7</c:f>
              <c:numCache>
                <c:formatCode>0</c:formatCode>
                <c:ptCount val="6"/>
                <c:pt idx="0">
                  <c:v>12</c:v>
                </c:pt>
                <c:pt idx="1">
                  <c:v>20</c:v>
                </c:pt>
                <c:pt idx="2">
                  <c:v>17</c:v>
                </c:pt>
                <c:pt idx="3">
                  <c:v>18</c:v>
                </c:pt>
                <c:pt idx="4">
                  <c:v>4</c:v>
                </c:pt>
                <c:pt idx="5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5077480"/>
        <c:axId val="285077088"/>
      </c:lineChart>
      <c:catAx>
        <c:axId val="285079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85074344"/>
        <c:crosses val="autoZero"/>
        <c:auto val="1"/>
        <c:lblAlgn val="ctr"/>
        <c:lblOffset val="100"/>
        <c:noMultiLvlLbl val="0"/>
      </c:catAx>
      <c:valAx>
        <c:axId val="28507434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85079832"/>
        <c:crosses val="autoZero"/>
        <c:crossBetween val="between"/>
      </c:valAx>
      <c:valAx>
        <c:axId val="285077088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one"/>
        <c:crossAx val="285077480"/>
        <c:crosses val="max"/>
        <c:crossBetween val="between"/>
      </c:valAx>
      <c:catAx>
        <c:axId val="2850774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5077088"/>
        <c:crosses val="autoZero"/>
        <c:auto val="1"/>
        <c:lblAlgn val="ctr"/>
        <c:lblOffset val="100"/>
        <c:noMultiLvlLbl val="0"/>
      </c:catAx>
    </c:plotArea>
    <c:legend>
      <c:legendPos val="b"/>
      <c:layout/>
      <c:overlay val="0"/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Plan1!$A$1</c:f>
              <c:strCache>
                <c:ptCount val="1"/>
                <c:pt idx="0">
                  <c:v>Resolvedor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>
              <a:bevelT w="139700" h="139700"/>
            </a:sp3d>
          </c:spPr>
          <c:dPt>
            <c:idx val="0"/>
            <c:bubble3D val="0"/>
            <c:spPr>
              <a:solidFill>
                <a:sysClr val="window" lastClr="FFFFFF">
                  <a:lumMod val="65000"/>
                </a:sysClr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7AD-4C60-921E-18D5CD5D6CF6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7AD-4C60-921E-18D5CD5D6CF6}"/>
              </c:ext>
            </c:extLst>
          </c:dPt>
          <c:dPt>
            <c:idx val="2"/>
            <c:bubble3D val="0"/>
            <c:spPr>
              <a:solidFill>
                <a:srgbClr val="19345B"/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7AD-4C60-921E-18D5CD5D6CF6}"/>
              </c:ext>
            </c:extLst>
          </c:dPt>
          <c:dLbls>
            <c:dLbl>
              <c:idx val="0"/>
              <c:layout>
                <c:manualLayout>
                  <c:x val="-7.0091085760406763E-2"/>
                  <c:y val="0.1084335464742702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Plan1!$A$2:$A$4</c:f>
              <c:strCache>
                <c:ptCount val="3"/>
                <c:pt idx="0">
                  <c:v>Fornecedor</c:v>
                </c:pt>
                <c:pt idx="1">
                  <c:v>Cliente</c:v>
                </c:pt>
                <c:pt idx="2">
                  <c:v>Contax</c:v>
                </c:pt>
              </c:strCache>
            </c:strRef>
          </c:cat>
          <c:val>
            <c:numRef>
              <c:f>Plan1!$H$2:$H$4</c:f>
              <c:numCache>
                <c:formatCode>General</c:formatCode>
                <c:ptCount val="3"/>
                <c:pt idx="0">
                  <c:v>8</c:v>
                </c:pt>
                <c:pt idx="1">
                  <c:v>61</c:v>
                </c:pt>
                <c:pt idx="2">
                  <c:v>80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E7AD-4C60-921E-18D5CD5D6CF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mai/16</c:v>
                </c:pt>
                <c:pt idx="1">
                  <c:v>jun/16</c:v>
                </c:pt>
              </c:strCache>
            </c:strRef>
          </c:cat>
          <c:val>
            <c:numRef>
              <c:f>Plan1!$B$2:$C$2</c:f>
              <c:numCache>
                <c:formatCode>[h]:mm:ss</c:formatCode>
                <c:ptCount val="2"/>
                <c:pt idx="0">
                  <c:v>0.50130312689737466</c:v>
                </c:pt>
                <c:pt idx="1">
                  <c:v>0.48776620370370366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85079048"/>
        <c:axId val="285074736"/>
      </c:barChart>
      <c:catAx>
        <c:axId val="2850790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85074736"/>
        <c:crosses val="autoZero"/>
        <c:auto val="1"/>
        <c:lblAlgn val="ctr"/>
        <c:lblOffset val="100"/>
        <c:noMultiLvlLbl val="0"/>
      </c:catAx>
      <c:valAx>
        <c:axId val="285074736"/>
        <c:scaling>
          <c:orientation val="minMax"/>
        </c:scaling>
        <c:delete val="1"/>
        <c:axPos val="l"/>
        <c:numFmt formatCode="[h]:mm:ss" sourceLinked="1"/>
        <c:majorTickMark val="out"/>
        <c:minorTickMark val="none"/>
        <c:tickLblPos val="nextTo"/>
        <c:crossAx val="285079048"/>
        <c:crosses val="autoZero"/>
        <c:crossBetween val="between"/>
        <c:majorUnit val="0.1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Plan1!$B$1:$G$1</c:f>
              <c:strCache>
                <c:ptCount val="6"/>
                <c:pt idx="0">
                  <c:v>set/15</c:v>
                </c:pt>
                <c:pt idx="1">
                  <c:v>fev/16</c:v>
                </c:pt>
                <c:pt idx="2">
                  <c:v>mar/16</c:v>
                </c:pt>
                <c:pt idx="3">
                  <c:v>abr/16</c:v>
                </c:pt>
                <c:pt idx="4">
                  <c:v>mai/16</c:v>
                </c:pt>
                <c:pt idx="5">
                  <c:v>jun/16</c:v>
                </c:pt>
              </c:strCache>
            </c:strRef>
          </c:cat>
          <c:val>
            <c:numRef>
              <c:f>Plan1!$B$2:$G$2</c:f>
              <c:numCache>
                <c:formatCode>[h]:mm:ss;@</c:formatCode>
                <c:ptCount val="6"/>
                <c:pt idx="0">
                  <c:v>2.2795632152319799E-2</c:v>
                </c:pt>
                <c:pt idx="1">
                  <c:v>0.14141203703703703</c:v>
                </c:pt>
                <c:pt idx="2">
                  <c:v>0.17214474022633416</c:v>
                </c:pt>
                <c:pt idx="3" formatCode="h:mm:ss">
                  <c:v>0.16126157407407407</c:v>
                </c:pt>
                <c:pt idx="4" formatCode="[$-F400]h:mm:ss\ AM/PM">
                  <c:v>0.16440586419752612</c:v>
                </c:pt>
                <c:pt idx="5" formatCode="[$-F400]h:mm:ss\ AM/PM">
                  <c:v>0.19968750000000002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85081400"/>
        <c:axId val="285073952"/>
      </c:barChart>
      <c:catAx>
        <c:axId val="2850814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85073952"/>
        <c:crosses val="autoZero"/>
        <c:auto val="1"/>
        <c:lblAlgn val="ctr"/>
        <c:lblOffset val="100"/>
        <c:noMultiLvlLbl val="0"/>
      </c:catAx>
      <c:valAx>
        <c:axId val="285073952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85081400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mai/16</c:v>
                </c:pt>
                <c:pt idx="1">
                  <c:v>jun/16</c:v>
                </c:pt>
              </c:strCache>
            </c:strRef>
          </c:cat>
          <c:val>
            <c:numRef>
              <c:f>Plan1!$B$2:$C$2</c:f>
              <c:numCache>
                <c:formatCode>[h]:mm:ss;@</c:formatCode>
                <c:ptCount val="2"/>
                <c:pt idx="0">
                  <c:v>0.25166972757882122</c:v>
                </c:pt>
                <c:pt idx="1">
                  <c:v>0.37046296296296299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85075520"/>
        <c:axId val="285075912"/>
      </c:barChart>
      <c:catAx>
        <c:axId val="285075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85075912"/>
        <c:crosses val="autoZero"/>
        <c:auto val="1"/>
        <c:lblAlgn val="ctr"/>
        <c:lblOffset val="100"/>
        <c:noMultiLvlLbl val="0"/>
      </c:catAx>
      <c:valAx>
        <c:axId val="285075912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85075520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mai/16</c:v>
                </c:pt>
                <c:pt idx="1">
                  <c:v>jun/16</c:v>
                </c:pt>
              </c:strCache>
            </c:strRef>
          </c:cat>
          <c:val>
            <c:numRef>
              <c:f>Plan1!$B$2:$C$2</c:f>
              <c:numCache>
                <c:formatCode>[h]:mm:ss;@</c:formatCode>
                <c:ptCount val="2"/>
                <c:pt idx="0">
                  <c:v>2.0870138888876681</c:v>
                </c:pt>
                <c:pt idx="1">
                  <c:v>2.8001620370370368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85078264"/>
        <c:axId val="285078656"/>
      </c:barChart>
      <c:catAx>
        <c:axId val="2850782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85078656"/>
        <c:crosses val="autoZero"/>
        <c:auto val="1"/>
        <c:lblAlgn val="ctr"/>
        <c:lblOffset val="100"/>
        <c:noMultiLvlLbl val="0"/>
      </c:catAx>
      <c:valAx>
        <c:axId val="285078656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85078264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Plan1!$B$1:$G$1</c:f>
              <c:strCache>
                <c:ptCount val="6"/>
                <c:pt idx="0">
                  <c:v>set/15</c:v>
                </c:pt>
                <c:pt idx="1">
                  <c:v>fev/16</c:v>
                </c:pt>
                <c:pt idx="2">
                  <c:v>mar/16</c:v>
                </c:pt>
                <c:pt idx="3">
                  <c:v>abr/16</c:v>
                </c:pt>
                <c:pt idx="4">
                  <c:v>mai/16</c:v>
                </c:pt>
                <c:pt idx="5">
                  <c:v>jun/16</c:v>
                </c:pt>
              </c:strCache>
            </c:strRef>
          </c:cat>
          <c:val>
            <c:numRef>
              <c:f>Plan1!$B$2:$G$2</c:f>
              <c:numCache>
                <c:formatCode>[h]:mm:ss;@</c:formatCode>
                <c:ptCount val="6"/>
                <c:pt idx="0">
                  <c:v>1.4335300925925925</c:v>
                </c:pt>
                <c:pt idx="1">
                  <c:v>0.67074074074074075</c:v>
                </c:pt>
                <c:pt idx="2">
                  <c:v>0.48246527777777781</c:v>
                </c:pt>
                <c:pt idx="3">
                  <c:v>0.5274537037037037</c:v>
                </c:pt>
                <c:pt idx="4" formatCode="h:mm:ss">
                  <c:v>0.19980448526460948</c:v>
                </c:pt>
                <c:pt idx="5" formatCode="h:mm:ss">
                  <c:v>0.38078703703703703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83063192"/>
        <c:axId val="287022456"/>
      </c:barChart>
      <c:catAx>
        <c:axId val="283063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87022456"/>
        <c:crosses val="autoZero"/>
        <c:auto val="1"/>
        <c:lblAlgn val="ctr"/>
        <c:lblOffset val="100"/>
        <c:noMultiLvlLbl val="0"/>
      </c:catAx>
      <c:valAx>
        <c:axId val="287022456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83063192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783722190895346E-2"/>
          <c:y val="0.22477375614151776"/>
          <c:w val="0.91043255561820935"/>
          <c:h val="0.531335149863760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mai/16</c:v>
                </c:pt>
                <c:pt idx="1">
                  <c:v>jun/16</c:v>
                </c:pt>
              </c:strCache>
            </c:strRef>
          </c:cat>
          <c:val>
            <c:numRef>
              <c:f>Plan1!$B$2:$C$2</c:f>
              <c:numCache>
                <c:formatCode>h:mm:ss</c:formatCode>
                <c:ptCount val="2"/>
                <c:pt idx="0">
                  <c:v>0.11931799051106748</c:v>
                </c:pt>
                <c:pt idx="1">
                  <c:v>0.18862268518518518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287025592"/>
        <c:axId val="287020496"/>
      </c:barChart>
      <c:catAx>
        <c:axId val="2870255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87020496"/>
        <c:crosses val="autoZero"/>
        <c:auto val="1"/>
        <c:lblAlgn val="ctr"/>
        <c:lblOffset val="100"/>
        <c:noMultiLvlLbl val="0"/>
      </c:catAx>
      <c:valAx>
        <c:axId val="287020496"/>
        <c:scaling>
          <c:orientation val="minMax"/>
        </c:scaling>
        <c:delete val="1"/>
        <c:axPos val="l"/>
        <c:numFmt formatCode="h:mm:ss" sourceLinked="1"/>
        <c:majorTickMark val="out"/>
        <c:minorTickMark val="none"/>
        <c:tickLblPos val="nextTo"/>
        <c:crossAx val="287025592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mai/16</c:v>
                </c:pt>
                <c:pt idx="1">
                  <c:v>jun/16</c:v>
                </c:pt>
              </c:strCache>
            </c:strRef>
          </c:cat>
          <c:val>
            <c:numRef>
              <c:f>Plan1!$B$2:$C$2</c:f>
              <c:numCache>
                <c:formatCode>[h]:mm:ss</c:formatCode>
                <c:ptCount val="2"/>
                <c:pt idx="0">
                  <c:v>0.36307566788047074</c:v>
                </c:pt>
                <c:pt idx="1">
                  <c:v>0.51476851851851857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87022848"/>
        <c:axId val="287025200"/>
      </c:barChart>
      <c:catAx>
        <c:axId val="2870228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87025200"/>
        <c:crosses val="autoZero"/>
        <c:auto val="1"/>
        <c:lblAlgn val="ctr"/>
        <c:lblOffset val="100"/>
        <c:noMultiLvlLbl val="0"/>
      </c:catAx>
      <c:valAx>
        <c:axId val="287025200"/>
        <c:scaling>
          <c:orientation val="minMax"/>
        </c:scaling>
        <c:delete val="1"/>
        <c:axPos val="l"/>
        <c:numFmt formatCode="[h]:mm:ss" sourceLinked="1"/>
        <c:majorTickMark val="out"/>
        <c:minorTickMark val="none"/>
        <c:tickLblPos val="nextTo"/>
        <c:crossAx val="287022848"/>
        <c:crosses val="autoZero"/>
        <c:crossBetween val="between"/>
        <c:majorUnit val="9.0000000000000024E-2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mai/16</c:v>
                </c:pt>
                <c:pt idx="1">
                  <c:v>jun/16</c:v>
                </c:pt>
              </c:strCache>
            </c:strRef>
          </c:cat>
          <c:val>
            <c:numRef>
              <c:f>Plan1!$B$2:$C$2</c:f>
              <c:numCache>
                <c:formatCode>[h]:mm:ss;@</c:formatCode>
                <c:ptCount val="2"/>
                <c:pt idx="0">
                  <c:v>0.14463541666737001</c:v>
                </c:pt>
                <c:pt idx="1">
                  <c:v>1.2808449074074073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87020888"/>
        <c:axId val="287024808"/>
      </c:barChart>
      <c:catAx>
        <c:axId val="287020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287024808"/>
        <c:crosses val="autoZero"/>
        <c:auto val="1"/>
        <c:lblAlgn val="ctr"/>
        <c:lblOffset val="100"/>
        <c:noMultiLvlLbl val="0"/>
      </c:catAx>
      <c:valAx>
        <c:axId val="287024808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287020888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1527683256769209"/>
          <c:y val="5.5212197429648911E-2"/>
          <c:w val="0.59836343866107988"/>
          <c:h val="0.93474922121950588"/>
        </c:manualLayout>
      </c:layout>
      <c:pieChart>
        <c:varyColors val="1"/>
        <c:ser>
          <c:idx val="0"/>
          <c:order val="0"/>
          <c:tx>
            <c:strRef>
              <c:f>Plan1!$A$1</c:f>
              <c:strCache>
                <c:ptCount val="1"/>
                <c:pt idx="0">
                  <c:v>Resolvedor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>
              <a:bevelT w="139700" h="139700"/>
            </a:sp3d>
          </c:spPr>
          <c:dPt>
            <c:idx val="0"/>
            <c:bubble3D val="0"/>
            <c:spPr>
              <a:solidFill>
                <a:sysClr val="window" lastClr="FFFFFF">
                  <a:lumMod val="65000"/>
                </a:sysClr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7AD-4C60-921E-18D5CD5D6CF6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7AD-4C60-921E-18D5CD5D6CF6}"/>
              </c:ext>
            </c:extLst>
          </c:dPt>
          <c:dPt>
            <c:idx val="2"/>
            <c:bubble3D val="0"/>
            <c:spPr>
              <a:solidFill>
                <a:srgbClr val="19345B"/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7AD-4C60-921E-18D5CD5D6C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Plan1!$A$2:$A$4</c:f>
              <c:strCache>
                <c:ptCount val="3"/>
                <c:pt idx="0">
                  <c:v>Fornecedor</c:v>
                </c:pt>
                <c:pt idx="1">
                  <c:v>Cliente</c:v>
                </c:pt>
                <c:pt idx="2">
                  <c:v>Contax</c:v>
                </c:pt>
              </c:strCache>
            </c:strRef>
          </c:cat>
          <c:val>
            <c:numRef>
              <c:f>Plan1!$H$2:$H$4</c:f>
              <c:numCache>
                <c:formatCode>General</c:formatCode>
                <c:ptCount val="3"/>
                <c:pt idx="0">
                  <c:v>8</c:v>
                </c:pt>
                <c:pt idx="1">
                  <c:v>61</c:v>
                </c:pt>
                <c:pt idx="2">
                  <c:v>80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E7AD-4C60-921E-18D5CD5D6CF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170"/>
      </c:pieChart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'Tabelas PPT'!$F$3</c:f>
              <c:strCache>
                <c:ptCount val="1"/>
                <c:pt idx="0">
                  <c:v>Quantidade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>
              <a:bevelT w="139700" h="139700"/>
            </a:sp3d>
          </c:spPr>
          <c:dPt>
            <c:idx val="0"/>
            <c:bubble3D val="0"/>
            <c:spPr>
              <a:solidFill>
                <a:srgbClr val="19345B"/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</c:dPt>
          <c:dPt>
            <c:idx val="1"/>
            <c:bubble3D val="0"/>
            <c:spPr>
              <a:solidFill>
                <a:srgbClr val="C00000"/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</c:dPt>
          <c:dPt>
            <c:idx val="2"/>
            <c:bubble3D val="0"/>
            <c:spPr>
              <a:solidFill>
                <a:schemeClr val="bg1">
                  <a:lumMod val="50000"/>
                </a:schemeClr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</c:dPt>
          <c:dLbls>
            <c:dLbl>
              <c:idx val="0"/>
              <c:layout>
                <c:manualLayout>
                  <c:x val="-0.21871675415573053"/>
                  <c:y val="-8.9965368912219304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20299562554680664"/>
                  <c:y val="-0.13324511519393409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9625328083989502E-2"/>
                  <c:y val="0.12406824146981628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'Tabelas PPT'!$E$4:$E$6</c:f>
              <c:strCache>
                <c:ptCount val="3"/>
                <c:pt idx="0">
                  <c:v>HARDWARE</c:v>
                </c:pt>
                <c:pt idx="1">
                  <c:v>SOFTWARE</c:v>
                </c:pt>
                <c:pt idx="2">
                  <c:v>OUTRAS ÀREAS</c:v>
                </c:pt>
              </c:strCache>
            </c:strRef>
          </c:cat>
          <c:val>
            <c:numRef>
              <c:f>'Tabelas PPT'!$F$4:$F$6</c:f>
              <c:numCache>
                <c:formatCode>General</c:formatCode>
                <c:ptCount val="3"/>
                <c:pt idx="0">
                  <c:v>7720</c:v>
                </c:pt>
                <c:pt idx="1">
                  <c:v>7388</c:v>
                </c:pt>
                <c:pt idx="2">
                  <c:v>2877</c:v>
                </c:pt>
              </c:numCache>
            </c:numRef>
          </c:val>
        </c:ser>
        <c:ser>
          <c:idx val="1"/>
          <c:order val="1"/>
          <c:tx>
            <c:strRef>
              <c:f>'Tabelas PPT'!$G$3</c:f>
              <c:strCache>
                <c:ptCount val="1"/>
                <c:pt idx="0">
                  <c:v>%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'Tabelas PPT'!$E$4:$E$6</c:f>
              <c:strCache>
                <c:ptCount val="3"/>
                <c:pt idx="0">
                  <c:v>HARDWARE</c:v>
                </c:pt>
                <c:pt idx="1">
                  <c:v>SOFTWARE</c:v>
                </c:pt>
                <c:pt idx="2">
                  <c:v>OUTRAS ÀREAS</c:v>
                </c:pt>
              </c:strCache>
            </c:strRef>
          </c:cat>
          <c:val>
            <c:numRef>
              <c:f>'Tabelas PPT'!$G$4:$G$6</c:f>
              <c:numCache>
                <c:formatCode>0%</c:formatCode>
                <c:ptCount val="3"/>
                <c:pt idx="0">
                  <c:v>0.42924659438420909</c:v>
                </c:pt>
                <c:pt idx="1">
                  <c:v>0.41078676675006948</c:v>
                </c:pt>
                <c:pt idx="2">
                  <c:v>0.15996663886572143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25"/>
      </c:pieChart>
    </c:plotArea>
    <c:plotVisOnly val="1"/>
    <c:dispBlanksAs val="gap"/>
    <c:showDLblsOverMax val="0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3.1889574871106309E-2"/>
          <c:y val="5.828688947759264E-2"/>
          <c:w val="0.93622085025778734"/>
          <c:h val="0.681875165319891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'[Informações Gerenciamento de Mudanças.xls]graficos'!$C$1</c:f>
              <c:strCache>
                <c:ptCount val="1"/>
                <c:pt idx="0">
                  <c:v>Canceladas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000" b="0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'[Informações Gerenciamento de Mudanças.xls]graficos'!$A$2:$A$7</c:f>
              <c:strCache>
                <c:ptCount val="6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</c:strCache>
            </c:strRef>
          </c:cat>
          <c:val>
            <c:numRef>
              <c:f>'[Informações Gerenciamento de Mudanças.xls]graficos'!$C$2:$C$7</c:f>
              <c:numCache>
                <c:formatCode>General</c:formatCode>
                <c:ptCount val="6"/>
                <c:pt idx="0">
                  <c:v>39</c:v>
                </c:pt>
                <c:pt idx="1">
                  <c:v>40</c:v>
                </c:pt>
                <c:pt idx="2">
                  <c:v>78</c:v>
                </c:pt>
                <c:pt idx="3">
                  <c:v>58</c:v>
                </c:pt>
                <c:pt idx="4">
                  <c:v>52</c:v>
                </c:pt>
                <c:pt idx="5">
                  <c:v>33</c:v>
                </c:pt>
              </c:numCache>
            </c:numRef>
          </c:val>
        </c:ser>
        <c:ser>
          <c:idx val="1"/>
          <c:order val="1"/>
          <c:tx>
            <c:strRef>
              <c:f>'[Informações Gerenciamento de Mudanças.xls]graficos'!$D$1</c:f>
              <c:strCache>
                <c:ptCount val="1"/>
                <c:pt idx="0">
                  <c:v>Implantadas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000" b="0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'[Informações Gerenciamento de Mudanças.xls]graficos'!$A$2:$A$7</c:f>
              <c:strCache>
                <c:ptCount val="6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</c:strCache>
            </c:strRef>
          </c:cat>
          <c:val>
            <c:numRef>
              <c:f>'[Informações Gerenciamento de Mudanças.xls]graficos'!$D$2:$D$7</c:f>
              <c:numCache>
                <c:formatCode>General</c:formatCode>
                <c:ptCount val="6"/>
                <c:pt idx="0">
                  <c:v>160</c:v>
                </c:pt>
                <c:pt idx="1">
                  <c:v>167</c:v>
                </c:pt>
                <c:pt idx="2">
                  <c:v>169</c:v>
                </c:pt>
                <c:pt idx="3">
                  <c:v>192</c:v>
                </c:pt>
                <c:pt idx="4">
                  <c:v>206</c:v>
                </c:pt>
                <c:pt idx="5">
                  <c:v>250</c:v>
                </c:pt>
              </c:numCache>
            </c:numRef>
          </c:val>
        </c:ser>
        <c:ser>
          <c:idx val="3"/>
          <c:order val="3"/>
          <c:tx>
            <c:strRef>
              <c:f>'[Informações Gerenciamento de Mudanças.xls]graficos'!$E$1</c:f>
              <c:strCache>
                <c:ptCount val="1"/>
                <c:pt idx="0">
                  <c:v>Em andamento</c:v>
                </c:pt>
              </c:strCache>
            </c:strRef>
          </c:tx>
          <c:spPr>
            <a:solidFill>
              <a:srgbClr val="939597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'[Informações Gerenciamento de Mudanças.xls]graficos'!$A$2:$A$7</c:f>
              <c:strCache>
                <c:ptCount val="6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</c:strCache>
            </c:strRef>
          </c:cat>
          <c:val>
            <c:numRef>
              <c:f>'[Informações Gerenciamento de Mudanças.xls]graficos'!$E$2:$E$7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36896448"/>
        <c:axId val="436908208"/>
      </c:barChart>
      <c:lineChart>
        <c:grouping val="standard"/>
        <c:varyColors val="0"/>
        <c:ser>
          <c:idx val="2"/>
          <c:order val="2"/>
          <c:tx>
            <c:v>Total</c:v>
          </c:tx>
          <c:spPr>
            <a:ln w="25400">
              <a:solidFill>
                <a:srgbClr val="00B050"/>
              </a:solidFill>
              <a:prstDash val="sysDash"/>
            </a:ln>
          </c:spPr>
          <c:marker>
            <c:symbol val="none"/>
          </c:marker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000" b="1" i="0" u="none" strike="noStrike" baseline="0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'[Informações Gerenciamento de Mudanças.xls]graficos'!$A$2:$A$7</c:f>
              <c:strCache>
                <c:ptCount val="6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</c:strCache>
            </c:strRef>
          </c:cat>
          <c:val>
            <c:numRef>
              <c:f>'[Informações Gerenciamento de Mudanças.xls]graficos'!$B$2:$B$7</c:f>
              <c:numCache>
                <c:formatCode>General</c:formatCode>
                <c:ptCount val="6"/>
                <c:pt idx="0">
                  <c:v>199</c:v>
                </c:pt>
                <c:pt idx="1">
                  <c:v>207</c:v>
                </c:pt>
                <c:pt idx="2">
                  <c:v>247</c:v>
                </c:pt>
                <c:pt idx="3">
                  <c:v>250</c:v>
                </c:pt>
                <c:pt idx="4">
                  <c:v>258</c:v>
                </c:pt>
                <c:pt idx="5">
                  <c:v>294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36896448"/>
        <c:axId val="436908208"/>
      </c:lineChart>
      <c:catAx>
        <c:axId val="436896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9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pt-BR"/>
          </a:p>
        </c:txPr>
        <c:crossAx val="436908208"/>
        <c:crosses val="autoZero"/>
        <c:auto val="1"/>
        <c:lblAlgn val="ctr"/>
        <c:lblOffset val="100"/>
        <c:noMultiLvlLbl val="1"/>
      </c:catAx>
      <c:valAx>
        <c:axId val="436908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36896448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/>
      <c:overlay val="0"/>
      <c:txPr>
        <a:bodyPr/>
        <a:lstStyle/>
        <a:p>
          <a:pPr>
            <a:defRPr sz="900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pt-BR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1889574871106309E-2"/>
          <c:y val="0.19240926245166101"/>
          <c:w val="0.93622085025778734"/>
          <c:h val="0.5477528770442156"/>
        </c:manualLayout>
      </c:layout>
      <c:lineChart>
        <c:grouping val="standard"/>
        <c:varyColors val="0"/>
        <c:ser>
          <c:idx val="0"/>
          <c:order val="0"/>
          <c:tx>
            <c:strRef>
              <c:f>graficos!$B$11</c:f>
              <c:strCache>
                <c:ptCount val="1"/>
                <c:pt idx="0">
                  <c:v>Programadas</c:v>
                </c:pt>
              </c:strCache>
            </c:strRef>
          </c:tx>
          <c:spPr>
            <a:ln w="28575">
              <a:solidFill>
                <a:schemeClr val="tx2"/>
              </a:solidFill>
            </a:ln>
          </c:spPr>
          <c:marker>
            <c:symbol val="none"/>
          </c:marker>
          <c:dLbls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txPr>
              <a:bodyPr/>
              <a:lstStyle/>
              <a:p>
                <a: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graficos!$A$12:$A$17</c:f>
              <c:strCache>
                <c:ptCount val="6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</c:strCache>
            </c:strRef>
          </c:cat>
          <c:val>
            <c:numRef>
              <c:f>graficos!$B$12:$B$17</c:f>
              <c:numCache>
                <c:formatCode>General</c:formatCode>
                <c:ptCount val="6"/>
                <c:pt idx="0">
                  <c:v>138</c:v>
                </c:pt>
                <c:pt idx="1">
                  <c:v>135</c:v>
                </c:pt>
                <c:pt idx="2">
                  <c:v>116</c:v>
                </c:pt>
                <c:pt idx="3">
                  <c:v>129</c:v>
                </c:pt>
                <c:pt idx="4">
                  <c:v>131</c:v>
                </c:pt>
                <c:pt idx="5">
                  <c:v>131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graficos!$C$11</c:f>
              <c:strCache>
                <c:ptCount val="1"/>
                <c:pt idx="0">
                  <c:v>Técnicas</c:v>
                </c:pt>
              </c:strCache>
            </c:strRef>
          </c:tx>
          <c:spPr>
            <a:ln>
              <a:solidFill>
                <a:srgbClr val="959799"/>
              </a:solidFill>
            </a:ln>
          </c:spPr>
          <c:marker>
            <c:symbol val="none"/>
          </c:marker>
          <c:dLbls>
            <c:dLbl>
              <c:idx val="1"/>
              <c:layout>
                <c:manualLayout>
                  <c:x val="-2.4417453891138068E-2"/>
                  <c:y val="-2.36686390532544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2.4417453891138103E-2"/>
                  <c:y val="-3.944773175542406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solidFill>
                <a:schemeClr val="bg1">
                  <a:lumMod val="50000"/>
                </a:schemeClr>
              </a:solidFill>
              <a:ln w="9525" cap="flat" cmpd="sng" algn="ctr">
                <a:solidFill>
                  <a:schemeClr val="bg1">
                    <a:lumMod val="6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txPr>
              <a:bodyPr/>
              <a:lstStyle/>
              <a:p>
                <a: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graficos!$A$12:$A$17</c:f>
              <c:strCache>
                <c:ptCount val="6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</c:strCache>
            </c:strRef>
          </c:cat>
          <c:val>
            <c:numRef>
              <c:f>graficos!$C$12:$C$17</c:f>
              <c:numCache>
                <c:formatCode>General</c:formatCode>
                <c:ptCount val="6"/>
                <c:pt idx="0">
                  <c:v>1</c:v>
                </c:pt>
                <c:pt idx="1">
                  <c:v>19</c:v>
                </c:pt>
                <c:pt idx="2">
                  <c:v>27</c:v>
                </c:pt>
                <c:pt idx="3">
                  <c:v>47</c:v>
                </c:pt>
                <c:pt idx="4">
                  <c:v>54</c:v>
                </c:pt>
                <c:pt idx="5">
                  <c:v>93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graficos!$D$11</c:f>
              <c:strCache>
                <c:ptCount val="1"/>
                <c:pt idx="0">
                  <c:v>Emergenciais</c:v>
                </c:pt>
              </c:strCache>
            </c:strRef>
          </c:tx>
          <c:spPr>
            <a:ln>
              <a:solidFill>
                <a:srgbClr val="00B050"/>
              </a:solidFill>
            </a:ln>
          </c:spPr>
          <c:marker>
            <c:symbol val="none"/>
          </c:marker>
          <c:dLbls>
            <c:dLbl>
              <c:idx val="1"/>
              <c:layout>
                <c:manualLayout>
                  <c:x val="-2.4417453891138068E-2"/>
                  <c:y val="1.18343195266272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2.4417453891138103E-2"/>
                  <c:y val="1.57790927021695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solidFill>
                <a:srgbClr val="00B050"/>
              </a:solidFill>
              <a:ln w="9525" cap="flat" cmpd="sng" algn="ctr">
                <a:solidFill>
                  <a:srgbClr val="00B05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txPr>
              <a:bodyPr/>
              <a:lstStyle/>
              <a:p>
                <a: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graficos!$A$12:$A$17</c:f>
              <c:strCache>
                <c:ptCount val="6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</c:strCache>
            </c:strRef>
          </c:cat>
          <c:val>
            <c:numRef>
              <c:f>graficos!$D$12:$D$17</c:f>
              <c:numCache>
                <c:formatCode>General</c:formatCode>
                <c:ptCount val="6"/>
                <c:pt idx="0">
                  <c:v>21</c:v>
                </c:pt>
                <c:pt idx="1">
                  <c:v>13</c:v>
                </c:pt>
                <c:pt idx="2">
                  <c:v>26</c:v>
                </c:pt>
                <c:pt idx="3">
                  <c:v>16</c:v>
                </c:pt>
                <c:pt idx="4">
                  <c:v>21</c:v>
                </c:pt>
                <c:pt idx="5">
                  <c:v>26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36900760"/>
        <c:axId val="436903112"/>
      </c:lineChart>
      <c:catAx>
        <c:axId val="4369007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pt-BR"/>
          </a:p>
        </c:txPr>
        <c:crossAx val="436903112"/>
        <c:crosses val="autoZero"/>
        <c:auto val="1"/>
        <c:lblAlgn val="ctr"/>
        <c:lblOffset val="100"/>
        <c:noMultiLvlLbl val="1"/>
      </c:catAx>
      <c:valAx>
        <c:axId val="436903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436900760"/>
        <c:crosses val="autoZero"/>
        <c:crossBetween val="between"/>
      </c:valAx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pt-BR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[Gestão de Problemas - Ficha de Problemas(2016-07-07).xlsx]Plan1!Tabela dinâmica3</c:name>
    <c:fmtId val="-1"/>
  </c:pivotSource>
  <c:chart>
    <c:autoTitleDeleted val="1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1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1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1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view3D>
      <c:rotX val="6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1.6167843884379321E-2"/>
          <c:y val="2.4668476785229428E-2"/>
          <c:w val="0.95050429507122425"/>
          <c:h val="0.89038609828943793"/>
        </c:manualLayout>
      </c:layout>
      <c:pie3DChart>
        <c:varyColors val="1"/>
        <c:ser>
          <c:idx val="0"/>
          <c:order val="0"/>
          <c:tx>
            <c:strRef>
              <c:f>Plan1!$G$3</c:f>
              <c:strCache>
                <c:ptCount val="1"/>
                <c:pt idx="0">
                  <c:v>Total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Plan1!$F$4:$F$14</c:f>
              <c:strCache>
                <c:ptCount val="10"/>
                <c:pt idx="0">
                  <c:v>1.Registrado</c:v>
                </c:pt>
                <c:pt idx="1">
                  <c:v>11.Risco residual</c:v>
                </c:pt>
                <c:pt idx="2">
                  <c:v>2.Em andamento - Busca de solução de contorno</c:v>
                </c:pt>
                <c:pt idx="3">
                  <c:v>3.Em andamento - Análise de Root cause</c:v>
                </c:pt>
                <c:pt idx="4">
                  <c:v>4.Em andamento - RCA finalizada</c:v>
                </c:pt>
                <c:pt idx="5">
                  <c:v>5.Em andamento - Erro conhecido</c:v>
                </c:pt>
                <c:pt idx="6">
                  <c:v>7.Em andamento - Implementação de solução definitiva</c:v>
                </c:pt>
                <c:pt idx="7">
                  <c:v>8.Em andamento - Solução definitiva implementada</c:v>
                </c:pt>
                <c:pt idx="8">
                  <c:v>9.Em homologação</c:v>
                </c:pt>
                <c:pt idx="9">
                  <c:v>(vazio)</c:v>
                </c:pt>
              </c:strCache>
            </c:strRef>
          </c:cat>
          <c:val>
            <c:numRef>
              <c:f>Plan1!$G$4:$G$14</c:f>
              <c:numCache>
                <c:formatCode>General</c:formatCode>
                <c:ptCount val="10"/>
                <c:pt idx="0">
                  <c:v>5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9</c:v>
                </c:pt>
                <c:pt idx="7">
                  <c:v>1</c:v>
                </c:pt>
                <c:pt idx="8">
                  <c:v>5</c:v>
                </c:pt>
                <c:pt idx="9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</c:extLst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[Gestão de Problemas - Ficha de Problemas(2016-07-07).xlsx]Plan3!Tabela dinâmica5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pt-BR"/>
              <a:t>Criticidade </a:t>
            </a:r>
          </a:p>
        </c:rich>
      </c:tx>
      <c:layout>
        <c:manualLayout>
          <c:xMode val="edge"/>
          <c:yMode val="edge"/>
          <c:x val="0.37108765094853779"/>
          <c:y val="4.3422050916398752E-2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</c:spPr>
      </c:pivotFmt>
      <c:pivotFmt>
        <c:idx val="2"/>
        <c:spPr>
          <a:solidFill>
            <a:srgbClr val="FFC000"/>
          </a:solidFill>
        </c:spPr>
      </c:pivotFmt>
      <c:pivotFmt>
        <c:idx val="3"/>
        <c:spPr>
          <a:solidFill>
            <a:srgbClr val="00B050"/>
          </a:solidFill>
        </c:spPr>
      </c:pivotFmt>
      <c:pivotFmt>
        <c:idx val="4"/>
      </c:pivotFmt>
      <c:pivotFmt>
        <c:idx val="5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FC000"/>
          </a:solidFill>
        </c:spPr>
      </c:pivotFmt>
      <c:pivotFmt>
        <c:idx val="7"/>
        <c:spPr>
          <a:solidFill>
            <a:srgbClr val="00B050"/>
          </a:solidFill>
        </c:spPr>
      </c:pivotFmt>
      <c:pivotFmt>
        <c:idx val="8"/>
        <c:spPr>
          <a:solidFill>
            <a:srgbClr val="FF0000"/>
          </a:solidFill>
        </c:spPr>
      </c:pivotFmt>
      <c:pivotFmt>
        <c:idx val="9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FFC000"/>
          </a:solidFill>
        </c:spPr>
      </c:pivotFmt>
      <c:pivotFmt>
        <c:idx val="11"/>
        <c:spPr>
          <a:solidFill>
            <a:srgbClr val="00B050"/>
          </a:solidFill>
        </c:spPr>
      </c:pivotFmt>
      <c:pivotFmt>
        <c:idx val="12"/>
        <c:spPr>
          <a:solidFill>
            <a:srgbClr val="FF0000"/>
          </a:solidFill>
        </c:spPr>
      </c:pivotFmt>
    </c:pivotFmts>
    <c:plotArea>
      <c:layout>
        <c:manualLayout>
          <c:layoutTarget val="inner"/>
          <c:xMode val="edge"/>
          <c:yMode val="edge"/>
          <c:x val="0.21484381547288939"/>
          <c:y val="0.14943814593869023"/>
          <c:w val="0.48376267739325368"/>
          <c:h val="0.83306552701492276"/>
        </c:manualLayout>
      </c:layout>
      <c:pieChart>
        <c:varyColors val="1"/>
        <c:ser>
          <c:idx val="0"/>
          <c:order val="0"/>
          <c:tx>
            <c:strRef>
              <c:f>Plan3!$B$1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FFC000"/>
              </a:solidFill>
            </c:spPr>
          </c:dPt>
          <c:dPt>
            <c:idx val="1"/>
            <c:bubble3D val="0"/>
            <c:spPr>
              <a:solidFill>
                <a:srgbClr val="00B050"/>
              </a:solidFill>
            </c:spPr>
          </c:dPt>
          <c:dPt>
            <c:idx val="2"/>
            <c:bubble3D val="0"/>
            <c:spPr>
              <a:solidFill>
                <a:srgbClr val="FF0000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Plan3!$A$2:$A$6</c:f>
              <c:strCache>
                <c:ptCount val="4"/>
                <c:pt idx="0">
                  <c:v>Alto</c:v>
                </c:pt>
                <c:pt idx="1">
                  <c:v>Baixo</c:v>
                </c:pt>
                <c:pt idx="2">
                  <c:v>Crítico</c:v>
                </c:pt>
                <c:pt idx="3">
                  <c:v>Médio</c:v>
                </c:pt>
              </c:strCache>
            </c:strRef>
          </c:cat>
          <c:val>
            <c:numRef>
              <c:f>Plan3!$B$2:$B$6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  <c:pt idx="2">
                  <c:v>10</c:v>
                </c:pt>
                <c:pt idx="3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legend>
      <c:legendPos val="r"/>
      <c:layout>
        <c:manualLayout>
          <c:xMode val="edge"/>
          <c:yMode val="edge"/>
          <c:x val="7.290158439902665E-2"/>
          <c:y val="0.11458885756552323"/>
          <c:w val="0.10136757353822838"/>
          <c:h val="0.29136608499937833"/>
        </c:manualLayout>
      </c:layout>
      <c:overlay val="0"/>
    </c:legend>
    <c:plotVisOnly val="1"/>
    <c:dispBlanksAs val="gap"/>
    <c:showDLblsOverMax val="0"/>
  </c:chart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1"/>
            <c:bubble3D val="0"/>
            <c:explosion val="32"/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'[Gestão de Problemas - Ficha de Problemas(2016-07-07).xlsx]Plan11'!$C$2:$C$3</c:f>
              <c:strCache>
                <c:ptCount val="2"/>
                <c:pt idx="0">
                  <c:v>Não há incidentes há mais de 15 dias</c:v>
                </c:pt>
                <c:pt idx="1">
                  <c:v>Incidentes há menos de 15 dias</c:v>
                </c:pt>
              </c:strCache>
            </c:strRef>
          </c:cat>
          <c:val>
            <c:numRef>
              <c:f>'[Gestão de Problemas - Ficha de Problemas(2016-07-07).xlsx]Plan11'!$D$2:$D$3</c:f>
              <c:numCache>
                <c:formatCode>General</c:formatCode>
                <c:ptCount val="2"/>
                <c:pt idx="0">
                  <c:v>13</c:v>
                </c:pt>
                <c:pt idx="1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 err="1"/>
              <a:t>Metodologia</a:t>
            </a:r>
            <a:r>
              <a:rPr lang="en-US" dirty="0"/>
              <a:t> </a:t>
            </a:r>
            <a:r>
              <a:rPr lang="en-US" dirty="0" err="1"/>
              <a:t>aplicada</a:t>
            </a:r>
            <a:endParaRPr lang="en-US" dirty="0"/>
          </a:p>
        </c:rich>
      </c:tx>
      <c:layout>
        <c:manualLayout>
          <c:xMode val="edge"/>
          <c:yMode val="edge"/>
          <c:x val="0.29014588801399827"/>
          <c:y val="1.3888888888888888E-2"/>
        </c:manualLayout>
      </c:layout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explosion val="3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'[Gestão de Problemas - Ficha de Problemas(2016-07-07).xlsx]Plan13'!$G$4:$G$9</c:f>
              <c:strCache>
                <c:ptCount val="6"/>
                <c:pt idx="0">
                  <c:v>1.Cinco porquês.</c:v>
                </c:pt>
                <c:pt idx="1">
                  <c:v>2.Posto de observação técnica</c:v>
                </c:pt>
                <c:pt idx="2">
                  <c:v>3.Brainstorming</c:v>
                </c:pt>
                <c:pt idx="3">
                  <c:v>4.Diagrama de afinididade</c:v>
                </c:pt>
                <c:pt idx="4">
                  <c:v>5.Teste de hipóteses</c:v>
                </c:pt>
                <c:pt idx="5">
                  <c:v>6.Outra</c:v>
                </c:pt>
              </c:strCache>
            </c:strRef>
          </c:cat>
          <c:val>
            <c:numRef>
              <c:f>'[Gestão de Problemas - Ficha de Problemas(2016-07-07).xlsx]Plan13'!$H$4:$H$9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10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</c:plotArea>
    <c:plotVisOnly val="1"/>
    <c:dispBlanksAs val="gap"/>
    <c:showDLblsOverMax val="0"/>
  </c:chart>
  <c:externalData r:id="rId2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/>
              <a:t>Origem das falhas</a:t>
            </a:r>
          </a:p>
        </c:rich>
      </c:tx>
      <c:layout/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'[Gestão de Problemas - Ficha de Problemas(2016-07-07).xlsx]Plan15'!$A$19:$A$20</c:f>
              <c:strCache>
                <c:ptCount val="2"/>
                <c:pt idx="0">
                  <c:v>Processo</c:v>
                </c:pt>
                <c:pt idx="1">
                  <c:v>Tecnologia</c:v>
                </c:pt>
              </c:strCache>
            </c:strRef>
          </c:cat>
          <c:val>
            <c:numRef>
              <c:f>'[Gestão de Problemas - Ficha de Problemas(2016-07-07).xlsx]Plan15'!$B$19:$B$20</c:f>
              <c:numCache>
                <c:formatCode>General</c:formatCode>
                <c:ptCount val="2"/>
                <c:pt idx="0">
                  <c:v>19</c:v>
                </c:pt>
                <c:pt idx="1">
                  <c:v>6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</c:plotArea>
    <c:plotVisOnly val="1"/>
    <c:dispBlanksAs val="gap"/>
    <c:showDLblsOverMax val="0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/>
              <a:t>Origem</a:t>
            </a:r>
          </a:p>
        </c:rich>
      </c:tx>
      <c:layout/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'[Gestão de Problemas - Ficha de Problemas(2016-07-07).xlsx]Plan16'!$A$1:$A$8</c:f>
              <c:strCache>
                <c:ptCount val="8"/>
                <c:pt idx="0">
                  <c:v>Processual -Capacity Planning</c:v>
                </c:pt>
                <c:pt idx="1">
                  <c:v>Outras</c:v>
                </c:pt>
                <c:pt idx="2">
                  <c:v>Tecnologia -Falha em SW</c:v>
                </c:pt>
                <c:pt idx="3">
                  <c:v>Processual -Falha Operacional</c:v>
                </c:pt>
                <c:pt idx="4">
                  <c:v>Processual -Operação de serviços</c:v>
                </c:pt>
                <c:pt idx="5">
                  <c:v>Processual -Transição de serviços (Mudanças, projetos)</c:v>
                </c:pt>
                <c:pt idx="6">
                  <c:v>Tecnologia -Falha em HW</c:v>
                </c:pt>
                <c:pt idx="7">
                  <c:v>Tecnologia -Obsolescência</c:v>
                </c:pt>
              </c:strCache>
            </c:strRef>
          </c:cat>
          <c:val>
            <c:numRef>
              <c:f>'[Gestão de Problemas - Ficha de Problemas(2016-07-07).xlsx]Plan16'!$B$1:$B$8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8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[Gestão de Problemas - Ficha de Problemas(2016-07-07).xlsx]Plan17!Tabela dinâmica12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en-US" sz="2000" dirty="0" err="1"/>
              <a:t>Custos</a:t>
            </a:r>
            <a:r>
              <a:rPr lang="en-US" sz="2000" baseline="0" dirty="0"/>
              <a:t> de </a:t>
            </a:r>
            <a:r>
              <a:rPr lang="en-US" sz="2000" baseline="0" dirty="0" err="1"/>
              <a:t>correção</a:t>
            </a:r>
            <a:endParaRPr lang="en-US" sz="2000" dirty="0"/>
          </a:p>
        </c:rich>
      </c:tx>
      <c:layout/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Plan17!$B$1</c:f>
              <c:strCache>
                <c:ptCount val="1"/>
                <c:pt idx="0">
                  <c:v>Total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Plan17!$A$2:$A$8</c:f>
              <c:strCache>
                <c:ptCount val="6"/>
                <c:pt idx="0">
                  <c:v>Não</c:v>
                </c:pt>
                <c:pt idx="1">
                  <c:v>Sim - CAPEX - Provisionado</c:v>
                </c:pt>
                <c:pt idx="2">
                  <c:v>Sim - CAPEX - Sem provisão</c:v>
                </c:pt>
                <c:pt idx="3">
                  <c:v>Sim - OPEX  - Provisionado</c:v>
                </c:pt>
                <c:pt idx="4">
                  <c:v>Sim - OPEX  - Sem provisão</c:v>
                </c:pt>
                <c:pt idx="5">
                  <c:v>(vazio)</c:v>
                </c:pt>
              </c:strCache>
            </c:strRef>
          </c:cat>
          <c:val>
            <c:numRef>
              <c:f>Plan17!$B$2:$B$8</c:f>
              <c:numCache>
                <c:formatCode>General</c:formatCode>
                <c:ptCount val="6"/>
                <c:pt idx="0">
                  <c:v>10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2</c:v>
                </c:pt>
                <c:pt idx="5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layout>
        <c:manualLayout>
          <c:xMode val="edge"/>
          <c:yMode val="edge"/>
          <c:x val="0.73891172225938606"/>
          <c:y val="0.22837938603889341"/>
          <c:w val="0.25159415855004619"/>
          <c:h val="0.53369352664108194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[Gestão de Problemas - Ficha de Problemas(2016-07-07).xlsx]Plan18!Tabela dinâmica13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pt-BR" sz="2000" dirty="0"/>
              <a:t>O</a:t>
            </a:r>
            <a:r>
              <a:rPr lang="pt-BR" sz="2000" baseline="0" dirty="0"/>
              <a:t> problema pode ter relação com outros ambientes? Vulnerabilidades?</a:t>
            </a:r>
            <a:endParaRPr lang="pt-BR" sz="2000" dirty="0"/>
          </a:p>
        </c:rich>
      </c:tx>
      <c:layout/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Plan18!$B$1</c:f>
              <c:strCache>
                <c:ptCount val="1"/>
                <c:pt idx="0">
                  <c:v>Total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Plan18!$A$2:$A$5</c:f>
              <c:strCache>
                <c:ptCount val="3"/>
                <c:pt idx="0">
                  <c:v>Não</c:v>
                </c:pt>
                <c:pt idx="1">
                  <c:v>Sim</c:v>
                </c:pt>
                <c:pt idx="2">
                  <c:v>(vazio)</c:v>
                </c:pt>
              </c:strCache>
            </c:strRef>
          </c:cat>
          <c:val>
            <c:numRef>
              <c:f>Plan18!$B$2:$B$5</c:f>
              <c:numCache>
                <c:formatCode>General</c:formatCode>
                <c:ptCount val="3"/>
                <c:pt idx="0">
                  <c:v>5</c:v>
                </c:pt>
                <c:pt idx="1">
                  <c:v>19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08/07/2016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744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819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0201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8209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2883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7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400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8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535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236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9595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639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96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474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892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080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416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2565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3675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Abrir no navegador</a:t>
            </a:r>
            <a:r>
              <a:rPr lang="pt-BR" baseline="0" dirty="0" smtClean="0"/>
              <a:t> – </a:t>
            </a:r>
            <a:r>
              <a:rPr lang="pt-BR" baseline="0" smtClean="0"/>
              <a:t>Testar antes</a:t>
            </a:r>
            <a:endParaRPr lang="pt-BR" dirty="0" smtClean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340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6674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999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2998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09066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Risco: Como o modelo de contratação é “spot”, será necessário adequar as demandas ao nosso prazo de execução, tendo em vista que estes recursos são suportados pelo contrato de outro cliente.  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4402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2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3235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39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88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5508" y="1582714"/>
            <a:ext cx="5886194" cy="106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7/8/2016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9" r:id="rId12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0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64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8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emf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chart" Target="../charts/chart1.xml"/><Relationship Id="rId7" Type="http://schemas.openxmlformats.org/officeDocument/2006/relationships/image" Target="../media/image10.png"/><Relationship Id="rId12" Type="http://schemas.openxmlformats.org/officeDocument/2006/relationships/slide" Target="slid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12.emf"/><Relationship Id="rId5" Type="http://schemas.openxmlformats.org/officeDocument/2006/relationships/slide" Target="slide5.xml"/><Relationship Id="rId10" Type="http://schemas.openxmlformats.org/officeDocument/2006/relationships/image" Target="../media/image11.emf"/><Relationship Id="rId4" Type="http://schemas.openxmlformats.org/officeDocument/2006/relationships/image" Target="../media/image9.png"/><Relationship Id="rId9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9.png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emf"/><Relationship Id="rId5" Type="http://schemas.openxmlformats.org/officeDocument/2006/relationships/image" Target="../media/image1.emf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emf"/><Relationship Id="rId5" Type="http://schemas.openxmlformats.org/officeDocument/2006/relationships/image" Target="../media/image4.png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emf"/><Relationship Id="rId5" Type="http://schemas.openxmlformats.org/officeDocument/2006/relationships/image" Target="../media/image17.emf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emf"/><Relationship Id="rId5" Type="http://schemas.openxmlformats.org/officeDocument/2006/relationships/image" Target="../media/image9.png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chart" Target="../charts/chart6.xml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chart" Target="../charts/chart7.xml"/><Relationship Id="rId9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3.xml"/><Relationship Id="rId3" Type="http://schemas.openxmlformats.org/officeDocument/2006/relationships/image" Target="../media/image4.png"/><Relationship Id="rId7" Type="http://schemas.openxmlformats.org/officeDocument/2006/relationships/chart" Target="../charts/chart12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12.emf"/><Relationship Id="rId3" Type="http://schemas.openxmlformats.org/officeDocument/2006/relationships/chart" Target="../charts/chart14.xml"/><Relationship Id="rId7" Type="http://schemas.openxmlformats.org/officeDocument/2006/relationships/slide" Target="slide12.xml"/><Relationship Id="rId12" Type="http://schemas.openxmlformats.org/officeDocument/2006/relationships/image" Target="../media/image2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slide" Target="slide15.xml"/><Relationship Id="rId5" Type="http://schemas.openxmlformats.org/officeDocument/2006/relationships/image" Target="../media/image4.png"/><Relationship Id="rId10" Type="http://schemas.openxmlformats.org/officeDocument/2006/relationships/image" Target="../media/image19.emf"/><Relationship Id="rId4" Type="http://schemas.openxmlformats.org/officeDocument/2006/relationships/image" Target="../media/image1.emf"/><Relationship Id="rId9" Type="http://schemas.openxmlformats.org/officeDocument/2006/relationships/slide" Target="slide14.xml"/><Relationship Id="rId1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4.png"/><Relationship Id="rId7" Type="http://schemas.openxmlformats.org/officeDocument/2006/relationships/image" Target="../media/image2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11" Type="http://schemas.openxmlformats.org/officeDocument/2006/relationships/image" Target="../media/image25.png"/><Relationship Id="rId5" Type="http://schemas.openxmlformats.org/officeDocument/2006/relationships/image" Target="../media/image21.emf"/><Relationship Id="rId10" Type="http://schemas.openxmlformats.org/officeDocument/2006/relationships/image" Target="../media/image15.png"/><Relationship Id="rId4" Type="http://schemas.openxmlformats.org/officeDocument/2006/relationships/image" Target="../media/image5.jpg"/><Relationship Id="rId9" Type="http://schemas.openxmlformats.org/officeDocument/2006/relationships/slide" Target="slid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4.png"/><Relationship Id="rId7" Type="http://schemas.openxmlformats.org/officeDocument/2006/relationships/image" Target="../media/image28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10" Type="http://schemas.openxmlformats.org/officeDocument/2006/relationships/image" Target="../media/image15.png"/><Relationship Id="rId4" Type="http://schemas.openxmlformats.org/officeDocument/2006/relationships/image" Target="../media/image5.jpg"/><Relationship Id="rId9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4.png"/><Relationship Id="rId7" Type="http://schemas.openxmlformats.org/officeDocument/2006/relationships/image" Target="../media/image3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11" Type="http://schemas.openxmlformats.org/officeDocument/2006/relationships/image" Target="../media/image15.png"/><Relationship Id="rId5" Type="http://schemas.openxmlformats.org/officeDocument/2006/relationships/image" Target="../media/image30.emf"/><Relationship Id="rId10" Type="http://schemas.openxmlformats.org/officeDocument/2006/relationships/slide" Target="slide12.xml"/><Relationship Id="rId4" Type="http://schemas.openxmlformats.org/officeDocument/2006/relationships/image" Target="../media/image5.jpg"/><Relationship Id="rId9" Type="http://schemas.openxmlformats.org/officeDocument/2006/relationships/image" Target="../media/image3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1.emf"/><Relationship Id="rId7" Type="http://schemas.openxmlformats.org/officeDocument/2006/relationships/image" Target="../media/image3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5.xml"/><Relationship Id="rId5" Type="http://schemas.openxmlformats.org/officeDocument/2006/relationships/image" Target="../media/image5.jpg"/><Relationship Id="rId10" Type="http://schemas.openxmlformats.org/officeDocument/2006/relationships/image" Target="../media/image12.emf"/><Relationship Id="rId4" Type="http://schemas.openxmlformats.org/officeDocument/2006/relationships/image" Target="../media/image4.png"/><Relationship Id="rId9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image" Target="../media/image39.emf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4.png"/><Relationship Id="rId7" Type="http://schemas.openxmlformats.org/officeDocument/2006/relationships/slide" Target="slide20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slide" Target="slide19.xml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18.xml"/><Relationship Id="rId4" Type="http://schemas.openxmlformats.org/officeDocument/2006/relationships/image" Target="../media/image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emf"/><Relationship Id="rId5" Type="http://schemas.openxmlformats.org/officeDocument/2006/relationships/chart" Target="../charts/chart19.xml"/><Relationship Id="rId4" Type="http://schemas.openxmlformats.org/officeDocument/2006/relationships/image" Target="../media/image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0.xml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1.xml"/><Relationship Id="rId4" Type="http://schemas.openxmlformats.org/officeDocument/2006/relationships/image" Target="../media/image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23.xml"/><Relationship Id="rId5" Type="http://schemas.openxmlformats.org/officeDocument/2006/relationships/chart" Target="../charts/chart22.xml"/><Relationship Id="rId4" Type="http://schemas.openxmlformats.org/officeDocument/2006/relationships/image" Target="../media/image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4.xml"/><Relationship Id="rId4" Type="http://schemas.openxmlformats.org/officeDocument/2006/relationships/image" Target="../media/image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5.xml"/><Relationship Id="rId4" Type="http://schemas.openxmlformats.org/officeDocument/2006/relationships/image" Target="../media/image5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otform.com/grid/61881884021054?/" TargetMode="External"/><Relationship Id="rId3" Type="http://schemas.openxmlformats.org/officeDocument/2006/relationships/image" Target="../media/image1.emf"/><Relationship Id="rId7" Type="http://schemas.openxmlformats.org/officeDocument/2006/relationships/hyperlink" Target="https://jotform.com/report/61856824912059?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orm.jotformz.com/stuartfaria/solicitao-de-registro-de-problema" TargetMode="External"/><Relationship Id="rId5" Type="http://schemas.openxmlformats.org/officeDocument/2006/relationships/hyperlink" Target="https://form.jotformz.com/61855290037659" TargetMode="External"/><Relationship Id="rId4" Type="http://schemas.openxmlformats.org/officeDocument/2006/relationships/image" Target="../media/image5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3" Type="http://schemas.openxmlformats.org/officeDocument/2006/relationships/image" Target="../media/image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hyperlink" Target="delegar%20chamado.mp4" TargetMode="External"/><Relationship Id="rId5" Type="http://schemas.openxmlformats.org/officeDocument/2006/relationships/image" Target="../media/image5.jpg"/><Relationship Id="rId4" Type="http://schemas.openxmlformats.org/officeDocument/2006/relationships/image" Target="../media/image1.emf"/><Relationship Id="rId9" Type="http://schemas.openxmlformats.org/officeDocument/2006/relationships/image" Target="../media/image1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4.png"/><Relationship Id="rId7" Type="http://schemas.openxmlformats.org/officeDocument/2006/relationships/image" Target="../media/image4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9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1.emf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image" Target="../media/image5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jpg"/><Relationship Id="rId4" Type="http://schemas.openxmlformats.org/officeDocument/2006/relationships/image" Target="../media/image5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image" Target="../media/image4.png"/><Relationship Id="rId7" Type="http://schemas.openxmlformats.org/officeDocument/2006/relationships/image" Target="../media/image46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emf"/><Relationship Id="rId5" Type="http://schemas.openxmlformats.org/officeDocument/2006/relationships/image" Target="../media/image1.emf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slide" Target="slide3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3502222"/>
            <a:ext cx="9144000" cy="873740"/>
          </a:xfrm>
          <a:prstGeom prst="rect">
            <a:avLst/>
          </a:prstGeom>
        </p:spPr>
        <p:txBody>
          <a:bodyPr vert="horz" lIns="91431" tIns="45715" rIns="91431" bIns="45715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err="1" smtClean="0">
                <a:solidFill>
                  <a:srgbClr val="254061"/>
                </a:solidFill>
                <a:latin typeface="Arial"/>
                <a:cs typeface="Arial"/>
              </a:rPr>
              <a:t>Estabilidade</a:t>
            </a:r>
            <a:r>
              <a:rPr lang="en-US" sz="2400" b="1" dirty="0" smtClean="0">
                <a:solidFill>
                  <a:srgbClr val="254061"/>
                </a:solidFill>
                <a:latin typeface="Arial"/>
                <a:cs typeface="Arial"/>
              </a:rPr>
              <a:t> </a:t>
            </a:r>
            <a:r>
              <a:rPr lang="en-US" sz="2400" b="1" dirty="0" err="1" smtClean="0">
                <a:solidFill>
                  <a:srgbClr val="254061"/>
                </a:solidFill>
                <a:latin typeface="Arial"/>
                <a:cs typeface="Arial"/>
              </a:rPr>
              <a:t>Operacional</a:t>
            </a:r>
            <a:endParaRPr lang="en-US" sz="2400" b="1" dirty="0" smtClean="0">
              <a:solidFill>
                <a:srgbClr val="254061"/>
              </a:solidFill>
              <a:latin typeface="Arial"/>
              <a:cs typeface="Arial"/>
            </a:endParaRPr>
          </a:p>
          <a:p>
            <a:pPr>
              <a:spcBef>
                <a:spcPts val="1200"/>
              </a:spcBef>
            </a:pPr>
            <a:r>
              <a:rPr lang="en-US" sz="2000" dirty="0" smtClean="0">
                <a:solidFill>
                  <a:srgbClr val="254061"/>
                </a:solidFill>
                <a:latin typeface="Arial"/>
                <a:cs typeface="Arial"/>
              </a:rPr>
              <a:t>07 </a:t>
            </a:r>
            <a:r>
              <a:rPr lang="en-US" sz="2000" dirty="0" err="1" smtClean="0">
                <a:solidFill>
                  <a:srgbClr val="254061"/>
                </a:solidFill>
                <a:latin typeface="Arial"/>
                <a:cs typeface="Arial"/>
              </a:rPr>
              <a:t>Julho</a:t>
            </a:r>
            <a:r>
              <a:rPr lang="en-US" sz="2000" dirty="0" smtClean="0">
                <a:solidFill>
                  <a:srgbClr val="254061"/>
                </a:solidFill>
                <a:latin typeface="Arial"/>
                <a:cs typeface="Arial"/>
              </a:rPr>
              <a:t> de 2016</a:t>
            </a:r>
          </a:p>
        </p:txBody>
      </p:sp>
    </p:spTree>
    <p:extLst>
      <p:ext uri="{BB962C8B-B14F-4D97-AF65-F5344CB8AC3E}">
        <p14:creationId xmlns:p14="http://schemas.microsoft.com/office/powerpoint/2010/main" val="285764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6515322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totais de Incidentes </a:t>
            </a:r>
          </a:p>
          <a:p>
            <a:pPr algn="l">
              <a:buClr>
                <a:srgbClr val="800000"/>
              </a:buClr>
            </a:pPr>
            <a:r>
              <a:rPr lang="pt-PT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Gerenciamento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Incidentes – Alto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Impacto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Tempo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médio entre F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alhas e de Resolução</a:t>
            </a: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Incidentes Alto Impacto – Por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Clientes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Incidentes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Alto Impacto – Por </a:t>
            </a:r>
            <a:r>
              <a:rPr lang="pt-BR" sz="1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Resolvedor</a:t>
            </a:r>
            <a:endParaRPr lang="pt-BR" sz="14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Incidentes Médio /Baixo Impacto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Gestão de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Mudanças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8. Ferramenta </a:t>
            </a:r>
            <a:r>
              <a:rPr lang="pt-BR" sz="1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Zabbix</a:t>
            </a:r>
            <a:endParaRPr lang="pt-BR" sz="14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Gestão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 –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Dashboard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 Indicadores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Estruturantes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11.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áfico 22"/>
          <p:cNvGraphicFramePr/>
          <p:nvPr>
            <p:extLst/>
          </p:nvPr>
        </p:nvGraphicFramePr>
        <p:xfrm>
          <a:off x="77733" y="616462"/>
          <a:ext cx="8592115" cy="2963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16"/>
            <a:ext cx="786452" cy="77354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42610" y="273768"/>
            <a:ext cx="184731" cy="46123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44006"/>
            <a:ext cx="6254098" cy="43225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Indicadores: Totais de Incidentes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>
            <a:hlinkClick r:id="rId5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7" y="437619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36" y="2794190"/>
            <a:ext cx="247650" cy="17604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6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60136"/>
            <a:ext cx="1473556" cy="356326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1194143" y="3579803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</a:rPr>
              <a:t>-10,8%</a:t>
            </a:r>
          </a:p>
        </p:txBody>
      </p:sp>
      <p:sp>
        <p:nvSpPr>
          <p:cNvPr id="19" name="Chave esquerda 18"/>
          <p:cNvSpPr/>
          <p:nvPr/>
        </p:nvSpPr>
        <p:spPr>
          <a:xfrm rot="16200000">
            <a:off x="1363833" y="2836773"/>
            <a:ext cx="146219" cy="1095448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/>
          <p:cNvSpPr txBox="1"/>
          <p:nvPr/>
        </p:nvSpPr>
        <p:spPr>
          <a:xfrm>
            <a:off x="2355490" y="3579803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</a:rPr>
              <a:t>-9,2%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545408" y="3579803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FF0000"/>
                </a:solidFill>
              </a:rPr>
              <a:t>+7,5%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748766" y="3579803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</a:rPr>
              <a:t>-3,6%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936890" y="3579672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</a:rPr>
              <a:t>-2,6%</a:t>
            </a:r>
          </a:p>
        </p:txBody>
      </p:sp>
      <p:sp>
        <p:nvSpPr>
          <p:cNvPr id="40" name="Chave esquerda 39"/>
          <p:cNvSpPr/>
          <p:nvPr/>
        </p:nvSpPr>
        <p:spPr>
          <a:xfrm rot="16200000">
            <a:off x="2537924" y="2820784"/>
            <a:ext cx="147503" cy="11261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have esquerda 40"/>
          <p:cNvSpPr/>
          <p:nvPr/>
        </p:nvSpPr>
        <p:spPr>
          <a:xfrm rot="16200000">
            <a:off x="3727842" y="2820784"/>
            <a:ext cx="147503" cy="11261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have esquerda 41"/>
          <p:cNvSpPr/>
          <p:nvPr/>
        </p:nvSpPr>
        <p:spPr>
          <a:xfrm rot="16200000">
            <a:off x="4931200" y="2820784"/>
            <a:ext cx="147503" cy="11261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have esquerda 42"/>
          <p:cNvSpPr/>
          <p:nvPr/>
        </p:nvSpPr>
        <p:spPr>
          <a:xfrm rot="16200000">
            <a:off x="6119324" y="2820784"/>
            <a:ext cx="147503" cy="11261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hlinkClick r:id="rId9" action="ppaction://hlinksldjump"/>
          </p:cNvPr>
          <p:cNvSpPr txBox="1"/>
          <p:nvPr/>
        </p:nvSpPr>
        <p:spPr>
          <a:xfrm>
            <a:off x="7171743" y="3579672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rgbClr val="00B050"/>
                </a:solidFill>
              </a:rPr>
              <a:t>-10,1%</a:t>
            </a:r>
            <a:endParaRPr lang="pt-BR" sz="900" b="1" dirty="0">
              <a:solidFill>
                <a:srgbClr val="00B050"/>
              </a:solidFill>
            </a:endParaRPr>
          </a:p>
        </p:txBody>
      </p:sp>
      <p:sp>
        <p:nvSpPr>
          <p:cNvPr id="24" name="Chave esquerda 23"/>
          <p:cNvSpPr/>
          <p:nvPr/>
        </p:nvSpPr>
        <p:spPr>
          <a:xfrm rot="16200000">
            <a:off x="7354177" y="2820784"/>
            <a:ext cx="147503" cy="112614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61" y="3981419"/>
            <a:ext cx="4589007" cy="980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Imagem 27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1518" y="3509301"/>
            <a:ext cx="372069" cy="380448"/>
          </a:xfrm>
          <a:prstGeom prst="rect">
            <a:avLst/>
          </a:prstGeom>
        </p:spPr>
      </p:pic>
      <p:pic>
        <p:nvPicPr>
          <p:cNvPr id="30" name="Imagem 29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0368" y="4389758"/>
            <a:ext cx="322589" cy="329854"/>
          </a:xfrm>
          <a:prstGeom prst="rect">
            <a:avLst/>
          </a:prstGeom>
        </p:spPr>
      </p:pic>
      <p:pic>
        <p:nvPicPr>
          <p:cNvPr id="34" name="Imagem 33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4112" y="4735022"/>
            <a:ext cx="322589" cy="32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6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6"/>
            <a:ext cx="786452" cy="77354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42610" y="273768"/>
            <a:ext cx="184731" cy="46123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44006"/>
            <a:ext cx="6254098" cy="43225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Indicadores: Incidentes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7" y="437619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60136"/>
            <a:ext cx="1473556" cy="356326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2381688" y="925030"/>
            <a:ext cx="4439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smtClean="0">
                <a:solidFill>
                  <a:srgbClr val="19345B"/>
                </a:solidFill>
              </a:rPr>
              <a:t>Diminuição de Incidentes no mês de junho de 2016</a:t>
            </a:r>
            <a:endParaRPr lang="pt-BR" sz="1600" dirty="0">
              <a:solidFill>
                <a:srgbClr val="19345B"/>
              </a:solidFill>
            </a:endParaRPr>
          </a:p>
        </p:txBody>
      </p:sp>
      <p:cxnSp>
        <p:nvCxnSpPr>
          <p:cNvPr id="10" name="Conector de seta reta 9"/>
          <p:cNvCxnSpPr/>
          <p:nvPr/>
        </p:nvCxnSpPr>
        <p:spPr>
          <a:xfrm>
            <a:off x="4093535" y="2737381"/>
            <a:ext cx="701749" cy="0"/>
          </a:xfrm>
          <a:prstGeom prst="straightConnector1">
            <a:avLst/>
          </a:prstGeom>
          <a:ln w="28575">
            <a:solidFill>
              <a:srgbClr val="19345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614" y="1791859"/>
            <a:ext cx="394335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19" y="1874473"/>
            <a:ext cx="3667125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m 2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94" y="4706183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6"/>
            <a:ext cx="786452" cy="77354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42610" y="273768"/>
            <a:ext cx="184731" cy="46123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065"/>
            <a:ext cx="8780745" cy="471360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7" y="437619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aixaDeTexto 16"/>
          <p:cNvSpPr txBox="1">
            <a:spLocks noChangeArrowheads="1"/>
          </p:cNvSpPr>
          <p:nvPr/>
        </p:nvSpPr>
        <p:spPr bwMode="auto">
          <a:xfrm>
            <a:off x="5202211" y="4780331"/>
            <a:ext cx="34518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44006"/>
            <a:ext cx="6254098" cy="43225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Indicadores: Incidentes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6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5399" y="181354"/>
            <a:ext cx="1473556" cy="356326"/>
          </a:xfrm>
          <a:prstGeom prst="rect">
            <a:avLst/>
          </a:prstGeom>
        </p:spPr>
      </p:pic>
      <p:pic>
        <p:nvPicPr>
          <p:cNvPr id="25" name="Imagem 24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62" y="4749608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6"/>
            <a:ext cx="786452" cy="77354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7" y="437619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00" y="678238"/>
            <a:ext cx="8442163" cy="4243712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42610" y="273768"/>
            <a:ext cx="184731" cy="46123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10" name="CaixaDeTexto 16"/>
          <p:cNvSpPr txBox="1">
            <a:spLocks noChangeArrowheads="1"/>
          </p:cNvSpPr>
          <p:nvPr/>
        </p:nvSpPr>
        <p:spPr bwMode="auto">
          <a:xfrm>
            <a:off x="4961898" y="4784134"/>
            <a:ext cx="34518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44006"/>
            <a:ext cx="6254098" cy="43225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Indicadores: Incidentes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6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5399" y="181354"/>
            <a:ext cx="1473556" cy="356326"/>
          </a:xfrm>
          <a:prstGeom prst="rect">
            <a:avLst/>
          </a:prstGeom>
        </p:spPr>
      </p:pic>
      <p:sp>
        <p:nvSpPr>
          <p:cNvPr id="2" name="Elipse 1"/>
          <p:cNvSpPr/>
          <p:nvPr/>
        </p:nvSpPr>
        <p:spPr>
          <a:xfrm>
            <a:off x="7230174" y="1430038"/>
            <a:ext cx="1711629" cy="1570482"/>
          </a:xfrm>
          <a:prstGeom prst="ellipse">
            <a:avLst/>
          </a:prstGeom>
          <a:noFill/>
          <a:ln w="28575" cap="rnd">
            <a:solidFill>
              <a:schemeClr val="tx1"/>
            </a:solidFill>
            <a:prstDash val="sysDash"/>
          </a:ln>
          <a:effectLst>
            <a:outerShdw blurRad="50800" dist="50800" dir="5400000" algn="ctr" rotWithShape="0">
              <a:schemeClr val="bg1"/>
            </a:outerShdw>
            <a:reflection stA="9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152202" y="515455"/>
            <a:ext cx="1262329" cy="1440732"/>
          </a:xfrm>
          <a:prstGeom prst="ellipse">
            <a:avLst/>
          </a:prstGeom>
          <a:noFill/>
          <a:ln w="28575" cap="rnd">
            <a:solidFill>
              <a:schemeClr val="tx1"/>
            </a:solidFill>
            <a:prstDash val="sysDash"/>
          </a:ln>
          <a:effectLst>
            <a:outerShdw blurRad="50800" dist="50800" dir="5400000" algn="ctr" rotWithShape="0">
              <a:schemeClr val="bg1"/>
            </a:outerShdw>
            <a:reflection stA="9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6"/>
          <p:cNvSpPr txBox="1">
            <a:spLocks noChangeArrowheads="1"/>
          </p:cNvSpPr>
          <p:nvPr/>
        </p:nvSpPr>
        <p:spPr bwMode="auto">
          <a:xfrm>
            <a:off x="5651786" y="898620"/>
            <a:ext cx="8899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JETRO</a:t>
            </a:r>
            <a:endParaRPr lang="pt-BR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8" name="Conector em curva 7"/>
          <p:cNvCxnSpPr>
            <a:endCxn id="16" idx="1"/>
          </p:cNvCxnSpPr>
          <p:nvPr/>
        </p:nvCxnSpPr>
        <p:spPr>
          <a:xfrm>
            <a:off x="1414531" y="1098675"/>
            <a:ext cx="4237255" cy="12700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em curva 20"/>
          <p:cNvCxnSpPr>
            <a:stCxn id="2" idx="0"/>
          </p:cNvCxnSpPr>
          <p:nvPr/>
        </p:nvCxnSpPr>
        <p:spPr>
          <a:xfrm rot="16200000" flipV="1">
            <a:off x="7038513" y="382562"/>
            <a:ext cx="360486" cy="1734466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m 26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62" y="4749608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2" y="302231"/>
            <a:ext cx="184731" cy="36899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62" y="438264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/>
          </p:nvPr>
        </p:nvGraphicFramePr>
        <p:xfrm>
          <a:off x="328642" y="1221844"/>
          <a:ext cx="3886341" cy="2396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Gráfico 26"/>
          <p:cNvGraphicFramePr/>
          <p:nvPr>
            <p:extLst/>
          </p:nvPr>
        </p:nvGraphicFramePr>
        <p:xfrm>
          <a:off x="4692234" y="1242052"/>
          <a:ext cx="3888000" cy="23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817"/>
            <a:ext cx="786452" cy="773543"/>
          </a:xfrm>
          <a:prstGeom prst="rect">
            <a:avLst/>
          </a:prstGeom>
        </p:spPr>
      </p:pic>
      <p:pic>
        <p:nvPicPr>
          <p:cNvPr id="21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60136"/>
            <a:ext cx="1473556" cy="356326"/>
          </a:xfrm>
          <a:prstGeom prst="rect">
            <a:avLst/>
          </a:prstGeom>
        </p:spPr>
      </p:pic>
      <p:sp>
        <p:nvSpPr>
          <p:cNvPr id="29" name="TextBox 4"/>
          <p:cNvSpPr txBox="1">
            <a:spLocks noChangeArrowheads="1"/>
          </p:cNvSpPr>
          <p:nvPr/>
        </p:nvSpPr>
        <p:spPr bwMode="auto">
          <a:xfrm>
            <a:off x="518672" y="52325"/>
            <a:ext cx="700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Gerenciamento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de Incidentes - Alto Impacto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18672" y="3545491"/>
            <a:ext cx="3486049" cy="840691"/>
            <a:chOff x="295379" y="3311565"/>
            <a:chExt cx="3486049" cy="840691"/>
          </a:xfrm>
        </p:grpSpPr>
        <p:sp>
          <p:nvSpPr>
            <p:cNvPr id="35" name="CaixaDeTexto 34"/>
            <p:cNvSpPr txBox="1"/>
            <p:nvPr/>
          </p:nvSpPr>
          <p:spPr>
            <a:xfrm>
              <a:off x="321807" y="3449618"/>
              <a:ext cx="576000" cy="21600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rgbClr val="00B050"/>
                  </a:solidFill>
                  <a:latin typeface="Calibri"/>
                </a:rPr>
                <a:t>-85,9%</a:t>
              </a:r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928865" y="3449618"/>
              <a:ext cx="576000" cy="21600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rgbClr val="00B050"/>
                  </a:solidFill>
                  <a:latin typeface="Calibri"/>
                </a:rPr>
                <a:t>-2,9%</a:t>
              </a: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504865" y="3449618"/>
              <a:ext cx="576000" cy="21600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rgbClr val="00B050"/>
                  </a:solidFill>
                  <a:latin typeface="Calibri"/>
                </a:rPr>
                <a:t>-11,8%</a:t>
              </a:r>
            </a:p>
          </p:txBody>
        </p:sp>
        <p:sp>
          <p:nvSpPr>
            <p:cNvPr id="2" name="Chave esquerda 1"/>
            <p:cNvSpPr/>
            <p:nvPr/>
          </p:nvSpPr>
          <p:spPr>
            <a:xfrm rot="16200000">
              <a:off x="606904" y="3097889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Chave esquerda 42"/>
            <p:cNvSpPr/>
            <p:nvPr/>
          </p:nvSpPr>
          <p:spPr>
            <a:xfrm rot="16200000">
              <a:off x="1999397" y="2054568"/>
              <a:ext cx="78014" cy="3486049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1731136" y="3906035"/>
              <a:ext cx="615911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00B050"/>
                  </a:solidFill>
                  <a:latin typeface="Calibri"/>
                </a:rPr>
                <a:t>-90,0%</a:t>
              </a:r>
              <a:endParaRPr lang="pt-BR" sz="10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47" name="Chave esquerda 46"/>
            <p:cNvSpPr/>
            <p:nvPr/>
          </p:nvSpPr>
          <p:spPr>
            <a:xfrm rot="16200000">
              <a:off x="1182051" y="3097889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Chave esquerda 53"/>
            <p:cNvSpPr/>
            <p:nvPr/>
          </p:nvSpPr>
          <p:spPr>
            <a:xfrm rot="16200000">
              <a:off x="1753551" y="3097890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Chave esquerda 54"/>
            <p:cNvSpPr/>
            <p:nvPr/>
          </p:nvSpPr>
          <p:spPr>
            <a:xfrm rot="16200000">
              <a:off x="2279270" y="3097891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Chave esquerda 55"/>
            <p:cNvSpPr/>
            <p:nvPr/>
          </p:nvSpPr>
          <p:spPr>
            <a:xfrm rot="16200000">
              <a:off x="2852101" y="3097888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CaixaDeTexto 57"/>
            <p:cNvSpPr txBox="1"/>
            <p:nvPr/>
          </p:nvSpPr>
          <p:spPr>
            <a:xfrm>
              <a:off x="2014129" y="3449618"/>
              <a:ext cx="57600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FF0000"/>
                  </a:solidFill>
                  <a:latin typeface="Calibri"/>
                </a:rPr>
                <a:t>+1,7%</a:t>
              </a:r>
              <a:endParaRPr lang="pt-BR" sz="1000" b="1" dirty="0">
                <a:solidFill>
                  <a:srgbClr val="FF0000"/>
                </a:solidFill>
                <a:latin typeface="Calibri"/>
              </a:endParaRPr>
            </a:p>
          </p:txBody>
        </p:sp>
        <p:sp>
          <p:nvSpPr>
            <p:cNvPr id="59" name="CaixaDeTexto 58"/>
            <p:cNvSpPr txBox="1"/>
            <p:nvPr/>
          </p:nvSpPr>
          <p:spPr>
            <a:xfrm>
              <a:off x="2586283" y="3446390"/>
              <a:ext cx="57600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00B050"/>
                  </a:solidFill>
                  <a:latin typeface="Calibri"/>
                </a:rPr>
                <a:t>0%</a:t>
              </a:r>
              <a:endParaRPr lang="pt-BR" sz="10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61" name="Chave esquerda 60"/>
            <p:cNvSpPr/>
            <p:nvPr/>
          </p:nvSpPr>
          <p:spPr>
            <a:xfrm rot="16200000">
              <a:off x="3420426" y="3097887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CaixaDeTexto 61"/>
            <p:cNvSpPr txBox="1"/>
            <p:nvPr/>
          </p:nvSpPr>
          <p:spPr>
            <a:xfrm>
              <a:off x="3155285" y="3438816"/>
              <a:ext cx="57600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00B050"/>
                  </a:solidFill>
                  <a:latin typeface="Calibri"/>
                </a:rPr>
                <a:t>-18,6%</a:t>
              </a:r>
              <a:endParaRPr lang="pt-BR" sz="1000" b="1" dirty="0">
                <a:solidFill>
                  <a:srgbClr val="00B050"/>
                </a:solidFill>
                <a:latin typeface="Calibri"/>
              </a:endParaRPr>
            </a:p>
          </p:txBody>
        </p:sp>
      </p:grpSp>
      <p:grpSp>
        <p:nvGrpSpPr>
          <p:cNvPr id="63" name="Grupo 62"/>
          <p:cNvGrpSpPr/>
          <p:nvPr/>
        </p:nvGrpSpPr>
        <p:grpSpPr>
          <a:xfrm>
            <a:off x="4945361" y="3545491"/>
            <a:ext cx="3486049" cy="840691"/>
            <a:chOff x="295379" y="3311565"/>
            <a:chExt cx="3486049" cy="840691"/>
          </a:xfrm>
        </p:grpSpPr>
        <p:sp>
          <p:nvSpPr>
            <p:cNvPr id="64" name="CaixaDeTexto 63"/>
            <p:cNvSpPr txBox="1"/>
            <p:nvPr/>
          </p:nvSpPr>
          <p:spPr>
            <a:xfrm>
              <a:off x="321807" y="3449618"/>
              <a:ext cx="57600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00B050"/>
                  </a:solidFill>
                  <a:latin typeface="Calibri"/>
                </a:rPr>
                <a:t>-86%</a:t>
              </a:r>
              <a:endParaRPr lang="pt-BR" sz="10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65" name="CaixaDeTexto 64"/>
            <p:cNvSpPr txBox="1"/>
            <p:nvPr/>
          </p:nvSpPr>
          <p:spPr>
            <a:xfrm>
              <a:off x="928865" y="3449618"/>
              <a:ext cx="57600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FF0000"/>
                  </a:solidFill>
                  <a:latin typeface="Calibri"/>
                </a:rPr>
                <a:t>+3,8%</a:t>
              </a:r>
              <a:endParaRPr lang="pt-BR" sz="1000" b="1" dirty="0">
                <a:solidFill>
                  <a:srgbClr val="FF0000"/>
                </a:solidFill>
                <a:latin typeface="Calibri"/>
              </a:endParaRPr>
            </a:p>
          </p:txBody>
        </p:sp>
        <p:sp>
          <p:nvSpPr>
            <p:cNvPr id="66" name="CaixaDeTexto 65"/>
            <p:cNvSpPr txBox="1"/>
            <p:nvPr/>
          </p:nvSpPr>
          <p:spPr>
            <a:xfrm>
              <a:off x="1504865" y="3449618"/>
              <a:ext cx="57600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00B050"/>
                  </a:solidFill>
                  <a:latin typeface="Calibri"/>
                </a:rPr>
                <a:t>-17,4%</a:t>
              </a:r>
              <a:endParaRPr lang="pt-BR" sz="10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67" name="Chave esquerda 66"/>
            <p:cNvSpPr/>
            <p:nvPr/>
          </p:nvSpPr>
          <p:spPr>
            <a:xfrm rot="16200000">
              <a:off x="606904" y="3097889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Chave esquerda 67"/>
            <p:cNvSpPr/>
            <p:nvPr/>
          </p:nvSpPr>
          <p:spPr>
            <a:xfrm rot="16200000">
              <a:off x="1999397" y="2054568"/>
              <a:ext cx="78014" cy="3486049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CaixaDeTexto 68"/>
            <p:cNvSpPr txBox="1"/>
            <p:nvPr/>
          </p:nvSpPr>
          <p:spPr>
            <a:xfrm>
              <a:off x="1731136" y="3906035"/>
              <a:ext cx="615911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00B050"/>
                  </a:solidFill>
                  <a:latin typeface="Calibri"/>
                </a:rPr>
                <a:t>-89,7%</a:t>
              </a:r>
              <a:endParaRPr lang="pt-BR" sz="10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70" name="Chave esquerda 69"/>
            <p:cNvSpPr/>
            <p:nvPr/>
          </p:nvSpPr>
          <p:spPr>
            <a:xfrm rot="16200000">
              <a:off x="1182051" y="3097889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Chave esquerda 70"/>
            <p:cNvSpPr/>
            <p:nvPr/>
          </p:nvSpPr>
          <p:spPr>
            <a:xfrm rot="16200000">
              <a:off x="1753551" y="3097890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Chave esquerda 71"/>
            <p:cNvSpPr/>
            <p:nvPr/>
          </p:nvSpPr>
          <p:spPr>
            <a:xfrm rot="16200000">
              <a:off x="2279270" y="3097891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Chave esquerda 72"/>
            <p:cNvSpPr/>
            <p:nvPr/>
          </p:nvSpPr>
          <p:spPr>
            <a:xfrm rot="16200000">
              <a:off x="2852101" y="3097888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CaixaDeTexto 73"/>
            <p:cNvSpPr txBox="1"/>
            <p:nvPr/>
          </p:nvSpPr>
          <p:spPr>
            <a:xfrm>
              <a:off x="2014129" y="3449618"/>
              <a:ext cx="57600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FF0000"/>
                  </a:solidFill>
                  <a:latin typeface="Calibri"/>
                </a:rPr>
                <a:t>+5%</a:t>
              </a:r>
              <a:endParaRPr lang="pt-BR" sz="1000" b="1" dirty="0">
                <a:solidFill>
                  <a:srgbClr val="FF0000"/>
                </a:solidFill>
                <a:latin typeface="Calibri"/>
              </a:endParaRPr>
            </a:p>
          </p:txBody>
        </p:sp>
        <p:sp>
          <p:nvSpPr>
            <p:cNvPr id="75" name="CaixaDeTexto 74"/>
            <p:cNvSpPr txBox="1"/>
            <p:nvPr/>
          </p:nvSpPr>
          <p:spPr>
            <a:xfrm>
              <a:off x="2586283" y="3446390"/>
              <a:ext cx="57600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00B050"/>
                  </a:solidFill>
                  <a:latin typeface="Calibri"/>
                </a:rPr>
                <a:t>-3,3%</a:t>
              </a:r>
              <a:endParaRPr lang="pt-BR" sz="1000" b="1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76" name="Chave esquerda 75"/>
            <p:cNvSpPr/>
            <p:nvPr/>
          </p:nvSpPr>
          <p:spPr>
            <a:xfrm rot="16200000">
              <a:off x="3420426" y="3097887"/>
              <a:ext cx="45719" cy="473075"/>
            </a:xfrm>
            <a:prstGeom prst="leftBrace">
              <a:avLst/>
            </a:prstGeom>
            <a:ln>
              <a:solidFill>
                <a:schemeClr val="tx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CaixaDeTexto 76"/>
            <p:cNvSpPr txBox="1"/>
            <p:nvPr/>
          </p:nvSpPr>
          <p:spPr>
            <a:xfrm>
              <a:off x="3155285" y="3438816"/>
              <a:ext cx="576000" cy="2462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 smtClean="0">
                  <a:solidFill>
                    <a:srgbClr val="00B050"/>
                  </a:solidFill>
                  <a:latin typeface="Calibri"/>
                </a:rPr>
                <a:t>-15,8%</a:t>
              </a:r>
              <a:endParaRPr lang="pt-BR" sz="1000" b="1" dirty="0">
                <a:solidFill>
                  <a:srgbClr val="00B050"/>
                </a:solidFill>
                <a:latin typeface="Calibri"/>
              </a:endParaRPr>
            </a:p>
          </p:txBody>
        </p:sp>
      </p:grpSp>
      <p:sp>
        <p:nvSpPr>
          <p:cNvPr id="39" name="CaixaDeTexto 16"/>
          <p:cNvSpPr txBox="1">
            <a:spLocks noChangeArrowheads="1"/>
          </p:cNvSpPr>
          <p:nvPr/>
        </p:nvSpPr>
        <p:spPr bwMode="auto">
          <a:xfrm>
            <a:off x="5128433" y="4766103"/>
            <a:ext cx="34518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07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2" y="302231"/>
            <a:ext cx="184731" cy="36899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62" y="438264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/>
          </p:nvPr>
        </p:nvGraphicFramePr>
        <p:xfrm>
          <a:off x="84083" y="797171"/>
          <a:ext cx="5455480" cy="3494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17"/>
            <a:ext cx="786452" cy="773543"/>
          </a:xfrm>
          <a:prstGeom prst="rect">
            <a:avLst/>
          </a:prstGeom>
        </p:spPr>
      </p:pic>
      <p:pic>
        <p:nvPicPr>
          <p:cNvPr id="21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60136"/>
            <a:ext cx="1473556" cy="356326"/>
          </a:xfrm>
          <a:prstGeom prst="rect">
            <a:avLst/>
          </a:prstGeom>
        </p:spPr>
      </p:pic>
      <p:graphicFrame>
        <p:nvGraphicFramePr>
          <p:cNvPr id="8" name="Gráfico 7"/>
          <p:cNvGraphicFramePr/>
          <p:nvPr>
            <p:extLst/>
          </p:nvPr>
        </p:nvGraphicFramePr>
        <p:xfrm>
          <a:off x="5736503" y="1543291"/>
          <a:ext cx="3439396" cy="249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951307" y="1127924"/>
            <a:ext cx="34240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1600" b="1" dirty="0" smtClean="0">
                <a:solidFill>
                  <a:schemeClr val="accent2">
                    <a:lumMod val="75000"/>
                  </a:schemeClr>
                </a:solidFill>
              </a:rPr>
              <a:t>Volume de Incidentes </a:t>
            </a:r>
            <a:r>
              <a:rPr lang="pt-BR" sz="1600" b="1" dirty="0">
                <a:solidFill>
                  <a:schemeClr val="accent2">
                    <a:lumMod val="75000"/>
                  </a:schemeClr>
                </a:solidFill>
              </a:rPr>
              <a:t>de Alto </a:t>
            </a:r>
            <a:r>
              <a:rPr lang="pt-BR" sz="1600" b="1" dirty="0" smtClean="0">
                <a:solidFill>
                  <a:schemeClr val="accent2">
                    <a:lumMod val="75000"/>
                  </a:schemeClr>
                </a:solidFill>
              </a:rPr>
              <a:t>Impacto</a:t>
            </a:r>
            <a:endParaRPr lang="pt-BR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5851308" y="1127924"/>
            <a:ext cx="29609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1600" b="1" dirty="0" smtClean="0">
                <a:solidFill>
                  <a:schemeClr val="accent2">
                    <a:lumMod val="75000"/>
                  </a:schemeClr>
                </a:solidFill>
              </a:rPr>
              <a:t>Responsabilidade </a:t>
            </a:r>
            <a:r>
              <a:rPr lang="pt-BR" sz="1600" b="1" dirty="0">
                <a:solidFill>
                  <a:schemeClr val="accent2">
                    <a:lumMod val="75000"/>
                  </a:schemeClr>
                </a:solidFill>
              </a:rPr>
              <a:t>pela resolução</a:t>
            </a:r>
          </a:p>
        </p:txBody>
      </p:sp>
      <p:cxnSp>
        <p:nvCxnSpPr>
          <p:cNvPr id="3" name="Conector de seta reta 2"/>
          <p:cNvCxnSpPr/>
          <p:nvPr/>
        </p:nvCxnSpPr>
        <p:spPr>
          <a:xfrm>
            <a:off x="5411972" y="2895182"/>
            <a:ext cx="82934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4"/>
          <p:cNvSpPr txBox="1">
            <a:spLocks noChangeArrowheads="1"/>
          </p:cNvSpPr>
          <p:nvPr/>
        </p:nvSpPr>
        <p:spPr bwMode="auto">
          <a:xfrm>
            <a:off x="518672" y="52325"/>
            <a:ext cx="700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Gerenciamento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de Incidentes - Alto Impacto</a:t>
            </a:r>
          </a:p>
        </p:txBody>
      </p:sp>
      <p:sp>
        <p:nvSpPr>
          <p:cNvPr id="12" name="CaixaDeTexto 16"/>
          <p:cNvSpPr txBox="1">
            <a:spLocks noChangeArrowheads="1"/>
          </p:cNvSpPr>
          <p:nvPr/>
        </p:nvSpPr>
        <p:spPr bwMode="auto">
          <a:xfrm>
            <a:off x="5080235" y="4769325"/>
            <a:ext cx="34518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1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áfico 17"/>
          <p:cNvGraphicFramePr/>
          <p:nvPr>
            <p:extLst/>
          </p:nvPr>
        </p:nvGraphicFramePr>
        <p:xfrm>
          <a:off x="5505451" y="2251753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Gráfico 1"/>
          <p:cNvGraphicFramePr/>
          <p:nvPr>
            <p:extLst/>
          </p:nvPr>
        </p:nvGraphicFramePr>
        <p:xfrm>
          <a:off x="236539" y="2028031"/>
          <a:ext cx="5030787" cy="2584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146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77531"/>
            <a:ext cx="955675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1" descr="t03-02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1" name="CaixaDeTexto 14"/>
          <p:cNvSpPr txBox="1">
            <a:spLocks noChangeArrowheads="1"/>
          </p:cNvSpPr>
          <p:nvPr/>
        </p:nvSpPr>
        <p:spPr bwMode="auto">
          <a:xfrm>
            <a:off x="6007101" y="677069"/>
            <a:ext cx="213699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Responsabilidade da TI Contax</a:t>
            </a:r>
          </a:p>
        </p:txBody>
      </p:sp>
      <p:sp>
        <p:nvSpPr>
          <p:cNvPr id="6152" name="CaixaDeTexto 15"/>
          <p:cNvSpPr txBox="1">
            <a:spLocks noChangeArrowheads="1"/>
          </p:cNvSpPr>
          <p:nvPr/>
        </p:nvSpPr>
        <p:spPr bwMode="auto">
          <a:xfrm>
            <a:off x="5762625" y="2186600"/>
            <a:ext cx="27356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Responsabilidade do Suporte do Cliente</a:t>
            </a:r>
          </a:p>
        </p:txBody>
      </p:sp>
      <p:sp>
        <p:nvSpPr>
          <p:cNvPr id="6153" name="CaixaDeTexto 16"/>
          <p:cNvSpPr txBox="1">
            <a:spLocks noChangeArrowheads="1"/>
          </p:cNvSpPr>
          <p:nvPr/>
        </p:nvSpPr>
        <p:spPr bwMode="auto">
          <a:xfrm>
            <a:off x="5756275" y="3561557"/>
            <a:ext cx="27554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Responsabilidade do Fornecedor Contax</a:t>
            </a:r>
          </a:p>
        </p:txBody>
      </p:sp>
      <p:graphicFrame>
        <p:nvGraphicFramePr>
          <p:cNvPr id="17" name="Gráfico 16"/>
          <p:cNvGraphicFramePr/>
          <p:nvPr>
            <p:extLst/>
          </p:nvPr>
        </p:nvGraphicFramePr>
        <p:xfrm>
          <a:off x="5505451" y="932658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9" name="Gráfico 18"/>
          <p:cNvGraphicFramePr/>
          <p:nvPr>
            <p:extLst/>
          </p:nvPr>
        </p:nvGraphicFramePr>
        <p:xfrm>
          <a:off x="5505451" y="3794919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4" name="CaixaDeTexto 16"/>
          <p:cNvSpPr txBox="1">
            <a:spLocks noChangeArrowheads="1"/>
          </p:cNvSpPr>
          <p:nvPr/>
        </p:nvSpPr>
        <p:spPr bwMode="auto">
          <a:xfrm>
            <a:off x="667058" y="1198960"/>
            <a:ext cx="45218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>
                <a:solidFill>
                  <a:schemeClr val="accent2"/>
                </a:solidFill>
              </a:rPr>
              <a:t>Incidentes Alto Impacto</a:t>
            </a:r>
          </a:p>
          <a:p>
            <a:pPr algn="ctr">
              <a:defRPr/>
            </a:pPr>
            <a:r>
              <a:rPr lang="pt-BR" sz="2000" b="1" dirty="0">
                <a:solidFill>
                  <a:schemeClr val="accent2"/>
                </a:solidFill>
              </a:rPr>
              <a:t>Tempo médio entre falhas em h:m:s</a:t>
            </a:r>
          </a:p>
        </p:txBody>
      </p: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518672" y="52325"/>
            <a:ext cx="700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3. Tempo médio entre falhas e de resolução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CaixaDeTexto 16"/>
          <p:cNvSpPr txBox="1">
            <a:spLocks noChangeArrowheads="1"/>
          </p:cNvSpPr>
          <p:nvPr/>
        </p:nvSpPr>
        <p:spPr bwMode="auto">
          <a:xfrm>
            <a:off x="4917153" y="4820222"/>
            <a:ext cx="38594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24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554373" y="1110457"/>
            <a:ext cx="409349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000" b="1" dirty="0">
                <a:solidFill>
                  <a:schemeClr val="accent2"/>
                </a:solidFill>
              </a:rPr>
              <a:t>Incidentes Alto Impacto</a:t>
            </a:r>
          </a:p>
          <a:p>
            <a:pPr>
              <a:defRPr/>
            </a:pPr>
            <a:r>
              <a:rPr lang="pt-BR" sz="2000" b="1" dirty="0">
                <a:solidFill>
                  <a:schemeClr val="accent2"/>
                </a:solidFill>
              </a:rPr>
              <a:t>Tempo médio de resolução em h:m:s</a:t>
            </a:r>
          </a:p>
        </p:txBody>
      </p:sp>
      <p:sp>
        <p:nvSpPr>
          <p:cNvPr id="7176" name="CaixaDeTexto 1"/>
          <p:cNvSpPr txBox="1">
            <a:spLocks noChangeArrowheads="1"/>
          </p:cNvSpPr>
          <p:nvPr/>
        </p:nvSpPr>
        <p:spPr bwMode="auto">
          <a:xfrm>
            <a:off x="6199189" y="677069"/>
            <a:ext cx="17407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Realizado pela TI Contax</a:t>
            </a:r>
          </a:p>
        </p:txBody>
      </p:sp>
      <p:sp>
        <p:nvSpPr>
          <p:cNvPr id="7177" name="CaixaDeTexto 15"/>
          <p:cNvSpPr txBox="1">
            <a:spLocks noChangeArrowheads="1"/>
          </p:cNvSpPr>
          <p:nvPr/>
        </p:nvSpPr>
        <p:spPr bwMode="auto">
          <a:xfrm>
            <a:off x="6053138" y="2169618"/>
            <a:ext cx="21374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Realizado pelo Suporte Cliente</a:t>
            </a:r>
          </a:p>
        </p:txBody>
      </p:sp>
      <p:sp>
        <p:nvSpPr>
          <p:cNvPr id="7178" name="CaixaDeTexto 16"/>
          <p:cNvSpPr txBox="1">
            <a:spLocks noChangeArrowheads="1"/>
          </p:cNvSpPr>
          <p:nvPr/>
        </p:nvSpPr>
        <p:spPr bwMode="auto">
          <a:xfrm>
            <a:off x="6237289" y="3586957"/>
            <a:ext cx="18810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Realizado pelo Fornecedor</a:t>
            </a:r>
          </a:p>
        </p:txBody>
      </p:sp>
      <p:graphicFrame>
        <p:nvGraphicFramePr>
          <p:cNvPr id="16" name="Gráfico 15"/>
          <p:cNvGraphicFramePr/>
          <p:nvPr>
            <p:extLst/>
          </p:nvPr>
        </p:nvGraphicFramePr>
        <p:xfrm>
          <a:off x="236539" y="2028031"/>
          <a:ext cx="5030787" cy="2584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Gráfico 16"/>
          <p:cNvGraphicFramePr/>
          <p:nvPr>
            <p:extLst/>
          </p:nvPr>
        </p:nvGraphicFramePr>
        <p:xfrm>
          <a:off x="5505451" y="890126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8" name="Gráfico 17"/>
          <p:cNvGraphicFramePr/>
          <p:nvPr>
            <p:extLst/>
          </p:nvPr>
        </p:nvGraphicFramePr>
        <p:xfrm>
          <a:off x="5505451" y="2389982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" name="Gráfico 18"/>
          <p:cNvGraphicFramePr/>
          <p:nvPr>
            <p:extLst/>
          </p:nvPr>
        </p:nvGraphicFramePr>
        <p:xfrm>
          <a:off x="5505451" y="3794919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518672" y="52325"/>
            <a:ext cx="700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3. Tempo médio entre falhas e de resolução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CaixaDeTexto 16"/>
          <p:cNvSpPr txBox="1">
            <a:spLocks noChangeArrowheads="1"/>
          </p:cNvSpPr>
          <p:nvPr/>
        </p:nvSpPr>
        <p:spPr bwMode="auto">
          <a:xfrm>
            <a:off x="5090620" y="4799746"/>
            <a:ext cx="35125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58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3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4. 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- por clientes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2" name="Conector de seta reta 11"/>
          <p:cNvCxnSpPr/>
          <p:nvPr/>
        </p:nvCxnSpPr>
        <p:spPr>
          <a:xfrm>
            <a:off x="3678382" y="1444336"/>
            <a:ext cx="1617518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3678382" y="1568247"/>
            <a:ext cx="1617518" cy="1402732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>
            <a:off x="3678382" y="1766582"/>
            <a:ext cx="1617519" cy="2568087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4"/>
          <p:cNvSpPr txBox="1">
            <a:spLocks noChangeArrowheads="1"/>
          </p:cNvSpPr>
          <p:nvPr/>
        </p:nvSpPr>
        <p:spPr bwMode="auto">
          <a:xfrm>
            <a:off x="941388" y="650455"/>
            <a:ext cx="2155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600" b="1" dirty="0" smtClean="0">
                <a:solidFill>
                  <a:schemeClr val="accent2"/>
                </a:solidFill>
              </a:rPr>
              <a:t>Chamados por clientes</a:t>
            </a:r>
            <a:endParaRPr lang="pt-BR" sz="1600" b="1" dirty="0">
              <a:solidFill>
                <a:schemeClr val="accent2"/>
              </a:solidFill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/>
          </p:nvPr>
        </p:nvGraphicFramePr>
        <p:xfrm>
          <a:off x="236218" y="1123151"/>
          <a:ext cx="3442162" cy="3636320"/>
        </p:xfrm>
        <a:graphic>
          <a:graphicData uri="http://schemas.openxmlformats.org/drawingml/2006/table">
            <a:tbl>
              <a:tblPr/>
              <a:tblGrid>
                <a:gridCol w="1393256"/>
                <a:gridCol w="1393256"/>
                <a:gridCol w="655650"/>
              </a:tblGrid>
              <a:tr h="18181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Cliente Afetado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OI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83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SANTANDER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8,1%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TAM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BRADESCO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4,0%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CIELO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3,4%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REDECARD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3,4%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VIVO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NET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VOLKSWAGEN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BV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ITAÚ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CLARO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2,0%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TOYOTA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1,3%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CITIBANK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1,3%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TICKET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PREFEITURA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SOUZACRUZ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PREFEITURA RJ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0,7%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16">
                <a:tc>
                  <a:txBody>
                    <a:bodyPr/>
                    <a:lstStyle/>
                    <a:p>
                      <a:pPr algn="l" fontAlgn="b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Geral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149</a:t>
                      </a:r>
                    </a:p>
                  </a:txBody>
                  <a:tcPr marL="7779" marR="7779" marT="7779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100,0%</a:t>
                      </a:r>
                    </a:p>
                  </a:txBody>
                  <a:tcPr marL="7779" marR="7779" marT="7779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>
            <p:extLst/>
          </p:nvPr>
        </p:nvGraphicFramePr>
        <p:xfrm>
          <a:off x="5295901" y="1169189"/>
          <a:ext cx="3200400" cy="1000125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609600"/>
              </a:tblGrid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Contax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48,2%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Fornecedor Contax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6,0%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Suporte Cliente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45,8%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Geral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ela 12"/>
          <p:cNvGraphicFramePr>
            <a:graphicFrameLocks noGrp="1"/>
          </p:cNvGraphicFramePr>
          <p:nvPr>
            <p:extLst/>
          </p:nvPr>
        </p:nvGraphicFramePr>
        <p:xfrm>
          <a:off x="5295901" y="2470916"/>
          <a:ext cx="3200400" cy="1000125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609600"/>
              </a:tblGrid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SANTANDER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Contax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50,0%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Fornecedor Contax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8,3%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Suporte Cliente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41,7%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Geral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ela 14"/>
          <p:cNvGraphicFramePr>
            <a:graphicFrameLocks noGrp="1"/>
          </p:cNvGraphicFramePr>
          <p:nvPr>
            <p:extLst/>
          </p:nvPr>
        </p:nvGraphicFramePr>
        <p:xfrm>
          <a:off x="5295900" y="3759346"/>
          <a:ext cx="3200400" cy="1000125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609600"/>
              </a:tblGrid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Contax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28,6%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Fornecedor Contax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14,3%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Suporte Cliente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57,1%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Geral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</a:tbl>
          </a:graphicData>
        </a:graphic>
      </p:graphicFrame>
      <p:sp>
        <p:nvSpPr>
          <p:cNvPr id="14" name="CaixaDeTexto 16"/>
          <p:cNvSpPr txBox="1">
            <a:spLocks noChangeArrowheads="1"/>
          </p:cNvSpPr>
          <p:nvPr/>
        </p:nvSpPr>
        <p:spPr bwMode="auto">
          <a:xfrm>
            <a:off x="5610531" y="4767094"/>
            <a:ext cx="30556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97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ráfico 19"/>
          <p:cNvGraphicFramePr/>
          <p:nvPr>
            <p:extLst>
              <p:ext uri="{D42A27DB-BD31-4B8C-83A1-F6EECF244321}">
                <p14:modId xmlns:p14="http://schemas.microsoft.com/office/powerpoint/2010/main" val="363382348"/>
              </p:ext>
            </p:extLst>
          </p:nvPr>
        </p:nvGraphicFramePr>
        <p:xfrm>
          <a:off x="2463615" y="383576"/>
          <a:ext cx="3952678" cy="2530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171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192154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ector angulado 5"/>
          <p:cNvCxnSpPr/>
          <p:nvPr/>
        </p:nvCxnSpPr>
        <p:spPr>
          <a:xfrm>
            <a:off x="5682399" y="1677692"/>
            <a:ext cx="1593737" cy="1568929"/>
          </a:xfrm>
          <a:prstGeom prst="bentConnector2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ector angulado 7"/>
          <p:cNvCxnSpPr/>
          <p:nvPr/>
        </p:nvCxnSpPr>
        <p:spPr>
          <a:xfrm rot="10800000" flipV="1">
            <a:off x="1748173" y="1677692"/>
            <a:ext cx="1593738" cy="156883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4512155" y="2913814"/>
            <a:ext cx="0" cy="33280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- por </a:t>
            </a:r>
            <a:r>
              <a:rPr lang="pt-BR" sz="2400" b="1" dirty="0" err="1" smtClean="0">
                <a:solidFill>
                  <a:schemeClr val="accent1">
                    <a:lumMod val="50000"/>
                  </a:schemeClr>
                </a:solidFill>
              </a:rPr>
              <a:t>resolvedor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5601" name="Picture 1">
            <a:hlinkClick r:id="rId7" action="ppaction://hlinksldjump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534" y="3246622"/>
            <a:ext cx="2299204" cy="1479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8" name="Picture 2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25" y="3246523"/>
            <a:ext cx="2529124" cy="8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>
            <a:hlinkClick r:id="rId11" action="ppaction://hlinksldjump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587" y="3246523"/>
            <a:ext cx="2340488" cy="1041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aixaDeTexto 16"/>
          <p:cNvSpPr txBox="1">
            <a:spLocks noChangeArrowheads="1"/>
          </p:cNvSpPr>
          <p:nvPr/>
        </p:nvSpPr>
        <p:spPr bwMode="auto">
          <a:xfrm>
            <a:off x="-96499" y="4723802"/>
            <a:ext cx="34384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pic>
        <p:nvPicPr>
          <p:cNvPr id="17" name="Imagem 16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8927" y="4242088"/>
            <a:ext cx="372069" cy="380448"/>
          </a:xfrm>
          <a:prstGeom prst="rect">
            <a:avLst/>
          </a:prstGeom>
        </p:spPr>
      </p:pic>
      <p:pic>
        <p:nvPicPr>
          <p:cNvPr id="18" name="Imagem 17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9954" y="4383640"/>
            <a:ext cx="372069" cy="380448"/>
          </a:xfrm>
          <a:prstGeom prst="rect">
            <a:avLst/>
          </a:prstGeom>
        </p:spPr>
      </p:pic>
      <p:pic>
        <p:nvPicPr>
          <p:cNvPr id="19" name="Imagem 18">
            <a:hlinkClick r:id="rId14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7853" y="4733633"/>
            <a:ext cx="372069" cy="38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7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tângulo 22">
            <a:hlinkClick r:id="" action="ppaction://noaction"/>
          </p:cNvPr>
          <p:cNvSpPr/>
          <p:nvPr/>
        </p:nvSpPr>
        <p:spPr>
          <a:xfrm>
            <a:off x="3286242" y="2570033"/>
            <a:ext cx="569493" cy="966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" name="Conector angulado 2"/>
          <p:cNvCxnSpPr/>
          <p:nvPr/>
        </p:nvCxnSpPr>
        <p:spPr>
          <a:xfrm rot="5400000">
            <a:off x="2614523" y="334624"/>
            <a:ext cx="1048770" cy="2809035"/>
          </a:xfrm>
          <a:prstGeom prst="bentConnector3">
            <a:avLst/>
          </a:prstGeom>
          <a:ln>
            <a:solidFill>
              <a:srgbClr val="19345B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Conector angulado 4"/>
          <p:cNvCxnSpPr/>
          <p:nvPr/>
        </p:nvCxnSpPr>
        <p:spPr>
          <a:xfrm rot="16200000" flipH="1">
            <a:off x="5426959" y="331221"/>
            <a:ext cx="1048770" cy="2815839"/>
          </a:xfrm>
          <a:prstGeom prst="bentConnector3">
            <a:avLst/>
          </a:prstGeom>
          <a:ln>
            <a:solidFill>
              <a:srgbClr val="19345B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ector angulado 6"/>
          <p:cNvCxnSpPr/>
          <p:nvPr/>
        </p:nvCxnSpPr>
        <p:spPr>
          <a:xfrm rot="16200000" flipH="1">
            <a:off x="4020741" y="1737440"/>
            <a:ext cx="1048770" cy="3402"/>
          </a:xfrm>
          <a:prstGeom prst="bentConnector3">
            <a:avLst/>
          </a:prstGeom>
          <a:ln>
            <a:solidFill>
              <a:srgbClr val="19345B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661" y="1005206"/>
            <a:ext cx="3819525" cy="20955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- Contax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28" y="2263527"/>
            <a:ext cx="2529124" cy="2068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156" y="2263527"/>
            <a:ext cx="2529124" cy="1921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131" y="2263527"/>
            <a:ext cx="2550084" cy="1774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Imagem 15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62" y="4749608"/>
            <a:ext cx="1042506" cy="396274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31578" y="4691055"/>
            <a:ext cx="3493311" cy="54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8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903" y="886066"/>
            <a:ext cx="3819525" cy="20955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Conector angulado 3"/>
          <p:cNvCxnSpPr>
            <a:stCxn id="27650" idx="2"/>
          </p:cNvCxnSpPr>
          <p:nvPr/>
        </p:nvCxnSpPr>
        <p:spPr>
          <a:xfrm rot="5400000">
            <a:off x="2490702" y="83896"/>
            <a:ext cx="1008244" cy="3031684"/>
          </a:xfrm>
          <a:prstGeom prst="bentConnector3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do 8"/>
          <p:cNvCxnSpPr/>
          <p:nvPr/>
        </p:nvCxnSpPr>
        <p:spPr>
          <a:xfrm rot="16200000" flipH="1">
            <a:off x="4006542" y="1599737"/>
            <a:ext cx="1008244" cy="1"/>
          </a:xfrm>
          <a:prstGeom prst="bentConnector3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do 11"/>
          <p:cNvCxnSpPr>
            <a:stCxn id="27650" idx="2"/>
          </p:cNvCxnSpPr>
          <p:nvPr/>
        </p:nvCxnSpPr>
        <p:spPr>
          <a:xfrm rot="16200000" flipH="1">
            <a:off x="5561398" y="44884"/>
            <a:ext cx="1008244" cy="3109708"/>
          </a:xfrm>
          <a:prstGeom prst="bentConnector3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– Suporte Cliente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26" y="2103860"/>
            <a:ext cx="2529124" cy="2508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2103860"/>
            <a:ext cx="2340488" cy="600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773" y="2105008"/>
            <a:ext cx="2529124" cy="747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CaixaDeTexto 16"/>
          <p:cNvSpPr txBox="1">
            <a:spLocks noChangeArrowheads="1"/>
          </p:cNvSpPr>
          <p:nvPr/>
        </p:nvSpPr>
        <p:spPr bwMode="auto">
          <a:xfrm>
            <a:off x="4917967" y="4745772"/>
            <a:ext cx="36307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pic>
        <p:nvPicPr>
          <p:cNvPr id="16" name="Imagem 15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62" y="4749608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5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580" y="1126548"/>
            <a:ext cx="3819525" cy="20955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170" y="2082244"/>
            <a:ext cx="2529124" cy="600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Conector angulado 2"/>
          <p:cNvCxnSpPr>
            <a:stCxn id="28674" idx="2"/>
          </p:cNvCxnSpPr>
          <p:nvPr/>
        </p:nvCxnSpPr>
        <p:spPr>
          <a:xfrm rot="5400000">
            <a:off x="4230685" y="1708586"/>
            <a:ext cx="746146" cy="117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Conector angulado 9"/>
          <p:cNvCxnSpPr>
            <a:stCxn id="28674" idx="2"/>
          </p:cNvCxnSpPr>
          <p:nvPr/>
        </p:nvCxnSpPr>
        <p:spPr>
          <a:xfrm rot="5400000">
            <a:off x="2723509" y="201410"/>
            <a:ext cx="746146" cy="301552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do 14"/>
          <p:cNvCxnSpPr>
            <a:stCxn id="28674" idx="2"/>
            <a:endCxn id="28677" idx="0"/>
          </p:cNvCxnSpPr>
          <p:nvPr/>
        </p:nvCxnSpPr>
        <p:spPr>
          <a:xfrm rot="16200000" flipH="1">
            <a:off x="5657964" y="282476"/>
            <a:ext cx="746146" cy="285338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3193138" y="1709171"/>
            <a:ext cx="0" cy="161506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576" y="3324237"/>
            <a:ext cx="2529124" cy="600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- Fornecedor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19" y="2076450"/>
            <a:ext cx="2529124" cy="600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675" y="2076450"/>
            <a:ext cx="2340488" cy="747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CaixaDeTexto 16"/>
          <p:cNvSpPr txBox="1">
            <a:spLocks noChangeArrowheads="1"/>
          </p:cNvSpPr>
          <p:nvPr/>
        </p:nvSpPr>
        <p:spPr bwMode="auto">
          <a:xfrm>
            <a:off x="5008361" y="4745655"/>
            <a:ext cx="34626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pic>
        <p:nvPicPr>
          <p:cNvPr id="5" name="Imagem 4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162" y="4661941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7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6. Incidentes Médio /Baixo Impacto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9698" name="Picture 2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447" y="1782047"/>
            <a:ext cx="2728558" cy="1539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69" y="1357004"/>
            <a:ext cx="5362575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16"/>
          <p:cNvSpPr txBox="1">
            <a:spLocks noChangeArrowheads="1"/>
          </p:cNvSpPr>
          <p:nvPr/>
        </p:nvSpPr>
        <p:spPr bwMode="auto">
          <a:xfrm>
            <a:off x="5036400" y="4752456"/>
            <a:ext cx="34624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73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140995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Conector angulado 15"/>
          <p:cNvCxnSpPr>
            <a:endCxn id="30721" idx="0"/>
          </p:cNvCxnSpPr>
          <p:nvPr/>
        </p:nvCxnSpPr>
        <p:spPr>
          <a:xfrm rot="10800000" flipV="1">
            <a:off x="1621200" y="1666459"/>
            <a:ext cx="1617301" cy="859754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ector angulado 17"/>
          <p:cNvCxnSpPr>
            <a:endCxn id="30722" idx="0"/>
          </p:cNvCxnSpPr>
          <p:nvPr/>
        </p:nvCxnSpPr>
        <p:spPr>
          <a:xfrm>
            <a:off x="5667375" y="1666459"/>
            <a:ext cx="1565735" cy="859755"/>
          </a:xfrm>
          <a:prstGeom prst="bentConnector2">
            <a:avLst/>
          </a:prstGeom>
          <a:ln>
            <a:solidFill>
              <a:srgbClr val="19345B"/>
            </a:solidFill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6. Incidentes Médio /Baixo Impacto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14" name="Gráfico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3736044"/>
              </p:ext>
            </p:extLst>
          </p:nvPr>
        </p:nvGraphicFramePr>
        <p:xfrm>
          <a:off x="2152650" y="29486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10" y="2526213"/>
            <a:ext cx="2501178" cy="2249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521" y="2526214"/>
            <a:ext cx="2501178" cy="1271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aixaDeTexto 16"/>
          <p:cNvSpPr txBox="1">
            <a:spLocks noChangeArrowheads="1"/>
          </p:cNvSpPr>
          <p:nvPr/>
        </p:nvSpPr>
        <p:spPr bwMode="auto">
          <a:xfrm>
            <a:off x="5054195" y="4732656"/>
            <a:ext cx="35592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pic>
        <p:nvPicPr>
          <p:cNvPr id="15" name="Imagem 14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3110" y="3914684"/>
            <a:ext cx="456663" cy="46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4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6. Incidentes Médio /Baixo Impacto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4" y="681284"/>
            <a:ext cx="8432703" cy="3960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aixaDeTexto 16"/>
          <p:cNvSpPr txBox="1">
            <a:spLocks noChangeArrowheads="1"/>
          </p:cNvSpPr>
          <p:nvPr/>
        </p:nvSpPr>
        <p:spPr bwMode="auto">
          <a:xfrm>
            <a:off x="5045725" y="4764088"/>
            <a:ext cx="34321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pic>
        <p:nvPicPr>
          <p:cNvPr id="2" name="Imagem 1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494" y="4751989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2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788988" y="822317"/>
            <a:ext cx="3061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2"/>
                </a:solidFill>
              </a:rPr>
              <a:t>Volume de mudanças por mês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371710" y="-34958"/>
            <a:ext cx="4694917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Gestão de 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Mudança - Junho</a:t>
            </a:r>
            <a:endParaRPr lang="pt-BR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3" name="Gráfico 12"/>
          <p:cNvGraphicFramePr>
            <a:graphicFrameLocks/>
          </p:cNvGraphicFramePr>
          <p:nvPr>
            <p:extLst/>
          </p:nvPr>
        </p:nvGraphicFramePr>
        <p:xfrm>
          <a:off x="115492" y="852424"/>
          <a:ext cx="4361506" cy="321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5384738" y="822317"/>
            <a:ext cx="2683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accent2"/>
                </a:solidFill>
              </a:rPr>
              <a:t>Implantadas por categoria</a:t>
            </a:r>
            <a:endParaRPr lang="pt-BR" b="1" dirty="0">
              <a:solidFill>
                <a:schemeClr val="accent2"/>
              </a:solidFill>
            </a:endParaRPr>
          </a:p>
        </p:txBody>
      </p:sp>
      <p:graphicFrame>
        <p:nvGraphicFramePr>
          <p:cNvPr id="14" name="Gráfico 13"/>
          <p:cNvGraphicFramePr>
            <a:graphicFrameLocks/>
          </p:cNvGraphicFramePr>
          <p:nvPr>
            <p:extLst/>
          </p:nvPr>
        </p:nvGraphicFramePr>
        <p:xfrm>
          <a:off x="4595750" y="868476"/>
          <a:ext cx="4310743" cy="321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Retângulo 3"/>
          <p:cNvSpPr/>
          <p:nvPr/>
        </p:nvSpPr>
        <p:spPr>
          <a:xfrm>
            <a:off x="4738254" y="4037995"/>
            <a:ext cx="4156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i="1" dirty="0" err="1" smtClean="0"/>
              <a:t>Gmud</a:t>
            </a:r>
            <a:r>
              <a:rPr lang="pt-BR" sz="900" b="1" i="1" dirty="0" smtClean="0"/>
              <a:t> Técnica: </a:t>
            </a:r>
            <a:r>
              <a:rPr lang="pt-BR" sz="900" i="1" dirty="0" smtClean="0"/>
              <a:t>Mudanças </a:t>
            </a:r>
            <a:r>
              <a:rPr lang="pt-BR" sz="900" i="1" dirty="0"/>
              <a:t>registradas exclusivamente por </a:t>
            </a:r>
            <a:r>
              <a:rPr lang="pt-BR" sz="900" i="1" dirty="0" smtClean="0"/>
              <a:t> profissionais especialistas das  áreas de TI</a:t>
            </a:r>
            <a:endParaRPr lang="pt-BR" sz="700" i="1" dirty="0"/>
          </a:p>
        </p:txBody>
      </p:sp>
      <p:sp>
        <p:nvSpPr>
          <p:cNvPr id="15" name="CaixaDeTexto 16"/>
          <p:cNvSpPr txBox="1">
            <a:spLocks noChangeArrowheads="1"/>
          </p:cNvSpPr>
          <p:nvPr/>
        </p:nvSpPr>
        <p:spPr bwMode="auto">
          <a:xfrm>
            <a:off x="0" y="4655001"/>
            <a:ext cx="34321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de Junho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6254423" y="4771722"/>
            <a:ext cx="11240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Demais  conceitos</a:t>
            </a:r>
            <a:endParaRPr lang="pt-BR" sz="2400" dirty="0"/>
          </a:p>
        </p:txBody>
      </p:sp>
      <p:pic>
        <p:nvPicPr>
          <p:cNvPr id="16" name="Imagem 1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1141" y="4290306"/>
            <a:ext cx="456663" cy="46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9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371710" y="-34958"/>
            <a:ext cx="4694917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Gestão de 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Mudanças 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- Junho</a:t>
            </a:r>
            <a:endParaRPr lang="pt-BR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23548" y="1421992"/>
            <a:ext cx="86096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PROGRAMADA:</a:t>
            </a:r>
            <a:r>
              <a:rPr lang="pt-BR" sz="1600" dirty="0"/>
              <a:t>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São Mudanças abertas de forma programada com prazo superior a cinco dias corridos antes da janela programada para a atividade a ser executada no ambiente. </a:t>
            </a:r>
          </a:p>
          <a:p>
            <a:pPr algn="just"/>
            <a:endParaRPr lang="pt-BR" sz="11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394494" y="756589"/>
            <a:ext cx="8500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Definições por categoria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23548" y="2138922"/>
            <a:ext cx="8571071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EMERGENCIAL:</a:t>
            </a:r>
            <a:r>
              <a:rPr lang="pt-BR" sz="1600" dirty="0"/>
              <a:t>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São Mudanças que tratam de eventos críticos e terão que ser executadas com menos de cinco dias corridos antes da execução e podem tratar dos eventos citados abaixo: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Paradas no ambiente no TI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Risco eminente de parada no ambiente de TI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Rupturas do negócio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Riscos de perdas financeiras para o negócio</a:t>
            </a:r>
          </a:p>
          <a:p>
            <a:endParaRPr lang="pt-BR" sz="1100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304277" y="3760508"/>
            <a:ext cx="857107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TÉCNICA: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mudanças registradas exclusivamente por profissionais das equipes de suporte e gestão de serviços de TI da CONTAX no E-GMUD, através de um fluxo rápido para evitar ou corrigir incidentes em componentes de TI e SI dos ambientes de produção. Essa categoria se aplica a alterações de baixa complexidade, previamente testadas e de risco muito baixo ou nulo.</a:t>
            </a:r>
          </a:p>
          <a:p>
            <a:endParaRPr lang="pt-BR" sz="1100" dirty="0"/>
          </a:p>
        </p:txBody>
      </p:sp>
      <p:pic>
        <p:nvPicPr>
          <p:cNvPr id="4" name="Imagem 3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735" y="4764088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4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1674537" y="620749"/>
            <a:ext cx="5346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accent2"/>
                </a:solidFill>
              </a:rPr>
              <a:t>Exemplo de visão de monitoração </a:t>
            </a:r>
            <a:r>
              <a:rPr lang="pt-BR" b="1" dirty="0" err="1" smtClean="0">
                <a:solidFill>
                  <a:schemeClr val="accent2"/>
                </a:solidFill>
              </a:rPr>
              <a:t>Zabbix</a:t>
            </a:r>
            <a:r>
              <a:rPr lang="pt-BR" b="1" dirty="0" smtClean="0">
                <a:solidFill>
                  <a:schemeClr val="accent2"/>
                </a:solidFill>
              </a:rPr>
              <a:t>: </a:t>
            </a:r>
            <a:r>
              <a:rPr lang="pt-BR" b="1" dirty="0" err="1" smtClean="0">
                <a:solidFill>
                  <a:schemeClr val="accent2"/>
                </a:solidFill>
              </a:rPr>
              <a:t>URAs</a:t>
            </a:r>
            <a:r>
              <a:rPr lang="pt-BR" b="1" dirty="0" smtClean="0">
                <a:solidFill>
                  <a:schemeClr val="accent2"/>
                </a:solidFill>
              </a:rPr>
              <a:t>-CO-OI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371710" y="-34958"/>
            <a:ext cx="4694917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Ferramenta </a:t>
            </a:r>
            <a:r>
              <a:rPr lang="pt-BR" sz="2102" b="1" dirty="0" err="1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Zabbix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pt-BR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015" y="1172859"/>
            <a:ext cx="4897676" cy="402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131456" y="-60772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Problemas – Status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/>
          </p:nvPr>
        </p:nvGraphicFramePr>
        <p:xfrm>
          <a:off x="248783" y="1112026"/>
          <a:ext cx="3213100" cy="1143000"/>
        </p:xfrm>
        <a:graphic>
          <a:graphicData uri="http://schemas.openxmlformats.org/drawingml/2006/table">
            <a:tbl>
              <a:tblPr/>
              <a:tblGrid>
                <a:gridCol w="1322668"/>
                <a:gridCol w="1890432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Responsabilidade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Contagem de Ticket t-</a:t>
                      </a:r>
                      <a:r>
                        <a:rPr lang="pt-B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Process</a:t>
                      </a: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!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Demais Áreas Contax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Fornecedor Contax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Suporte Cliente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 Contax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DF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Gráfico 23"/>
          <p:cNvGraphicFramePr>
            <a:graphicFrameLocks/>
          </p:cNvGraphicFramePr>
          <p:nvPr>
            <p:extLst/>
          </p:nvPr>
        </p:nvGraphicFramePr>
        <p:xfrm>
          <a:off x="3461883" y="776935"/>
          <a:ext cx="5627528" cy="41362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Tabela 11"/>
          <p:cNvGraphicFramePr>
            <a:graphicFrameLocks noGrp="1"/>
          </p:cNvGraphicFramePr>
          <p:nvPr>
            <p:extLst/>
          </p:nvPr>
        </p:nvGraphicFramePr>
        <p:xfrm>
          <a:off x="248783" y="2413023"/>
          <a:ext cx="2959100" cy="2667000"/>
        </p:xfrm>
        <a:graphic>
          <a:graphicData uri="http://schemas.openxmlformats.org/drawingml/2006/table">
            <a:tbl>
              <a:tblPr/>
              <a:tblGrid>
                <a:gridCol w="2197100"/>
                <a:gridCol w="7620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Área de afinidade com problema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Aplicações - Centro de Soluções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Aplicações - Família 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Aplicações - Suporte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Aplicações - URA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Infra - Aplicações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Infra - DBA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Infra - Discadores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Infra - Gestão de ambientes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Infra - Microinformática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Infra - Outros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Infra - Telecom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Outros -Outros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Geral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1A0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DFEC"/>
                    </a:solidFill>
                  </a:tcPr>
                </a:tc>
              </a:tr>
            </a:tbl>
          </a:graphicData>
        </a:graphic>
      </p:graphicFrame>
      <p:sp>
        <p:nvSpPr>
          <p:cNvPr id="22" name="CaixaDeTexto 21"/>
          <p:cNvSpPr txBox="1"/>
          <p:nvPr/>
        </p:nvSpPr>
        <p:spPr>
          <a:xfrm>
            <a:off x="216464" y="650871"/>
            <a:ext cx="200735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27 tickets aceitos</a:t>
            </a:r>
            <a:endParaRPr lang="pt-BR" dirty="0"/>
          </a:p>
        </p:txBody>
      </p:sp>
      <p:sp>
        <p:nvSpPr>
          <p:cNvPr id="25" name="Retângulo 24"/>
          <p:cNvSpPr/>
          <p:nvPr/>
        </p:nvSpPr>
        <p:spPr>
          <a:xfrm>
            <a:off x="2338580" y="650871"/>
            <a:ext cx="179669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6 análise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977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370582" y="-74304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Problemas – Status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Gráfico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8382877"/>
              </p:ext>
            </p:extLst>
          </p:nvPr>
        </p:nvGraphicFramePr>
        <p:xfrm>
          <a:off x="-225467" y="300128"/>
          <a:ext cx="5776412" cy="3476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447039"/>
              </p:ext>
            </p:extLst>
          </p:nvPr>
        </p:nvGraphicFramePr>
        <p:xfrm>
          <a:off x="4972832" y="950381"/>
          <a:ext cx="4090259" cy="1043440"/>
        </p:xfrm>
        <a:graphic>
          <a:graphicData uri="http://schemas.openxmlformats.org/drawingml/2006/table">
            <a:tbl>
              <a:tblPr/>
              <a:tblGrid>
                <a:gridCol w="3112508"/>
                <a:gridCol w="977751"/>
              </a:tblGrid>
              <a:tr h="208688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Nível de escalonamento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688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Escalonamento executivo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688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Escalonamento operacional e gerencial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688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Não necessário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688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Geral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34" y="3829853"/>
            <a:ext cx="4667031" cy="554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121693" y="4548099"/>
            <a:ext cx="850298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dirty="0" smtClean="0"/>
              <a:t>*R$ -Apuração estimada de custo, baseada em planilha financeira jan2016. </a:t>
            </a:r>
          </a:p>
          <a:p>
            <a:pPr algn="just"/>
            <a:r>
              <a:rPr lang="pt-BR" sz="1100" dirty="0" smtClean="0"/>
              <a:t>Considerando-se Receita </a:t>
            </a:r>
            <a:r>
              <a:rPr lang="pt-BR" sz="1100" dirty="0" err="1" smtClean="0"/>
              <a:t>Liq</a:t>
            </a:r>
            <a:r>
              <a:rPr lang="pt-BR" sz="1100" dirty="0" smtClean="0"/>
              <a:t> + Custo </a:t>
            </a:r>
            <a:r>
              <a:rPr lang="pt-BR" sz="1100" dirty="0" err="1" smtClean="0"/>
              <a:t>Ope</a:t>
            </a:r>
            <a:r>
              <a:rPr lang="pt-BR" sz="1100" dirty="0" smtClean="0"/>
              <a:t> em relação a FTE x PA ~= R$0,49 PA x Min</a:t>
            </a:r>
          </a:p>
          <a:p>
            <a:pPr algn="just"/>
            <a:r>
              <a:rPr lang="pt-BR" sz="1100" dirty="0" smtClean="0"/>
              <a:t>+ Fatores de criticidade do incidente.</a:t>
            </a:r>
            <a:endParaRPr lang="pt-BR" sz="1100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6673595" y="2064364"/>
            <a:ext cx="2313992" cy="124194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Acima de 100 dias</a:t>
            </a:r>
          </a:p>
          <a:p>
            <a:pPr algn="ctr"/>
            <a:r>
              <a:rPr lang="pt-BR" sz="2000" dirty="0" smtClean="0"/>
              <a:t>4 </a:t>
            </a:r>
            <a:r>
              <a:rPr lang="pt-BR" sz="2000" dirty="0" err="1" smtClean="0"/>
              <a:t>tks</a:t>
            </a:r>
            <a:endParaRPr lang="pt-BR" sz="2000" dirty="0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4972832" y="2064364"/>
            <a:ext cx="1552479" cy="124194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Tempo médio de vida</a:t>
            </a:r>
          </a:p>
          <a:p>
            <a:pPr algn="ctr"/>
            <a:r>
              <a:rPr lang="pt-BR" sz="2000" dirty="0" smtClean="0"/>
              <a:t>53 dias</a:t>
            </a:r>
            <a:endParaRPr lang="pt-BR" sz="2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6190493" y="3472528"/>
            <a:ext cx="2770495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400" dirty="0" smtClean="0"/>
              <a:t>Souza Cruz </a:t>
            </a:r>
          </a:p>
          <a:p>
            <a:r>
              <a:rPr lang="pt-BR" sz="1400" dirty="0" smtClean="0"/>
              <a:t>Alarme Processamento </a:t>
            </a:r>
            <a:r>
              <a:rPr lang="pt-BR" sz="1400" dirty="0" err="1" smtClean="0"/>
              <a:t>Ayty</a:t>
            </a:r>
            <a:r>
              <a:rPr lang="pt-BR" sz="1400" dirty="0" smtClean="0"/>
              <a:t> </a:t>
            </a:r>
            <a:r>
              <a:rPr lang="pt-BR" sz="1400" dirty="0" err="1" smtClean="0"/>
              <a:t>Itau</a:t>
            </a:r>
            <a:endParaRPr lang="pt-BR" sz="1400" dirty="0" smtClean="0"/>
          </a:p>
          <a:p>
            <a:r>
              <a:rPr lang="pt-BR" sz="1400" dirty="0" smtClean="0"/>
              <a:t>Front Fácil</a:t>
            </a:r>
          </a:p>
          <a:p>
            <a:r>
              <a:rPr lang="pt-BR" sz="1400" dirty="0" smtClean="0"/>
              <a:t>MPLS Upgrade Comércio -NGR</a:t>
            </a:r>
            <a:endParaRPr lang="pt-BR" sz="1400" dirty="0"/>
          </a:p>
        </p:txBody>
      </p:sp>
      <p:sp>
        <p:nvSpPr>
          <p:cNvPr id="5" name="Retângulo de cantos arredondados 4"/>
          <p:cNvSpPr/>
          <p:nvPr/>
        </p:nvSpPr>
        <p:spPr>
          <a:xfrm>
            <a:off x="112734" y="4077199"/>
            <a:ext cx="4667031" cy="307287"/>
          </a:xfrm>
          <a:prstGeom prst="roundRect">
            <a:avLst/>
          </a:prstGeom>
          <a:solidFill>
            <a:srgbClr val="FF00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359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89296" y="-8207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Problemas – Indicador performance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3" name="Gráfico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663767"/>
              </p:ext>
            </p:extLst>
          </p:nvPr>
        </p:nvGraphicFramePr>
        <p:xfrm>
          <a:off x="125260" y="1521315"/>
          <a:ext cx="4841388" cy="3050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394648" y="710644"/>
            <a:ext cx="48529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Estabilidade da solução de contorno e ou soluções parciais</a:t>
            </a:r>
            <a:endParaRPr lang="pt-BR" sz="20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611875" y="4603012"/>
            <a:ext cx="4137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Excluiu-se 8 tickets registrados há menos de 15 dias </a:t>
            </a:r>
            <a:endParaRPr lang="pt-BR" sz="1400" dirty="0"/>
          </a:p>
        </p:txBody>
      </p:sp>
      <p:cxnSp>
        <p:nvCxnSpPr>
          <p:cNvPr id="14" name="Conector reto 13"/>
          <p:cNvCxnSpPr/>
          <p:nvPr/>
        </p:nvCxnSpPr>
        <p:spPr>
          <a:xfrm>
            <a:off x="4966648" y="873457"/>
            <a:ext cx="0" cy="3698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314961" y="1009934"/>
            <a:ext cx="3725839" cy="3416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dirty="0" smtClean="0"/>
              <a:t>Análise RCA</a:t>
            </a:r>
          </a:p>
          <a:p>
            <a:r>
              <a:rPr lang="pt-BR" sz="2000" dirty="0" smtClean="0"/>
              <a:t>17 dias</a:t>
            </a:r>
          </a:p>
          <a:p>
            <a:endParaRPr lang="pt-BR" sz="2000" dirty="0"/>
          </a:p>
          <a:p>
            <a:r>
              <a:rPr lang="pt-BR" sz="2000" dirty="0" smtClean="0"/>
              <a:t>Média em fase de implantação de solução</a:t>
            </a:r>
          </a:p>
          <a:p>
            <a:r>
              <a:rPr lang="pt-BR" sz="2000" dirty="0" smtClean="0"/>
              <a:t>28 dias</a:t>
            </a:r>
          </a:p>
          <a:p>
            <a:endParaRPr lang="pt-BR" sz="2000" dirty="0"/>
          </a:p>
          <a:p>
            <a:r>
              <a:rPr lang="pt-BR" sz="2000" dirty="0" smtClean="0"/>
              <a:t>Tempo de vida em homologação</a:t>
            </a:r>
          </a:p>
          <a:p>
            <a:r>
              <a:rPr lang="pt-BR" sz="2000" dirty="0" smtClean="0"/>
              <a:t>12 dias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488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394648" y="69821"/>
            <a:ext cx="646886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Problemas –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oot Cause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Analysis</a:t>
            </a:r>
            <a:endParaRPr lang="pt-BR" sz="20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Gráfico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9586182"/>
              </p:ext>
            </p:extLst>
          </p:nvPr>
        </p:nvGraphicFramePr>
        <p:xfrm>
          <a:off x="-247764" y="1065940"/>
          <a:ext cx="9279029" cy="4082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4255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10906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Problemas – Origem Falhas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1713304"/>
              </p:ext>
            </p:extLst>
          </p:nvPr>
        </p:nvGraphicFramePr>
        <p:xfrm>
          <a:off x="-325677" y="1367831"/>
          <a:ext cx="4897677" cy="2966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Gráfico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8962546"/>
              </p:ext>
            </p:extLst>
          </p:nvPr>
        </p:nvGraphicFramePr>
        <p:xfrm>
          <a:off x="3845098" y="1362466"/>
          <a:ext cx="5436687" cy="3547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22459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10906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Problemas – Correção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Gráfico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0254508"/>
              </p:ext>
            </p:extLst>
          </p:nvPr>
        </p:nvGraphicFramePr>
        <p:xfrm>
          <a:off x="-137786" y="1182415"/>
          <a:ext cx="8558455" cy="387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8029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10906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Problemas – Vulnerabilidades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6599190"/>
              </p:ext>
            </p:extLst>
          </p:nvPr>
        </p:nvGraphicFramePr>
        <p:xfrm>
          <a:off x="0" y="1202530"/>
          <a:ext cx="8939284" cy="3945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1812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50104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10906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Novo modelo de controle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89768" y="1138473"/>
            <a:ext cx="78349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pt-BR" sz="2000" dirty="0" smtClean="0">
                <a:latin typeface="Calibri" pitchFamily="34" charset="0"/>
              </a:rPr>
              <a:t>Uso de formulário temporário que permite enriquecimento de dados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2000" dirty="0" smtClean="0">
                <a:latin typeface="Calibri" pitchFamily="34" charset="0"/>
              </a:rPr>
              <a:t>Controle mais adequado dos problemas – em melhoria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2000" dirty="0" smtClean="0">
                <a:latin typeface="Calibri" pitchFamily="34" charset="0"/>
              </a:rPr>
              <a:t>Automatização do processo de comunicação para abertura, </a:t>
            </a:r>
            <a:r>
              <a:rPr lang="pt-BR" sz="2000" dirty="0" err="1" smtClean="0">
                <a:latin typeface="Calibri" pitchFamily="34" charset="0"/>
              </a:rPr>
              <a:t>report</a:t>
            </a:r>
            <a:r>
              <a:rPr lang="pt-BR" sz="2000" dirty="0" smtClean="0">
                <a:latin typeface="Calibri" pitchFamily="34" charset="0"/>
              </a:rPr>
              <a:t> e </a:t>
            </a:r>
            <a:r>
              <a:rPr lang="pt-BR" sz="2000" dirty="0" err="1" smtClean="0">
                <a:latin typeface="Calibri" pitchFamily="34" charset="0"/>
              </a:rPr>
              <a:t>escalonameno</a:t>
            </a:r>
            <a:r>
              <a:rPr lang="pt-BR" sz="2000" dirty="0" smtClean="0">
                <a:latin typeface="Calibri" pitchFamily="34" charset="0"/>
              </a:rPr>
              <a:t> dos problemas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2000" dirty="0" smtClean="0">
                <a:latin typeface="Calibri" pitchFamily="34" charset="0"/>
              </a:rPr>
              <a:t>Ganho de eficiência e visibilidade dos ofensores.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pt-BR" sz="2000" dirty="0" smtClean="0">
                <a:latin typeface="Calibri" pitchFamily="34" charset="0"/>
              </a:rPr>
              <a:t>Planejamento estratégico</a:t>
            </a:r>
            <a:endParaRPr lang="pt-BR" sz="2000" dirty="0">
              <a:latin typeface="Calibri" pitchFamily="34" charset="0"/>
            </a:endParaRPr>
          </a:p>
        </p:txBody>
      </p:sp>
      <p:sp>
        <p:nvSpPr>
          <p:cNvPr id="3" name="Retângulo de cantos arredondados 2">
            <a:hlinkClick r:id="rId5"/>
          </p:cNvPr>
          <p:cNvSpPr/>
          <p:nvPr/>
        </p:nvSpPr>
        <p:spPr>
          <a:xfrm>
            <a:off x="995160" y="3328554"/>
            <a:ext cx="1529686" cy="156949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Ficha de problemas</a:t>
            </a:r>
            <a:endParaRPr lang="pt-BR" sz="1600" b="1" dirty="0"/>
          </a:p>
        </p:txBody>
      </p:sp>
      <p:sp>
        <p:nvSpPr>
          <p:cNvPr id="9" name="Retângulo de cantos arredondados 8">
            <a:hlinkClick r:id="rId6"/>
          </p:cNvPr>
          <p:cNvSpPr/>
          <p:nvPr/>
        </p:nvSpPr>
        <p:spPr>
          <a:xfrm>
            <a:off x="2824334" y="3328554"/>
            <a:ext cx="1465886" cy="156949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Solicitação de registro </a:t>
            </a:r>
            <a:endParaRPr lang="pt-BR" sz="1600" b="1" dirty="0"/>
          </a:p>
        </p:txBody>
      </p:sp>
      <p:sp>
        <p:nvSpPr>
          <p:cNvPr id="11" name="Retângulo de cantos arredondados 10">
            <a:hlinkClick r:id="rId7"/>
          </p:cNvPr>
          <p:cNvSpPr/>
          <p:nvPr/>
        </p:nvSpPr>
        <p:spPr>
          <a:xfrm>
            <a:off x="4642645" y="3328554"/>
            <a:ext cx="1580746" cy="156949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 smtClean="0"/>
              <a:t>Dashbord</a:t>
            </a:r>
            <a:r>
              <a:rPr lang="pt-BR" sz="1600" b="1" dirty="0" smtClean="0"/>
              <a:t> de controle operacional e escalonamento gerencial</a:t>
            </a:r>
            <a:endParaRPr lang="pt-BR" sz="1600" b="1" dirty="0"/>
          </a:p>
        </p:txBody>
      </p:sp>
      <p:sp>
        <p:nvSpPr>
          <p:cNvPr id="12" name="Retângulo de cantos arredondados 11">
            <a:hlinkClick r:id="rId8"/>
          </p:cNvPr>
          <p:cNvSpPr/>
          <p:nvPr/>
        </p:nvSpPr>
        <p:spPr>
          <a:xfrm>
            <a:off x="6572306" y="3328552"/>
            <a:ext cx="1520828" cy="156949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 smtClean="0"/>
              <a:t>Dashbord</a:t>
            </a:r>
            <a:r>
              <a:rPr lang="pt-BR" sz="1600" b="1" dirty="0" smtClean="0"/>
              <a:t> de escalonamento executivo</a:t>
            </a:r>
            <a:endParaRPr lang="pt-BR" sz="1600" b="1" dirty="0"/>
          </a:p>
        </p:txBody>
      </p:sp>
    </p:spTree>
    <p:extLst>
      <p:ext uri="{BB962C8B-B14F-4D97-AF65-F5344CB8AC3E}">
        <p14:creationId xmlns:p14="http://schemas.microsoft.com/office/powerpoint/2010/main" val="53685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-22487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 </a:t>
            </a:r>
            <a:r>
              <a:rPr lang="pt-BR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Qualidade em Gravação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1814444"/>
            <a:ext cx="2716382" cy="32365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/>
                </a:solidFill>
              </a:rPr>
              <a:t>Arranque do </a:t>
            </a:r>
            <a:r>
              <a:rPr lang="pt-BR" sz="1200" b="1" dirty="0" smtClean="0">
                <a:solidFill>
                  <a:schemeClr val="tx1"/>
                </a:solidFill>
              </a:rPr>
              <a:t>“Piloto</a:t>
            </a:r>
            <a:r>
              <a:rPr lang="pt-BR" sz="1200" b="1" dirty="0">
                <a:solidFill>
                  <a:schemeClr val="tx1"/>
                </a:solidFill>
              </a:rPr>
              <a:t>” </a:t>
            </a:r>
            <a:r>
              <a:rPr lang="pt-BR" sz="1200" b="1" dirty="0" smtClean="0">
                <a:solidFill>
                  <a:schemeClr val="tx1"/>
                </a:solidFill>
              </a:rPr>
              <a:t>na OI </a:t>
            </a:r>
            <a:r>
              <a:rPr lang="pt-BR" sz="1200" dirty="0" smtClean="0">
                <a:solidFill>
                  <a:schemeClr val="tx1"/>
                </a:solidFill>
              </a:rPr>
              <a:t>- </a:t>
            </a:r>
            <a:r>
              <a:rPr lang="pt-BR" sz="1200" dirty="0">
                <a:solidFill>
                  <a:schemeClr val="tx1"/>
                </a:solidFill>
              </a:rPr>
              <a:t>Implantar a nova metodologia de recuperação de </a:t>
            </a:r>
            <a:r>
              <a:rPr lang="pt-BR" sz="1200" dirty="0" smtClean="0">
                <a:solidFill>
                  <a:schemeClr val="tx1"/>
                </a:solidFill>
              </a:rPr>
              <a:t>chamados.</a:t>
            </a:r>
            <a:endParaRPr lang="pt-PT" sz="1200" u="sng" dirty="0" smtClean="0">
              <a:solidFill>
                <a:schemeClr val="tx1"/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PT" sz="1200" b="1" u="sng" dirty="0" smtClean="0">
                <a:solidFill>
                  <a:schemeClr val="tx1"/>
                </a:solidFill>
              </a:rPr>
              <a:t>Reunião com a equipe de projeto de Centralização cancelada pela 3° vez.</a:t>
            </a:r>
            <a:r>
              <a:rPr lang="pt-PT" sz="1200" u="sng" dirty="0" smtClean="0">
                <a:solidFill>
                  <a:schemeClr val="tx1"/>
                </a:solidFill>
              </a:rPr>
              <a:t> </a:t>
            </a:r>
            <a:r>
              <a:rPr lang="pt-PT" sz="1200" dirty="0" smtClean="0">
                <a:solidFill>
                  <a:schemeClr val="tx1"/>
                </a:solidFill>
              </a:rPr>
              <a:t>Continuamos sem alinhar a estratégia para os dois porojetos.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 smtClean="0">
                <a:solidFill>
                  <a:schemeClr val="tx1"/>
                </a:solidFill>
              </a:rPr>
              <a:t>Finalizada a analise </a:t>
            </a:r>
            <a:r>
              <a:rPr lang="pt-BR" sz="1200" b="1" dirty="0">
                <a:solidFill>
                  <a:schemeClr val="tx1"/>
                </a:solidFill>
              </a:rPr>
              <a:t>das necessidades </a:t>
            </a:r>
            <a:r>
              <a:rPr lang="pt-BR" sz="1200" dirty="0">
                <a:solidFill>
                  <a:schemeClr val="tx1"/>
                </a:solidFill>
              </a:rPr>
              <a:t>de Alarmes, Faróis e Nova tela Consolidada e definição dos prazos (Novas demanda/melhorias</a:t>
            </a:r>
            <a:r>
              <a:rPr lang="pt-BR" sz="1200" dirty="0" smtClean="0">
                <a:solidFill>
                  <a:schemeClr val="tx1"/>
                </a:solidFill>
              </a:rPr>
              <a:t>) na </a:t>
            </a:r>
            <a:r>
              <a:rPr lang="pt-BR" sz="1200" b="1" dirty="0" smtClean="0">
                <a:solidFill>
                  <a:schemeClr val="tx1"/>
                </a:solidFill>
              </a:rPr>
              <a:t>APP Painel.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 err="1" smtClean="0">
                <a:solidFill>
                  <a:schemeClr val="tx1"/>
                </a:solidFill>
              </a:rPr>
              <a:t>App</a:t>
            </a:r>
            <a:r>
              <a:rPr lang="pt-BR" sz="1200" b="1" dirty="0" smtClean="0">
                <a:solidFill>
                  <a:schemeClr val="tx1"/>
                </a:solidFill>
              </a:rPr>
              <a:t> Painel, em homologação </a:t>
            </a:r>
            <a:r>
              <a:rPr lang="pt-PT" sz="1200" dirty="0" smtClean="0">
                <a:solidFill>
                  <a:schemeClr val="tx1"/>
                </a:solidFill>
              </a:rPr>
              <a:t>(</a:t>
            </a:r>
            <a:r>
              <a:rPr lang="pt-BR" sz="1200" dirty="0">
                <a:solidFill>
                  <a:schemeClr val="tx1"/>
                </a:solidFill>
              </a:rPr>
              <a:t>Aba NGR, Bloco Gravação: Colocar farol no item “Falha</a:t>
            </a:r>
            <a:r>
              <a:rPr lang="pt-BR" sz="1200" dirty="0" smtClean="0">
                <a:solidFill>
                  <a:schemeClr val="tx1"/>
                </a:solidFill>
              </a:rPr>
              <a:t>”</a:t>
            </a:r>
            <a:r>
              <a:rPr lang="pt-BR" sz="1200" b="1" dirty="0" smtClean="0">
                <a:solidFill>
                  <a:schemeClr val="tx1"/>
                </a:solidFill>
              </a:rPr>
              <a:t>). </a:t>
            </a:r>
            <a:endParaRPr lang="pt-PT" sz="1200" b="1" dirty="0" smtClean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84623" y="635027"/>
            <a:ext cx="3064339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Qualidade em Gravação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dirty="0"/>
              <a:t>Data Inicio: </a:t>
            </a:r>
            <a:r>
              <a:rPr lang="pt-BR" sz="1200" dirty="0" smtClean="0"/>
              <a:t>24-02-2016  </a:t>
            </a:r>
          </a:p>
          <a:p>
            <a:r>
              <a:rPr lang="pt-BR" sz="1200" dirty="0" smtClean="0"/>
              <a:t>Data </a:t>
            </a:r>
            <a:r>
              <a:rPr lang="pt-BR" sz="1200" dirty="0"/>
              <a:t>Conclusão: </a:t>
            </a:r>
            <a:r>
              <a:rPr lang="pt-BR" sz="1200" strike="sngStrike" dirty="0"/>
              <a:t>23-08-2016</a:t>
            </a:r>
            <a:r>
              <a:rPr lang="pt-BR" sz="1200" dirty="0"/>
              <a:t> </a:t>
            </a:r>
            <a:r>
              <a:rPr lang="pt-BR" sz="1200" dirty="0" smtClean="0"/>
              <a:t>31-10-2016</a:t>
            </a:r>
            <a:endParaRPr lang="pt-BR" sz="1200" dirty="0"/>
          </a:p>
          <a:p>
            <a:r>
              <a:rPr lang="pt-BR" sz="1200" dirty="0"/>
              <a:t>Progresso: </a:t>
            </a:r>
            <a:r>
              <a:rPr lang="pt-BR" sz="1200" dirty="0" smtClean="0"/>
              <a:t>77%</a:t>
            </a:r>
            <a:endParaRPr lang="pt-BR" sz="1200" dirty="0"/>
          </a:p>
          <a:p>
            <a:r>
              <a:rPr lang="pt-BR" sz="1200" dirty="0"/>
              <a:t>PM: </a:t>
            </a:r>
            <a:r>
              <a:rPr lang="pt-BR" sz="1200" dirty="0" err="1"/>
              <a:t>Luis</a:t>
            </a:r>
            <a:r>
              <a:rPr lang="pt-BR" sz="1200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449" y="1817849"/>
            <a:ext cx="2910818" cy="323312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b="1" dirty="0" smtClean="0">
                <a:solidFill>
                  <a:schemeClr val="tx1"/>
                </a:solidFill>
              </a:rPr>
              <a:t>“</a:t>
            </a:r>
            <a:r>
              <a:rPr lang="pt-PT" sz="1200" dirty="0" smtClean="0">
                <a:solidFill>
                  <a:schemeClr val="tx1"/>
                </a:solidFill>
              </a:rPr>
              <a:t>Planejar o RollOut (sequencia de operações e treinamento)  para implatação do modulo de recuperação de chamados.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/>
                </a:solidFill>
              </a:rPr>
              <a:t>Desenvolvimento do modulo de recuperação de chamados, associados a </a:t>
            </a:r>
            <a:r>
              <a:rPr lang="pt-BR" sz="1200" dirty="0" err="1">
                <a:solidFill>
                  <a:schemeClr val="tx1"/>
                </a:solidFill>
              </a:rPr>
              <a:t>SLAs</a:t>
            </a:r>
            <a:r>
              <a:rPr lang="pt-BR" sz="1200" dirty="0">
                <a:solidFill>
                  <a:schemeClr val="tx1"/>
                </a:solidFill>
              </a:rPr>
              <a:t> e </a:t>
            </a:r>
            <a:r>
              <a:rPr lang="pt-BR" sz="1200" dirty="0" err="1" smtClean="0">
                <a:solidFill>
                  <a:schemeClr val="tx1"/>
                </a:solidFill>
              </a:rPr>
              <a:t>OLAs</a:t>
            </a:r>
            <a:r>
              <a:rPr lang="pt-BR" sz="1200" dirty="0" smtClean="0">
                <a:solidFill>
                  <a:schemeClr val="tx1"/>
                </a:solidFill>
              </a:rPr>
              <a:t>.</a:t>
            </a:r>
            <a:endParaRPr lang="pt-PT" sz="1200" dirty="0" smtClean="0">
              <a:solidFill>
                <a:schemeClr val="tx1"/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b="1" dirty="0">
                <a:solidFill>
                  <a:schemeClr val="tx1"/>
                </a:solidFill>
              </a:rPr>
              <a:t>D</a:t>
            </a:r>
            <a:r>
              <a:rPr lang="pt-BR" sz="1200" b="1" dirty="0" smtClean="0">
                <a:solidFill>
                  <a:schemeClr val="tx1"/>
                </a:solidFill>
              </a:rPr>
              <a:t>esenvolvimento as novas </a:t>
            </a:r>
            <a:r>
              <a:rPr lang="pt-BR" sz="1200" b="1" dirty="0">
                <a:solidFill>
                  <a:schemeClr val="tx1"/>
                </a:solidFill>
              </a:rPr>
              <a:t>funcionalidades no Painel de Gravadores </a:t>
            </a:r>
            <a:r>
              <a:rPr lang="pt-BR" sz="1200" dirty="0">
                <a:solidFill>
                  <a:schemeClr val="tx1"/>
                </a:solidFill>
              </a:rPr>
              <a:t>- </a:t>
            </a:r>
            <a:r>
              <a:rPr lang="pt-BR" sz="1200" dirty="0" smtClean="0">
                <a:solidFill>
                  <a:schemeClr val="tx1"/>
                </a:solidFill>
              </a:rPr>
              <a:t>DEMANDAS-5806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b="1" dirty="0" smtClean="0">
                <a:solidFill>
                  <a:schemeClr val="tx1"/>
                </a:solidFill>
              </a:rPr>
              <a:t>Desenvolvimento da Tela para o NOC visualizar a APP Painel.</a:t>
            </a:r>
            <a:endParaRPr lang="pt-BR" sz="1200" b="1" dirty="0">
              <a:solidFill>
                <a:schemeClr val="tx1"/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/>
                </a:solidFill>
              </a:rPr>
              <a:t>Acionamento da ferramenta</a:t>
            </a:r>
            <a:r>
              <a:rPr lang="pt-BR" sz="1200" b="1" dirty="0" smtClean="0">
                <a:solidFill>
                  <a:schemeClr val="tx1"/>
                </a:solidFill>
              </a:rPr>
              <a:t> Painel no NOC</a:t>
            </a:r>
            <a:r>
              <a:rPr lang="pt-BR" sz="1200" dirty="0" smtClean="0">
                <a:solidFill>
                  <a:schemeClr val="tx1"/>
                </a:solidFill>
              </a:rPr>
              <a:t>.</a:t>
            </a:r>
            <a:endParaRPr lang="pt-BR" sz="1200" dirty="0">
              <a:solidFill>
                <a:schemeClr val="tx1"/>
              </a:solidFill>
            </a:endParaRPr>
          </a:p>
          <a:p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225443" y="1797446"/>
            <a:ext cx="2716382" cy="325352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chemeClr val="tx1"/>
                </a:solidFill>
              </a:rPr>
              <a:t>Observações: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/>
                </a:solidFill>
              </a:rPr>
              <a:t>Tomada de posição do Comitê</a:t>
            </a:r>
            <a:r>
              <a:rPr lang="pt-BR" sz="1200" dirty="0" smtClean="0">
                <a:solidFill>
                  <a:schemeClr val="tx1"/>
                </a:solidFill>
              </a:rPr>
              <a:t>, para decidir sobre, </a:t>
            </a:r>
            <a:r>
              <a:rPr lang="pt-BR" sz="1200" dirty="0">
                <a:solidFill>
                  <a:schemeClr val="tx1"/>
                </a:solidFill>
              </a:rPr>
              <a:t>se este projeto </a:t>
            </a:r>
            <a:r>
              <a:rPr lang="pt-BR" sz="1200" u="sng" dirty="0" smtClean="0">
                <a:solidFill>
                  <a:schemeClr val="tx1"/>
                </a:solidFill>
              </a:rPr>
              <a:t>continua </a:t>
            </a:r>
            <a:r>
              <a:rPr lang="pt-BR" sz="1200" u="sng" dirty="0">
                <a:solidFill>
                  <a:schemeClr val="tx1"/>
                </a:solidFill>
              </a:rPr>
              <a:t>com a </a:t>
            </a:r>
            <a:r>
              <a:rPr lang="pt-BR" sz="1200" u="sng" dirty="0" smtClean="0">
                <a:solidFill>
                  <a:schemeClr val="tx1"/>
                </a:solidFill>
              </a:rPr>
              <a:t>implantação do </a:t>
            </a:r>
            <a:r>
              <a:rPr lang="pt-BR" sz="1200" u="sng" dirty="0">
                <a:solidFill>
                  <a:schemeClr val="tx1"/>
                </a:solidFill>
              </a:rPr>
              <a:t>“piloto</a:t>
            </a:r>
            <a:r>
              <a:rPr lang="pt-BR" sz="1200" u="sng" dirty="0" smtClean="0">
                <a:solidFill>
                  <a:schemeClr val="tx1"/>
                </a:solidFill>
              </a:rPr>
              <a:t>” e </a:t>
            </a:r>
            <a:r>
              <a:rPr lang="pt-BR" sz="1200" u="sng" dirty="0" err="1" smtClean="0">
                <a:solidFill>
                  <a:schemeClr val="tx1"/>
                </a:solidFill>
              </a:rPr>
              <a:t>RollOut</a:t>
            </a:r>
            <a:r>
              <a:rPr lang="pt-BR" sz="1200" u="sng" dirty="0" smtClean="0">
                <a:solidFill>
                  <a:schemeClr val="tx1"/>
                </a:solidFill>
              </a:rPr>
              <a:t>, do modulo</a:t>
            </a:r>
            <a:r>
              <a:rPr lang="pt-BR" sz="1200" b="1" u="sng" dirty="0" smtClean="0">
                <a:solidFill>
                  <a:schemeClr val="tx1"/>
                </a:solidFill>
              </a:rPr>
              <a:t> </a:t>
            </a:r>
            <a:r>
              <a:rPr lang="pt-BR" sz="1200" b="1" u="sng" dirty="0">
                <a:solidFill>
                  <a:schemeClr val="tx1"/>
                </a:solidFill>
              </a:rPr>
              <a:t>de </a:t>
            </a:r>
            <a:r>
              <a:rPr lang="pt-BR" sz="1200" b="1" u="sng" dirty="0" smtClean="0">
                <a:solidFill>
                  <a:schemeClr val="tx1"/>
                </a:solidFill>
              </a:rPr>
              <a:t>Recuperação de gravação</a:t>
            </a:r>
            <a:r>
              <a:rPr lang="pt-BR" sz="1200" b="1" dirty="0" smtClean="0">
                <a:solidFill>
                  <a:schemeClr val="tx1"/>
                </a:solidFill>
              </a:rPr>
              <a:t>,</a:t>
            </a:r>
            <a:r>
              <a:rPr lang="pt-BR" sz="1200" dirty="0" smtClean="0">
                <a:solidFill>
                  <a:schemeClr val="tx1"/>
                </a:solidFill>
              </a:rPr>
              <a:t> </a:t>
            </a:r>
            <a:r>
              <a:rPr lang="pt-BR" sz="1200" dirty="0">
                <a:solidFill>
                  <a:schemeClr val="tx1"/>
                </a:solidFill>
              </a:rPr>
              <a:t>que está na fase final de homologação</a:t>
            </a:r>
            <a:r>
              <a:rPr lang="pt-BR" sz="1200" dirty="0" smtClean="0">
                <a:solidFill>
                  <a:schemeClr val="tx1"/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/>
                </a:solidFill>
              </a:rPr>
              <a:t>Treinamento do piloto com OI mais estendido,  implica </a:t>
            </a:r>
            <a:r>
              <a:rPr lang="pt-BR" sz="1200" b="1" dirty="0" smtClean="0">
                <a:solidFill>
                  <a:schemeClr val="tx1"/>
                </a:solidFill>
              </a:rPr>
              <a:t>nova data de conclusão do projeto (31 Out).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PT" sz="1200" b="1" dirty="0">
                <a:solidFill>
                  <a:srgbClr val="00B050"/>
                </a:solidFill>
              </a:rPr>
              <a:t>Constatação de redução acentuada de multas nos últimos dois </a:t>
            </a:r>
            <a:r>
              <a:rPr lang="pt-PT" sz="1200" b="1" dirty="0" smtClean="0">
                <a:solidFill>
                  <a:srgbClr val="00B050"/>
                </a:solidFill>
              </a:rPr>
              <a:t>meses, como resultado das iniciativas do projeto. </a:t>
            </a:r>
            <a:endParaRPr lang="pt-BR" sz="1200" b="1" dirty="0">
              <a:solidFill>
                <a:srgbClr val="00B050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45800" y="642950"/>
            <a:ext cx="5559600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/>
              <a:t>Este projeto tem como escopo, executar um </a:t>
            </a:r>
            <a:r>
              <a:rPr lang="pt-BR" sz="1400" b="1" dirty="0"/>
              <a:t>plano de ação para eliminar multas (de gravação)</a:t>
            </a:r>
            <a:r>
              <a:rPr lang="pt-BR" sz="1400" dirty="0"/>
              <a:t> nos clientes </a:t>
            </a:r>
            <a:r>
              <a:rPr lang="pt-BR" sz="1400" dirty="0" smtClean="0"/>
              <a:t>Contax.</a:t>
            </a:r>
          </a:p>
          <a:p>
            <a:r>
              <a:rPr lang="pt-BR" sz="1400" dirty="0"/>
              <a:t>Vamos adotar o trabalho baseado em PPT (</a:t>
            </a:r>
            <a:r>
              <a:rPr lang="pt-BR" sz="1400" b="1" dirty="0"/>
              <a:t>Pessoas – Processos – Tecnologia</a:t>
            </a:r>
            <a:r>
              <a:rPr lang="pt-BR" sz="1400" dirty="0" smtClean="0"/>
              <a:t>)</a:t>
            </a:r>
            <a:r>
              <a:rPr lang="pt-BR" sz="1400" dirty="0"/>
              <a:t>.</a:t>
            </a:r>
          </a:p>
        </p:txBody>
      </p:sp>
      <p:grpSp>
        <p:nvGrpSpPr>
          <p:cNvPr id="25" name="Group 27"/>
          <p:cNvGrpSpPr>
            <a:grpSpLocks/>
          </p:cNvGrpSpPr>
          <p:nvPr/>
        </p:nvGrpSpPr>
        <p:grpSpPr bwMode="auto">
          <a:xfrm>
            <a:off x="2841062" y="1317432"/>
            <a:ext cx="274637" cy="274638"/>
            <a:chOff x="0" y="0"/>
            <a:chExt cx="173" cy="173"/>
          </a:xfrm>
        </p:grpSpPr>
        <p:sp>
          <p:nvSpPr>
            <p:cNvPr id="26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7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grpSp>
        <p:nvGrpSpPr>
          <p:cNvPr id="19" name="Group 34"/>
          <p:cNvGrpSpPr>
            <a:grpSpLocks/>
          </p:cNvGrpSpPr>
          <p:nvPr/>
        </p:nvGrpSpPr>
        <p:grpSpPr bwMode="auto">
          <a:xfrm>
            <a:off x="2836501" y="1319079"/>
            <a:ext cx="274638" cy="274638"/>
            <a:chOff x="0" y="0"/>
            <a:chExt cx="173" cy="173"/>
          </a:xfrm>
        </p:grpSpPr>
        <p:sp>
          <p:nvSpPr>
            <p:cNvPr id="20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2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3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pic>
        <p:nvPicPr>
          <p:cNvPr id="7" name="Imagem 6">
            <a:hlinkClick r:id="rId6" action="ppaction://hlinkfil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8957" y="1817849"/>
            <a:ext cx="506444" cy="533714"/>
          </a:xfrm>
          <a:prstGeom prst="rect">
            <a:avLst/>
          </a:prstGeom>
        </p:spPr>
      </p:pic>
      <p:pic>
        <p:nvPicPr>
          <p:cNvPr id="35" name="Imagem 34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3341" y="4214701"/>
            <a:ext cx="394672" cy="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253" y="66268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8248" y="-44825"/>
            <a:ext cx="7754134" cy="4653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 </a:t>
            </a:r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Gravação (Nice)- Elektro, </a:t>
            </a:r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LATAM </a:t>
            </a:r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Bradesco 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1653187"/>
            <a:ext cx="2716382" cy="34950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PT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fase de conclusão o projeto TAM </a:t>
            </a:r>
            <a:r>
              <a:rPr lang="pt-PT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</a:t>
            </a:r>
            <a:r>
              <a:rPr lang="pt-PT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plataforma NICE</a:t>
            </a:r>
            <a:r>
              <a:rPr lang="pt-PT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533975"/>
            <a:ext cx="3064339" cy="997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Gravação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(NICE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</a:p>
          <a:p>
            <a:r>
              <a:rPr lang="pt-BR" sz="1200" i="1" dirty="0" smtClean="0"/>
              <a:t>Data Inicio: 02-05-2016</a:t>
            </a:r>
          </a:p>
          <a:p>
            <a:r>
              <a:rPr lang="pt-BR" sz="1200" i="1" dirty="0" smtClean="0"/>
              <a:t>Data Conclusão:</a:t>
            </a:r>
            <a:r>
              <a:rPr lang="pt-BR" sz="1200" i="1" strike="sngStrike" dirty="0" smtClean="0"/>
              <a:t> </a:t>
            </a:r>
            <a:r>
              <a:rPr lang="pt-BR" sz="1200" i="1" dirty="0" smtClean="0"/>
              <a:t>29-07-2016</a:t>
            </a:r>
          </a:p>
          <a:p>
            <a:r>
              <a:rPr lang="pt-BR" sz="1200" i="1" dirty="0" smtClean="0"/>
              <a:t>Progresso: 60%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Luis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1653187"/>
            <a:ext cx="2716382" cy="349507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Ações</a:t>
            </a:r>
            <a:endParaRPr lang="pt-PT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Receber lista de ramais e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IPs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da Operação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Bradesco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Transporte de um servidor para Lapa e colocação do servidor no CPD (rack, elétrica, rede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Configuração do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extreame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Bradesco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Configuração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ramais no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gravador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Bradesco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Homologação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Bradesco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5949946" y="1653188"/>
            <a:ext cx="2852531" cy="34950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Observação: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 228/000991 - 5</a:t>
            </a:r>
            <a:r>
              <a:rPr lang="pt-PT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licenças Win Server 2012 R2 Standard.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Ver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contratualmente a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vigência de retenção das gravações (5 anos?),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garantir a execução do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processo junto da equipe de backups.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VIVO é retirado do escopo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projeto, após analise de contrato e revisto estudo de viabilidade.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PT" sz="1100" b="1" dirty="0" smtClean="0">
                <a:solidFill>
                  <a:srgbClr val="FF0000"/>
                </a:solidFill>
              </a:rPr>
              <a:t>Risco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LATAM: Revisitar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contrato,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expor vulnerabilidade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contratual,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relativamente aos procedimentos de recuperação de gravações, e avaliar/sugerir ajustes mais favoráveis para a Contax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547731"/>
            <a:ext cx="5338175" cy="9836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adequar infra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HW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instalar 3K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licenças de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gravação, atualmente sem uso. O escopo são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Elektro, TAM, Vivo e Bradesco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0" name="Group 12"/>
          <p:cNvGrpSpPr>
            <a:grpSpLocks/>
          </p:cNvGrpSpPr>
          <p:nvPr/>
        </p:nvGrpSpPr>
        <p:grpSpPr bwMode="auto">
          <a:xfrm>
            <a:off x="2898959" y="1195861"/>
            <a:ext cx="274637" cy="274638"/>
            <a:chOff x="0" y="0"/>
            <a:chExt cx="173" cy="173"/>
          </a:xfrm>
        </p:grpSpPr>
        <p:sp>
          <p:nvSpPr>
            <p:cNvPr id="21" name="Oval 13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14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15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grpSp>
        <p:nvGrpSpPr>
          <p:cNvPr id="19" name="Group 27"/>
          <p:cNvGrpSpPr>
            <a:grpSpLocks/>
          </p:cNvGrpSpPr>
          <p:nvPr/>
        </p:nvGrpSpPr>
        <p:grpSpPr bwMode="auto">
          <a:xfrm>
            <a:off x="2895492" y="1195197"/>
            <a:ext cx="274637" cy="274638"/>
            <a:chOff x="0" y="0"/>
            <a:chExt cx="173" cy="173"/>
          </a:xfrm>
        </p:grpSpPr>
        <p:sp>
          <p:nvSpPr>
            <p:cNvPr id="24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5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6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7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3484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31650" y="-5486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 Projeto: </a:t>
            </a:r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Redundância links MPLS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158943" y="1869351"/>
            <a:ext cx="2778560" cy="277884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Executado com sucesso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23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Junho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a correção das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configurações de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BGP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 operadora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Algar,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nos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CPE dos </a:t>
            </a:r>
            <a:r>
              <a:rPr lang="pt-BR" sz="1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Sites Antártica e Luigi </a:t>
            </a:r>
            <a:r>
              <a:rPr lang="pt-BR" sz="1200" u="sng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Amorese</a:t>
            </a:r>
            <a:r>
              <a:rPr lang="pt-BR" sz="1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694874"/>
            <a:ext cx="3064339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Redundância links MPLS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01-12-2015</a:t>
            </a:r>
          </a:p>
          <a:p>
            <a:r>
              <a:rPr lang="pt-BR" sz="1200" i="1" dirty="0" smtClean="0"/>
              <a:t>Data Conclusão: 30-09-2016</a:t>
            </a:r>
          </a:p>
          <a:p>
            <a:r>
              <a:rPr lang="pt-BR" sz="1200" i="1" dirty="0" smtClean="0"/>
              <a:t>Progresso: 66%</a:t>
            </a:r>
          </a:p>
          <a:p>
            <a:r>
              <a:rPr lang="pt-BR" sz="1200" i="1" dirty="0" smtClean="0"/>
              <a:t>PM: </a:t>
            </a:r>
            <a:r>
              <a:rPr lang="pt-BR" sz="1200" i="1" dirty="0" err="1" smtClean="0"/>
              <a:t>Luis</a:t>
            </a:r>
            <a:r>
              <a:rPr lang="pt-BR" sz="1200" i="1" dirty="0" smtClean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1879103"/>
            <a:ext cx="2716382" cy="276909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epetir os testes no site  Antártica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(12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 Julho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Intervenção no site </a:t>
            </a: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Sto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Amaro,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 data definida por motivos estratégicos.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1879103"/>
            <a:ext cx="2716382" cy="276909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 Comitê decidiu excluir os  Datacenters da Alegria e Alphaville 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 escopo do projeto, pelo alto risco associado e impacto nos clientes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rgbClr val="FF0000"/>
                </a:solidFill>
              </a:rPr>
              <a:t>Risco: </a:t>
            </a:r>
            <a:r>
              <a:rPr lang="pt-BR" sz="1200" dirty="0" smtClean="0">
                <a:solidFill>
                  <a:schemeClr val="tx1"/>
                </a:solidFill>
              </a:rPr>
              <a:t>A OI não fornece previsões de instalação/intervenção.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694875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Para </a:t>
            </a:r>
            <a:r>
              <a:rPr lang="pt-BR" sz="1400" dirty="0"/>
              <a:t>dar </a:t>
            </a:r>
            <a:r>
              <a:rPr lang="pt-BR" sz="1400" b="1" dirty="0"/>
              <a:t>resposta imediata </a:t>
            </a:r>
            <a:r>
              <a:rPr lang="pt-BR" sz="1400" dirty="0"/>
              <a:t>a situações recorrentes de incidentes, relacionados com a perda de </a:t>
            </a:r>
            <a:r>
              <a:rPr lang="pt-BR" sz="1400" b="1" dirty="0"/>
              <a:t>Links </a:t>
            </a:r>
            <a:r>
              <a:rPr lang="pt-BR" sz="1400" dirty="0"/>
              <a:t>que interligam os sites da Contax, </a:t>
            </a:r>
            <a:r>
              <a:rPr lang="pt-BR" sz="1400" dirty="0" smtClean="0"/>
              <a:t>este projeto visa, </a:t>
            </a:r>
            <a:r>
              <a:rPr lang="pt-BR" sz="1400" b="1" dirty="0" smtClean="0"/>
              <a:t>Garantir </a:t>
            </a:r>
            <a:r>
              <a:rPr lang="pt-BR" sz="1400" b="1" dirty="0"/>
              <a:t>e documentar a funcionalidade da </a:t>
            </a:r>
            <a:r>
              <a:rPr lang="pt-BR" sz="1400" b="1" dirty="0" smtClean="0"/>
              <a:t>contingência e </a:t>
            </a:r>
            <a:r>
              <a:rPr lang="pt-BR" sz="1400" dirty="0"/>
              <a:t>v</a:t>
            </a:r>
            <a:r>
              <a:rPr lang="pt-BR" sz="1400" dirty="0" smtClean="0"/>
              <a:t>alidar </a:t>
            </a:r>
            <a:r>
              <a:rPr lang="pt-BR" sz="1400" dirty="0"/>
              <a:t>caminhos possíveis e documentar </a:t>
            </a:r>
            <a:r>
              <a:rPr lang="pt-BR" sz="1400" dirty="0" smtClean="0"/>
              <a:t>ações. </a:t>
            </a:r>
            <a:endParaRPr lang="pt-BR" sz="1400" dirty="0"/>
          </a:p>
        </p:txBody>
      </p:sp>
      <p:grpSp>
        <p:nvGrpSpPr>
          <p:cNvPr id="19" name="Group 27"/>
          <p:cNvGrpSpPr>
            <a:grpSpLocks/>
          </p:cNvGrpSpPr>
          <p:nvPr/>
        </p:nvGrpSpPr>
        <p:grpSpPr bwMode="auto">
          <a:xfrm>
            <a:off x="2879694" y="1418250"/>
            <a:ext cx="274637" cy="274638"/>
            <a:chOff x="0" y="0"/>
            <a:chExt cx="173" cy="173"/>
          </a:xfrm>
        </p:grpSpPr>
        <p:sp>
          <p:nvSpPr>
            <p:cNvPr id="20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5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pic>
        <p:nvPicPr>
          <p:cNvPr id="2" name="Imagem 1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5221" y="3323609"/>
            <a:ext cx="1701989" cy="762281"/>
          </a:xfrm>
          <a:prstGeom prst="rect">
            <a:avLst/>
          </a:prstGeom>
        </p:spPr>
      </p:pic>
      <p:pic>
        <p:nvPicPr>
          <p:cNvPr id="26" name="Imagem 2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7883" y="4155605"/>
            <a:ext cx="456663" cy="46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8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-86707"/>
            <a:ext cx="6254098" cy="619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9. Projeto: T2R – Transição de Serviços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54755" y="2012334"/>
            <a:ext cx="2821854" cy="302533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Acompanhamento da solução de automação integrada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de </a:t>
            </a:r>
            <a:r>
              <a:rPr lang="pt-BR" sz="12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checklist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requerimentos mandatórios GMUD.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Produção de indicadores relacionados ao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Alinhamento e revisão do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processode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Projetos com Milene e Paulo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Americo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com ajustes.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Planejamento da implantação dos novos processos e indicadores, considerando automação, treinamento e piloto (em andamento).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63120" y="823866"/>
            <a:ext cx="2945646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85%</a:t>
            </a:r>
          </a:p>
          <a:p>
            <a:r>
              <a:rPr lang="pt-BR" sz="1200" i="1" dirty="0"/>
              <a:t>PM: Adolpho Chacon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214721" y="2012333"/>
            <a:ext cx="2701049" cy="302533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Planejamento e Implantação dos novos critérios para definição de ritos de Mudança ou Projeto (</a:t>
            </a:r>
            <a:r>
              <a:rPr lang="pt-BR" sz="1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pipeline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Completar e obter aceite da documentação de Gerenciamento de Projetos (</a:t>
            </a:r>
            <a:r>
              <a:rPr lang="pt-BR" sz="12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booking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RACI).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Realização do workshop sobre conceitos do T2R (Demandas X Mudanças X Projetos).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Suporte ao time GMUD durante as férias da sua gestora.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53882" y="2012334"/>
            <a:ext cx="2623388" cy="302533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Prazo para desenvolvimento de solução integrada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(380h).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286506" y="823867"/>
            <a:ext cx="5390764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19" name="Group 34"/>
          <p:cNvGrpSpPr>
            <a:grpSpLocks/>
          </p:cNvGrpSpPr>
          <p:nvPr/>
        </p:nvGrpSpPr>
        <p:grpSpPr bwMode="auto">
          <a:xfrm>
            <a:off x="2836497" y="1558566"/>
            <a:ext cx="274638" cy="274638"/>
            <a:chOff x="0" y="0"/>
            <a:chExt cx="173" cy="173"/>
          </a:xfrm>
        </p:grpSpPr>
        <p:sp>
          <p:nvSpPr>
            <p:cNvPr id="27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2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3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97420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76681" y="-43097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 Projeto: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 Internalização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31619" y="2054536"/>
            <a:ext cx="2716382" cy="300983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 concluído: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Atribuição de acesso aos servidores da URA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Santander para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um utilizador.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andamento: Aplicações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URA - Conhecimento e gestão do código fonte.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en-US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rgbClr val="00B050"/>
                </a:solidFill>
              </a:rPr>
              <a:t> </a:t>
            </a:r>
            <a:endParaRPr lang="pt-BR" sz="1200" dirty="0">
              <a:solidFill>
                <a:srgbClr val="00B050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31619" y="776935"/>
            <a:ext cx="3064339" cy="1080993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Ura Internalização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14-4-2016</a:t>
            </a:r>
          </a:p>
          <a:p>
            <a:r>
              <a:rPr lang="pt-BR" sz="1200" i="1" dirty="0" smtClean="0"/>
              <a:t>Data Conclusão: 02-09-2016</a:t>
            </a:r>
          </a:p>
          <a:p>
            <a:r>
              <a:rPr lang="pt-BR" sz="1200" i="1" dirty="0" smtClean="0"/>
              <a:t>Progresso: 32%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err="1" smtClean="0"/>
              <a:t>Luis</a:t>
            </a:r>
            <a:r>
              <a:rPr lang="pt-BR" sz="1200" i="1" dirty="0" smtClean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090783" y="2054535"/>
            <a:ext cx="2716382" cy="298302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de data da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Routing and Solution Reporting 8.1 </a:t>
            </a:r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Deployment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1" indent="-171450"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da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Information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liberar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acesso (usuário e senha)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 aplicação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Administrator nos servidores URA.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5949947" y="2054535"/>
            <a:ext cx="2716382" cy="300983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equipe do José Carlos, esta a adequar-se ao escopo traçado pela equipe, de quem herdou o legado da “Internalização da URA”.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PT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 só para 1 pessoa</a:t>
            </a:r>
            <a:r>
              <a:rPr lang="pt-PT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Necessita de mais tempo para passar conhecimneto para os demais elementos.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modelo de contratação é “spot”, será necessário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adequar as demandas ao nosso prazo de execução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tendo em vista que estes recursos são suportados pelo contrato de outro cliente.  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PT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Capacitação e treinamento interno.</a:t>
            </a:r>
          </a:p>
          <a:p>
            <a:r>
              <a:rPr lang="pt-BR" sz="1400" dirty="0" smtClean="0"/>
              <a:t>O objetivo é não depender de terceiros, e obter prestação de serviço interno com maior qualidade e rapidez, gerando “</a:t>
            </a:r>
            <a:r>
              <a:rPr lang="pt-BR" sz="1400" dirty="0" err="1" smtClean="0"/>
              <a:t>saving</a:t>
            </a:r>
            <a:r>
              <a:rPr lang="pt-BR" sz="1400" dirty="0" smtClean="0"/>
              <a:t>” no investimento de treinamento e certificado. </a:t>
            </a:r>
            <a:endParaRPr lang="pt-BR" sz="1400" dirty="0"/>
          </a:p>
        </p:txBody>
      </p:sp>
      <p:grpSp>
        <p:nvGrpSpPr>
          <p:cNvPr id="22" name="Group 16"/>
          <p:cNvGrpSpPr>
            <a:grpSpLocks/>
          </p:cNvGrpSpPr>
          <p:nvPr/>
        </p:nvGrpSpPr>
        <p:grpSpPr bwMode="auto">
          <a:xfrm>
            <a:off x="2945850" y="1522415"/>
            <a:ext cx="274638" cy="274638"/>
            <a:chOff x="0" y="0"/>
            <a:chExt cx="173" cy="173"/>
          </a:xfrm>
        </p:grpSpPr>
        <p:sp>
          <p:nvSpPr>
            <p:cNvPr id="23" name="Oval 17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18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6" name="Arc 19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7" name="Arc 20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9153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Backups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Liberação de redes em sites  em curso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Instalações dos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clients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junto com as GMUD de WSUS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Atividade de autenticação de integração SQL em andamento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Backup &amp; Restore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Ambiente de Produção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 30-07-2016</a:t>
            </a:r>
          </a:p>
          <a:p>
            <a:r>
              <a:rPr lang="pt-BR" sz="1200" i="1" dirty="0" smtClean="0"/>
              <a:t>Progresso: 81%</a:t>
            </a:r>
          </a:p>
          <a:p>
            <a:r>
              <a:rPr lang="pt-BR" sz="1200" i="1" dirty="0" smtClean="0"/>
              <a:t>PM: Rafael Alves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Testando o snapshot em servidores DHCP 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Padronização de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bkp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dos AD nível BR da empresa em conjunto com o CSE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Iniciado a padronização de BKP do DUMP de DHCP nível BR em conjunto com o CSE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 processo de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bkp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dos FSS da Contax, com uma ação mais segura e efetiva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Regional RJ com falta de fitas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HW de backup (robô) sem garantias e com mais de 5 anos de uso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Armazenamento indevido das mídias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SC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245, SC 993 , Transporte do robô Alegria para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MCK para substituição paradas aguardando aprovações em Comitê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Providenciar Backup em todos os equipamentos de produção da Contax. Garantir plano de </a:t>
            </a:r>
            <a:r>
              <a:rPr lang="pt-BR" sz="1400" dirty="0" err="1" smtClean="0"/>
              <a:t>restore</a:t>
            </a:r>
            <a:r>
              <a:rPr lang="pt-BR" sz="1400" dirty="0" smtClean="0"/>
              <a:t> do ambiente. </a:t>
            </a:r>
            <a:endParaRPr lang="pt-BR" sz="1400" dirty="0"/>
          </a:p>
        </p:txBody>
      </p:sp>
      <p:grpSp>
        <p:nvGrpSpPr>
          <p:cNvPr id="19" name="Group 34"/>
          <p:cNvGrpSpPr>
            <a:grpSpLocks/>
          </p:cNvGrpSpPr>
          <p:nvPr/>
        </p:nvGrpSpPr>
        <p:grpSpPr bwMode="auto">
          <a:xfrm>
            <a:off x="2875505" y="1628366"/>
            <a:ext cx="274638" cy="274638"/>
            <a:chOff x="0" y="0"/>
            <a:chExt cx="173" cy="173"/>
          </a:xfrm>
        </p:grpSpPr>
        <p:sp>
          <p:nvSpPr>
            <p:cNvPr id="20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5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6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pic>
        <p:nvPicPr>
          <p:cNvPr id="27" name="Imagem 2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0980" y="4681316"/>
            <a:ext cx="456663" cy="46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1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62358" y="8805"/>
            <a:ext cx="4724449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 </a:t>
            </a:r>
            <a:r>
              <a:rPr lang="pt-BR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OCS </a:t>
            </a:r>
            <a:r>
              <a:rPr lang="pt-BR" sz="22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Inventory</a:t>
            </a:r>
            <a:endParaRPr lang="pt-BR" sz="22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10572" y="1995233"/>
            <a:ext cx="3223281" cy="26246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cadastrados no OCS: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3.716/3.965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Microsoft	(2.903/3.046)		</a:t>
            </a:r>
            <a:r>
              <a:rPr lang="pt-BR" sz="1400" dirty="0" smtClean="0">
                <a:solidFill>
                  <a:srgbClr val="FF0000"/>
                </a:solidFill>
              </a:rPr>
              <a:t>143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Agente Instalado - Pendencia de Rede </a:t>
            </a:r>
            <a:r>
              <a:rPr lang="pt-BR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87</a:t>
            </a:r>
            <a:endParaRPr lang="pt-BR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(Host) </a:t>
            </a:r>
            <a:r>
              <a:rPr lang="pt-BR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		42</a:t>
            </a:r>
            <a:endParaRPr lang="pt-BR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</a:t>
            </a:r>
            <a:r>
              <a:rPr lang="pt-B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(Host) </a:t>
            </a:r>
            <a:r>
              <a:rPr lang="pt-BR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Usuário </a:t>
            </a:r>
            <a:r>
              <a:rPr lang="pt-B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Senha </a:t>
            </a:r>
            <a:r>
              <a:rPr lang="pt-BR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14</a:t>
            </a:r>
            <a:endParaRPr lang="pt-BR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2">
              <a:spcBef>
                <a:spcPts val="200"/>
              </a:spcBef>
              <a:spcAft>
                <a:spcPts val="200"/>
              </a:spcAft>
            </a:pPr>
            <a:endParaRPr lang="pt-BR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Linux	(813/919)		</a:t>
            </a:r>
            <a:r>
              <a:rPr lang="pt-BR" sz="1400" dirty="0" smtClean="0">
                <a:solidFill>
                  <a:srgbClr val="FF0000"/>
                </a:solidFill>
              </a:rPr>
              <a:t>106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Agente Instalado - Pendencia de Rede	04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</a:t>
            </a:r>
            <a:r>
              <a:rPr lang="pt-B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(Host) </a:t>
            </a:r>
            <a:r>
              <a:rPr lang="pt-BR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Usuário </a:t>
            </a:r>
            <a:r>
              <a:rPr lang="pt-B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 </a:t>
            </a:r>
            <a:r>
              <a:rPr lang="pt-BR" sz="1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Senha            102</a:t>
            </a:r>
            <a:endParaRPr lang="pt-BR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400" dirty="0" smtClean="0">
              <a:solidFill>
                <a:schemeClr val="tx1"/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rgbClr val="FF0000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OCS </a:t>
            </a:r>
            <a:r>
              <a:rPr lang="pt-BR" sz="14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</a:t>
            </a:r>
            <a:endParaRPr lang="pt-BR" sz="1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>
                <a:solidFill>
                  <a:schemeClr val="bg1"/>
                </a:solidFill>
              </a:rPr>
              <a:t>Data Inicio: </a:t>
            </a:r>
            <a:r>
              <a:rPr lang="pt-BR" sz="1200" i="1" dirty="0">
                <a:solidFill>
                  <a:schemeClr val="bg1"/>
                </a:solidFill>
              </a:rPr>
              <a:t>0</a:t>
            </a:r>
            <a:r>
              <a:rPr lang="pt-BR" sz="1200" i="1" dirty="0" smtClean="0">
                <a:solidFill>
                  <a:schemeClr val="bg1"/>
                </a:solidFill>
              </a:rPr>
              <a:t>4-12-2015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Data Conclusão: 10-06-2016</a:t>
            </a:r>
            <a:r>
              <a:rPr lang="pt-BR" sz="1200" i="1" strike="sngStrike" dirty="0" smtClean="0">
                <a:solidFill>
                  <a:schemeClr val="bg1"/>
                </a:solidFill>
              </a:rPr>
              <a:t> 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Progresso: 100%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PM: Felipe Poubel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439885" y="2053020"/>
            <a:ext cx="2716382" cy="256685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Equipe de controle de ativos esta utilizando a ferramenta.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262299" y="2053077"/>
            <a:ext cx="2620663" cy="25668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500737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pt-BR" sz="1400" dirty="0" smtClean="0"/>
              <a:t> OCS </a:t>
            </a:r>
            <a:r>
              <a:rPr lang="pt-BR" sz="1400" dirty="0"/>
              <a:t>é uma ferramenta de </a:t>
            </a:r>
            <a:r>
              <a:rPr lang="pt-BR" sz="1400" dirty="0" smtClean="0"/>
              <a:t>Inventário de servidores para auxiliar a </a:t>
            </a:r>
            <a:r>
              <a:rPr lang="pt-BR" sz="1400" dirty="0"/>
              <a:t>equipe de Controle de Ativos</a:t>
            </a:r>
            <a:r>
              <a:rPr lang="pt-BR" sz="1400" dirty="0" smtClean="0"/>
              <a:t>. </a:t>
            </a:r>
            <a:endParaRPr lang="pt-BR" sz="1400" dirty="0"/>
          </a:p>
        </p:txBody>
      </p:sp>
      <p:pic>
        <p:nvPicPr>
          <p:cNvPr id="25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27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grpSp>
        <p:nvGrpSpPr>
          <p:cNvPr id="20" name="Group 42"/>
          <p:cNvGrpSpPr>
            <a:grpSpLocks/>
          </p:cNvGrpSpPr>
          <p:nvPr/>
        </p:nvGrpSpPr>
        <p:grpSpPr bwMode="auto">
          <a:xfrm>
            <a:off x="2872581" y="1497012"/>
            <a:ext cx="274638" cy="274641"/>
            <a:chOff x="0" y="0"/>
            <a:chExt cx="173" cy="173"/>
          </a:xfrm>
        </p:grpSpPr>
        <p:sp>
          <p:nvSpPr>
            <p:cNvPr id="21" name="Arc 43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44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45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46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6" name="Arc 47"/>
            <p:cNvSpPr>
              <a:spLocks/>
            </p:cNvSpPr>
            <p:nvPr/>
          </p:nvSpPr>
          <p:spPr bwMode="auto">
            <a:xfrm flipH="1">
              <a:off x="0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7" name="Arc 4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8" name="Arc 4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9" name="Oval 5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sp>
        <p:nvSpPr>
          <p:cNvPr id="3" name="Ondulado duplo 2"/>
          <p:cNvSpPr/>
          <p:nvPr/>
        </p:nvSpPr>
        <p:spPr>
          <a:xfrm>
            <a:off x="3042023" y="3209358"/>
            <a:ext cx="3855903" cy="782198"/>
          </a:xfrm>
          <a:prstGeom prst="doubleWave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A nova equipe de projeto vai dar uma nova visão do projeto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8415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6" y="3888759"/>
            <a:ext cx="15240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11. Alinhamentos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43" y="1885837"/>
            <a:ext cx="2015419" cy="1511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62" y="1885837"/>
            <a:ext cx="2574943" cy="1931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596" y="1346058"/>
            <a:ext cx="3218155" cy="2413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2" name="Faixa para baixo 1"/>
          <p:cNvSpPr/>
          <p:nvPr/>
        </p:nvSpPr>
        <p:spPr>
          <a:xfrm>
            <a:off x="1046426" y="2129424"/>
            <a:ext cx="6776581" cy="1440493"/>
          </a:xfrm>
          <a:prstGeom prst="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Obrigado!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430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0" y="12123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20" name="CaixaDeTexto 5"/>
          <p:cNvSpPr txBox="1"/>
          <p:nvPr/>
        </p:nvSpPr>
        <p:spPr>
          <a:xfrm>
            <a:off x="1259085" y="176961"/>
            <a:ext cx="576118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Redundância links MPLS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4668" y="938319"/>
            <a:ext cx="2467476" cy="166242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9085" y="2767991"/>
            <a:ext cx="6734663" cy="2311172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1569" y="852362"/>
            <a:ext cx="2084732" cy="600094"/>
          </a:xfrm>
          <a:prstGeom prst="rect">
            <a:avLst/>
          </a:prstGeom>
        </p:spPr>
      </p:pic>
      <p:pic>
        <p:nvPicPr>
          <p:cNvPr id="13" name="Imagem 12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682889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8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04326" y="442459"/>
            <a:ext cx="418652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err="1">
                <a:solidFill>
                  <a:schemeClr val="tx2"/>
                </a:solidFill>
                <a:latin typeface="Arial"/>
                <a:cs typeface="Arial"/>
              </a:rPr>
              <a:t>Visão</a:t>
            </a:r>
            <a:r>
              <a:rPr lang="en-US" sz="1800" b="1" dirty="0">
                <a:solidFill>
                  <a:schemeClr val="tx2"/>
                </a:solidFill>
                <a:latin typeface="Arial"/>
                <a:cs typeface="Arial"/>
              </a:rPr>
              <a:t> Macro - </a:t>
            </a:r>
            <a:r>
              <a:rPr lang="en-US" sz="1800" b="1" dirty="0" err="1">
                <a:solidFill>
                  <a:schemeClr val="tx2"/>
                </a:solidFill>
                <a:latin typeface="Arial"/>
                <a:cs typeface="Arial"/>
              </a:rPr>
              <a:t>Cenário</a:t>
            </a:r>
            <a:r>
              <a:rPr lang="en-US" sz="1800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1800" b="1" dirty="0" err="1">
                <a:solidFill>
                  <a:schemeClr val="tx2"/>
                </a:solidFill>
                <a:latin typeface="Arial"/>
                <a:cs typeface="Arial"/>
              </a:rPr>
              <a:t>Atual</a:t>
            </a:r>
            <a:endParaRPr lang="en-US" sz="1800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62659" y="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Backups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970737"/>
            <a:ext cx="8743950" cy="3725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355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-76200" y="4991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normalizeH="0" baseline="0" dirty="0" smtClean="0">
                <a:ln>
                  <a:noFill/>
                </a:ln>
                <a:solidFill>
                  <a:srgbClr val="1F497D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O números de servidores ainda são os da nossa base devido a planilha de CA estar confusa para a atualização e entendimento dos ativos.</a:t>
            </a: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5082764" y="180753"/>
            <a:ext cx="356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Visão de backup por site e evolução</a:t>
            </a:r>
            <a:endParaRPr lang="pt-BR" dirty="0"/>
          </a:p>
        </p:txBody>
      </p:sp>
      <p:pic>
        <p:nvPicPr>
          <p:cNvPr id="2" name="Imagem 3" descr="image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03916"/>
            <a:ext cx="4200525" cy="4784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 descr="image0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057680"/>
            <a:ext cx="4468504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7453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642563" y="-126166"/>
            <a:ext cx="544956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Detalhamento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Ofensores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47813" y="13033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rgbClr val="1F497D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 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686529"/>
              </p:ext>
            </p:extLst>
          </p:nvPr>
        </p:nvGraphicFramePr>
        <p:xfrm>
          <a:off x="232657" y="517963"/>
          <a:ext cx="8730370" cy="41633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6074"/>
                <a:gridCol w="793044"/>
                <a:gridCol w="847725"/>
                <a:gridCol w="4905375"/>
                <a:gridCol w="438152"/>
              </a:tblGrid>
              <a:tr h="581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Assunto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Resp.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Status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Observação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Previsão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</a:tr>
              <a:tr h="590550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RJ - Compra de fitas para a regional</a:t>
                      </a:r>
                    </a:p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- SC 245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Eugenio Silva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Aguardando liberação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O status é após aprovações a Bravia havia reajustado os preços e time suprimentos fez negociação, sem sucesso. Foi feita negociação com novo fornecedor e SC está para aprovação do André Tavares.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Sem prazo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</a:tr>
              <a:tr h="583013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Manutenção de 02 robôs no site MCK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Eugenio Silva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Aguardando o site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1 – SC 993 - Emitido pedido, para fornecedor realizar reparo. Pedido 3097.</a:t>
                      </a:r>
                    </a:p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2 – Robô TL 2000 condenada, novo robô será enviado ao site.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Sem prazo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</a:tr>
              <a:tr h="191601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Manutenção do robô no site Mauá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Aguardando SC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Orçamento enviado ao site, aguardando SC.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30/06/2016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</a:tr>
              <a:tr h="603541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DC - GAP de licenças DATA PROTECTOR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Rafael Alves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Aguardando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Valores já enviados pela HP e aprovados pela Engenharia. Enviado o formulário para abertura de SC para o time de FINANCEIRO_TI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Sem prazo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</a:tr>
              <a:tr h="517321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Contrato de suporte ao HW de BKP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Mafê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Aguardando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Enviado novamente a listagem de todos os robôs que estão em nosso parque para renovação de suporte de HW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Sem prazo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</a:tr>
              <a:tr h="344880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Instalação de agentes nos servidores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Celio Ricardo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Em andamento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Disponibilizado um analista do CSE para atender diariamente nossos chamado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Sem prazo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</a:tr>
              <a:tr h="191601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– Revisão de bkp de todos os DHCP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CSE / BKP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Em andamento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Iniciado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 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</a:tr>
              <a:tr h="191601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BKP Campinas </a:t>
                      </a:r>
                      <a:endParaRPr lang="pt-BR" sz="1000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Alexandre Magno Pereira da Silva </a:t>
                      </a:r>
                      <a:endParaRPr lang="pt-BR" sz="1000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Em andamento</a:t>
                      </a:r>
                      <a:endParaRPr lang="pt-BR" sz="1000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Site</a:t>
                      </a:r>
                      <a:r>
                        <a:rPr lang="pt-BR" sz="1000" baseline="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Campinas sem backup aguardando a ação do suporte TI local liberar o servidor</a:t>
                      </a:r>
                      <a:endParaRPr lang="pt-BR" sz="1000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15/07</a:t>
                      </a:r>
                      <a:endParaRPr lang="pt-BR" sz="1000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9581" marR="29581" marT="0" marB="0" anchor="ctr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71788" y="13700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rgbClr val="1F497D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 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57" y="4751989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2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642563" y="-126166"/>
            <a:ext cx="544956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smtClean="0">
                <a:solidFill>
                  <a:schemeClr val="tx2"/>
                </a:solidFill>
                <a:latin typeface="Arial"/>
                <a:cs typeface="Arial"/>
              </a:rPr>
              <a:t>APP </a:t>
            </a:r>
            <a:r>
              <a:rPr lang="en-US" sz="2252" b="1" dirty="0" err="1" smtClean="0">
                <a:solidFill>
                  <a:schemeClr val="tx2"/>
                </a:solidFill>
                <a:latin typeface="Arial"/>
                <a:cs typeface="Arial"/>
              </a:rPr>
              <a:t>Painel</a:t>
            </a:r>
            <a:r>
              <a:rPr lang="en-US" sz="2252" b="1" dirty="0" smtClean="0">
                <a:solidFill>
                  <a:schemeClr val="tx2"/>
                </a:solidFill>
                <a:latin typeface="Arial"/>
                <a:cs typeface="Arial"/>
              </a:rPr>
              <a:t> – </a:t>
            </a:r>
            <a:r>
              <a:rPr lang="en-US" sz="2252" b="1" dirty="0" err="1" smtClean="0">
                <a:solidFill>
                  <a:schemeClr val="tx2"/>
                </a:solidFill>
                <a:latin typeface="Arial"/>
                <a:cs typeface="Arial"/>
              </a:rPr>
              <a:t>Monitoração</a:t>
            </a:r>
            <a:r>
              <a:rPr lang="en-US" sz="2252" b="1" dirty="0" smtClean="0">
                <a:solidFill>
                  <a:schemeClr val="tx2"/>
                </a:solidFill>
                <a:latin typeface="Arial"/>
                <a:cs typeface="Arial"/>
              </a:rPr>
              <a:t> de </a:t>
            </a:r>
            <a:r>
              <a:rPr lang="en-US" sz="2252" b="1" dirty="0" err="1" smtClean="0">
                <a:solidFill>
                  <a:schemeClr val="tx2"/>
                </a:solidFill>
                <a:latin typeface="Arial"/>
                <a:cs typeface="Arial"/>
              </a:rPr>
              <a:t>Gravação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47813" y="13033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rgbClr val="1F497D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 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71788" y="13700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smtClean="0">
                <a:ln>
                  <a:noFill/>
                </a:ln>
                <a:solidFill>
                  <a:srgbClr val="1F497D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 </a:t>
            </a: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4" y="4718500"/>
            <a:ext cx="1042506" cy="39627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08" y="473895"/>
            <a:ext cx="8000407" cy="459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56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27201</TotalTime>
  <Words>2852</Words>
  <Application>Microsoft Office PowerPoint</Application>
  <PresentationFormat>Personalizar</PresentationFormat>
  <Paragraphs>592</Paragraphs>
  <Slides>43</Slides>
  <Notes>26</Notes>
  <HiddenSlides>8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3" baseType="lpstr">
      <vt:lpstr>Arial</vt:lpstr>
      <vt:lpstr>Calibri</vt:lpstr>
      <vt:lpstr>Calibri Light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1793</cp:revision>
  <dcterms:created xsi:type="dcterms:W3CDTF">2015-08-20T14:57:26Z</dcterms:created>
  <dcterms:modified xsi:type="dcterms:W3CDTF">2016-07-08T20:15:20Z</dcterms:modified>
</cp:coreProperties>
</file>