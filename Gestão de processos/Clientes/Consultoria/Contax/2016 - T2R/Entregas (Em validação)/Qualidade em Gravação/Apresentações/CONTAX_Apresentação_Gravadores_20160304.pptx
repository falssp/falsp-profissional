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60" r:id="rId5"/>
    <p:sldId id="295" r:id="rId6"/>
    <p:sldId id="298" r:id="rId7"/>
    <p:sldId id="287" r:id="rId8"/>
    <p:sldId id="297" r:id="rId9"/>
    <p:sldId id="296" r:id="rId10"/>
    <p:sldId id="300" r:id="rId11"/>
    <p:sldId id="299" r:id="rId12"/>
    <p:sldId id="301" r:id="rId13"/>
    <p:sldId id="305" r:id="rId14"/>
    <p:sldId id="304" r:id="rId15"/>
    <p:sldId id="302" r:id="rId16"/>
    <p:sldId id="303" r:id="rId17"/>
    <p:sldId id="306" r:id="rId18"/>
    <p:sldId id="271" r:id="rId19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00FF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65" autoAdjust="0"/>
    <p:restoredTop sz="91829" autoAdjust="0"/>
  </p:normalViewPr>
  <p:slideViewPr>
    <p:cSldViewPr snapToGrid="0" snapToObjects="1">
      <p:cViewPr>
        <p:scale>
          <a:sx n="100" d="100"/>
          <a:sy n="100" d="100"/>
        </p:scale>
        <p:origin x="-516" y="-72"/>
      </p:cViewPr>
      <p:guideLst>
        <p:guide orient="horz" pos="2367"/>
        <p:guide pos="60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27AE4-FF7A-4463-B803-BD2AC50CD072}" type="datetimeFigureOut">
              <a:rPr lang="pt-BR" smtClean="0"/>
              <a:t>03/03/2016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07809-5471-4329-BAD7-D813FDDA8C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053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d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d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d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d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07809-5471-4329-BAD7-D813FDDA8C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042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9299"/>
            <a:ext cx="7772400" cy="1103540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7349"/>
            <a:ext cx="6400800" cy="13156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89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8236"/>
            <a:ext cx="7772400" cy="102250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2054"/>
            <a:ext cx="7772400" cy="112618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45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2138"/>
            <a:ext cx="4038600" cy="25502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2138"/>
            <a:ext cx="4038600" cy="25502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8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</p:spPr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401"/>
            <a:ext cx="4040188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2667"/>
            <a:ext cx="4040188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2401"/>
            <a:ext cx="4041775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2667"/>
            <a:ext cx="4041775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3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79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7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977"/>
            <a:ext cx="3008313" cy="87234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977"/>
            <a:ext cx="5111750" cy="4393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7322"/>
            <a:ext cx="3008313" cy="35215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86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3784"/>
            <a:ext cx="5486400" cy="42544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007"/>
            <a:ext cx="5486400" cy="30889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9231"/>
            <a:ext cx="5486400" cy="6042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18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27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925"/>
            <a:ext cx="2057400" cy="3297510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925"/>
            <a:ext cx="6019800" cy="3297510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22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71678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3/3/2016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71678"/>
            <a:ext cx="2895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71678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4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05-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40" y="5383"/>
            <a:ext cx="9144000" cy="514826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920412" y="1987439"/>
            <a:ext cx="3056165" cy="683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FFFFFF"/>
                </a:solidFill>
                <a:latin typeface="Arial"/>
                <a:cs typeface="Arial"/>
              </a:rPr>
              <a:t>Gestão de Ambiente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81932" y="2558839"/>
            <a:ext cx="4253594" cy="1116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 smtClean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Gravadores.</a:t>
            </a:r>
          </a:p>
          <a:p>
            <a:pPr algn="l"/>
            <a:endParaRPr lang="en-US" sz="2400" dirty="0" smtClean="0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  <a:p>
            <a:pPr algn="l"/>
            <a:r>
              <a:rPr lang="en-US" sz="2400" b="1" dirty="0" smtClean="0">
                <a:solidFill>
                  <a:schemeClr val="bg1"/>
                </a:solidFill>
                <a:latin typeface="Arial"/>
                <a:cs typeface="Arial"/>
              </a:rPr>
              <a:t>03/03/2016</a:t>
            </a:r>
            <a:endParaRPr lang="en-US" sz="24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692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1" y="643585"/>
            <a:ext cx="8507699" cy="604190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/>
              <a:t>Nossa equipe hoje realiza testes de gravações com a periodicidade de 2 em 2 </a:t>
            </a:r>
            <a:r>
              <a:rPr lang="pt-BR" b="1" dirty="0" smtClean="0"/>
              <a:t>horas no período 24x7 nos loggers abaixo</a:t>
            </a:r>
            <a:endParaRPr lang="pt-BR" b="1" dirty="0"/>
          </a:p>
        </p:txBody>
      </p:sp>
      <p:sp>
        <p:nvSpPr>
          <p:cNvPr id="10" name="Retângulo 9"/>
          <p:cNvSpPr/>
          <p:nvPr/>
        </p:nvSpPr>
        <p:spPr>
          <a:xfrm>
            <a:off x="2240670" y="1371600"/>
            <a:ext cx="1992788" cy="3248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Alegria                  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Lapa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Antártica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Mackenzie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Prado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Passeio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Londrina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Campinas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Niterói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Salvador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Hichan (Campinas)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Fortaleza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Santo Amaro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Souza Cruz 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4442820" y="1371600"/>
            <a:ext cx="1992788" cy="3248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Arcos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Pernambuco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Paraná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Cidade de Deus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Minas Gerais (Prado II)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Ceara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Distrito Federal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Mato Grosso do Sul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Rio Grande do Sul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Salvador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endParaRPr lang="pt-BR" sz="1200" b="1" dirty="0" smtClean="0">
              <a:solidFill>
                <a:schemeClr val="bg1"/>
              </a:solidFill>
            </a:endParaRP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endParaRPr lang="pt-BR" sz="1200" b="1" dirty="0" smtClean="0">
              <a:solidFill>
                <a:schemeClr val="bg1"/>
              </a:solidFill>
            </a:endParaRPr>
          </a:p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*Mackenzie 8X</a:t>
            </a:r>
          </a:p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 sendo  homologando   </a:t>
            </a:r>
            <a:endParaRPr lang="pt-BR" sz="1200" b="1" dirty="0">
              <a:solidFill>
                <a:schemeClr val="bg1"/>
              </a:solidFill>
            </a:endParaRPr>
          </a:p>
          <a:p>
            <a:pPr defTabSz="437539">
              <a:lnSpc>
                <a:spcPct val="90000"/>
              </a:lnSpc>
              <a:spcAft>
                <a:spcPct val="35000"/>
              </a:spcAft>
            </a:pPr>
            <a:endParaRPr lang="pt-BR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12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0" y="772210"/>
            <a:ext cx="8507699" cy="837515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 smtClean="0">
                <a:solidFill>
                  <a:schemeClr val="bg1"/>
                </a:solidFill>
              </a:rPr>
              <a:t>Devido a falsos </a:t>
            </a:r>
            <a:r>
              <a:rPr lang="pt-BR" b="1" dirty="0">
                <a:solidFill>
                  <a:schemeClr val="bg1"/>
                </a:solidFill>
              </a:rPr>
              <a:t>positivos em testes </a:t>
            </a:r>
            <a:r>
              <a:rPr lang="pt-BR" b="1" dirty="0" smtClean="0">
                <a:solidFill>
                  <a:schemeClr val="bg1"/>
                </a:solidFill>
              </a:rPr>
              <a:t>realizados, criamos conforme solicitado pela Consultoria </a:t>
            </a:r>
            <a:r>
              <a:rPr lang="pt-BR" b="1" dirty="0" smtClean="0">
                <a:solidFill>
                  <a:srgbClr val="FF0000"/>
                </a:solidFill>
              </a:rPr>
              <a:t>CHACON</a:t>
            </a:r>
            <a:r>
              <a:rPr lang="pt-BR" b="1" dirty="0" smtClean="0">
                <a:solidFill>
                  <a:schemeClr val="bg1"/>
                </a:solidFill>
              </a:rPr>
              <a:t> um Mapa de operações (MENU) para orientação sobre as informações abaixo:</a:t>
            </a:r>
          </a:p>
          <a:p>
            <a:pPr defTabSz="437539">
              <a:lnSpc>
                <a:spcPct val="90000"/>
              </a:lnSpc>
              <a:spcAft>
                <a:spcPct val="35000"/>
              </a:spcAft>
            </a:pP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293400" y="1924049"/>
            <a:ext cx="1992788" cy="30575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ctr"/>
          <a:lstStyle/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Regional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Site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Operação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Quantidade de PA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Gravador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Tipo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 smtClean="0">
                <a:solidFill>
                  <a:schemeClr val="bg1"/>
                </a:solidFill>
              </a:rPr>
              <a:t>Horários em dias de Semana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Horários </a:t>
            </a:r>
            <a:r>
              <a:rPr lang="pt-BR" sz="1200" b="1" dirty="0" smtClean="0">
                <a:solidFill>
                  <a:schemeClr val="bg1"/>
                </a:solidFill>
              </a:rPr>
              <a:t>Sábado 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r>
              <a:rPr lang="pt-BR" sz="1200" b="1" dirty="0">
                <a:solidFill>
                  <a:schemeClr val="bg1"/>
                </a:solidFill>
              </a:rPr>
              <a:t>Horários </a:t>
            </a:r>
            <a:r>
              <a:rPr lang="pt-BR" sz="1200" b="1" dirty="0" smtClean="0">
                <a:solidFill>
                  <a:schemeClr val="bg1"/>
                </a:solidFill>
              </a:rPr>
              <a:t>Domingo</a:t>
            </a:r>
          </a:p>
          <a:p>
            <a:pPr algn="ctr" defTabSz="437539">
              <a:lnSpc>
                <a:spcPct val="90000"/>
              </a:lnSpc>
              <a:spcAft>
                <a:spcPct val="35000"/>
              </a:spcAft>
            </a:pPr>
            <a:endParaRPr lang="pt-BR" sz="1200" b="1" dirty="0" smtClean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1905000"/>
            <a:ext cx="6233906" cy="2918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176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9" y="676960"/>
            <a:ext cx="8612021" cy="399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625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0" y="1086535"/>
            <a:ext cx="8507699" cy="747065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 smtClean="0"/>
              <a:t>Todos os chamados identificados como falhas são aberto como incidente de </a:t>
            </a:r>
          </a:p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 smtClean="0">
                <a:solidFill>
                  <a:srgbClr val="FF0000"/>
                </a:solidFill>
              </a:rPr>
              <a:t>ALTO IMPACTO </a:t>
            </a:r>
            <a:r>
              <a:rPr lang="pt-BR" b="1" dirty="0" smtClean="0">
                <a:solidFill>
                  <a:schemeClr val="bg1"/>
                </a:solidFill>
              </a:rPr>
              <a:t>para que o problema possa ser tratado com SLA de 2 Horas.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281033" y="2157450"/>
            <a:ext cx="8507699" cy="1519200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 smtClean="0"/>
              <a:t>Os chamados relacionados a gravadores são tratados hoje pelas seguintes equipes:</a:t>
            </a:r>
          </a:p>
          <a:p>
            <a:endParaRPr lang="pt-BR" b="1" dirty="0" smtClean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rgbClr val="FF0000"/>
                </a:solidFill>
              </a:rPr>
              <a:t>CSC-Alto Impacto / CSC-Gravadores</a:t>
            </a:r>
            <a:r>
              <a:rPr lang="pt-BR" b="1" dirty="0" smtClean="0"/>
              <a:t>  Segunda </a:t>
            </a:r>
            <a:r>
              <a:rPr lang="pt-BR" b="1" dirty="0"/>
              <a:t>a Sexta - 08h:00 e </a:t>
            </a:r>
            <a:r>
              <a:rPr lang="pt-BR" b="1" dirty="0" smtClean="0"/>
              <a:t>16:00</a:t>
            </a:r>
          </a:p>
          <a:p>
            <a:r>
              <a:rPr lang="pt-BR" b="1" dirty="0" smtClean="0">
                <a:solidFill>
                  <a:srgbClr val="FF0000"/>
                </a:solidFill>
              </a:rPr>
              <a:t>CSC-Alto </a:t>
            </a:r>
            <a:r>
              <a:rPr lang="pt-BR" b="1" dirty="0">
                <a:solidFill>
                  <a:srgbClr val="FF0000"/>
                </a:solidFill>
              </a:rPr>
              <a:t>Impacto / </a:t>
            </a:r>
            <a:r>
              <a:rPr lang="pt-BR" b="1" dirty="0" smtClean="0">
                <a:solidFill>
                  <a:srgbClr val="FF0000"/>
                </a:solidFill>
              </a:rPr>
              <a:t>CSE-Gravadores – </a:t>
            </a:r>
            <a:r>
              <a:rPr lang="pt-BR" b="1" dirty="0" smtClean="0">
                <a:solidFill>
                  <a:schemeClr val="bg1"/>
                </a:solidFill>
              </a:rPr>
              <a:t>Fora do horário informado acima </a:t>
            </a:r>
            <a:endParaRPr lang="pt-BR" b="1" dirty="0">
              <a:solidFill>
                <a:schemeClr val="bg1"/>
              </a:solidFill>
            </a:endParaRPr>
          </a:p>
          <a:p>
            <a:endParaRPr lang="pt-BR" b="1" dirty="0" smtClean="0"/>
          </a:p>
          <a:p>
            <a:endParaRPr lang="pt-BR" b="1" dirty="0"/>
          </a:p>
          <a:p>
            <a:endParaRPr lang="pt-BR" b="1" dirty="0"/>
          </a:p>
          <a:p>
            <a:pPr defTabSz="437539">
              <a:lnSpc>
                <a:spcPct val="90000"/>
              </a:lnSpc>
              <a:spcAft>
                <a:spcPct val="35000"/>
              </a:spcAft>
            </a:pP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2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1" y="643585"/>
            <a:ext cx="8507699" cy="604190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/>
              <a:t>Todos os testes realizados são divulgados via e-mail para os responsáveis envolvidos no processo, conforme exemplo abaixo realizado para o site Lapa.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12" y="1384119"/>
            <a:ext cx="8323343" cy="326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732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1" y="643585"/>
            <a:ext cx="8507699" cy="604190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 smtClean="0"/>
              <a:t>Todos os testes realizados são divulgados via e-mail para os responsáveis envolvidos no processo, conforme exemplo abaixo realizado para o site Lapa.</a:t>
            </a:r>
            <a:endParaRPr lang="pt-BR" b="1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01" y="1408727"/>
            <a:ext cx="8550024" cy="3210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52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0" y="743635"/>
            <a:ext cx="8507699" cy="2990165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ctr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 smtClean="0">
                <a:solidFill>
                  <a:schemeClr val="bg1"/>
                </a:solidFill>
              </a:rPr>
              <a:t>Nossa equipe também e responsável pela abertura de chamados e follow-Up dos testes realizados pela  equipe </a:t>
            </a:r>
            <a:r>
              <a:rPr lang="pt-BR" b="1" dirty="0" smtClean="0">
                <a:solidFill>
                  <a:srgbClr val="FF0000"/>
                </a:solidFill>
              </a:rPr>
              <a:t>CSE-Gravadores</a:t>
            </a:r>
            <a:r>
              <a:rPr lang="pt-BR" b="1" dirty="0" smtClean="0">
                <a:solidFill>
                  <a:schemeClr val="bg1"/>
                </a:solidFill>
              </a:rPr>
              <a:t>, onde identifica-se perda de gravação em ramais utilizados nas operações.  </a:t>
            </a:r>
          </a:p>
          <a:p>
            <a:pPr defTabSz="437539">
              <a:lnSpc>
                <a:spcPct val="90000"/>
              </a:lnSpc>
              <a:spcAft>
                <a:spcPct val="35000"/>
              </a:spcAft>
            </a:pP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07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580328"/>
            <a:ext cx="8948626" cy="406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494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0" y="743635"/>
            <a:ext cx="8507699" cy="2990165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ctr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/>
              <a:t>Nossa equipe também gerencia uma </a:t>
            </a:r>
            <a:r>
              <a:rPr lang="pt-BR" b="1" dirty="0" smtClean="0"/>
              <a:t>rotina disponibilizada </a:t>
            </a:r>
            <a:r>
              <a:rPr lang="pt-BR" b="1" dirty="0"/>
              <a:t>para as pontas (Site) onde diariamente e realizada uma </a:t>
            </a:r>
            <a:r>
              <a:rPr lang="pt-BR" b="1" dirty="0">
                <a:solidFill>
                  <a:srgbClr val="FF0000"/>
                </a:solidFill>
              </a:rPr>
              <a:t>Ronda </a:t>
            </a:r>
            <a:r>
              <a:rPr lang="pt-BR" b="1" dirty="0" smtClean="0">
                <a:solidFill>
                  <a:srgbClr val="FF0000"/>
                </a:solidFill>
              </a:rPr>
              <a:t>CPD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38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" y="648384"/>
            <a:ext cx="8136815" cy="4247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24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0" y="791260"/>
            <a:ext cx="8507699" cy="747065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 smtClean="0"/>
              <a:t>Nossa equipe também gerencia uma demanda disponibilizada para as pontas (Site) onde diariamente e realizada uma </a:t>
            </a:r>
            <a:r>
              <a:rPr lang="pt-BR" b="1" dirty="0" smtClean="0">
                <a:solidFill>
                  <a:srgbClr val="FF0000"/>
                </a:solidFill>
              </a:rPr>
              <a:t>Ronda CPD</a:t>
            </a:r>
            <a:r>
              <a:rPr lang="pt-BR" b="1" dirty="0"/>
              <a:t> </a:t>
            </a:r>
            <a:r>
              <a:rPr lang="pt-BR" b="1" dirty="0" smtClean="0"/>
              <a:t>contento as informações abaixo abaixo 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00" y="1754187"/>
            <a:ext cx="8507699" cy="251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5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0" y="791260"/>
            <a:ext cx="8507699" cy="747065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 smtClean="0"/>
              <a:t>Nossa equipe gerencia uma demanda disponibilizada para as pontas (Site) onde diariamente e realizada uma </a:t>
            </a:r>
            <a:r>
              <a:rPr lang="pt-BR" b="1" dirty="0" smtClean="0">
                <a:solidFill>
                  <a:srgbClr val="FF0000"/>
                </a:solidFill>
              </a:rPr>
              <a:t>Ronda CPD</a:t>
            </a:r>
            <a:r>
              <a:rPr lang="pt-BR" b="1" dirty="0"/>
              <a:t> </a:t>
            </a:r>
            <a:r>
              <a:rPr lang="pt-BR" b="1" dirty="0" smtClean="0"/>
              <a:t>contento as informações abaixo abaixo 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7"/>
          <a:stretch/>
        </p:blipFill>
        <p:spPr bwMode="auto">
          <a:xfrm>
            <a:off x="321975" y="1876425"/>
            <a:ext cx="7119176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027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701203" y="2054"/>
            <a:ext cx="7304573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pt-BR" sz="3600" b="1" dirty="0" smtClean="0">
                <a:ln w="12700">
                  <a:noFill/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Gestão de Ambiente</a:t>
            </a:r>
            <a:endParaRPr lang="pt-BR" sz="3600" b="1" cap="none" spc="0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93400" y="676960"/>
            <a:ext cx="8507699" cy="747065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4291" tIns="32146" rIns="64291" bIns="32146" rtlCol="0" anchor="t"/>
          <a:lstStyle/>
          <a:p>
            <a:pPr defTabSz="437539">
              <a:lnSpc>
                <a:spcPct val="90000"/>
              </a:lnSpc>
              <a:spcAft>
                <a:spcPct val="35000"/>
              </a:spcAft>
            </a:pPr>
            <a:r>
              <a:rPr lang="pt-BR" b="1" dirty="0" smtClean="0"/>
              <a:t>O acompanhamento referente a estes chamados são feitos através de um painel divulgado para as pontas, onde pode ser visualizado o histórico de cada chamado.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1566900"/>
            <a:ext cx="8181975" cy="3249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871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9347200" cy="51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5444288" y="1393553"/>
            <a:ext cx="3699711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smtClean="0">
                <a:solidFill>
                  <a:srgbClr val="19345B"/>
                </a:solidFill>
                <a:latin typeface="Arial"/>
                <a:cs typeface="Arial"/>
              </a:rPr>
              <a:t>Juntos</a:t>
            </a:r>
            <a:r>
              <a:rPr lang="en-US" sz="28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Transformaremos!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1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CA4713-82D1-4EFB-8F2A-753F0F2BB47A}">
  <ds:schemaRefs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85C938-C49D-4976-9332-901AADF495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3A48199E-9238-4856-A520-68EA54B617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9648</TotalTime>
  <Words>412</Words>
  <Application>Microsoft Office PowerPoint</Application>
  <PresentationFormat>Personalizar</PresentationFormat>
  <Paragraphs>90</Paragraphs>
  <Slides>15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Wagner Bento Felix</cp:lastModifiedBy>
  <cp:revision>157</cp:revision>
  <dcterms:created xsi:type="dcterms:W3CDTF">2015-08-20T14:57:26Z</dcterms:created>
  <dcterms:modified xsi:type="dcterms:W3CDTF">2016-03-03T19:46:29Z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