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5"/>
  </p:notesMasterIdLst>
  <p:sldIdLst>
    <p:sldId id="262" r:id="rId5"/>
    <p:sldId id="265" r:id="rId6"/>
    <p:sldId id="413" r:id="rId7"/>
    <p:sldId id="414" r:id="rId8"/>
    <p:sldId id="412" r:id="rId9"/>
    <p:sldId id="416" r:id="rId10"/>
    <p:sldId id="417" r:id="rId11"/>
    <p:sldId id="418" r:id="rId12"/>
    <p:sldId id="401" r:id="rId13"/>
    <p:sldId id="411" r:id="rId1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1785" autoAdjust="0"/>
  </p:normalViewPr>
  <p:slideViewPr>
    <p:cSldViewPr snapToGrid="0" snapToObjects="1">
      <p:cViewPr>
        <p:scale>
          <a:sx n="100" d="100"/>
          <a:sy n="100" d="100"/>
        </p:scale>
        <p:origin x="444" y="-21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D:\LM\Projetos%20TODO\Contax%20-%20Opera&#231;&#227;o\Stuart\Lazaro\Relat&#243;rio%20detalhado%20de%20HW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Volume</a:t>
            </a:r>
            <a:r>
              <a:rPr lang="pt-BR" sz="1500" b="1" baseline="0" dirty="0" smtClean="0"/>
              <a:t> de </a:t>
            </a:r>
            <a:r>
              <a:rPr lang="pt-BR" sz="1500" b="1" dirty="0" smtClean="0"/>
              <a:t>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-5.9401031800599621E-3"/>
                  <c:y val="-0.294890806899658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0.266535921620845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2.9700515900300357E-3"/>
                  <c:y val="-0.2438520133977949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9700515900299811E-3"/>
                  <c:y val="-0.130432472282541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5.9401031800599621E-3"/>
                  <c:y val="-0.107748564059490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5.9401031800599621E-3"/>
                  <c:y val="-7.372270172491474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342-4057-BDFD-D4272EDC632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Set</c:v>
                </c:pt>
                <c:pt idx="2">
                  <c:v>Out</c:v>
                </c:pt>
                <c:pt idx="3">
                  <c:v>Nov</c:v>
                </c:pt>
                <c:pt idx="4">
                  <c:v>Dez</c:v>
                </c:pt>
                <c:pt idx="5">
                  <c:v>Jan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1494</c:v>
                </c:pt>
                <c:pt idx="1">
                  <c:v>1402</c:v>
                </c:pt>
                <c:pt idx="2">
                  <c:v>1234</c:v>
                </c:pt>
                <c:pt idx="3" formatCode="General">
                  <c:v>415</c:v>
                </c:pt>
                <c:pt idx="4" formatCode="General">
                  <c:v>294</c:v>
                </c:pt>
                <c:pt idx="5" formatCode="General">
                  <c:v>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76531192"/>
        <c:axId val="376531976"/>
      </c:barChart>
      <c:catAx>
        <c:axId val="376531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6531976"/>
        <c:crosses val="autoZero"/>
        <c:auto val="1"/>
        <c:lblAlgn val="ctr"/>
        <c:lblOffset val="100"/>
        <c:noMultiLvlLbl val="0"/>
      </c:catAx>
      <c:valAx>
        <c:axId val="37653197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65311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Média diária de 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2.9880988961915622E-3"/>
                  <c:y val="-0.307215533333422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>
                  <c15:layout>
                    <c:manualLayout>
                      <c:w val="0.10159536247051311"/>
                      <c:h val="0.1194727074074422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2.9880988961915622E-3"/>
                  <c:y val="-0.307215533333422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0.256012944444519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2.9880988961914524E-3"/>
                  <c:y val="-9.67160012345962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336-4DE1-AAF2-45A9A199F5C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Set</c:v>
                </c:pt>
                <c:pt idx="2">
                  <c:v>Out</c:v>
                </c:pt>
                <c:pt idx="3">
                  <c:v>Nov</c:v>
                </c:pt>
                <c:pt idx="4">
                  <c:v>Dez</c:v>
                </c:pt>
                <c:pt idx="5">
                  <c:v>Jan</c:v>
                </c:pt>
              </c:strCache>
            </c:strRef>
          </c:cat>
          <c:val>
            <c:numRef>
              <c:f>Plan1!$B$2:$B$7</c:f>
              <c:numCache>
                <c:formatCode>#,##0.00</c:formatCode>
                <c:ptCount val="6"/>
                <c:pt idx="0">
                  <c:v>48.19</c:v>
                </c:pt>
                <c:pt idx="1">
                  <c:v>46.73</c:v>
                </c:pt>
                <c:pt idx="2">
                  <c:v>39.799999999999997</c:v>
                </c:pt>
                <c:pt idx="3">
                  <c:v>13.84</c:v>
                </c:pt>
                <c:pt idx="4" formatCode="General">
                  <c:v>9.48</c:v>
                </c:pt>
                <c:pt idx="5" formatCode="0.00">
                  <c:v>7.36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76526488"/>
        <c:axId val="376530800"/>
      </c:barChart>
      <c:catAx>
        <c:axId val="376526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6530800"/>
        <c:crosses val="autoZero"/>
        <c:auto val="1"/>
        <c:lblAlgn val="ctr"/>
        <c:lblOffset val="100"/>
        <c:noMultiLvlLbl val="0"/>
      </c:catAx>
      <c:valAx>
        <c:axId val="376530800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37652648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dirty="0"/>
              <a:t>Gestão de </a:t>
            </a:r>
            <a:r>
              <a:rPr lang="en-US" sz="1500" b="1" dirty="0" smtClean="0"/>
              <a:t>Problemas</a:t>
            </a:r>
          </a:p>
          <a:p>
            <a:pPr>
              <a:defRPr sz="1600" b="1"/>
            </a:pPr>
            <a:r>
              <a:rPr lang="en-US" sz="1200" b="1" dirty="0" smtClean="0"/>
              <a:t>Total 26</a:t>
            </a:r>
            <a:endParaRPr lang="en-US" sz="1200" b="1" dirty="0"/>
          </a:p>
        </c:rich>
      </c:tx>
      <c:layout>
        <c:manualLayout>
          <c:xMode val="edge"/>
          <c:yMode val="edge"/>
          <c:x val="0.2135858779210657"/>
          <c:y val="1.7824810462608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7523974564955888"/>
          <c:y val="0.29664687735193479"/>
          <c:w val="0.35111029917702913"/>
          <c:h val="0.58968743462673223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Coluna1</c:v>
                </c:pt>
              </c:strCache>
            </c:strRef>
          </c:tx>
          <c:spPr>
            <a:scene3d>
              <a:camera prst="orthographicFront"/>
              <a:lightRig rig="balanced" dir="t">
                <a:rot lat="0" lon="0" rev="0"/>
              </a:lightRig>
            </a:scene3d>
            <a:sp3d prstMaterial="softEdge">
              <a:bevelT w="165100" prst="coolSlant"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C87-4E75-B6BC-1613E3B446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4E6D-4022-8EBF-F734882408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C87-4E75-B6BC-1613E3B4466B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alanced" dir="t">
                  <a:rot lat="0" lon="0" rev="0"/>
                </a:lightRig>
              </a:scene3d>
              <a:sp3d prstMaterial="softEdge"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C87-4E75-B6BC-1613E3B446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Plan1!$A$2:$A$5</c:f>
              <c:strCache>
                <c:ptCount val="4"/>
                <c:pt idx="0">
                  <c:v>Backlog</c:v>
                </c:pt>
                <c:pt idx="1">
                  <c:v>Investigação</c:v>
                </c:pt>
                <c:pt idx="2">
                  <c:v>Diagnosticado</c:v>
                </c:pt>
                <c:pt idx="3">
                  <c:v>Finalizado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E6D-4022-8EBF-F73488240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4.5547859291460348E-3"/>
                  <c:y val="-0.2581635114996307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7.5384201159269026E-2"/>
                  <c:y val="-1.884797298757046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  <c:pt idx="5">
                  <c:v>Janeiro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24272</c:v>
                </c:pt>
                <c:pt idx="1">
                  <c:v>23069</c:v>
                </c:pt>
                <c:pt idx="2">
                  <c:v>22960</c:v>
                </c:pt>
                <c:pt idx="3">
                  <c:v>24028</c:v>
                </c:pt>
                <c:pt idx="4">
                  <c:v>19386</c:v>
                </c:pt>
                <c:pt idx="5">
                  <c:v>7724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Colunas1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0650"/>
            </a:sp3d>
          </c:spPr>
          <c:invertIfNegative val="0"/>
          <c:dPt>
            <c:idx val="5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2065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B343-4B87-A407-FBF943380C67}"/>
              </c:ext>
            </c:extLst>
          </c:dPt>
          <c:dLbls>
            <c:dLbl>
              <c:idx val="5"/>
              <c:layout>
                <c:manualLayout>
                  <c:x val="7.7813621059919555E-2"/>
                  <c:y val="-3.706421504722753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</c:v>
                </c:pt>
                <c:pt idx="4">
                  <c:v>Dezembro</c:v>
                </c:pt>
                <c:pt idx="5">
                  <c:v>Janeiro</c:v>
                </c:pt>
              </c:strCache>
            </c:strRef>
          </c:cat>
          <c:val>
            <c:numRef>
              <c:f>Plan1!$C$2:$C$7</c:f>
              <c:numCache>
                <c:formatCode>General</c:formatCode>
                <c:ptCount val="6"/>
                <c:pt idx="5" formatCode="#,##0">
                  <c:v>14044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B343-4B87-A407-FBF943380C6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76528448"/>
        <c:axId val="376527664"/>
      </c:barChart>
      <c:catAx>
        <c:axId val="37652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6527664"/>
        <c:crosses val="autoZero"/>
        <c:auto val="1"/>
        <c:lblAlgn val="ctr"/>
        <c:lblOffset val="100"/>
        <c:noMultiLvlLbl val="0"/>
      </c:catAx>
      <c:valAx>
        <c:axId val="3765276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65284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2033363483122969"/>
          <c:y val="7.6910116458453526E-2"/>
          <c:w val="0.65357471229999287"/>
          <c:h val="0.534671644025101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Geral!$C$2:$C$3</c:f>
              <c:strCache>
                <c:ptCount val="2"/>
                <c:pt idx="0">
                  <c:v>Outubro</c:v>
                </c:pt>
              </c:strCache>
            </c:strRef>
          </c:tx>
          <c:invertIfNegative val="0"/>
          <c:cat>
            <c:strRef>
              <c:f>Geral!$B$4:$B$9</c:f>
              <c:strCache>
                <c:ptCount val="6"/>
                <c:pt idx="0">
                  <c:v>Headset - Defeito</c:v>
                </c:pt>
                <c:pt idx="1">
                  <c:v>Computador - Não liga</c:v>
                </c:pt>
                <c:pt idx="2">
                  <c:v>Mouse - Não funciona</c:v>
                </c:pt>
                <c:pt idx="3">
                  <c:v>Teclado - Quebrado</c:v>
                </c:pt>
                <c:pt idx="4">
                  <c:v>Telefone - Quebrado</c:v>
                </c:pt>
                <c:pt idx="5">
                  <c:v>Monitor - Não liga</c:v>
                </c:pt>
              </c:strCache>
            </c:strRef>
          </c:cat>
          <c:val>
            <c:numRef>
              <c:f>Geral!$C$4:$C$9</c:f>
              <c:numCache>
                <c:formatCode>General</c:formatCode>
                <c:ptCount val="6"/>
                <c:pt idx="0">
                  <c:v>4643</c:v>
                </c:pt>
                <c:pt idx="1">
                  <c:v>1016</c:v>
                </c:pt>
                <c:pt idx="2">
                  <c:v>1117</c:v>
                </c:pt>
                <c:pt idx="3">
                  <c:v>767</c:v>
                </c:pt>
                <c:pt idx="4">
                  <c:v>42</c:v>
                </c:pt>
                <c:pt idx="5">
                  <c:v>448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685-4B03-BC73-B9C9978E3FC2}"/>
            </c:ext>
          </c:extLst>
        </c:ser>
        <c:ser>
          <c:idx val="1"/>
          <c:order val="1"/>
          <c:tx>
            <c:strRef>
              <c:f>Geral!$D$2:$D$3</c:f>
              <c:strCache>
                <c:ptCount val="2"/>
                <c:pt idx="0">
                  <c:v>Novembro</c:v>
                </c:pt>
              </c:strCache>
            </c:strRef>
          </c:tx>
          <c:invertIfNegative val="0"/>
          <c:cat>
            <c:strRef>
              <c:f>Geral!$B$4:$B$9</c:f>
              <c:strCache>
                <c:ptCount val="6"/>
                <c:pt idx="0">
                  <c:v>Headset - Defeito</c:v>
                </c:pt>
                <c:pt idx="1">
                  <c:v>Computador - Não liga</c:v>
                </c:pt>
                <c:pt idx="2">
                  <c:v>Mouse - Não funciona</c:v>
                </c:pt>
                <c:pt idx="3">
                  <c:v>Teclado - Quebrado</c:v>
                </c:pt>
                <c:pt idx="4">
                  <c:v>Telefone - Quebrado</c:v>
                </c:pt>
                <c:pt idx="5">
                  <c:v>Monitor - Não liga</c:v>
                </c:pt>
              </c:strCache>
            </c:strRef>
          </c:cat>
          <c:val>
            <c:numRef>
              <c:f>Geral!$D$4:$D$9</c:f>
              <c:numCache>
                <c:formatCode>General</c:formatCode>
                <c:ptCount val="6"/>
                <c:pt idx="0">
                  <c:v>3907</c:v>
                </c:pt>
                <c:pt idx="1">
                  <c:v>865</c:v>
                </c:pt>
                <c:pt idx="2">
                  <c:v>1028</c:v>
                </c:pt>
                <c:pt idx="3">
                  <c:v>679</c:v>
                </c:pt>
                <c:pt idx="4">
                  <c:v>43</c:v>
                </c:pt>
                <c:pt idx="5">
                  <c:v>438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685-4B03-BC73-B9C9978E3FC2}"/>
            </c:ext>
          </c:extLst>
        </c:ser>
        <c:ser>
          <c:idx val="2"/>
          <c:order val="2"/>
          <c:tx>
            <c:strRef>
              <c:f>Geral!$E$2:$E$3</c:f>
              <c:strCache>
                <c:ptCount val="2"/>
                <c:pt idx="0">
                  <c:v>Dezembro</c:v>
                </c:pt>
              </c:strCache>
            </c:strRef>
          </c:tx>
          <c:invertIfNegative val="0"/>
          <c:cat>
            <c:strRef>
              <c:f>Geral!$B$4:$B$9</c:f>
              <c:strCache>
                <c:ptCount val="6"/>
                <c:pt idx="0">
                  <c:v>Headset - Defeito</c:v>
                </c:pt>
                <c:pt idx="1">
                  <c:v>Computador - Não liga</c:v>
                </c:pt>
                <c:pt idx="2">
                  <c:v>Mouse - Não funciona</c:v>
                </c:pt>
                <c:pt idx="3">
                  <c:v>Teclado - Quebrado</c:v>
                </c:pt>
                <c:pt idx="4">
                  <c:v>Telefone - Quebrado</c:v>
                </c:pt>
                <c:pt idx="5">
                  <c:v>Monitor - Não liga</c:v>
                </c:pt>
              </c:strCache>
            </c:strRef>
          </c:cat>
          <c:val>
            <c:numRef>
              <c:f>Geral!$E$4:$E$9</c:f>
              <c:numCache>
                <c:formatCode>General</c:formatCode>
                <c:ptCount val="6"/>
                <c:pt idx="0">
                  <c:v>3840</c:v>
                </c:pt>
                <c:pt idx="1">
                  <c:v>724</c:v>
                </c:pt>
                <c:pt idx="2">
                  <c:v>721</c:v>
                </c:pt>
                <c:pt idx="3">
                  <c:v>528</c:v>
                </c:pt>
                <c:pt idx="4">
                  <c:v>29</c:v>
                </c:pt>
                <c:pt idx="5">
                  <c:v>390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685-4B03-BC73-B9C9978E3F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9665600"/>
        <c:axId val="282934056"/>
      </c:barChart>
      <c:catAx>
        <c:axId val="2596656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82934056"/>
        <c:crosses val="autoZero"/>
        <c:auto val="1"/>
        <c:lblAlgn val="ctr"/>
        <c:lblOffset val="100"/>
        <c:noMultiLvlLbl val="0"/>
      </c:catAx>
      <c:valAx>
        <c:axId val="2829340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5966560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13/01/2016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6629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8487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655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017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568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3995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52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1/13/2016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notesSlide" Target="../notesSlides/notesSlide3.xml"/><Relationship Id="rId7" Type="http://schemas.openxmlformats.org/officeDocument/2006/relationships/package" Target="../embeddings/Microsoft_Excel_Worksheet5.xls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emf"/><Relationship Id="rId5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2.png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5" Type="http://schemas.openxmlformats.org/officeDocument/2006/relationships/image" Target="../media/image3.emf"/><Relationship Id="rId4" Type="http://schemas.openxmlformats.org/officeDocument/2006/relationships/image" Target="../media/image4.png"/><Relationship Id="rId9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2.png"/><Relationship Id="rId7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emf"/><Relationship Id="rId5" Type="http://schemas.openxmlformats.org/officeDocument/2006/relationships/image" Target="../media/image3.emf"/><Relationship Id="rId4" Type="http://schemas.openxmlformats.org/officeDocument/2006/relationships/image" Target="../media/image4.png"/><Relationship Id="rId9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5.jpg"/><Relationship Id="rId10" Type="http://schemas.openxmlformats.org/officeDocument/2006/relationships/image" Target="../media/image28.png"/><Relationship Id="rId4" Type="http://schemas.openxmlformats.org/officeDocument/2006/relationships/image" Target="../media/image3.emf"/><Relationship Id="rId9" Type="http://schemas.openxmlformats.org/officeDocument/2006/relationships/image" Target="../media/image27.png"/><Relationship Id="rId14" Type="http://schemas.openxmlformats.org/officeDocument/2006/relationships/image" Target="../media/image3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13.Janeiro.2016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5908890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e Problemas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Levantamento detalhado de HW por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ite</a:t>
            </a:r>
          </a:p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Levantamento detalhado de HW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por Regionais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Estruturantes e Especiais</a:t>
            </a:r>
          </a:p>
          <a:p>
            <a:pPr algn="l">
              <a:buClr>
                <a:srgbClr val="800000"/>
              </a:buClr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/>
          <p:cNvGrpSpPr/>
          <p:nvPr/>
        </p:nvGrpSpPr>
        <p:grpSpPr>
          <a:xfrm>
            <a:off x="0" y="2436"/>
            <a:ext cx="9144001" cy="5145828"/>
            <a:chOff x="0" y="2436"/>
            <a:chExt cx="9144001" cy="5145828"/>
          </a:xfrm>
        </p:grpSpPr>
        <p:grpSp>
          <p:nvGrpSpPr>
            <p:cNvPr id="2" name="Agrupar 1"/>
            <p:cNvGrpSpPr/>
            <p:nvPr/>
          </p:nvGrpSpPr>
          <p:grpSpPr>
            <a:xfrm>
              <a:off x="1" y="153259"/>
              <a:ext cx="9144000" cy="4995005"/>
              <a:chOff x="1" y="153259"/>
              <a:chExt cx="9144000" cy="4995005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36933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734184" y="153259"/>
                <a:ext cx="6254098" cy="56040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algn="ctr" defTabSz="4572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buClr>
                    <a:srgbClr val="800000"/>
                  </a:buClr>
                </a:pPr>
                <a:r>
                  <a:rPr lang="pt-BR" sz="2800" b="1" dirty="0" smtClean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1. Indicadores: Incidentes e Problemas</a:t>
                </a:r>
                <a:endParaRPr lang="pt-BR" sz="18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23" name="Gráfico 22"/>
              <p:cNvGraphicFramePr/>
              <p:nvPr>
                <p:extLst/>
              </p:nvPr>
            </p:nvGraphicFramePr>
            <p:xfrm>
              <a:off x="1" y="784099"/>
              <a:ext cx="4276020" cy="2239473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24" name="CaixaDeTexto 23"/>
              <p:cNvSpPr txBox="1"/>
              <p:nvPr/>
            </p:nvSpPr>
            <p:spPr>
              <a:xfrm>
                <a:off x="450221" y="1883543"/>
                <a:ext cx="657938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-6,1%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5" name="CaixaDeTexto 24"/>
              <p:cNvSpPr txBox="1"/>
              <p:nvPr/>
            </p:nvSpPr>
            <p:spPr>
              <a:xfrm>
                <a:off x="1111484" y="1883542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-11,9%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27" name="Gráfico 26"/>
              <p:cNvGraphicFramePr/>
              <p:nvPr>
                <p:extLst/>
              </p:nvPr>
            </p:nvGraphicFramePr>
            <p:xfrm>
              <a:off x="4532563" y="791263"/>
              <a:ext cx="4250194" cy="223230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28" name="CaixaDeTexto 27"/>
              <p:cNvSpPr txBox="1"/>
              <p:nvPr/>
            </p:nvSpPr>
            <p:spPr>
              <a:xfrm>
                <a:off x="4993455" y="1779776"/>
                <a:ext cx="643139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-3,0%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" name="CaixaDeTexto 28"/>
              <p:cNvSpPr txBox="1"/>
              <p:nvPr/>
            </p:nvSpPr>
            <p:spPr>
              <a:xfrm>
                <a:off x="5636594" y="1796043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-14,8%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0" name="CaixaDeTexto 29"/>
              <p:cNvSpPr txBox="1"/>
              <p:nvPr/>
            </p:nvSpPr>
            <p:spPr>
              <a:xfrm>
                <a:off x="6303500" y="1785027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-66,8%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31" name="Gráfico 30"/>
              <p:cNvGraphicFramePr/>
              <p:nvPr>
                <p:extLst/>
              </p:nvPr>
            </p:nvGraphicFramePr>
            <p:xfrm>
              <a:off x="4968607" y="3068858"/>
              <a:ext cx="3492347" cy="207940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33" name="Retângulo de cantos arredondados 32"/>
              <p:cNvSpPr/>
              <p:nvPr/>
            </p:nvSpPr>
            <p:spPr>
              <a:xfrm>
                <a:off x="220647" y="3553688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 smtClean="0"/>
                  <a:t>Redução </a:t>
                </a:r>
                <a:r>
                  <a:rPr lang="pt-BR" sz="1600" b="1" i="1" dirty="0" smtClean="0"/>
                  <a:t>Consolidada</a:t>
                </a:r>
                <a:r>
                  <a:rPr lang="pt-BR" sz="1600" b="1" dirty="0" smtClean="0"/>
                  <a:t/>
                </a:r>
                <a:br>
                  <a:rPr lang="pt-BR" sz="1600" b="1" dirty="0" smtClean="0"/>
                </a:br>
                <a:r>
                  <a:rPr lang="pt-BR" sz="1600" b="1" dirty="0" smtClean="0"/>
                  <a:t> Ago </a:t>
                </a:r>
                <a:r>
                  <a:rPr lang="pt-BR" sz="1600" b="1" dirty="0"/>
                  <a:t>/ </a:t>
                </a:r>
                <a:r>
                  <a:rPr lang="pt-BR" sz="1600" b="1" dirty="0" smtClean="0"/>
                  <a:t>Dez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-80,32%</a:t>
                </a:r>
                <a:endParaRPr lang="pt-BR" sz="1600" b="1" dirty="0"/>
              </a:p>
            </p:txBody>
          </p:sp>
          <p:sp>
            <p:nvSpPr>
              <p:cNvPr id="19" name="Retângulo de cantos arredondados 18"/>
              <p:cNvSpPr/>
              <p:nvPr/>
            </p:nvSpPr>
            <p:spPr>
              <a:xfrm>
                <a:off x="2138011" y="3553689"/>
                <a:ext cx="1775024" cy="1058077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/>
                  <a:t>Redução </a:t>
                </a:r>
                <a:r>
                  <a:rPr lang="pt-BR" sz="1600" b="1" i="1" dirty="0" smtClean="0"/>
                  <a:t>Projetada</a:t>
                </a:r>
                <a:r>
                  <a:rPr lang="pt-BR" sz="1600" b="1" i="1" dirty="0"/>
                  <a:t/>
                </a:r>
                <a:br>
                  <a:rPr lang="pt-BR" sz="1600" b="1" i="1" dirty="0"/>
                </a:br>
                <a:r>
                  <a:rPr lang="pt-BR" sz="1600" b="1" dirty="0"/>
                  <a:t> </a:t>
                </a:r>
                <a:r>
                  <a:rPr lang="pt-BR" sz="1600" b="1" dirty="0" err="1"/>
                  <a:t>Ago</a:t>
                </a:r>
                <a:r>
                  <a:rPr lang="pt-BR" sz="1600" b="1" dirty="0"/>
                  <a:t> / </a:t>
                </a:r>
                <a:r>
                  <a:rPr lang="pt-BR" sz="1600" b="1" dirty="0" smtClean="0"/>
                  <a:t>Jan</a:t>
                </a:r>
                <a:endParaRPr lang="pt-BR" sz="1600" b="1" dirty="0"/>
              </a:p>
              <a:p>
                <a:pPr algn="ctr"/>
                <a:r>
                  <a:rPr lang="pt-BR" sz="1600" b="1" dirty="0" smtClean="0"/>
                  <a:t>-94,58%</a:t>
                </a:r>
                <a:endParaRPr lang="pt-BR" sz="1600" b="1" dirty="0"/>
              </a:p>
            </p:txBody>
          </p:sp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7919" y="2822883"/>
                <a:ext cx="247650" cy="1762125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sp>
            <p:nvSpPr>
              <p:cNvPr id="18" name="CaixaDeTexto 17"/>
              <p:cNvSpPr txBox="1"/>
              <p:nvPr/>
            </p:nvSpPr>
            <p:spPr>
              <a:xfrm>
                <a:off x="1774259" y="1885122"/>
                <a:ext cx="684782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-66,3%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2" name="CaixaDeTexto 21"/>
              <p:cNvSpPr txBox="1"/>
              <p:nvPr/>
            </p:nvSpPr>
            <p:spPr>
              <a:xfrm>
                <a:off x="6929648" y="2197306"/>
                <a:ext cx="586677" cy="261610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r>
                  <a:rPr lang="pt-BR" sz="1100" b="1" dirty="0" smtClean="0">
                    <a:solidFill>
                      <a:schemeClr val="accent2"/>
                    </a:solidFill>
                  </a:rPr>
                  <a:t>-31,4%</a:t>
                </a:r>
                <a:endParaRPr lang="pt-BR" sz="11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" name="CaixaDeTexto 2"/>
              <p:cNvSpPr txBox="1"/>
              <p:nvPr/>
            </p:nvSpPr>
            <p:spPr>
              <a:xfrm>
                <a:off x="1" y="4848225"/>
                <a:ext cx="5067299" cy="24622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Informações retiradas dos indicadores de SLA e </a:t>
                </a:r>
                <a:r>
                  <a:rPr lang="pt-BR" sz="1000" dirty="0" err="1" smtClean="0">
                    <a:solidFill>
                      <a:schemeClr val="bg1">
                        <a:lumMod val="65000"/>
                      </a:schemeClr>
                    </a:solidFill>
                  </a:rPr>
                  <a:t>tProcess</a:t>
                </a:r>
                <a:r>
                  <a:rPr lang="pt-BR" sz="1000" dirty="0" smtClean="0">
                    <a:solidFill>
                      <a:schemeClr val="bg1">
                        <a:lumMod val="65000"/>
                      </a:schemeClr>
                    </a:solidFill>
                  </a:rPr>
                  <a:t>! referentes ao período de 01 à 11/01</a:t>
                </a:r>
                <a:endParaRPr lang="pt-BR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2436"/>
              <a:ext cx="786452" cy="774259"/>
            </a:xfrm>
            <a:prstGeom prst="rect">
              <a:avLst/>
            </a:prstGeom>
          </p:spPr>
        </p:pic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32" name="CaixaDeTexto 31"/>
          <p:cNvSpPr txBox="1"/>
          <p:nvPr/>
        </p:nvSpPr>
        <p:spPr>
          <a:xfrm>
            <a:off x="2399521" y="228058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-29,1%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7569068" y="2260255"/>
            <a:ext cx="586677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-22,3%</a:t>
            </a:r>
            <a:endParaRPr lang="pt-BR" sz="11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95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85000"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</a:t>
              </a:r>
              <a:endPara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3" name="Gráfico 22"/>
            <p:cNvGraphicFramePr/>
            <p:nvPr>
              <p:extLst>
                <p:ext uri="{D42A27DB-BD31-4B8C-83A1-F6EECF244321}">
                  <p14:modId xmlns:p14="http://schemas.microsoft.com/office/powerpoint/2010/main" val="913256334"/>
                </p:ext>
              </p:extLst>
            </p:nvPr>
          </p:nvGraphicFramePr>
          <p:xfrm>
            <a:off x="1133035" y="504650"/>
            <a:ext cx="5875578" cy="300079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1809525" y="1784593"/>
              <a:ext cx="703482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-4,95%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2742573" y="1794090"/>
              <a:ext cx="732185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 smtClean="0">
                  <a:solidFill>
                    <a:schemeClr val="accent2"/>
                  </a:solidFill>
                </a:rPr>
                <a:t>-0,49%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8" name="CaixaDeTexto 17"/>
            <p:cNvSpPr txBox="1"/>
            <p:nvPr/>
          </p:nvSpPr>
          <p:spPr>
            <a:xfrm>
              <a:off x="3616665" y="1795670"/>
              <a:ext cx="732185" cy="27699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r>
                <a:rPr lang="pt-BR" sz="1200" b="1" dirty="0">
                  <a:solidFill>
                    <a:schemeClr val="accent2"/>
                  </a:solidFill>
                </a:rPr>
                <a:t>+</a:t>
              </a:r>
              <a:r>
                <a:rPr lang="pt-BR" sz="1200" b="1" dirty="0" smtClean="0">
                  <a:solidFill>
                    <a:schemeClr val="accent2"/>
                  </a:solidFill>
                </a:rPr>
                <a:t>4,65%</a:t>
              </a:r>
              <a:endParaRPr lang="pt-BR" sz="1200" b="1" dirty="0">
                <a:solidFill>
                  <a:schemeClr val="accent2"/>
                </a:solidFill>
              </a:endParaRP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à 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11/01</a:t>
              </a:r>
              <a:endParaRPr lang="pt-BR" sz="1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32" name="CaixaDeTexto 31"/>
          <p:cNvSpPr txBox="1"/>
          <p:nvPr/>
        </p:nvSpPr>
        <p:spPr>
          <a:xfrm>
            <a:off x="4503682" y="1791080"/>
            <a:ext cx="6847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2"/>
                </a:solidFill>
              </a:rPr>
              <a:t>-6,15%</a:t>
            </a:r>
            <a:endParaRPr lang="pt-BR" sz="1200" b="1" dirty="0">
              <a:solidFill>
                <a:schemeClr val="accent2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377774" y="1779560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r>
              <a:rPr lang="pt-BR" sz="1100" b="1" dirty="0" smtClean="0">
                <a:solidFill>
                  <a:schemeClr val="accent2"/>
                </a:solidFill>
              </a:rPr>
              <a:t>+11,23%</a:t>
            </a:r>
            <a:endParaRPr lang="pt-BR" sz="1100" b="1" dirty="0">
              <a:solidFill>
                <a:schemeClr val="accent2"/>
              </a:solidFill>
            </a:endParaRPr>
          </a:p>
        </p:txBody>
      </p:sp>
      <p:sp>
        <p:nvSpPr>
          <p:cNvPr id="5" name="Seta para a direita 4"/>
          <p:cNvSpPr/>
          <p:nvPr/>
        </p:nvSpPr>
        <p:spPr>
          <a:xfrm>
            <a:off x="6866570" y="2501778"/>
            <a:ext cx="309526" cy="20872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12700">
            <a:bevelT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7111332" y="2452249"/>
            <a:ext cx="1423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50000"/>
                  </a:schemeClr>
                </a:solidFill>
              </a:rPr>
              <a:t>Valor Real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713316" y="1261885"/>
            <a:ext cx="1874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bg2">
                    <a:lumMod val="50000"/>
                  </a:schemeClr>
                </a:solidFill>
              </a:rPr>
              <a:t>Projeção 31 Jan 2016 </a:t>
            </a:r>
            <a:endParaRPr lang="pt-BR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9" name="Seta para a direita 38"/>
          <p:cNvSpPr/>
          <p:nvPr/>
        </p:nvSpPr>
        <p:spPr>
          <a:xfrm>
            <a:off x="6457245" y="1321351"/>
            <a:ext cx="309526" cy="208721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 contourW="12700">
            <a:bevelT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5806505" y="1282112"/>
            <a:ext cx="710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/>
              <a:t>21.768</a:t>
            </a:r>
            <a:endParaRPr lang="pt-BR" sz="1200" b="1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9676" y="3305799"/>
            <a:ext cx="4356765" cy="14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1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grpSp>
        <p:nvGrpSpPr>
          <p:cNvPr id="2" name="Agrupar 1"/>
          <p:cNvGrpSpPr/>
          <p:nvPr/>
        </p:nvGrpSpPr>
        <p:grpSpPr>
          <a:xfrm>
            <a:off x="1" y="109365"/>
            <a:ext cx="9144000" cy="5048838"/>
            <a:chOff x="1" y="99426"/>
            <a:chExt cx="9144000" cy="5048838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474562" y="99426"/>
              <a:ext cx="6889190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24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Levantamento </a:t>
              </a:r>
              <a:r>
                <a:rPr lang="pt-BR" sz="24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detalhado de HW por site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067299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 smtClean="0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!</a:t>
              </a:r>
              <a:endParaRPr lang="pt-BR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364361"/>
              </p:ext>
            </p:extLst>
          </p:nvPr>
        </p:nvGraphicFramePr>
        <p:xfrm>
          <a:off x="233755" y="785689"/>
          <a:ext cx="5413439" cy="1283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Worksheet" r:id="rId7" imgW="6467678" imgH="1533655" progId="Excel.Sheet.12">
                  <p:embed/>
                </p:oleObj>
              </mc:Choice>
              <mc:Fallback>
                <p:oleObj name="Worksheet" r:id="rId7" imgW="6467678" imgH="153365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755" y="785689"/>
                        <a:ext cx="5413439" cy="1283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Gráfico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1310678"/>
              </p:ext>
            </p:extLst>
          </p:nvPr>
        </p:nvGraphicFramePr>
        <p:xfrm>
          <a:off x="266996" y="2222339"/>
          <a:ext cx="4280848" cy="2658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8" name="Retângulo de cantos arredondados 27"/>
          <p:cNvSpPr/>
          <p:nvPr/>
        </p:nvSpPr>
        <p:spPr>
          <a:xfrm>
            <a:off x="5544273" y="794514"/>
            <a:ext cx="3517267" cy="3927961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b="1" dirty="0" smtClean="0"/>
              <a:t>Modelo de Fechamento de chamados de HW</a:t>
            </a:r>
            <a:endParaRPr lang="pt-BR" sz="1400" b="1" i="1" dirty="0"/>
          </a:p>
          <a:p>
            <a:endParaRPr lang="pt-BR" sz="1400" b="1" dirty="0"/>
          </a:p>
          <a:p>
            <a:r>
              <a:rPr lang="pt-BR" sz="1400" dirty="0" smtClean="0"/>
              <a:t>1</a:t>
            </a:r>
            <a:r>
              <a:rPr lang="pt-BR" sz="1400" dirty="0"/>
              <a:t>° Chamados onde não foi identificado falha – </a:t>
            </a:r>
            <a:r>
              <a:rPr lang="pt-BR" sz="1400" b="1" i="1" dirty="0"/>
              <a:t> </a:t>
            </a:r>
            <a:r>
              <a:rPr lang="pt-BR" sz="1400" b="1" i="1" u="sng" dirty="0"/>
              <a:t>fechar como indevido</a:t>
            </a:r>
            <a:r>
              <a:rPr lang="pt-BR" sz="1400" b="1" dirty="0" smtClean="0"/>
              <a:t>.</a:t>
            </a:r>
          </a:p>
          <a:p>
            <a:endParaRPr lang="pt-BR" sz="1400" dirty="0"/>
          </a:p>
          <a:p>
            <a:r>
              <a:rPr lang="pt-BR" sz="1400" dirty="0"/>
              <a:t>2° Chamados onde foi realizado alguma ação – </a:t>
            </a:r>
            <a:r>
              <a:rPr lang="pt-BR" sz="1400" b="1" i="1" u="sng" dirty="0"/>
              <a:t>fechar como solução de contorno</a:t>
            </a:r>
            <a:r>
              <a:rPr lang="pt-BR" sz="1400" dirty="0"/>
              <a:t>.</a:t>
            </a:r>
          </a:p>
          <a:p>
            <a:endParaRPr lang="pt-BR" sz="1400" dirty="0" smtClean="0"/>
          </a:p>
          <a:p>
            <a:r>
              <a:rPr lang="pt-BR" sz="1400" dirty="0" smtClean="0"/>
              <a:t>3</a:t>
            </a:r>
            <a:r>
              <a:rPr lang="pt-BR" sz="1400" dirty="0"/>
              <a:t>° Chamados onde foi realizado a troca de hw </a:t>
            </a:r>
            <a:r>
              <a:rPr lang="pt-BR" sz="1400" b="1" i="1" u="sng" dirty="0"/>
              <a:t>– fechar como solução permanente</a:t>
            </a:r>
            <a:r>
              <a:rPr lang="pt-BR" sz="1400" dirty="0"/>
              <a:t>.</a:t>
            </a:r>
          </a:p>
          <a:p>
            <a:r>
              <a:rPr lang="pt-BR" sz="1400" dirty="0"/>
              <a:t> </a:t>
            </a:r>
          </a:p>
          <a:p>
            <a:r>
              <a:rPr lang="pt-BR" sz="1400" dirty="0"/>
              <a:t>Desta forma teremos um número mais próximos do real de compra de periféricos na Contax.</a:t>
            </a:r>
            <a:endParaRPr lang="pt-BR" sz="1300" dirty="0"/>
          </a:p>
        </p:txBody>
      </p:sp>
    </p:spTree>
    <p:extLst>
      <p:ext uri="{BB962C8B-B14F-4D97-AF65-F5344CB8AC3E}">
        <p14:creationId xmlns:p14="http://schemas.microsoft.com/office/powerpoint/2010/main" val="140217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grpSp>
        <p:nvGrpSpPr>
          <p:cNvPr id="2" name="Agrupar 1"/>
          <p:cNvGrpSpPr/>
          <p:nvPr/>
        </p:nvGrpSpPr>
        <p:grpSpPr>
          <a:xfrm>
            <a:off x="1" y="109365"/>
            <a:ext cx="9144000" cy="5048838"/>
            <a:chOff x="1" y="99426"/>
            <a:chExt cx="9144000" cy="5048838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474562" y="99426"/>
              <a:ext cx="6889190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2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Levantamento </a:t>
              </a:r>
              <a:r>
                <a:rPr lang="pt-BR" sz="2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detalhado de 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HW por Regionais</a:t>
              </a:r>
              <a:endPara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067299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 smtClean="0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!</a:t>
              </a:r>
              <a:endParaRPr lang="pt-BR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sp>
        <p:nvSpPr>
          <p:cNvPr id="28" name="Retângulo de cantos arredondados 27"/>
          <p:cNvSpPr/>
          <p:nvPr/>
        </p:nvSpPr>
        <p:spPr>
          <a:xfrm>
            <a:off x="6550566" y="1215130"/>
            <a:ext cx="2122667" cy="10652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b="1" dirty="0" smtClean="0"/>
              <a:t>Visão geral </a:t>
            </a:r>
          </a:p>
          <a:p>
            <a:pPr algn="ctr"/>
            <a:r>
              <a:rPr lang="pt-BR" sz="2000" b="1" dirty="0" smtClean="0"/>
              <a:t>por Regionais</a:t>
            </a:r>
            <a:endParaRPr lang="pt-BR" sz="1400" b="1" i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864" y="1308940"/>
            <a:ext cx="6491423" cy="368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28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grpSp>
        <p:nvGrpSpPr>
          <p:cNvPr id="2" name="Agrupar 1"/>
          <p:cNvGrpSpPr/>
          <p:nvPr/>
        </p:nvGrpSpPr>
        <p:grpSpPr>
          <a:xfrm>
            <a:off x="1" y="0"/>
            <a:ext cx="9144000" cy="5158203"/>
            <a:chOff x="1" y="-9939"/>
            <a:chExt cx="9144000" cy="5158203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474562" y="-9939"/>
              <a:ext cx="6889190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2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Levantamento </a:t>
              </a:r>
              <a:r>
                <a:rPr lang="pt-BR" sz="2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detalhado de 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HW por Regional</a:t>
              </a:r>
              <a:endPara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067299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 smtClean="0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!</a:t>
              </a:r>
              <a:endParaRPr lang="pt-BR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" y="669765"/>
            <a:ext cx="4496204" cy="230901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6178" y="669765"/>
            <a:ext cx="4447822" cy="228416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" y="2978776"/>
            <a:ext cx="4330011" cy="22236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1566" y="2918513"/>
            <a:ext cx="4396301" cy="225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87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grpSp>
        <p:nvGrpSpPr>
          <p:cNvPr id="2" name="Agrupar 1"/>
          <p:cNvGrpSpPr/>
          <p:nvPr/>
        </p:nvGrpSpPr>
        <p:grpSpPr>
          <a:xfrm>
            <a:off x="1" y="0"/>
            <a:ext cx="9144000" cy="5158203"/>
            <a:chOff x="1" y="-9939"/>
            <a:chExt cx="9144000" cy="5158203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474562" y="-9939"/>
              <a:ext cx="6889190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2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Levantamento </a:t>
              </a:r>
              <a:r>
                <a:rPr lang="pt-BR" sz="20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detalhado de </a:t>
              </a:r>
              <a:r>
                <a:rPr lang="pt-BR" sz="20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HW por Regional</a:t>
              </a:r>
              <a:endPara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067299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 smtClean="0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 smtClean="0">
                  <a:solidFill>
                    <a:schemeClr val="bg1">
                      <a:lumMod val="65000"/>
                    </a:schemeClr>
                  </a:solidFill>
                </a:rPr>
                <a:t>!</a:t>
              </a:r>
              <a:endParaRPr lang="pt-BR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26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164405"/>
            <a:ext cx="1603348" cy="29132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31" y="560400"/>
            <a:ext cx="4562869" cy="2343247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6578" y="531825"/>
            <a:ext cx="4328149" cy="2290403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925" y="2850803"/>
            <a:ext cx="3988777" cy="2048423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318" y="2822228"/>
            <a:ext cx="4130469" cy="212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30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Estruturantes e Especiais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655" y="4334629"/>
            <a:ext cx="690691" cy="68759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869" y="4223568"/>
            <a:ext cx="781292" cy="79865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3077" y="4284614"/>
            <a:ext cx="798655" cy="798655"/>
          </a:xfrm>
          <a:prstGeom prst="rect">
            <a:avLst/>
          </a:prstGeom>
        </p:spPr>
      </p:pic>
      <p:sp>
        <p:nvSpPr>
          <p:cNvPr id="11" name="Elipse 10"/>
          <p:cNvSpPr/>
          <p:nvPr/>
        </p:nvSpPr>
        <p:spPr>
          <a:xfrm>
            <a:off x="1669179" y="4340569"/>
            <a:ext cx="608523" cy="608567"/>
          </a:xfrm>
          <a:prstGeom prst="ellipse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Elipse 11"/>
          <p:cNvSpPr/>
          <p:nvPr/>
        </p:nvSpPr>
        <p:spPr>
          <a:xfrm>
            <a:off x="562659" y="4175497"/>
            <a:ext cx="564119" cy="717684"/>
          </a:xfrm>
          <a:prstGeom prst="ellipse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6000" r="-4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9045" y="4223568"/>
            <a:ext cx="669613" cy="669613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9927" y="4309001"/>
            <a:ext cx="682811" cy="640135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5761" y="4260227"/>
            <a:ext cx="707197" cy="664522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23" y="1041090"/>
            <a:ext cx="9021933" cy="24173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3543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10742</TotalTime>
  <Words>274</Words>
  <Application>Microsoft Office PowerPoint</Application>
  <PresentationFormat>Personalizar</PresentationFormat>
  <Paragraphs>74</Paragraphs>
  <Slides>10</Slides>
  <Notes>7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5_Tema do Office</vt:lpstr>
      <vt:lpstr>7_Tema do Office</vt:lpstr>
      <vt:lpstr>10_Tema do Office</vt:lpstr>
      <vt:lpstr>Slide do think-cell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813</cp:revision>
  <dcterms:created xsi:type="dcterms:W3CDTF">2015-08-20T14:57:26Z</dcterms:created>
  <dcterms:modified xsi:type="dcterms:W3CDTF">2016-01-13T18:46:17Z</dcterms:modified>
</cp:coreProperties>
</file>