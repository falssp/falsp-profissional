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5" r:id="rId2"/>
    <p:sldId id="262" r:id="rId3"/>
    <p:sldId id="263" r:id="rId4"/>
    <p:sldId id="266" r:id="rId5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90" d="100"/>
          <a:sy n="90" d="100"/>
        </p:scale>
        <p:origin x="-804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C9F4DB-BC30-4A8A-BEAC-2B6F1A123CEF}" type="datetimeFigureOut">
              <a:rPr lang="pt-BR" smtClean="0"/>
              <a:t>02/06/2016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4EAF8F-AB30-43B3-9615-3954593ACB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4144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0ABA0-7056-46BA-B416-A7550CD3D867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52609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0ABA0-7056-46BA-B416-A7550CD3D867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52609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0ABA0-7056-46BA-B416-A7550CD3D867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52609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0ABA0-7056-46BA-B416-A7550CD3D867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5260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25E76-39C6-4868-B97A-59E9C344DB66}" type="datetimeFigureOut">
              <a:rPr lang="pt-BR" smtClean="0"/>
              <a:t>02/06/2016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C8C2E-AF85-4B6A-9AE0-FB69F3AAF0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1485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25E76-39C6-4868-B97A-59E9C344DB66}" type="datetimeFigureOut">
              <a:rPr lang="pt-BR" smtClean="0"/>
              <a:t>02/06/2016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C8C2E-AF85-4B6A-9AE0-FB69F3AAF0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3746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25E76-39C6-4868-B97A-59E9C344DB66}" type="datetimeFigureOut">
              <a:rPr lang="pt-BR" smtClean="0"/>
              <a:t>02/06/2016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C8C2E-AF85-4B6A-9AE0-FB69F3AAF0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3483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25E76-39C6-4868-B97A-59E9C344DB66}" type="datetimeFigureOut">
              <a:rPr lang="pt-BR" smtClean="0"/>
              <a:t>02/06/2016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C8C2E-AF85-4B6A-9AE0-FB69F3AAF0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1682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25E76-39C6-4868-B97A-59E9C344DB66}" type="datetimeFigureOut">
              <a:rPr lang="pt-BR" smtClean="0"/>
              <a:t>02/06/2016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C8C2E-AF85-4B6A-9AE0-FB69F3AAF0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7065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25E76-39C6-4868-B97A-59E9C344DB66}" type="datetimeFigureOut">
              <a:rPr lang="pt-BR" smtClean="0"/>
              <a:t>02/06/2016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C8C2E-AF85-4B6A-9AE0-FB69F3AAF0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912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25E76-39C6-4868-B97A-59E9C344DB66}" type="datetimeFigureOut">
              <a:rPr lang="pt-BR" smtClean="0"/>
              <a:t>02/06/2016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C8C2E-AF85-4B6A-9AE0-FB69F3AAF0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6416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25E76-39C6-4868-B97A-59E9C344DB66}" type="datetimeFigureOut">
              <a:rPr lang="pt-BR" smtClean="0"/>
              <a:t>02/06/2016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C8C2E-AF85-4B6A-9AE0-FB69F3AAF0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8057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25E76-39C6-4868-B97A-59E9C344DB66}" type="datetimeFigureOut">
              <a:rPr lang="pt-BR" smtClean="0"/>
              <a:t>02/06/2016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C8C2E-AF85-4B6A-9AE0-FB69F3AAF0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8903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25E76-39C6-4868-B97A-59E9C344DB66}" type="datetimeFigureOut">
              <a:rPr lang="pt-BR" smtClean="0"/>
              <a:t>02/06/2016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C8C2E-AF85-4B6A-9AE0-FB69F3AAF0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7821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25E76-39C6-4868-B97A-59E9C344DB66}" type="datetimeFigureOut">
              <a:rPr lang="pt-BR" smtClean="0"/>
              <a:t>02/06/2016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C8C2E-AF85-4B6A-9AE0-FB69F3AAF0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8047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425E76-39C6-4868-B97A-59E9C344DB66}" type="datetimeFigureOut">
              <a:rPr lang="pt-BR" smtClean="0"/>
              <a:t>02/06/2016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1C8C2E-AF85-4B6A-9AE0-FB69F3AAF0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0622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" descr="t03-02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90746"/>
          <a:stretch/>
        </p:blipFill>
        <p:spPr>
          <a:xfrm>
            <a:off x="1" y="2"/>
            <a:ext cx="789296" cy="634640"/>
          </a:xfrm>
          <a:prstGeom prst="rect">
            <a:avLst/>
          </a:prstGeom>
        </p:spPr>
      </p:pic>
      <p:pic>
        <p:nvPicPr>
          <p:cNvPr id="20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639" y="159539"/>
            <a:ext cx="1473556" cy="475101"/>
          </a:xfrm>
          <a:prstGeom prst="rect">
            <a:avLst/>
          </a:prstGeom>
        </p:spPr>
      </p:pic>
      <p:sp>
        <p:nvSpPr>
          <p:cNvPr id="57" name="Title 1"/>
          <p:cNvSpPr txBox="1">
            <a:spLocks/>
          </p:cNvSpPr>
          <p:nvPr/>
        </p:nvSpPr>
        <p:spPr>
          <a:xfrm>
            <a:off x="394649" y="0"/>
            <a:ext cx="6665371" cy="1001358"/>
          </a:xfrm>
          <a:prstGeom prst="rect">
            <a:avLst/>
          </a:prstGeom>
        </p:spPr>
        <p:txBody>
          <a:bodyPr vert="horz" lIns="91431" tIns="45715" rIns="91431" bIns="45715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b="1" dirty="0" smtClean="0">
                <a:solidFill>
                  <a:schemeClr val="tx2"/>
                </a:solidFill>
                <a:latin typeface="Arial"/>
                <a:cs typeface="Arial"/>
              </a:rPr>
              <a:t>Agenda</a:t>
            </a:r>
            <a:endParaRPr lang="pt-BR" sz="2000" dirty="0">
              <a:solidFill>
                <a:schemeClr val="accent3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00" name="Rectangle 153"/>
          <p:cNvSpPr>
            <a:spLocks noChangeArrowheads="1"/>
          </p:cNvSpPr>
          <p:nvPr/>
        </p:nvSpPr>
        <p:spPr bwMode="auto">
          <a:xfrm>
            <a:off x="611559" y="1340768"/>
            <a:ext cx="6869079" cy="2952328"/>
          </a:xfrm>
          <a:prstGeom prst="rect">
            <a:avLst/>
          </a:prstGeom>
          <a:noFill/>
          <a:ln w="31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" tIns="3600" rIns="3600" bIns="3600" rtlCol="0" anchor="ctr" anchorCtr="0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400" b="1" dirty="0" smtClean="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rPr>
              <a:t>POP</a:t>
            </a:r>
          </a:p>
          <a:p>
            <a:pPr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pt-BR" sz="1400" b="1" dirty="0" smtClean="0">
              <a:solidFill>
                <a:schemeClr val="dk1">
                  <a:hueOff val="0"/>
                  <a:satOff val="0"/>
                  <a:lumOff val="0"/>
                  <a:alphaOff val="0"/>
                </a:schemeClr>
              </a:solidFill>
            </a:endParaRPr>
          </a:p>
          <a:p>
            <a:pPr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400" b="1" dirty="0" smtClean="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rPr>
              <a:t>Fluxos de atuação Equipe Controle de Demandas</a:t>
            </a:r>
          </a:p>
          <a:p>
            <a:pPr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pt-BR" sz="1400" b="1" dirty="0">
              <a:solidFill>
                <a:schemeClr val="dk1">
                  <a:hueOff val="0"/>
                  <a:satOff val="0"/>
                  <a:lumOff val="0"/>
                  <a:alphaOff val="0"/>
                </a:schemeClr>
              </a:solidFill>
            </a:endParaRPr>
          </a:p>
          <a:p>
            <a:pPr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400" b="1" dirty="0" smtClean="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rPr>
              <a:t>Acompanhamento de Demandas – Aplicações vs. Controle de Demandas</a:t>
            </a:r>
          </a:p>
          <a:p>
            <a:pPr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pt-BR" sz="1400" b="1" dirty="0">
              <a:solidFill>
                <a:schemeClr val="dk1">
                  <a:hueOff val="0"/>
                  <a:satOff val="0"/>
                  <a:lumOff val="0"/>
                  <a:alphaOff val="0"/>
                </a:schemeClr>
              </a:solidFill>
            </a:endParaRPr>
          </a:p>
          <a:p>
            <a:pPr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400" b="1" dirty="0" smtClean="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rPr>
              <a:t>Ferramenta de Projetos</a:t>
            </a:r>
          </a:p>
          <a:p>
            <a:pPr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pt-BR" sz="1400" b="1" dirty="0">
              <a:solidFill>
                <a:schemeClr val="dk1">
                  <a:hueOff val="0"/>
                  <a:satOff val="0"/>
                  <a:lumOff val="0"/>
                  <a:alphaOff val="0"/>
                </a:schemeClr>
              </a:solidFill>
            </a:endParaRPr>
          </a:p>
          <a:p>
            <a:pPr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400" b="1" dirty="0" smtClean="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rPr>
              <a:t>Cardápio – versão inicial</a:t>
            </a:r>
          </a:p>
        </p:txBody>
      </p:sp>
    </p:spTree>
    <p:extLst>
      <p:ext uri="{BB962C8B-B14F-4D97-AF65-F5344CB8AC3E}">
        <p14:creationId xmlns:p14="http://schemas.microsoft.com/office/powerpoint/2010/main" val="1151348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" descr="t03-02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90746"/>
          <a:stretch/>
        </p:blipFill>
        <p:spPr>
          <a:xfrm>
            <a:off x="1" y="2"/>
            <a:ext cx="789296" cy="634640"/>
          </a:xfrm>
          <a:prstGeom prst="rect">
            <a:avLst/>
          </a:prstGeom>
        </p:spPr>
      </p:pic>
      <p:pic>
        <p:nvPicPr>
          <p:cNvPr id="20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639" y="159539"/>
            <a:ext cx="1473556" cy="475101"/>
          </a:xfrm>
          <a:prstGeom prst="rect">
            <a:avLst/>
          </a:prstGeom>
        </p:spPr>
      </p:pic>
      <p:sp>
        <p:nvSpPr>
          <p:cNvPr id="57" name="Title 1"/>
          <p:cNvSpPr txBox="1">
            <a:spLocks/>
          </p:cNvSpPr>
          <p:nvPr/>
        </p:nvSpPr>
        <p:spPr>
          <a:xfrm>
            <a:off x="394649" y="0"/>
            <a:ext cx="6665371" cy="1001358"/>
          </a:xfrm>
          <a:prstGeom prst="rect">
            <a:avLst/>
          </a:prstGeom>
        </p:spPr>
        <p:txBody>
          <a:bodyPr vert="horz" lIns="91431" tIns="45715" rIns="91431" bIns="45715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000" b="1" dirty="0" smtClean="0">
                <a:solidFill>
                  <a:schemeClr val="tx2"/>
                </a:solidFill>
                <a:latin typeface="Arial"/>
                <a:cs typeface="Arial"/>
              </a:rPr>
              <a:t>Fluxo – Suporte ao Negócio - Pré-Vendas</a:t>
            </a:r>
            <a:endParaRPr lang="pt-BR" sz="1800" dirty="0">
              <a:solidFill>
                <a:schemeClr val="accent3">
                  <a:lumMod val="75000"/>
                </a:schemeClr>
              </a:solidFill>
              <a:latin typeface="Arial"/>
              <a:cs typeface="Arial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0" t="13689" r="711" b="28924"/>
          <a:stretch/>
        </p:blipFill>
        <p:spPr bwMode="auto">
          <a:xfrm>
            <a:off x="54266" y="1484784"/>
            <a:ext cx="9027042" cy="2960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12101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" descr="t03-02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90746"/>
          <a:stretch/>
        </p:blipFill>
        <p:spPr>
          <a:xfrm>
            <a:off x="1" y="2"/>
            <a:ext cx="789296" cy="634640"/>
          </a:xfrm>
          <a:prstGeom prst="rect">
            <a:avLst/>
          </a:prstGeom>
        </p:spPr>
      </p:pic>
      <p:pic>
        <p:nvPicPr>
          <p:cNvPr id="20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639" y="159539"/>
            <a:ext cx="1473556" cy="475101"/>
          </a:xfrm>
          <a:prstGeom prst="rect">
            <a:avLst/>
          </a:prstGeom>
        </p:spPr>
      </p:pic>
      <p:sp>
        <p:nvSpPr>
          <p:cNvPr id="57" name="Title 1"/>
          <p:cNvSpPr txBox="1">
            <a:spLocks/>
          </p:cNvSpPr>
          <p:nvPr/>
        </p:nvSpPr>
        <p:spPr>
          <a:xfrm>
            <a:off x="394649" y="0"/>
            <a:ext cx="6665371" cy="1001358"/>
          </a:xfrm>
          <a:prstGeom prst="rect">
            <a:avLst/>
          </a:prstGeom>
        </p:spPr>
        <p:txBody>
          <a:bodyPr vert="horz" lIns="91431" tIns="45715" rIns="91431" bIns="45715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000" b="1" dirty="0" smtClean="0">
                <a:solidFill>
                  <a:schemeClr val="tx2"/>
                </a:solidFill>
                <a:latin typeface="Arial"/>
                <a:cs typeface="Arial"/>
              </a:rPr>
              <a:t>Fluxo – Gestão de Demandas e Suporte a Negócio</a:t>
            </a:r>
            <a:endParaRPr lang="pt-BR" sz="1800" dirty="0">
              <a:solidFill>
                <a:schemeClr val="accent3">
                  <a:lumMod val="75000"/>
                </a:schemeClr>
              </a:solidFill>
              <a:latin typeface="Arial"/>
              <a:cs typeface="Arial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9884" r="15578" b="22675"/>
          <a:stretch/>
        </p:blipFill>
        <p:spPr bwMode="auto">
          <a:xfrm>
            <a:off x="179512" y="1134364"/>
            <a:ext cx="8774683" cy="3941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40899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" descr="t03-02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90746"/>
          <a:stretch/>
        </p:blipFill>
        <p:spPr>
          <a:xfrm>
            <a:off x="1" y="2"/>
            <a:ext cx="789296" cy="634640"/>
          </a:xfrm>
          <a:prstGeom prst="rect">
            <a:avLst/>
          </a:prstGeom>
        </p:spPr>
      </p:pic>
      <p:pic>
        <p:nvPicPr>
          <p:cNvPr id="20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639" y="159539"/>
            <a:ext cx="1473556" cy="475101"/>
          </a:xfrm>
          <a:prstGeom prst="rect">
            <a:avLst/>
          </a:prstGeom>
        </p:spPr>
      </p:pic>
      <p:sp>
        <p:nvSpPr>
          <p:cNvPr id="57" name="Title 1"/>
          <p:cNvSpPr txBox="1">
            <a:spLocks/>
          </p:cNvSpPr>
          <p:nvPr/>
        </p:nvSpPr>
        <p:spPr>
          <a:xfrm>
            <a:off x="394649" y="0"/>
            <a:ext cx="6665371" cy="1001358"/>
          </a:xfrm>
          <a:prstGeom prst="rect">
            <a:avLst/>
          </a:prstGeom>
        </p:spPr>
        <p:txBody>
          <a:bodyPr vert="horz" lIns="91431" tIns="45715" rIns="91431" bIns="45715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b="1" dirty="0" smtClean="0">
                <a:solidFill>
                  <a:schemeClr val="tx2"/>
                </a:solidFill>
                <a:latin typeface="Arial"/>
                <a:cs typeface="Arial"/>
              </a:rPr>
              <a:t>Controle de Demandas vs. </a:t>
            </a:r>
            <a:r>
              <a:rPr lang="pt-BR" sz="2400" b="1" dirty="0" err="1" smtClean="0">
                <a:solidFill>
                  <a:schemeClr val="tx2"/>
                </a:solidFill>
                <a:latin typeface="Arial"/>
                <a:cs typeface="Arial"/>
              </a:rPr>
              <a:t>Acompamento</a:t>
            </a:r>
            <a:r>
              <a:rPr lang="pt-BR" sz="2400" b="1" dirty="0" smtClean="0">
                <a:solidFill>
                  <a:schemeClr val="tx2"/>
                </a:solidFill>
                <a:latin typeface="Arial"/>
                <a:cs typeface="Arial"/>
              </a:rPr>
              <a:t> de Aplicações</a:t>
            </a:r>
            <a:endParaRPr lang="pt-BR" sz="2000" dirty="0">
              <a:solidFill>
                <a:schemeClr val="accent3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7" name="Retângulo de cantos arredondados 6"/>
          <p:cNvSpPr/>
          <p:nvPr/>
        </p:nvSpPr>
        <p:spPr>
          <a:xfrm>
            <a:off x="467544" y="1127935"/>
            <a:ext cx="5760639" cy="396044"/>
          </a:xfrm>
          <a:prstGeom prst="roundRect">
            <a:avLst/>
          </a:prstGeom>
          <a:noFill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2"/>
                </a:solidFill>
              </a:rPr>
              <a:t>Controle de Demandas</a:t>
            </a:r>
            <a:endParaRPr lang="pt-BR" dirty="0">
              <a:solidFill>
                <a:schemeClr val="tx2"/>
              </a:solidFill>
            </a:endParaRPr>
          </a:p>
        </p:txBody>
      </p:sp>
      <p:sp>
        <p:nvSpPr>
          <p:cNvPr id="16" name="Rectangle 153"/>
          <p:cNvSpPr>
            <a:spLocks noChangeArrowheads="1"/>
          </p:cNvSpPr>
          <p:nvPr/>
        </p:nvSpPr>
        <p:spPr bwMode="auto">
          <a:xfrm>
            <a:off x="467545" y="1556792"/>
            <a:ext cx="5823119" cy="2016224"/>
          </a:xfrm>
          <a:prstGeom prst="rect">
            <a:avLst/>
          </a:prstGeom>
          <a:noFill/>
          <a:ln w="31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" tIns="3600" rIns="3600" bIns="3600" rtlCol="0" anchor="ctr" anchorCtr="0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pt-BR" sz="1200" b="1" dirty="0" smtClean="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rPr>
              <a:t>Todos os projetos de Operações</a:t>
            </a:r>
          </a:p>
          <a:p>
            <a:pPr marL="171450" indent="-171450"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endParaRPr lang="pt-BR" sz="1200" b="1" dirty="0">
              <a:solidFill>
                <a:schemeClr val="dk1">
                  <a:hueOff val="0"/>
                  <a:satOff val="0"/>
                  <a:lumOff val="0"/>
                  <a:alphaOff val="0"/>
                </a:schemeClr>
              </a:solidFill>
            </a:endParaRPr>
          </a:p>
          <a:p>
            <a:pPr marL="171450" indent="-171450"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pt-BR" sz="1200" b="1" dirty="0" smtClean="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rPr>
              <a:t>Projetos Corporativos – POP, BI, etc.</a:t>
            </a:r>
          </a:p>
          <a:p>
            <a:pPr marL="171450" indent="-171450"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endParaRPr lang="pt-BR" sz="1200" b="1" dirty="0">
              <a:solidFill>
                <a:schemeClr val="dk1">
                  <a:hueOff val="0"/>
                  <a:satOff val="0"/>
                  <a:lumOff val="0"/>
                  <a:alphaOff val="0"/>
                </a:schemeClr>
              </a:solidFill>
            </a:endParaRPr>
          </a:p>
          <a:p>
            <a:pPr marL="171450" indent="-171450"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pt-BR" sz="1200" b="1" dirty="0" smtClean="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rPr>
              <a:t>Suporte a Implantações</a:t>
            </a:r>
          </a:p>
          <a:p>
            <a:pPr marL="171450" indent="-171450"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endParaRPr lang="pt-BR" sz="1200" b="1" dirty="0">
              <a:solidFill>
                <a:schemeClr val="dk1">
                  <a:hueOff val="0"/>
                  <a:satOff val="0"/>
                  <a:lumOff val="0"/>
                  <a:alphaOff val="0"/>
                </a:schemeClr>
              </a:solidFill>
            </a:endParaRPr>
          </a:p>
          <a:p>
            <a:pPr marL="171450" indent="-171450"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pt-BR" sz="1200" b="1" dirty="0" smtClean="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rPr>
              <a:t>Suporte a </a:t>
            </a:r>
            <a:r>
              <a:rPr lang="pt-BR" sz="1200" b="1" dirty="0" err="1" smtClean="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rPr>
              <a:t>Pré</a:t>
            </a:r>
            <a:r>
              <a:rPr lang="pt-BR" sz="1200" b="1" dirty="0" smtClean="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rPr>
              <a:t> Vendas</a:t>
            </a:r>
          </a:p>
        </p:txBody>
      </p:sp>
      <p:sp>
        <p:nvSpPr>
          <p:cNvPr id="17" name="Retângulo de cantos arredondados 16"/>
          <p:cNvSpPr/>
          <p:nvPr/>
        </p:nvSpPr>
        <p:spPr>
          <a:xfrm>
            <a:off x="467544" y="3927568"/>
            <a:ext cx="5760639" cy="396044"/>
          </a:xfrm>
          <a:prstGeom prst="roundRect">
            <a:avLst/>
          </a:prstGeom>
          <a:noFill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2"/>
                </a:solidFill>
              </a:rPr>
              <a:t>Acompanhamento Aplicações</a:t>
            </a:r>
            <a:endParaRPr lang="pt-BR" dirty="0">
              <a:solidFill>
                <a:schemeClr val="tx2"/>
              </a:solidFill>
            </a:endParaRPr>
          </a:p>
        </p:txBody>
      </p:sp>
      <p:sp>
        <p:nvSpPr>
          <p:cNvPr id="18" name="Rectangle 153"/>
          <p:cNvSpPr>
            <a:spLocks noChangeArrowheads="1"/>
          </p:cNvSpPr>
          <p:nvPr/>
        </p:nvSpPr>
        <p:spPr bwMode="auto">
          <a:xfrm>
            <a:off x="467545" y="4356425"/>
            <a:ext cx="5976663" cy="1808879"/>
          </a:xfrm>
          <a:prstGeom prst="rect">
            <a:avLst/>
          </a:prstGeom>
          <a:noFill/>
          <a:ln w="31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" tIns="3600" rIns="3600" bIns="3600" rtlCol="0" anchor="ctr" anchorCtr="0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pt-BR" sz="1200" b="1" dirty="0" smtClean="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rPr>
              <a:t>Demandas derivadas dos projetos de desenvolvimento (1 projeto  =  x &gt; 1 demandas) </a:t>
            </a:r>
          </a:p>
          <a:p>
            <a:pPr marL="171450" indent="-171450"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endParaRPr lang="pt-BR" sz="1200" b="1" dirty="0">
              <a:solidFill>
                <a:schemeClr val="dk1">
                  <a:hueOff val="0"/>
                  <a:satOff val="0"/>
                  <a:lumOff val="0"/>
                  <a:alphaOff val="0"/>
                </a:schemeClr>
              </a:solidFill>
            </a:endParaRPr>
          </a:p>
          <a:p>
            <a:pPr marL="171450" indent="-171450"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pt-BR" sz="1200" b="1" dirty="0" smtClean="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rPr>
              <a:t>Projetos Corporativos – RH, Telemetria</a:t>
            </a:r>
          </a:p>
          <a:p>
            <a:pPr marL="171450" indent="-171450"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endParaRPr lang="pt-BR" sz="1200" b="1" dirty="0">
              <a:solidFill>
                <a:schemeClr val="dk1">
                  <a:hueOff val="0"/>
                  <a:satOff val="0"/>
                  <a:lumOff val="0"/>
                  <a:alphaOff val="0"/>
                </a:schemeClr>
              </a:solidFill>
            </a:endParaRPr>
          </a:p>
          <a:p>
            <a:pPr marL="171450" indent="-171450"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pt-BR" sz="1200" b="1" dirty="0" smtClean="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rPr>
              <a:t>Ability</a:t>
            </a:r>
          </a:p>
          <a:p>
            <a:pPr marL="171450" indent="-171450"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endParaRPr lang="pt-BR" sz="1200" b="1" dirty="0" smtClean="0">
              <a:solidFill>
                <a:schemeClr val="dk1">
                  <a:hueOff val="0"/>
                  <a:satOff val="0"/>
                  <a:lumOff val="0"/>
                  <a:alphaOff val="0"/>
                </a:schemeClr>
              </a:solidFill>
            </a:endParaRPr>
          </a:p>
          <a:p>
            <a:pPr marL="171450" indent="-171450"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pt-BR" sz="1200" b="1" dirty="0" smtClean="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rPr>
              <a:t>Projetos antigos / não priorizados / encerrados</a:t>
            </a:r>
            <a:endParaRPr lang="pt-BR" sz="1200" b="1" dirty="0">
              <a:solidFill>
                <a:schemeClr val="dk1">
                  <a:hueOff val="0"/>
                  <a:satOff val="0"/>
                  <a:lumOff val="0"/>
                  <a:alphaOff val="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7466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7263</TotalTime>
  <Words>109</Words>
  <Application>Microsoft Office PowerPoint</Application>
  <PresentationFormat>Apresentação na tela (4:3)</PresentationFormat>
  <Paragraphs>33</Paragraphs>
  <Slides>4</Slides>
  <Notes>4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5" baseType="lpstr"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Bruno Guerra Ferreira</dc:creator>
  <cp:lastModifiedBy>Milene Areias Jorge</cp:lastModifiedBy>
  <cp:revision>48</cp:revision>
  <dcterms:created xsi:type="dcterms:W3CDTF">2016-05-17T17:06:26Z</dcterms:created>
  <dcterms:modified xsi:type="dcterms:W3CDTF">2016-06-02T23:47:05Z</dcterms:modified>
</cp:coreProperties>
</file>