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70" r:id="rId5"/>
    <p:sldId id="290" r:id="rId6"/>
    <p:sldId id="291" r:id="rId7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9597"/>
    <a:srgbClr val="226DB8"/>
    <a:srgbClr val="184E82"/>
    <a:srgbClr val="19345B"/>
    <a:srgbClr val="D71920"/>
    <a:srgbClr val="193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9854" autoAdjust="0"/>
  </p:normalViewPr>
  <p:slideViewPr>
    <p:cSldViewPr snapToGrid="0" snapToObjects="1">
      <p:cViewPr>
        <p:scale>
          <a:sx n="110" d="100"/>
          <a:sy n="110" d="100"/>
        </p:scale>
        <p:origin x="-786" y="-294"/>
      </p:cViewPr>
      <p:guideLst>
        <p:guide orient="horz"/>
        <p:guide pos="1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17.%20Gmud\Relatorio%20Gmud%20Mensal.xlsb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17.%20Gmud\Relatorio%20Gmud%20Mensal.xlsb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17.%20Gmud\Relatorio%20Gmud%20Mensal.xlsb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889574871106309E-2"/>
          <c:y val="5.828688947759264E-2"/>
          <c:w val="0.93622085025778734"/>
          <c:h val="0.681875165319891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'[Relatorio Gmud Mensal.xlsb]Book TI'!$C$1</c:f>
              <c:strCache>
                <c:ptCount val="1"/>
                <c:pt idx="0">
                  <c:v>Canceladas</c:v>
                </c:pt>
              </c:strCache>
            </c:strRef>
          </c:tx>
          <c:spPr>
            <a:gradFill>
              <a:gsLst>
                <a:gs pos="0">
                  <a:srgbClr val="FF0000"/>
                </a:gs>
                <a:gs pos="50000">
                  <a:srgbClr val="FC8E8E"/>
                </a:gs>
                <a:gs pos="100000">
                  <a:srgbClr val="C00000"/>
                </a:gs>
              </a:gsLst>
              <a:lin ang="10800000" scaled="0"/>
            </a:gradFill>
            <a:ln>
              <a:noFill/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'[Relatorio Gmud Mensal.xlsb]Book TI'!$A$2:$A$6</c:f>
              <c:strCache>
                <c:ptCount val="5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</c:strCache>
            </c:strRef>
          </c:cat>
          <c:val>
            <c:numRef>
              <c:f>'[Relatorio Gmud Mensal.xlsb]Book TI'!$C$2:$C$6</c:f>
              <c:numCache>
                <c:formatCode>General</c:formatCode>
                <c:ptCount val="5"/>
                <c:pt idx="0">
                  <c:v>39</c:v>
                </c:pt>
                <c:pt idx="1">
                  <c:v>40</c:v>
                </c:pt>
                <c:pt idx="2">
                  <c:v>78</c:v>
                </c:pt>
                <c:pt idx="3">
                  <c:v>58</c:v>
                </c:pt>
                <c:pt idx="4">
                  <c:v>52</c:v>
                </c:pt>
              </c:numCache>
            </c:numRef>
          </c:val>
        </c:ser>
        <c:ser>
          <c:idx val="1"/>
          <c:order val="1"/>
          <c:tx>
            <c:strRef>
              <c:f>'[Relatorio Gmud Mensal.xlsb]Book TI'!$D$1</c:f>
              <c:strCache>
                <c:ptCount val="1"/>
                <c:pt idx="0">
                  <c:v>Implantadas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chemeClr val="tx2"/>
                </a:gs>
              </a:gsLst>
              <a:lin ang="10800000" scaled="0"/>
            </a:gradFill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'[Relatorio Gmud Mensal.xlsb]Book TI'!$A$2:$A$6</c:f>
              <c:strCache>
                <c:ptCount val="5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</c:strCache>
            </c:strRef>
          </c:cat>
          <c:val>
            <c:numRef>
              <c:f>'[Relatorio Gmud Mensal.xlsb]Book TI'!$D$2:$D$6</c:f>
              <c:numCache>
                <c:formatCode>General</c:formatCode>
                <c:ptCount val="5"/>
                <c:pt idx="0">
                  <c:v>160</c:v>
                </c:pt>
                <c:pt idx="1">
                  <c:v>167</c:v>
                </c:pt>
                <c:pt idx="2">
                  <c:v>169</c:v>
                </c:pt>
                <c:pt idx="3">
                  <c:v>192</c:v>
                </c:pt>
                <c:pt idx="4">
                  <c:v>206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0153728"/>
        <c:axId val="70155264"/>
      </c:barChart>
      <c:lineChart>
        <c:grouping val="standard"/>
        <c:varyColors val="0"/>
        <c:ser>
          <c:idx val="2"/>
          <c:order val="2"/>
          <c:tx>
            <c:v>Total Coordenadas</c:v>
          </c:tx>
          <c:spPr>
            <a:ln>
              <a:solidFill>
                <a:schemeClr val="bg1">
                  <a:lumMod val="50000"/>
                </a:schemeClr>
              </a:solidFill>
              <a:prstDash val="sysDash"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b="1">
                    <a:solidFill>
                      <a:schemeClr val="bg1">
                        <a:lumMod val="50000"/>
                      </a:schemeClr>
                    </a:solidFill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val>
            <c:numRef>
              <c:f>'[Relatorio Gmud Mensal.xlsb]Book TI'!$B$2:$B$6</c:f>
              <c:numCache>
                <c:formatCode>General</c:formatCode>
                <c:ptCount val="5"/>
                <c:pt idx="0">
                  <c:v>199</c:v>
                </c:pt>
                <c:pt idx="1">
                  <c:v>207</c:v>
                </c:pt>
                <c:pt idx="2">
                  <c:v>247</c:v>
                </c:pt>
                <c:pt idx="3">
                  <c:v>250</c:v>
                </c:pt>
                <c:pt idx="4">
                  <c:v>258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153728"/>
        <c:axId val="70155264"/>
      </c:lineChart>
      <c:catAx>
        <c:axId val="7015372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70155264"/>
        <c:crosses val="autoZero"/>
        <c:auto val="1"/>
        <c:lblAlgn val="ctr"/>
        <c:lblOffset val="100"/>
        <c:noMultiLvlLbl val="1"/>
      </c:catAx>
      <c:valAx>
        <c:axId val="70155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70153728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91495620533894"/>
          <c:y val="0"/>
          <c:w val="0.55873398773793903"/>
          <c:h val="1"/>
        </c:manualLayout>
      </c:layout>
      <c:pieChart>
        <c:varyColors val="1"/>
        <c:ser>
          <c:idx val="0"/>
          <c:order val="0"/>
          <c:tx>
            <c:strRef>
              <c:f>'[Relatorio Gmud Mensal.xlsb]Book TI'!$A$11</c:f>
              <c:strCache>
                <c:ptCount val="1"/>
                <c:pt idx="0">
                  <c:v>Total Implantadas  (excluindo as canceladas)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</c:spPr>
          </c:dPt>
          <c:dPt>
            <c:idx val="1"/>
            <c:bubble3D val="0"/>
            <c:spPr>
              <a:solidFill>
                <a:schemeClr val="tx2"/>
              </a:solidFill>
            </c:spPr>
          </c:dPt>
          <c:dLbls>
            <c:dLbl>
              <c:idx val="0"/>
              <c:layout>
                <c:manualLayout>
                  <c:x val="-0.14940567561385187"/>
                  <c:y val="0.22575002262648203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1"/>
              <c:layout>
                <c:manualLayout>
                  <c:x val="0.13953691164751295"/>
                  <c:y val="-0.2715206806045796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</c:dLbls>
          <c:cat>
            <c:strRef>
              <c:f>'[Relatorio Gmud Mensal.xlsb]Book TI'!$C$1:$D$1</c:f>
              <c:strCache>
                <c:ptCount val="2"/>
                <c:pt idx="0">
                  <c:v>Canceladas</c:v>
                </c:pt>
                <c:pt idx="1">
                  <c:v>Implantadas</c:v>
                </c:pt>
              </c:strCache>
            </c:strRef>
          </c:cat>
          <c:val>
            <c:numRef>
              <c:f>'[Relatorio Gmud Mensal.xlsb]Book TI'!$C$6:$D$6</c:f>
              <c:numCache>
                <c:formatCode>General</c:formatCode>
                <c:ptCount val="2"/>
                <c:pt idx="0">
                  <c:v>52</c:v>
                </c:pt>
                <c:pt idx="1">
                  <c:v>206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889574871106309E-2"/>
          <c:y val="5.828688947759264E-2"/>
          <c:w val="0.93622085025778734"/>
          <c:h val="0.68187516531989167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'[Relatorio Gmud Mensal.xlsb]Book TI'!$A$11</c:f>
              <c:strCache>
                <c:ptCount val="1"/>
                <c:pt idx="0">
                  <c:v>Total Implantadas  (excluindo as canceladas)</c:v>
                </c:pt>
              </c:strCache>
            </c:strRef>
          </c:tx>
          <c:spPr>
            <a:gradFill>
              <a:gsLst>
                <a:gs pos="0">
                  <a:srgbClr val="002060"/>
                </a:gs>
                <a:gs pos="50000">
                  <a:schemeClr val="tx2">
                    <a:lumMod val="60000"/>
                    <a:lumOff val="40000"/>
                  </a:schemeClr>
                </a:gs>
                <a:gs pos="100000">
                  <a:schemeClr val="tx2"/>
                </a:gs>
              </a:gsLst>
              <a:lin ang="10800000" scaled="0"/>
            </a:gradFill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'[Relatorio Gmud Mensal.xlsb]Book TI'!$B$11:$D$11</c:f>
              <c:strCache>
                <c:ptCount val="3"/>
                <c:pt idx="0">
                  <c:v>Programas</c:v>
                </c:pt>
                <c:pt idx="1">
                  <c:v>Técnicas</c:v>
                </c:pt>
                <c:pt idx="2">
                  <c:v>Emergenciais</c:v>
                </c:pt>
              </c:strCache>
            </c:strRef>
          </c:cat>
          <c:val>
            <c:numRef>
              <c:f>'[Relatorio Gmud Mensal.xlsb]Book TI'!$B$16:$D$16</c:f>
              <c:numCache>
                <c:formatCode>General</c:formatCode>
                <c:ptCount val="3"/>
                <c:pt idx="0">
                  <c:v>131</c:v>
                </c:pt>
                <c:pt idx="1">
                  <c:v>54</c:v>
                </c:pt>
                <c:pt idx="2">
                  <c:v>21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0543616"/>
        <c:axId val="70566272"/>
      </c:barChart>
      <c:catAx>
        <c:axId val="7054361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70566272"/>
        <c:crosses val="autoZero"/>
        <c:auto val="1"/>
        <c:lblAlgn val="ctr"/>
        <c:lblOffset val="100"/>
        <c:noMultiLvlLbl val="1"/>
      </c:catAx>
      <c:valAx>
        <c:axId val="70566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70543616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2BC84-EA3C-4BBB-8C89-D3B1CACE7ACC}" type="datetimeFigureOut">
              <a:rPr lang="pt-BR" smtClean="0"/>
              <a:t>22/06/2016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A34C9-88C8-4CCD-95AA-8454AF307F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64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4470A-00A8-45CB-AB6B-2138C63097D8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1706B9-06C4-480B-9CC8-D027A84E7E1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8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5FE1C-DB91-4769-AB23-016CED09AFA2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D2DE0-127E-4643-BADF-00774AC6591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8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7A1900-CE2F-484D-B682-DD22D875071B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9FC7F-5ECE-4353-9101-998BE841CE8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8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F3307-17EA-4E13-B2CC-65E7E85B3958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A38D7-FD9E-4BB2-B8E7-375CB90116A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8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9397A-2EE9-4073-B6A7-ED72EB7F77BE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C79D-AAB4-4C91-A34C-160D9E72C87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8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DAA85-C27A-4B74-88CB-17CE5D4EE91E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68803-FDD7-4ECA-A77F-D2EEEF9E0C8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2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FDBCC-4D8A-4599-89F8-6121AA45CB9A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62D1D-7FA6-43D5-8A36-390DA77C546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1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6E042-62C3-40BA-9FA6-76A3C221E1B5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ADE30-BBFE-4E86-AD25-F388245C36A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8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D392E-588D-4165-8D10-0DC2584ED041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F9ABD-EE3F-402B-9391-5631B0DFE2D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80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83B28-4D0F-48A4-BC43-0FA10ADB3C69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9C241-4F5E-4AB1-B2BB-19DC67BC469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69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CD37B-E7B1-441A-9004-1EDDC795F0A2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FFEF0-94E7-4D5D-9D2D-16DBC808A98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0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B38D579-8504-4D05-9A92-CFF60E2C56A3}" type="datetimeFigureOut">
              <a:rPr lang="en-US"/>
              <a:pPr>
                <a:defRPr/>
              </a:pPr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EE6CD3E-CF3C-4611-9931-8EEC7232F14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3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 descr="t06-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CaixaDeTexto 6"/>
          <p:cNvSpPr txBox="1">
            <a:spLocks noChangeArrowheads="1"/>
          </p:cNvSpPr>
          <p:nvPr/>
        </p:nvSpPr>
        <p:spPr bwMode="auto">
          <a:xfrm>
            <a:off x="234950" y="2722563"/>
            <a:ext cx="65373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1" tIns="45711" rIns="91421" bIns="45711">
            <a:spAutoFit/>
          </a:bodyPr>
          <a:lstStyle>
            <a:lvl1pPr defTabSz="455613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defTabSz="455613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defTabSz="455613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defTabSz="455613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defTabSz="455613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r>
              <a:rPr lang="pt-BR" sz="3200" b="1" dirty="0">
                <a:solidFill>
                  <a:schemeClr val="bg1"/>
                </a:solidFill>
                <a:latin typeface="Arial" pitchFamily="34" charset="0"/>
                <a:sym typeface="Gill Sans"/>
              </a:rPr>
              <a:t>Book de Indicadores TI</a:t>
            </a:r>
          </a:p>
          <a:p>
            <a:endParaRPr lang="pt-BR" sz="2400" b="1" dirty="0">
              <a:solidFill>
                <a:schemeClr val="bg1"/>
              </a:solidFill>
              <a:latin typeface="Arial" pitchFamily="34" charset="0"/>
              <a:sym typeface="Gill Sans"/>
            </a:endParaRPr>
          </a:p>
          <a:p>
            <a:r>
              <a:rPr lang="pt-BR" sz="2400" b="1" dirty="0" smtClean="0">
                <a:solidFill>
                  <a:schemeClr val="bg1"/>
                </a:solidFill>
                <a:latin typeface="Arial" pitchFamily="34" charset="0"/>
                <a:sym typeface="Gill Sans"/>
              </a:rPr>
              <a:t>Maio/2016</a:t>
            </a:r>
            <a:endParaRPr lang="pt-BR" sz="2400" b="1" dirty="0">
              <a:solidFill>
                <a:schemeClr val="bg1"/>
              </a:solidFill>
              <a:latin typeface="Arial" pitchFamily="34" charset="0"/>
              <a:sym typeface="Gill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3" y="288925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5" y="4379913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0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4" name="Group 6"/>
          <p:cNvGrpSpPr>
            <a:grpSpLocks/>
          </p:cNvGrpSpPr>
          <p:nvPr/>
        </p:nvGrpSpPr>
        <p:grpSpPr bwMode="auto">
          <a:xfrm>
            <a:off x="827088" y="-495300"/>
            <a:ext cx="5505450" cy="1287463"/>
            <a:chOff x="0" y="-295326"/>
            <a:chExt cx="7281654" cy="1277955"/>
          </a:xfrm>
        </p:grpSpPr>
        <p:pic>
          <p:nvPicPr>
            <p:cNvPr id="7182" name="Picture 25" descr="n36_JULIO_0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510" b="66551"/>
            <a:stretch>
              <a:fillRect/>
            </a:stretch>
          </p:blipFill>
          <p:spPr bwMode="auto">
            <a:xfrm>
              <a:off x="0" y="-295326"/>
              <a:ext cx="7281654" cy="1277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3" name="TextBox 4"/>
            <p:cNvSpPr txBox="1">
              <a:spLocks noChangeArrowheads="1"/>
            </p:cNvSpPr>
            <p:nvPr/>
          </p:nvSpPr>
          <p:spPr bwMode="auto">
            <a:xfrm>
              <a:off x="909802" y="382526"/>
              <a:ext cx="6371852" cy="366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pt-BR" b="1" dirty="0" smtClean="0">
                  <a:solidFill>
                    <a:schemeClr val="bg1"/>
                  </a:solidFill>
                </a:rPr>
                <a:t>GMUD</a:t>
              </a:r>
              <a:endParaRPr lang="pt-BR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2" name="Gráfico 21"/>
          <p:cNvGraphicFramePr>
            <a:graphicFrameLocks/>
          </p:cNvGraphicFramePr>
          <p:nvPr/>
        </p:nvGraphicFramePr>
        <p:xfrm>
          <a:off x="1041797" y="961236"/>
          <a:ext cx="7060405" cy="3221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50825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3" y="288925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5" y="4379913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0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4" name="Group 6"/>
          <p:cNvGrpSpPr>
            <a:grpSpLocks/>
          </p:cNvGrpSpPr>
          <p:nvPr/>
        </p:nvGrpSpPr>
        <p:grpSpPr bwMode="auto">
          <a:xfrm>
            <a:off x="827088" y="-495300"/>
            <a:ext cx="5505450" cy="1287463"/>
            <a:chOff x="0" y="-295326"/>
            <a:chExt cx="7281654" cy="1277955"/>
          </a:xfrm>
        </p:grpSpPr>
        <p:pic>
          <p:nvPicPr>
            <p:cNvPr id="7182" name="Picture 25" descr="n36_JULIO_0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510" b="66551"/>
            <a:stretch>
              <a:fillRect/>
            </a:stretch>
          </p:blipFill>
          <p:spPr bwMode="auto">
            <a:xfrm>
              <a:off x="0" y="-295326"/>
              <a:ext cx="7281654" cy="1277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3" name="TextBox 4"/>
            <p:cNvSpPr txBox="1">
              <a:spLocks noChangeArrowheads="1"/>
            </p:cNvSpPr>
            <p:nvPr/>
          </p:nvSpPr>
          <p:spPr bwMode="auto">
            <a:xfrm>
              <a:off x="909802" y="382526"/>
              <a:ext cx="6371852" cy="366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pt-BR" b="1" dirty="0" smtClean="0">
                  <a:solidFill>
                    <a:schemeClr val="bg1"/>
                  </a:solidFill>
                </a:rPr>
                <a:t>GMUD</a:t>
              </a:r>
              <a:endParaRPr lang="pt-BR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5193299"/>
              </p:ext>
            </p:extLst>
          </p:nvPr>
        </p:nvGraphicFramePr>
        <p:xfrm>
          <a:off x="76919" y="1634688"/>
          <a:ext cx="3846831" cy="2347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003915"/>
              </p:ext>
            </p:extLst>
          </p:nvPr>
        </p:nvGraphicFramePr>
        <p:xfrm>
          <a:off x="4575973" y="1655051"/>
          <a:ext cx="3943540" cy="251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3" name="Conector de seta reta 2"/>
          <p:cNvCxnSpPr>
            <a:endCxn id="10" idx="1"/>
          </p:cNvCxnSpPr>
          <p:nvPr/>
        </p:nvCxnSpPr>
        <p:spPr>
          <a:xfrm>
            <a:off x="3105509" y="2912655"/>
            <a:ext cx="1470464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46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162B80-784B-4BAC-A5B3-7E01006A0D2A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</ds:schemaRefs>
</ds:datastoreItem>
</file>

<file path=customXml/itemProps2.xml><?xml version="1.0" encoding="utf-8"?>
<ds:datastoreItem xmlns:ds="http://schemas.openxmlformats.org/officeDocument/2006/customXml" ds:itemID="{CC31668C-1CCC-4110-8EAA-9FB7E75840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F9DA8258-30A5-4A29-86F4-5E88B85D6B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3408</TotalTime>
  <Words>19</Words>
  <Application>Microsoft Office PowerPoint</Application>
  <PresentationFormat>Apresentação na tela (16:9)</PresentationFormat>
  <Paragraphs>7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iMac de Plinio</dc:creator>
  <cp:lastModifiedBy>Marilice de Oliveira</cp:lastModifiedBy>
  <cp:revision>219</cp:revision>
  <dcterms:created xsi:type="dcterms:W3CDTF">2015-08-23T23:08:42Z</dcterms:created>
  <dcterms:modified xsi:type="dcterms:W3CDTF">2016-06-22T13:09:14Z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