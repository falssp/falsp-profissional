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tags/tag3.xml" ContentType="application/vnd.openxmlformats-officedocument.presentationml.tags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1"/>
    <p:sldMasterId id="2147483677" r:id="rId2"/>
    <p:sldMasterId id="2147483679" r:id="rId3"/>
    <p:sldMasterId id="2147483673" r:id="rId4"/>
    <p:sldMasterId id="2147483675" r:id="rId5"/>
  </p:sldMasterIdLst>
  <p:notesMasterIdLst>
    <p:notesMasterId r:id="rId55"/>
  </p:notesMasterIdLst>
  <p:sldIdLst>
    <p:sldId id="256" r:id="rId6"/>
    <p:sldId id="257" r:id="rId7"/>
    <p:sldId id="258" r:id="rId8"/>
    <p:sldId id="298" r:id="rId9"/>
    <p:sldId id="260" r:id="rId10"/>
    <p:sldId id="259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3" r:id="rId23"/>
    <p:sldId id="281" r:id="rId24"/>
    <p:sldId id="277" r:id="rId25"/>
    <p:sldId id="278" r:id="rId26"/>
    <p:sldId id="279" r:id="rId27"/>
    <p:sldId id="288" r:id="rId28"/>
    <p:sldId id="274" r:id="rId29"/>
    <p:sldId id="283" r:id="rId30"/>
    <p:sldId id="284" r:id="rId31"/>
    <p:sldId id="293" r:id="rId32"/>
    <p:sldId id="285" r:id="rId33"/>
    <p:sldId id="286" r:id="rId34"/>
    <p:sldId id="287" r:id="rId35"/>
    <p:sldId id="294" r:id="rId36"/>
    <p:sldId id="289" r:id="rId37"/>
    <p:sldId id="295" r:id="rId38"/>
    <p:sldId id="290" r:id="rId39"/>
    <p:sldId id="291" r:id="rId40"/>
    <p:sldId id="292" r:id="rId41"/>
    <p:sldId id="296" r:id="rId42"/>
    <p:sldId id="309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297" r:id="rId54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06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C2A3"/>
    <a:srgbClr val="FFD0B9"/>
    <a:srgbClr val="000000"/>
    <a:srgbClr val="FFFFFF"/>
    <a:srgbClr val="EAEAEA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93809" autoAdjust="0"/>
  </p:normalViewPr>
  <p:slideViewPr>
    <p:cSldViewPr snapToGrid="0" snapToObjects="1">
      <p:cViewPr varScale="1">
        <p:scale>
          <a:sx n="105" d="100"/>
          <a:sy n="105" d="100"/>
        </p:scale>
        <p:origin x="62" y="158"/>
      </p:cViewPr>
      <p:guideLst>
        <p:guide orient="horz" pos="2506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>
        <a:solidFill>
          <a:schemeClr val="tx1">
            <a:lumMod val="50000"/>
            <a:lumOff val="50000"/>
          </a:schemeClr>
        </a:solidFill>
      </dgm:spPr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1" dirty="0">
              <a:solidFill>
                <a:schemeClr val="accent1">
                  <a:lumMod val="75000"/>
                </a:schemeClr>
              </a:solidFill>
            </a:rPr>
            <a:t>GMUD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chemeClr val="accent4">
            <a:lumMod val="60000"/>
            <a:lumOff val="40000"/>
          </a:schemeClr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>
        <a:solidFill>
          <a:schemeClr val="accent6">
            <a:lumMod val="50000"/>
          </a:schemeClr>
        </a:solidFill>
      </dgm:spPr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chemeClr val="accent4">
            <a:lumMod val="60000"/>
            <a:lumOff val="40000"/>
          </a:schemeClr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>
        <a:solidFill>
          <a:schemeClr val="accent6">
            <a:lumMod val="50000"/>
          </a:schemeClr>
        </a:solidFill>
      </dgm:spPr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solidFill>
                <a:schemeClr val="accent1">
                  <a:lumMod val="75000"/>
                </a:schemeClr>
              </a:solidFill>
            </a:rPr>
            <a:t>GMUD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12/07/2016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66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05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emf"/><Relationship Id="rId4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2.vml"/><Relationship Id="rId7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8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9" name="Subtítulo 2"/>
          <p:cNvSpPr txBox="1">
            <a:spLocks/>
          </p:cNvSpPr>
          <p:nvPr userDrawn="1"/>
        </p:nvSpPr>
        <p:spPr>
          <a:xfrm rot="16200000">
            <a:off x="7892242" y="3901320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83466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9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05167" y="4376234"/>
            <a:ext cx="1043999" cy="77073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>
                <a:solidFill>
                  <a:schemeClr val="bg1"/>
                </a:solidFill>
              </a:rPr>
              <a:t>Consultoria Ilimitada</a:t>
            </a:r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4375"/>
            <a:ext cx="9144001" cy="5204563"/>
          </a:xfrm>
          <a:prstGeom prst="rect">
            <a:avLst/>
          </a:prstGeom>
        </p:spPr>
      </p:pic>
      <p:pic>
        <p:nvPicPr>
          <p:cNvPr id="8" name="Picture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96847" y="-34395"/>
            <a:ext cx="3345084" cy="1221858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697100" y="277388"/>
            <a:ext cx="1744578" cy="422254"/>
          </a:xfrm>
          <a:prstGeom prst="rect">
            <a:avLst/>
          </a:prstGeom>
        </p:spPr>
      </p:pic>
      <p:sp>
        <p:nvSpPr>
          <p:cNvPr id="10" name="Subtítulo 2"/>
          <p:cNvSpPr txBox="1">
            <a:spLocks/>
          </p:cNvSpPr>
          <p:nvPr userDrawn="1"/>
        </p:nvSpPr>
        <p:spPr>
          <a:xfrm>
            <a:off x="6901731" y="4890534"/>
            <a:ext cx="2239658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87887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9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 userDrawn="1"/>
        </p:nvSpPr>
        <p:spPr>
          <a:xfrm>
            <a:off x="0" y="4890534"/>
            <a:ext cx="9141389" cy="25422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200" b="1" dirty="0">
                <a:solidFill>
                  <a:schemeClr val="tx2"/>
                </a:solidFill>
              </a:rPr>
              <a:t>CHACON</a:t>
            </a:r>
            <a:r>
              <a:rPr lang="pt-BR" sz="1200" dirty="0">
                <a:solidFill>
                  <a:schemeClr val="bg1">
                    <a:lumMod val="85000"/>
                  </a:schemeClr>
                </a:solidFill>
              </a:rPr>
              <a:t> | </a:t>
            </a:r>
            <a:r>
              <a:rPr lang="pt-BR" sz="1200" b="1" dirty="0"/>
              <a:t>Consultoria Ilimitada</a:t>
            </a:r>
          </a:p>
        </p:txBody>
      </p:sp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7000">
              <a:schemeClr val="accent1">
                <a:lumMod val="5000"/>
                <a:lumOff val="95000"/>
              </a:schemeClr>
            </a:gs>
            <a:gs pos="100000">
              <a:schemeClr val="bg1">
                <a:lumMod val="7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3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91500" y="4386263"/>
            <a:ext cx="952500" cy="762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572409" y="92991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18" Type="http://schemas.openxmlformats.org/officeDocument/2006/relationships/image" Target="../media/image13.png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17" Type="http://schemas.openxmlformats.org/officeDocument/2006/relationships/image" Target="../media/image12.png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19" Type="http://schemas.openxmlformats.org/officeDocument/2006/relationships/image" Target="../media/image14.png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9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1995249"/>
            <a:ext cx="9144000" cy="113877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Workshop T2R</a:t>
            </a:r>
          </a:p>
          <a:p>
            <a:pPr algn="r"/>
            <a:r>
              <a:rPr lang="pt-BR" sz="2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Transition to Run</a:t>
            </a:r>
          </a:p>
        </p:txBody>
      </p:sp>
    </p:spTree>
    <p:extLst>
      <p:ext uri="{BB962C8B-B14F-4D97-AF65-F5344CB8AC3E}">
        <p14:creationId xmlns:p14="http://schemas.microsoft.com/office/powerpoint/2010/main" val="283839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4307528"/>
            <a:ext cx="9144000" cy="422405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Estabilidade Operacional</a:t>
            </a:r>
          </a:p>
        </p:txBody>
      </p:sp>
    </p:spTree>
    <p:extLst>
      <p:ext uri="{BB962C8B-B14F-4D97-AF65-F5344CB8AC3E}">
        <p14:creationId xmlns:p14="http://schemas.microsoft.com/office/powerpoint/2010/main" val="4066639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Índice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28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Visão do Projeto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Conceito dos Processos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Controle de Requisitos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Atividades da T2R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Indicadores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Automação</a:t>
            </a:r>
          </a:p>
        </p:txBody>
      </p:sp>
    </p:spTree>
    <p:extLst>
      <p:ext uri="{BB962C8B-B14F-4D97-AF65-F5344CB8AC3E}">
        <p14:creationId xmlns:p14="http://schemas.microsoft.com/office/powerpoint/2010/main" val="1606634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/>
          <p:cNvGrpSpPr/>
          <p:nvPr/>
        </p:nvGrpSpPr>
        <p:grpSpPr>
          <a:xfrm>
            <a:off x="245598" y="547238"/>
            <a:ext cx="8514839" cy="4809033"/>
            <a:chOff x="245598" y="547238"/>
            <a:chExt cx="8514839" cy="4809033"/>
          </a:xfrm>
        </p:grpSpPr>
        <p:sp>
          <p:nvSpPr>
            <p:cNvPr id="11" name="Triângulo Retângulo 10"/>
            <p:cNvSpPr/>
            <p:nvPr/>
          </p:nvSpPr>
          <p:spPr>
            <a:xfrm>
              <a:off x="245598" y="547238"/>
              <a:ext cx="8514839" cy="4486235"/>
            </a:xfrm>
            <a:prstGeom prst="rtTriangle">
              <a:avLst/>
            </a:prstGeom>
            <a:solidFill>
              <a:schemeClr val="accent4">
                <a:lumMod val="20000"/>
                <a:lumOff val="80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Triângulo Retângulo 9"/>
            <p:cNvSpPr/>
            <p:nvPr/>
          </p:nvSpPr>
          <p:spPr>
            <a:xfrm rot="10800000">
              <a:off x="245598" y="565485"/>
              <a:ext cx="8514839" cy="4486235"/>
            </a:xfrm>
            <a:prstGeom prst="rtTriangle">
              <a:avLst/>
            </a:prstGeom>
            <a:solidFill>
              <a:schemeClr val="accent1">
                <a:lumMod val="75000"/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300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3" name="Seta para Baixo 2"/>
            <p:cNvSpPr/>
            <p:nvPr/>
          </p:nvSpPr>
          <p:spPr>
            <a:xfrm rot="19695576">
              <a:off x="2059007" y="371804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aphicFrame>
          <p:nvGraphicFramePr>
            <p:cNvPr id="4" name="Diagrama 3"/>
            <p:cNvGraphicFramePr/>
            <p:nvPr>
              <p:extLst/>
            </p:nvPr>
          </p:nvGraphicFramePr>
          <p:xfrm>
            <a:off x="1815642" y="3343711"/>
            <a:ext cx="1693025" cy="20125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5" name="CaixaDeTexto 4"/>
            <p:cNvSpPr txBox="1"/>
            <p:nvPr/>
          </p:nvSpPr>
          <p:spPr>
            <a:xfrm>
              <a:off x="833314" y="1098731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  <p:grpSp>
          <p:nvGrpSpPr>
            <p:cNvPr id="6" name="Agrupar 5"/>
            <p:cNvGrpSpPr/>
            <p:nvPr/>
          </p:nvGrpSpPr>
          <p:grpSpPr>
            <a:xfrm>
              <a:off x="3508667" y="4212548"/>
              <a:ext cx="4851796" cy="635688"/>
              <a:chOff x="3508667" y="4225176"/>
              <a:chExt cx="4851796" cy="635688"/>
            </a:xfrm>
          </p:grpSpPr>
          <p:sp>
            <p:nvSpPr>
              <p:cNvPr id="20" name="Divisa 19"/>
              <p:cNvSpPr/>
              <p:nvPr/>
            </p:nvSpPr>
            <p:spPr>
              <a:xfrm>
                <a:off x="3508667" y="4225300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Iniciação</a:t>
                </a:r>
              </a:p>
            </p:txBody>
          </p:sp>
          <p:sp>
            <p:nvSpPr>
              <p:cNvPr id="21" name="Divisa 20"/>
              <p:cNvSpPr/>
              <p:nvPr/>
            </p:nvSpPr>
            <p:spPr>
              <a:xfrm>
                <a:off x="4721616" y="4225300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Planejamento</a:t>
                </a:r>
              </a:p>
            </p:txBody>
          </p:sp>
          <p:sp>
            <p:nvSpPr>
              <p:cNvPr id="22" name="Divisa 21"/>
              <p:cNvSpPr/>
              <p:nvPr/>
            </p:nvSpPr>
            <p:spPr>
              <a:xfrm>
                <a:off x="5934565" y="4225300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Execução</a:t>
                </a:r>
              </a:p>
            </p:txBody>
          </p:sp>
          <p:sp>
            <p:nvSpPr>
              <p:cNvPr id="23" name="Divisa 22"/>
              <p:cNvSpPr/>
              <p:nvPr/>
            </p:nvSpPr>
            <p:spPr>
              <a:xfrm>
                <a:off x="7147514" y="4225176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Encerramento</a:t>
                </a:r>
              </a:p>
            </p:txBody>
          </p:sp>
          <p:sp>
            <p:nvSpPr>
              <p:cNvPr id="24" name="CaixaDeTexto 23"/>
              <p:cNvSpPr txBox="1"/>
              <p:nvPr/>
            </p:nvSpPr>
            <p:spPr>
              <a:xfrm>
                <a:off x="5247422" y="4553087"/>
                <a:ext cx="167513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2"/>
                    </a:solidFill>
                  </a:rPr>
                  <a:t>Gestão de Projetos</a:t>
                </a:r>
              </a:p>
            </p:txBody>
          </p:sp>
        </p:grpSp>
        <p:grpSp>
          <p:nvGrpSpPr>
            <p:cNvPr id="7" name="Agrupar 6"/>
            <p:cNvGrpSpPr/>
            <p:nvPr/>
          </p:nvGrpSpPr>
          <p:grpSpPr>
            <a:xfrm>
              <a:off x="6344468" y="1098733"/>
              <a:ext cx="1927292" cy="3104828"/>
              <a:chOff x="6225745" y="1111361"/>
              <a:chExt cx="1927292" cy="3104828"/>
            </a:xfrm>
          </p:grpSpPr>
          <p:sp>
            <p:nvSpPr>
              <p:cNvPr id="17" name="CaixaDeTexto 16"/>
              <p:cNvSpPr txBox="1"/>
              <p:nvPr/>
            </p:nvSpPr>
            <p:spPr>
              <a:xfrm>
                <a:off x="6225745" y="1111361"/>
                <a:ext cx="192729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2"/>
                    </a:solidFill>
                  </a:rPr>
                  <a:t>Gestão de Mudanças</a:t>
                </a:r>
              </a:p>
            </p:txBody>
          </p:sp>
          <p:graphicFrame>
            <p:nvGraphicFramePr>
              <p:cNvPr id="18" name="Diagrama 17"/>
              <p:cNvGraphicFramePr/>
              <p:nvPr>
                <p:extLst/>
              </p:nvPr>
            </p:nvGraphicFramePr>
            <p:xfrm>
              <a:off x="6468233" y="1503266"/>
              <a:ext cx="1442317" cy="13499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  <p:sp>
            <p:nvSpPr>
              <p:cNvPr id="19" name="Divisa 18"/>
              <p:cNvSpPr/>
              <p:nvPr/>
            </p:nvSpPr>
            <p:spPr>
              <a:xfrm rot="17864150">
                <a:off x="6277815" y="3497493"/>
                <a:ext cx="1212949" cy="224443"/>
              </a:xfrm>
              <a:prstGeom prst="chevron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000" b="1" dirty="0">
                    <a:solidFill>
                      <a:schemeClr val="accent5">
                        <a:lumMod val="75000"/>
                      </a:schemeClr>
                    </a:solidFill>
                  </a:rPr>
                  <a:t>Abre GMUD</a:t>
                </a:r>
              </a:p>
            </p:txBody>
          </p:sp>
        </p:grpSp>
        <p:sp>
          <p:nvSpPr>
            <p:cNvPr id="8" name="Fluxograma: Operação Manual 7"/>
            <p:cNvSpPr/>
            <p:nvPr/>
          </p:nvSpPr>
          <p:spPr>
            <a:xfrm>
              <a:off x="464629" y="4085759"/>
              <a:ext cx="690832" cy="465481"/>
            </a:xfrm>
            <a:prstGeom prst="flowChartManualOperati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</a:rPr>
                <a:t>Não</a:t>
              </a:r>
            </a:p>
          </p:txBody>
        </p:sp>
        <p:grpSp>
          <p:nvGrpSpPr>
            <p:cNvPr id="9" name="Agrupar 8"/>
            <p:cNvGrpSpPr/>
            <p:nvPr/>
          </p:nvGrpSpPr>
          <p:grpSpPr>
            <a:xfrm>
              <a:off x="581883" y="1098733"/>
              <a:ext cx="2263043" cy="2781639"/>
              <a:chOff x="581883" y="1168005"/>
              <a:chExt cx="2263043" cy="2781639"/>
            </a:xfrm>
          </p:grpSpPr>
          <p:graphicFrame>
            <p:nvGraphicFramePr>
              <p:cNvPr id="15" name="Diagrama 14"/>
              <p:cNvGraphicFramePr/>
              <p:nvPr>
                <p:extLst/>
              </p:nvPr>
            </p:nvGraphicFramePr>
            <p:xfrm>
              <a:off x="581883" y="1168005"/>
              <a:ext cx="2263043" cy="250467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  <p:sp>
            <p:nvSpPr>
              <p:cNvPr id="16" name="Seta para Baixo 15"/>
              <p:cNvSpPr/>
              <p:nvPr/>
            </p:nvSpPr>
            <p:spPr>
              <a:xfrm rot="2039608">
                <a:off x="1086066" y="3785351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" name="Agrupar 11"/>
            <p:cNvGrpSpPr/>
            <p:nvPr/>
          </p:nvGrpSpPr>
          <p:grpSpPr>
            <a:xfrm>
              <a:off x="2813532" y="2348124"/>
              <a:ext cx="3530936" cy="926725"/>
              <a:chOff x="2813532" y="2360752"/>
              <a:chExt cx="3530936" cy="926725"/>
            </a:xfrm>
          </p:grpSpPr>
          <p:sp>
            <p:nvSpPr>
              <p:cNvPr id="13" name="CaixaDeTexto 12"/>
              <p:cNvSpPr txBox="1"/>
              <p:nvPr/>
            </p:nvSpPr>
            <p:spPr>
              <a:xfrm>
                <a:off x="2813532" y="2639448"/>
                <a:ext cx="35309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b="1" dirty="0">
                    <a:solidFill>
                      <a:schemeClr val="accent5">
                        <a:lumMod val="75000"/>
                      </a:schemeClr>
                    </a:solidFill>
                  </a:rPr>
                  <a:t>PROJETOS            MUDANÇAS</a:t>
                </a:r>
              </a:p>
            </p:txBody>
          </p:sp>
          <p:pic>
            <p:nvPicPr>
              <p:cNvPr id="14" name="Imagem 13"/>
              <p:cNvPicPr>
                <a:picLocks noChangeAspect="1"/>
              </p:cNvPicPr>
              <p:nvPr/>
            </p:nvPicPr>
            <p:blipFill>
              <a:blip r:embed="rId17">
                <a:clrChange>
                  <a:clrFrom>
                    <a:srgbClr val="000000"/>
                  </a:clrFrom>
                  <a:clrTo>
                    <a:srgbClr val="000000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4271336" y="2360752"/>
                <a:ext cx="463364" cy="926725"/>
              </a:xfrm>
              <a:prstGeom prst="rect">
                <a:avLst/>
              </a:prstGeom>
            </p:spPr>
          </p:pic>
        </p:grpSp>
        <p:sp>
          <p:nvSpPr>
            <p:cNvPr id="25" name="Retângulo 24"/>
            <p:cNvSpPr/>
            <p:nvPr/>
          </p:nvSpPr>
          <p:spPr>
            <a:xfrm>
              <a:off x="3605720" y="2006437"/>
              <a:ext cx="17945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pt-BR" dirty="0">
                  <a:solidFill>
                    <a:srgbClr val="0070C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Transition To Run</a:t>
              </a:r>
              <a:endParaRPr lang="pt-BR" dirty="0"/>
            </a:p>
          </p:txBody>
        </p:sp>
      </p:grpSp>
      <p:sp>
        <p:nvSpPr>
          <p:cNvPr id="26" name="Retângulo 25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Situação Atual</a:t>
            </a:r>
            <a:endParaRPr lang="pt-B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116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/>
        </p:nvSpPr>
        <p:spPr>
          <a:xfrm>
            <a:off x="0" y="563881"/>
            <a:ext cx="9144000" cy="458438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considerarão todo o ciclo de vida de uma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desde a </a:t>
            </a:r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demanda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alteração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ou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novo serviços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por parte das unidades de negócio e atualizações em componentes tecnológicos pelas equipes de TI até sua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utilizando, </a:t>
            </a:r>
            <a:r>
              <a:rPr lang="pt-BR" sz="2000" i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quando necessário ao melhor controle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, habilidades e técnicas de gerenciamento de projetos.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Além disso, oferece métodos ágeis para mudanças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menores garantindo agilidade e controle de toda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demanda técnica e de infraestrutura predial.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Transition To Run – T2R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720" y="2125164"/>
            <a:ext cx="2749731" cy="293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02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Proposta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63379" y="624878"/>
            <a:ext cx="8784557" cy="4553772"/>
            <a:chOff x="-33878" y="846548"/>
            <a:chExt cx="8784557" cy="4553772"/>
          </a:xfrm>
        </p:grpSpPr>
        <p:sp>
          <p:nvSpPr>
            <p:cNvPr id="4" name="Seta para Baixo 3"/>
            <p:cNvSpPr/>
            <p:nvPr/>
          </p:nvSpPr>
          <p:spPr>
            <a:xfrm rot="19695576">
              <a:off x="1362117" y="3775487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aphicFrame>
          <p:nvGraphicFramePr>
            <p:cNvPr id="5" name="Diagrama 4"/>
            <p:cNvGraphicFramePr/>
            <p:nvPr>
              <p:extLst>
                <p:ext uri="{D42A27DB-BD31-4B8C-83A1-F6EECF244321}">
                  <p14:modId xmlns:p14="http://schemas.microsoft.com/office/powerpoint/2010/main" val="2485558006"/>
                </p:ext>
              </p:extLst>
            </p:nvPr>
          </p:nvGraphicFramePr>
          <p:xfrm>
            <a:off x="1280081" y="3387760"/>
            <a:ext cx="1693025" cy="20125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6" name="Fluxograma: Operação Manual 5"/>
            <p:cNvSpPr/>
            <p:nvPr/>
          </p:nvSpPr>
          <p:spPr>
            <a:xfrm>
              <a:off x="84954" y="4161300"/>
              <a:ext cx="690832" cy="465481"/>
            </a:xfrm>
            <a:prstGeom prst="flowChartManualOperati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bg1"/>
                  </a:solidFill>
                </a:rPr>
                <a:t>Não</a:t>
              </a:r>
            </a:p>
          </p:txBody>
        </p:sp>
        <p:grpSp>
          <p:nvGrpSpPr>
            <p:cNvPr id="7" name="Agrupar 6"/>
            <p:cNvGrpSpPr/>
            <p:nvPr/>
          </p:nvGrpSpPr>
          <p:grpSpPr>
            <a:xfrm>
              <a:off x="-33878" y="1043488"/>
              <a:ext cx="2263043" cy="2894323"/>
              <a:chOff x="-33878" y="1043488"/>
              <a:chExt cx="2263043" cy="2894323"/>
            </a:xfrm>
          </p:grpSpPr>
          <p:sp>
            <p:nvSpPr>
              <p:cNvPr id="36" name="CaixaDeTexto 35"/>
              <p:cNvSpPr txBox="1"/>
              <p:nvPr/>
            </p:nvSpPr>
            <p:spPr>
              <a:xfrm>
                <a:off x="217553" y="1043488"/>
                <a:ext cx="17623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>
                    <a:solidFill>
                      <a:schemeClr val="tx2"/>
                    </a:solidFill>
                  </a:rPr>
                  <a:t>Gestão de Demandas</a:t>
                </a:r>
              </a:p>
            </p:txBody>
          </p:sp>
          <p:grpSp>
            <p:nvGrpSpPr>
              <p:cNvPr id="37" name="Agrupar 36"/>
              <p:cNvGrpSpPr/>
              <p:nvPr/>
            </p:nvGrpSpPr>
            <p:grpSpPr>
              <a:xfrm>
                <a:off x="-33878" y="1043490"/>
                <a:ext cx="2263043" cy="2894321"/>
                <a:chOff x="-33878" y="1043490"/>
                <a:chExt cx="2263043" cy="2894321"/>
              </a:xfrm>
              <a:noFill/>
            </p:grpSpPr>
            <p:graphicFrame>
              <p:nvGraphicFramePr>
                <p:cNvPr id="38" name="Diagrama 37"/>
                <p:cNvGraphicFramePr/>
                <p:nvPr>
                  <p:extLst>
                    <p:ext uri="{D42A27DB-BD31-4B8C-83A1-F6EECF244321}">
                      <p14:modId xmlns:p14="http://schemas.microsoft.com/office/powerpoint/2010/main" val="3817980388"/>
                    </p:ext>
                  </p:extLst>
                </p:nvPr>
              </p:nvGraphicFramePr>
              <p:xfrm>
                <a:off x="-33878" y="1043490"/>
                <a:ext cx="2263043" cy="2504679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7" r:lo="rId8" r:qs="rId9" r:cs="rId10"/>
                </a:graphicData>
              </a:graphic>
            </p:graphicFrame>
            <p:sp>
              <p:nvSpPr>
                <p:cNvPr id="39" name="Seta para Baixo 38"/>
                <p:cNvSpPr/>
                <p:nvPr/>
              </p:nvSpPr>
              <p:spPr>
                <a:xfrm rot="2039608">
                  <a:off x="487553" y="3773518"/>
                  <a:ext cx="225396" cy="164293"/>
                </a:xfrm>
                <a:prstGeom prst="downArrow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</p:grpSp>
        </p:grpSp>
        <p:graphicFrame>
          <p:nvGraphicFramePr>
            <p:cNvPr id="8" name="Diagrama 7"/>
            <p:cNvGraphicFramePr/>
            <p:nvPr>
              <p:extLst>
                <p:ext uri="{D42A27DB-BD31-4B8C-83A1-F6EECF244321}">
                  <p14:modId xmlns:p14="http://schemas.microsoft.com/office/powerpoint/2010/main" val="3653664751"/>
                </p:ext>
              </p:extLst>
            </p:nvPr>
          </p:nvGraphicFramePr>
          <p:xfrm>
            <a:off x="2176371" y="2017039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sp>
          <p:nvSpPr>
            <p:cNvPr id="9" name="Seta para Baixo 8"/>
            <p:cNvSpPr/>
            <p:nvPr/>
          </p:nvSpPr>
          <p:spPr>
            <a:xfrm rot="12341683">
              <a:off x="2621040" y="3519515"/>
              <a:ext cx="225396" cy="164293"/>
            </a:xfrm>
            <a:prstGeom prst="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3225735" y="1038833"/>
              <a:ext cx="20380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pSp>
          <p:nvGrpSpPr>
            <p:cNvPr id="11" name="Agrupar 10"/>
            <p:cNvGrpSpPr/>
            <p:nvPr/>
          </p:nvGrpSpPr>
          <p:grpSpPr>
            <a:xfrm>
              <a:off x="5556884" y="846548"/>
              <a:ext cx="2335535" cy="1151906"/>
              <a:chOff x="6250304" y="884648"/>
              <a:chExt cx="2335535" cy="1151906"/>
            </a:xfrm>
          </p:grpSpPr>
          <p:sp>
            <p:nvSpPr>
              <p:cNvPr id="32" name="CaixaDeTexto 31"/>
              <p:cNvSpPr txBox="1"/>
              <p:nvPr/>
            </p:nvSpPr>
            <p:spPr>
              <a:xfrm>
                <a:off x="6250304" y="1140909"/>
                <a:ext cx="126541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chemeClr val="accent6">
                        <a:lumMod val="75000"/>
                      </a:schemeClr>
                    </a:solidFill>
                  </a:rPr>
                  <a:t>Mudança Menor</a:t>
                </a:r>
              </a:p>
            </p:txBody>
          </p:sp>
          <p:grpSp>
            <p:nvGrpSpPr>
              <p:cNvPr id="33" name="Agrupar 32"/>
              <p:cNvGrpSpPr/>
              <p:nvPr/>
            </p:nvGrpSpPr>
            <p:grpSpPr>
              <a:xfrm>
                <a:off x="7557040" y="884648"/>
                <a:ext cx="1028799" cy="1151906"/>
                <a:chOff x="7357235" y="928289"/>
                <a:chExt cx="1028799" cy="1151906"/>
              </a:xfrm>
            </p:grpSpPr>
            <p:pic>
              <p:nvPicPr>
                <p:cNvPr id="34" name="Picture 8" descr="https://cdn3.iconfinder.com/data/icons/seo-accessibility-usability-2-1/256/Flow_Diagram-512.png"/>
                <p:cNvPicPr>
                  <a:picLocks noChangeAspect="1" noChangeArrowheads="1"/>
                </p:cNvPicPr>
                <p:nvPr/>
              </p:nvPicPr>
              <p:blipFill>
                <a:blip r:embed="rId17">
                  <a:duotone>
                    <a:schemeClr val="accent6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3068" y="928289"/>
                  <a:ext cx="877135" cy="87713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5" name="CaixaDeTexto 34"/>
                <p:cNvSpPr txBox="1"/>
                <p:nvPr/>
              </p:nvSpPr>
              <p:spPr>
                <a:xfrm>
                  <a:off x="7357235" y="1773813"/>
                  <a:ext cx="1028799" cy="306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Workflow</a:t>
                  </a:r>
                </a:p>
              </p:txBody>
            </p:sp>
          </p:grpSp>
        </p:grpSp>
        <p:grpSp>
          <p:nvGrpSpPr>
            <p:cNvPr id="12" name="Agrupar 11"/>
            <p:cNvGrpSpPr/>
            <p:nvPr/>
          </p:nvGrpSpPr>
          <p:grpSpPr>
            <a:xfrm>
              <a:off x="5409272" y="2282489"/>
              <a:ext cx="2490692" cy="1022005"/>
              <a:chOff x="6102692" y="2320589"/>
              <a:chExt cx="2490692" cy="1022005"/>
            </a:xfrm>
          </p:grpSpPr>
          <p:sp>
            <p:nvSpPr>
              <p:cNvPr id="28" name="CaixaDeTexto 27"/>
              <p:cNvSpPr txBox="1"/>
              <p:nvPr/>
            </p:nvSpPr>
            <p:spPr>
              <a:xfrm>
                <a:off x="6102692" y="2539205"/>
                <a:ext cx="15864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chemeClr val="accent4">
                        <a:lumMod val="75000"/>
                      </a:schemeClr>
                    </a:solidFill>
                  </a:rPr>
                  <a:t>Mudança Significativa</a:t>
                </a:r>
              </a:p>
            </p:txBody>
          </p:sp>
          <p:grpSp>
            <p:nvGrpSpPr>
              <p:cNvPr id="29" name="Agrupar 28"/>
              <p:cNvGrpSpPr/>
              <p:nvPr/>
            </p:nvGrpSpPr>
            <p:grpSpPr>
              <a:xfrm>
                <a:off x="7564585" y="2320589"/>
                <a:ext cx="1028799" cy="1022005"/>
                <a:chOff x="7357235" y="2355115"/>
                <a:chExt cx="1028799" cy="1022005"/>
              </a:xfrm>
            </p:grpSpPr>
            <p:pic>
              <p:nvPicPr>
                <p:cNvPr id="30" name="Picture 4" descr="http://www.ecoleduparc.fr/A21/images/icones/icon_6219_512px.png"/>
                <p:cNvPicPr>
                  <a:picLocks noChangeAspect="1" noChangeArrowheads="1"/>
                </p:cNvPicPr>
                <p:nvPr/>
              </p:nvPicPr>
              <p:blipFill>
                <a:blip r:embed="rId18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3070" y="2355115"/>
                  <a:ext cx="877135" cy="87713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1" name="CaixaDeTexto 30"/>
                <p:cNvSpPr txBox="1"/>
                <p:nvPr/>
              </p:nvSpPr>
              <p:spPr>
                <a:xfrm>
                  <a:off x="7357235" y="3070738"/>
                  <a:ext cx="1028799" cy="3063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Comitê</a:t>
                  </a:r>
                </a:p>
              </p:txBody>
            </p:sp>
          </p:grpSp>
        </p:grpSp>
        <p:grpSp>
          <p:nvGrpSpPr>
            <p:cNvPr id="13" name="Agrupar 12"/>
            <p:cNvGrpSpPr/>
            <p:nvPr/>
          </p:nvGrpSpPr>
          <p:grpSpPr>
            <a:xfrm>
              <a:off x="5506135" y="3756711"/>
              <a:ext cx="2827112" cy="1300117"/>
              <a:chOff x="6199555" y="3794811"/>
              <a:chExt cx="2827112" cy="1300117"/>
            </a:xfrm>
          </p:grpSpPr>
          <p:sp>
            <p:nvSpPr>
              <p:cNvPr id="24" name="CaixaDeTexto 23"/>
              <p:cNvSpPr txBox="1"/>
              <p:nvPr/>
            </p:nvSpPr>
            <p:spPr>
              <a:xfrm>
                <a:off x="6199555" y="3996399"/>
                <a:ext cx="13766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600" b="1" dirty="0">
                    <a:solidFill>
                      <a:srgbClr val="C00000"/>
                    </a:solidFill>
                  </a:rPr>
                  <a:t>Mudança Maior</a:t>
                </a:r>
              </a:p>
            </p:txBody>
          </p:sp>
          <p:grpSp>
            <p:nvGrpSpPr>
              <p:cNvPr id="25" name="Agrupar 24"/>
              <p:cNvGrpSpPr/>
              <p:nvPr/>
            </p:nvGrpSpPr>
            <p:grpSpPr>
              <a:xfrm>
                <a:off x="7131301" y="3794811"/>
                <a:ext cx="1895366" cy="1300117"/>
                <a:chOff x="7016219" y="3737300"/>
                <a:chExt cx="1895366" cy="1300117"/>
              </a:xfrm>
            </p:grpSpPr>
            <p:pic>
              <p:nvPicPr>
                <p:cNvPr id="26" name="Picture 10" descr="https://upload.wikimedia.org/wikipedia/commons/thumb/a/a3/HEB_project_flow_icon_02_charts_and_calendar.svg/1024px-HEB_project_flow_icon_02_charts_and_calendar.svg.png"/>
                <p:cNvPicPr>
                  <a:picLocks noChangeAspect="1" noChangeArrowheads="1"/>
                </p:cNvPicPr>
                <p:nvPr/>
              </p:nvPicPr>
              <p:blipFill>
                <a:blip r:embed="rId19">
                  <a:duotone>
                    <a:prstClr val="black"/>
                    <a:schemeClr val="accent2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68782" y="3737300"/>
                  <a:ext cx="990240" cy="99024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7" name="CaixaDeTexto 26"/>
                <p:cNvSpPr txBox="1"/>
                <p:nvPr/>
              </p:nvSpPr>
              <p:spPr>
                <a:xfrm>
                  <a:off x="7016219" y="4698863"/>
                  <a:ext cx="189536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600" b="1" dirty="0">
                      <a:solidFill>
                        <a:srgbClr val="C00000"/>
                      </a:solidFill>
                    </a:rPr>
                    <a:t>Gestão de Projetos</a:t>
                  </a:r>
                </a:p>
              </p:txBody>
            </p:sp>
          </p:grpSp>
        </p:grpSp>
        <p:grpSp>
          <p:nvGrpSpPr>
            <p:cNvPr id="14" name="Agrupar 13"/>
            <p:cNvGrpSpPr/>
            <p:nvPr/>
          </p:nvGrpSpPr>
          <p:grpSpPr>
            <a:xfrm>
              <a:off x="4865706" y="1287776"/>
              <a:ext cx="613659" cy="3091011"/>
              <a:chOff x="5559126" y="1325876"/>
              <a:chExt cx="613659" cy="3091011"/>
            </a:xfrm>
          </p:grpSpPr>
          <p:sp>
            <p:nvSpPr>
              <p:cNvPr id="21" name="Seta Dobrada 20"/>
              <p:cNvSpPr/>
              <p:nvPr/>
            </p:nvSpPr>
            <p:spPr>
              <a:xfrm>
                <a:off x="5559126" y="1325876"/>
                <a:ext cx="537826" cy="883998"/>
              </a:xfrm>
              <a:prstGeom prst="bentArrow">
                <a:avLst>
                  <a:gd name="adj1" fmla="val 25000"/>
                  <a:gd name="adj2" fmla="val 20321"/>
                  <a:gd name="adj3" fmla="val 25000"/>
                  <a:gd name="adj4" fmla="val 48429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2" name="Seta Dobrada 21"/>
              <p:cNvSpPr/>
              <p:nvPr/>
            </p:nvSpPr>
            <p:spPr>
              <a:xfrm flipV="1">
                <a:off x="5559126" y="3514822"/>
                <a:ext cx="537826" cy="902065"/>
              </a:xfrm>
              <a:prstGeom prst="bentArrow">
                <a:avLst>
                  <a:gd name="adj1" fmla="val 25000"/>
                  <a:gd name="adj2" fmla="val 20321"/>
                  <a:gd name="adj3" fmla="val 25000"/>
                  <a:gd name="adj4" fmla="val 48429"/>
                </a:avLst>
              </a:prstGeom>
              <a:solidFill>
                <a:srgbClr val="C00000"/>
              </a:solidFill>
              <a:ln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Seta para a Direita 22"/>
              <p:cNvSpPr/>
              <p:nvPr/>
            </p:nvSpPr>
            <p:spPr>
              <a:xfrm>
                <a:off x="5559126" y="2709031"/>
                <a:ext cx="613659" cy="267305"/>
              </a:xfrm>
              <a:prstGeom prst="rightArrow">
                <a:avLst/>
              </a:prstGeom>
              <a:solidFill>
                <a:schemeClr val="accent4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15" name="Retângulo Arredondado 14"/>
            <p:cNvSpPr/>
            <p:nvPr/>
          </p:nvSpPr>
          <p:spPr>
            <a:xfrm>
              <a:off x="3734663" y="2528603"/>
              <a:ext cx="1015068" cy="557277"/>
            </a:xfrm>
            <a:prstGeom prst="roundRect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</a:rPr>
                <a:t>CRITÉRIOS OBJETVOS</a:t>
              </a:r>
            </a:p>
          </p:txBody>
        </p:sp>
        <p:grpSp>
          <p:nvGrpSpPr>
            <p:cNvPr id="16" name="Agrupar 15"/>
            <p:cNvGrpSpPr/>
            <p:nvPr/>
          </p:nvGrpSpPr>
          <p:grpSpPr>
            <a:xfrm>
              <a:off x="7957925" y="846548"/>
              <a:ext cx="792754" cy="4132622"/>
              <a:chOff x="7957925" y="846548"/>
              <a:chExt cx="792754" cy="4132622"/>
            </a:xfrm>
          </p:grpSpPr>
          <p:sp>
            <p:nvSpPr>
              <p:cNvPr id="17" name="Retângulo Arredondado 16"/>
              <p:cNvSpPr/>
              <p:nvPr/>
            </p:nvSpPr>
            <p:spPr>
              <a:xfrm>
                <a:off x="8362123" y="846548"/>
                <a:ext cx="388556" cy="4132622"/>
              </a:xfrm>
              <a:prstGeom prst="roundRect">
                <a:avLst/>
              </a:prstGeom>
              <a:solidFill>
                <a:srgbClr val="C00000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pt-BR" sz="12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REVISÃO PÓS-IMPLEMENTAÇÃO</a:t>
                </a:r>
              </a:p>
            </p:txBody>
          </p:sp>
          <p:sp>
            <p:nvSpPr>
              <p:cNvPr id="18" name="Seta para Baixo 17"/>
              <p:cNvSpPr/>
              <p:nvPr/>
            </p:nvSpPr>
            <p:spPr>
              <a:xfrm rot="17535232">
                <a:off x="7927374" y="1819709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19" name="Seta para Baixo 18"/>
              <p:cNvSpPr/>
              <p:nvPr/>
            </p:nvSpPr>
            <p:spPr>
              <a:xfrm rot="13912365">
                <a:off x="7927374" y="3726888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0" name="Seta para Baixo 19"/>
              <p:cNvSpPr/>
              <p:nvPr/>
            </p:nvSpPr>
            <p:spPr>
              <a:xfrm rot="16200000">
                <a:off x="7945574" y="2790807"/>
                <a:ext cx="225396" cy="164293"/>
              </a:xfrm>
              <a:prstGeom prst="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78529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50535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Toda alteração, inclusão ou remoção de serviço terá controle único e completo através de uma  ferramenta de gerenciamento de serviços disponibilizando para todos os envolvidos em todas as fases de seu ciclo de vida as informações necessárias para garantir que a implementação não tenha ou minimizar a possibilidade de impacto, assim como o suporte para a operação do serviço em ambiente produtivo.</a:t>
            </a:r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Controle Unificado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98200" y="2578891"/>
            <a:ext cx="3419711" cy="2328823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</p:pic>
      <p:sp>
        <p:nvSpPr>
          <p:cNvPr id="32" name="Divisa 31"/>
          <p:cNvSpPr/>
          <p:nvPr/>
        </p:nvSpPr>
        <p:spPr>
          <a:xfrm>
            <a:off x="717548" y="3442130"/>
            <a:ext cx="1509486" cy="602343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50000"/>
                  </a:schemeClr>
                </a:solidFill>
              </a:rPr>
              <a:t>Demanda</a:t>
            </a:r>
          </a:p>
        </p:txBody>
      </p:sp>
      <p:sp>
        <p:nvSpPr>
          <p:cNvPr id="33" name="Divisa 32"/>
          <p:cNvSpPr/>
          <p:nvPr/>
        </p:nvSpPr>
        <p:spPr>
          <a:xfrm>
            <a:off x="2815705" y="2839787"/>
            <a:ext cx="1509486" cy="602343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50000"/>
                  </a:schemeClr>
                </a:solidFill>
              </a:rPr>
              <a:t>Projeto</a:t>
            </a:r>
          </a:p>
        </p:txBody>
      </p:sp>
      <p:sp>
        <p:nvSpPr>
          <p:cNvPr id="34" name="Divisa 33"/>
          <p:cNvSpPr/>
          <p:nvPr/>
        </p:nvSpPr>
        <p:spPr>
          <a:xfrm>
            <a:off x="2815705" y="4044473"/>
            <a:ext cx="1509486" cy="602343"/>
          </a:xfrm>
          <a:prstGeom prst="chevron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accent1">
                    <a:lumMod val="50000"/>
                  </a:schemeClr>
                </a:solidFill>
              </a:rPr>
              <a:t>Mudança</a:t>
            </a:r>
          </a:p>
        </p:txBody>
      </p:sp>
      <p:cxnSp>
        <p:nvCxnSpPr>
          <p:cNvPr id="36" name="Conector de Seta Reta 35"/>
          <p:cNvCxnSpPr/>
          <p:nvPr/>
        </p:nvCxnSpPr>
        <p:spPr>
          <a:xfrm flipV="1">
            <a:off x="2285998" y="3140960"/>
            <a:ext cx="660043" cy="547120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/>
          <p:cNvCxnSpPr/>
          <p:nvPr/>
        </p:nvCxnSpPr>
        <p:spPr>
          <a:xfrm>
            <a:off x="2285998" y="3810000"/>
            <a:ext cx="660043" cy="524554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489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Demandas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564443"/>
            <a:ext cx="9144000" cy="460126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Gerenciamento de Demandas terá controle de todas as demandas planejadas para entender os padrões de atividade do Negócio e influenciar a demanda do Cliente por serviços e na provisão de capacidade para atender estas demandas.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Dentre as responsabilidades de Demandas para a T2R, estão: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Analisar a viabilidade da demanda.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Reprovar quando necessário.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Definir os Pré-Requisitos.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Fazer a triagem de Mudança ou Projeto.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Priorizar ou recusar projetos em comitê.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Gerenciar e revisar projetos pendentes.</a:t>
            </a:r>
          </a:p>
          <a:p>
            <a:pPr algn="l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grpSp>
        <p:nvGrpSpPr>
          <p:cNvPr id="34" name="Agrupar 33"/>
          <p:cNvGrpSpPr/>
          <p:nvPr/>
        </p:nvGrpSpPr>
        <p:grpSpPr>
          <a:xfrm>
            <a:off x="5529764" y="2010920"/>
            <a:ext cx="3126556" cy="3154786"/>
            <a:chOff x="5712644" y="2263882"/>
            <a:chExt cx="2791276" cy="2816479"/>
          </a:xfrm>
        </p:grpSpPr>
        <p:pic>
          <p:nvPicPr>
            <p:cNvPr id="27" name="Imagem 26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712644" y="2263882"/>
              <a:ext cx="2791276" cy="2816479"/>
            </a:xfrm>
            <a:prstGeom prst="rect">
              <a:avLst/>
            </a:prstGeom>
          </p:spPr>
        </p:pic>
        <p:sp>
          <p:nvSpPr>
            <p:cNvPr id="28" name="CaixaDeTexto 27"/>
            <p:cNvSpPr txBox="1"/>
            <p:nvPr/>
          </p:nvSpPr>
          <p:spPr>
            <a:xfrm>
              <a:off x="6128462" y="2411445"/>
              <a:ext cx="1999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400" b="1" dirty="0">
                  <a:solidFill>
                    <a:schemeClr val="tx1">
                      <a:alpha val="70000"/>
                    </a:schemeClr>
                  </a:solidFill>
                </a:rPr>
                <a:t>Análise inicial de escopo</a:t>
              </a: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6310466" y="2834893"/>
              <a:ext cx="15953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200" b="1" dirty="0">
                  <a:solidFill>
                    <a:schemeClr val="tx1">
                      <a:alpha val="70000"/>
                    </a:schemeClr>
                  </a:solidFill>
                </a:rPr>
                <a:t>Decisão de Go\ No Go</a:t>
              </a:r>
            </a:p>
          </p:txBody>
        </p:sp>
        <p:sp>
          <p:nvSpPr>
            <p:cNvPr id="30" name="CaixaDeTexto 29"/>
            <p:cNvSpPr txBox="1"/>
            <p:nvPr/>
          </p:nvSpPr>
          <p:spPr>
            <a:xfrm>
              <a:off x="6608528" y="3150599"/>
              <a:ext cx="10809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pt-BR" sz="1100" b="1" dirty="0">
                  <a:solidFill>
                    <a:schemeClr val="tx1">
                      <a:alpha val="70000"/>
                    </a:schemeClr>
                  </a:solidFill>
                </a:rPr>
                <a:t>Definição de </a:t>
              </a:r>
            </a:p>
            <a:p>
              <a:pPr algn="ctr"/>
              <a:r>
                <a:rPr lang="pt-BR" sz="1100" b="1" dirty="0">
                  <a:solidFill>
                    <a:schemeClr val="tx1">
                      <a:alpha val="70000"/>
                    </a:schemeClr>
                  </a:solidFill>
                </a:rPr>
                <a:t>Pré-Requisitos</a:t>
              </a: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6704004" y="3523301"/>
              <a:ext cx="808235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pPr algn="ctr"/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Triagem de </a:t>
              </a:r>
            </a:p>
            <a:p>
              <a:pPr algn="ctr"/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Mudança</a:t>
              </a:r>
            </a:p>
          </p:txBody>
        </p:sp>
        <p:sp>
          <p:nvSpPr>
            <p:cNvPr id="32" name="CaixaDeTexto 31"/>
            <p:cNvSpPr txBox="1"/>
            <p:nvPr/>
          </p:nvSpPr>
          <p:spPr>
            <a:xfrm>
              <a:off x="6728049" y="3906253"/>
              <a:ext cx="7745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1000" b="1" dirty="0">
                  <a:solidFill>
                    <a:schemeClr val="tx1">
                      <a:alpha val="70000"/>
                    </a:schemeClr>
                  </a:solidFill>
                </a:rPr>
                <a:t>Priorização</a:t>
              </a:r>
            </a:p>
          </p:txBody>
        </p:sp>
        <p:sp>
          <p:nvSpPr>
            <p:cNvPr id="33" name="CaixaDeTexto 32"/>
            <p:cNvSpPr txBox="1"/>
            <p:nvPr/>
          </p:nvSpPr>
          <p:spPr>
            <a:xfrm>
              <a:off x="6838656" y="4229794"/>
              <a:ext cx="538930" cy="23083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/>
              </a:sp3d>
            </a:bodyPr>
            <a:lstStyle/>
            <a:p>
              <a:r>
                <a:rPr lang="pt-BR" sz="900" b="1" dirty="0">
                  <a:solidFill>
                    <a:schemeClr val="tx1">
                      <a:alpha val="70000"/>
                    </a:schemeClr>
                  </a:solidFill>
                </a:rPr>
                <a:t>Projeto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8545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Projetos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Esforço temporário, empreendido a fim de criar um produto, serviço ou resultado único.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 projeto transforma diversas entradas num produto ou serviço único, então um projeto pode ser definido como um PROCESSO.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Aplicação de conhecimento, habilidades, técnicas e ferramentas às atividades do projeto a fim de alcançar os requisitos do projeto.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006" y="2723475"/>
            <a:ext cx="3654377" cy="242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79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55673" y="2955289"/>
            <a:ext cx="3588327" cy="2181139"/>
          </a:xfrm>
          <a:prstGeom prst="rect">
            <a:avLst/>
          </a:prstGeom>
        </p:spPr>
      </p:pic>
      <p:sp>
        <p:nvSpPr>
          <p:cNvPr id="3" name="Subtítulo 2"/>
          <p:cNvSpPr txBox="1">
            <a:spLocks/>
          </p:cNvSpPr>
          <p:nvPr/>
        </p:nvSpPr>
        <p:spPr>
          <a:xfrm>
            <a:off x="0" y="564442"/>
            <a:ext cx="9144000" cy="4571985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Iniciação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Autoriza o início de uma fase ou Projeto e estabelece objetivos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Como atingir os objetivos estabelecidos, qual o caminho que tem que ser seguido e o que tem que ser feito para chegar até lá.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Execução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Colocar o plano em execução, garantir os recursos necessários e a equipe de projeto produz o que foi planejado.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Monitoramento e Controle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Avalia aonde estamos, aonde deveríamos estar e define como e o que faremos para voltar ao caminho, Evita mudança de rumo porém faz as mudanças de rumo necessárias.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Encerramento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Formaliza o aceite do Produto do Projeto, Toma ações para encerrar administrativamente o Projeto, Lições aprendidas, Arquivar e indexar informações para uso futuro.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Projetos</a:t>
            </a:r>
          </a:p>
        </p:txBody>
      </p:sp>
    </p:spTree>
    <p:extLst>
      <p:ext uri="{BB962C8B-B14F-4D97-AF65-F5344CB8AC3E}">
        <p14:creationId xmlns:p14="http://schemas.microsoft.com/office/powerpoint/2010/main" val="212857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Mudanças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63889"/>
            <a:ext cx="9144000" cy="4584374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Consiste em procedimentos e controles necessários para garantir que as mudanças sejam formalmente requisitadas, aprovadas, planejadas e adequadamente testadas com o objetivo de minimizar as ocorrências de erros.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uma gestão efetiva, é preciso considerar a identificação e registro dos requerimentos, avaliação dos impactos em todas as áreas, aprovação, definição da implementação, existência de trilha e registros dos processos e seu encerramento. 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Empresas que investem em Gestão de Mudança garantem 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alta eficiência em seus projetos!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660" y="2734676"/>
            <a:ext cx="2698998" cy="241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0" y="564442"/>
            <a:ext cx="9144000" cy="458381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de serviço é qualquer “adição, modificação ou remoção de serviço ou componente de serviço autorizado, planejado ou suportado e sua documentação associada”.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Tipos de Mudanças: 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Planejada: 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Cobre Planejamento a longo-prazo e Controle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sobre a qualidade, estabilidade e flexibilidade do serviço.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Técnica: 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Garantem e mantém a qualidade,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estabilidade e Flexibilidade do serviço.</a:t>
            </a:r>
          </a:p>
          <a:p>
            <a:pPr algn="l"/>
            <a:r>
              <a:rPr lang="pt-BR" sz="20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Emergencial</a:t>
            </a:r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: Alcançam a qualidade, estabilidade e </a:t>
            </a:r>
          </a:p>
          <a:p>
            <a:pPr algn="l"/>
            <a:r>
              <a:rPr lang="pt-BR" sz="20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flexibilidade do serviço.</a:t>
            </a:r>
          </a:p>
          <a:p>
            <a:pPr algn="l"/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445" y="2549235"/>
            <a:ext cx="2599027" cy="2599027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Gerenciamento de Mudanças</a:t>
            </a:r>
          </a:p>
        </p:txBody>
      </p:sp>
    </p:spTree>
    <p:extLst>
      <p:ext uri="{BB962C8B-B14F-4D97-AF65-F5344CB8AC3E}">
        <p14:creationId xmlns:p14="http://schemas.microsoft.com/office/powerpoint/2010/main" val="480330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1080850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Atividades da T2R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12" y="2110740"/>
            <a:ext cx="3676175" cy="245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59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2217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Objetivo do Gerenciamento de Mudanças é assegurar que mudanças são registradas e estão avaliadas, autorizadas, priorizadas, planejadas, implementadas, documentadas e revisadas de uma maneira controlada.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métodos e procedimentos padronizados estão sendo utilizados de forma eficiente e rápida para lidar com todas as mudanças.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todas as mudanças nos Ativos de Serviço e Item de Configuração (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IC`s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) estão registradas no sistema de Gerenciamento de Configuração (SGC).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todos os riscos de negócios estão otimizados.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Responder a mudanças do requerimento do negócio do cliente enquanto maximiza e reduz incidentes, rompimento e retrabalho.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Responder as Requisições de mudanças do negócio e TI que alinharão os serviços com as necessidades do negócio.</a:t>
            </a:r>
          </a:p>
          <a:p>
            <a:pPr algn="l">
              <a:defRPr/>
            </a:pPr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defRPr/>
            </a:pPr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-69850" algn="just">
              <a:spcBef>
                <a:spcPts val="1000"/>
              </a:spcBef>
              <a:spcAft>
                <a:spcPts val="1000"/>
              </a:spcAft>
              <a:defRPr/>
            </a:pPr>
            <a:endParaRPr lang="pt-BR" sz="20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</a:p>
        </p:txBody>
      </p:sp>
    </p:spTree>
    <p:extLst>
      <p:ext uri="{BB962C8B-B14F-4D97-AF65-F5344CB8AC3E}">
        <p14:creationId xmlns:p14="http://schemas.microsoft.com/office/powerpoint/2010/main" val="2286368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buClr>
                <a:srgbClr val="0064A9"/>
              </a:buClr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de serviço é qualquer “adição, modificação ou remoção de serviço ou componente de serviço autorizado, planejado ou suportado e sua documentação associada.</a:t>
            </a:r>
          </a:p>
          <a:p>
            <a:pPr marL="342900" indent="-342900" algn="l">
              <a:lnSpc>
                <a:spcPct val="90000"/>
              </a:lnSpc>
              <a:buClr>
                <a:srgbClr val="0064A9"/>
              </a:buClr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escopo do processo de Gerenciamento de Mudanças cobre mudanças na linha de base dos ativos de serviço por todo o ciclo de vida do serviço.</a:t>
            </a:r>
          </a:p>
          <a:p>
            <a:pPr marL="342900" indent="-342900" algn="l">
              <a:lnSpc>
                <a:spcPct val="90000"/>
              </a:lnSpc>
              <a:buClr>
                <a:srgbClr val="0064A9"/>
              </a:buClr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Escopo pré-definido de mudanças usualmente inclui os seguintes três tipos de mudanças:</a:t>
            </a:r>
          </a:p>
          <a:p>
            <a:pPr algn="l"/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Planejada: 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para um serviço ou infraestrutura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pré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autorizado pelo Gerenciamento de Mudanças com procedimento aceito e estabelecido para fornecer uma exigência de mudança específica </a:t>
            </a:r>
          </a:p>
          <a:p>
            <a:pPr algn="l"/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Técnica: 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iniciada por uma requisição do solicitante "Indivíduo ou grupo organizacional" que solicita a mudança.</a:t>
            </a:r>
          </a:p>
          <a:p>
            <a:pPr algn="l">
              <a:lnSpc>
                <a:spcPct val="90000"/>
              </a:lnSpc>
              <a:buClr>
                <a:srgbClr val="0064A9"/>
              </a:buClr>
              <a:defRPr/>
            </a:pP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Emergenciais: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lnSpc>
                <a:spcPct val="90000"/>
              </a:lnSpc>
              <a:buClr>
                <a:srgbClr val="0064A9"/>
              </a:buClr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Escopo</a:t>
            </a:r>
          </a:p>
        </p:txBody>
      </p:sp>
    </p:spTree>
    <p:extLst>
      <p:ext uri="{BB962C8B-B14F-4D97-AF65-F5344CB8AC3E}">
        <p14:creationId xmlns:p14="http://schemas.microsoft.com/office/powerpoint/2010/main" val="1118839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r="12929"/>
          <a:stretch/>
        </p:blipFill>
        <p:spPr>
          <a:xfrm>
            <a:off x="6244585" y="822960"/>
            <a:ext cx="2899415" cy="2679270"/>
          </a:xfrm>
          <a:prstGeom prst="rect">
            <a:avLst/>
          </a:prstGeom>
        </p:spPr>
      </p:pic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Valores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pt-BR" alt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Priorizar propostas de alteração do negócio e do cliente.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Responder as propostas de alteração do negócio e do cliente.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Implementar mudanças que atendem os requerimentos de serviço.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Otimizar custos na implementação de mudanças.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Atender os requisitos de governança, legal, contratual e regulatório.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Reduzir o número de mudanças que falharam e consequentemente, reduzir os casos de interrupção do serviço, defeitos e retrabalho.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Entregar mudança rapidamente para atender os prazos do negócio.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Rastrear mudanças para aprender pelos erros e incidentes passados.</a:t>
            </a:r>
          </a:p>
          <a:p>
            <a:pPr indent="-285750"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Contribuir para obter uma melhor estimativa de qualidade, tempo e custo da mudança</a:t>
            </a:r>
          </a:p>
        </p:txBody>
      </p:sp>
    </p:spTree>
    <p:extLst>
      <p:ext uri="{BB962C8B-B14F-4D97-AF65-F5344CB8AC3E}">
        <p14:creationId xmlns:p14="http://schemas.microsoft.com/office/powerpoint/2010/main" val="407238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Atividades do Processo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0" y="1015547"/>
            <a:ext cx="9144000" cy="4132716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just">
              <a:lnSpc>
                <a:spcPct val="90000"/>
              </a:lnSpc>
              <a:spcBef>
                <a:spcPts val="432"/>
              </a:spcBef>
              <a:spcAft>
                <a:spcPts val="1000"/>
              </a:spcAft>
            </a:pPr>
            <a:endParaRPr lang="pt-BR" alt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0" y="564443"/>
            <a:ext cx="9144000" cy="458382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Definição de Gmud / Projeto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dos requisitos de controle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 da Gmud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Teste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Validação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Aprovação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Comitê Consultivo de Mudanças (CCM)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Emergencial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Revisão Pós Implantação</a:t>
            </a:r>
          </a:p>
          <a:p>
            <a:pPr marL="0" lvl="1" indent="-285750" algn="just">
              <a:lnSpc>
                <a:spcPct val="90000"/>
              </a:lnSpc>
              <a:spcBef>
                <a:spcPts val="432"/>
              </a:spcBef>
              <a:buFont typeface="Arial" panose="020B0604020202020204" pitchFamily="34" charset="0"/>
              <a:buChar char="•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Validação de pendências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692" y="1152347"/>
            <a:ext cx="3567708" cy="356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76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638452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Independente do solicitante da Requisição de Mudança, é preciso registrar, revisar e avaliar todas as requisições de mudança como parte do Gerenciamento de Mudança.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472" y="1630749"/>
            <a:ext cx="6339841" cy="116890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7193" y="1892038"/>
            <a:ext cx="24982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Credenciais para acesso o sistema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6011753" y="3553009"/>
            <a:ext cx="27965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Visualização das Gmud para minha responsabilidade e seleção de novo registro.</a:t>
            </a:r>
            <a:endParaRPr lang="pt-BR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82" y="3282108"/>
            <a:ext cx="5209358" cy="1465132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3672618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11" y="1826953"/>
            <a:ext cx="8771137" cy="3004503"/>
          </a:xfrm>
          <a:prstGeom prst="rect">
            <a:avLst/>
          </a:prstGeom>
        </p:spPr>
      </p:pic>
      <p:sp>
        <p:nvSpPr>
          <p:cNvPr id="8" name="Subtítulo 2"/>
          <p:cNvSpPr txBox="1">
            <a:spLocks/>
          </p:cNvSpPr>
          <p:nvPr/>
        </p:nvSpPr>
        <p:spPr>
          <a:xfrm>
            <a:off x="1097" y="1422865"/>
            <a:ext cx="9144000" cy="411479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informações para abertura de Gmud</a:t>
            </a:r>
          </a:p>
        </p:txBody>
      </p:sp>
      <p:sp>
        <p:nvSpPr>
          <p:cNvPr id="10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Todos os campos devem ser devidamente preenchidos para que o planejamento seja preciso e riscos possam ser mitigados no planejamento da Gmud.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4263568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da Gmud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981" y="674506"/>
            <a:ext cx="6128703" cy="114601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94" y="1954215"/>
            <a:ext cx="6128703" cy="114148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93" y="3240388"/>
            <a:ext cx="8512528" cy="896335"/>
          </a:xfrm>
          <a:prstGeom prst="rect">
            <a:avLst/>
          </a:prstGeom>
        </p:spPr>
      </p:pic>
      <p:sp>
        <p:nvSpPr>
          <p:cNvPr id="11" name="Retângulo 10"/>
          <p:cNvSpPr/>
          <p:nvPr/>
        </p:nvSpPr>
        <p:spPr>
          <a:xfrm>
            <a:off x="228600" y="924349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dos Sites Impactados pela Gmud 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6566597" y="2198017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das Operações Impactadas pela Gmud</a:t>
            </a:r>
            <a:endParaRPr lang="pt-BR" dirty="0"/>
          </a:p>
        </p:txBody>
      </p:sp>
      <p:sp>
        <p:nvSpPr>
          <p:cNvPr id="13" name="Subtítulo 2"/>
          <p:cNvSpPr txBox="1">
            <a:spLocks/>
          </p:cNvSpPr>
          <p:nvPr/>
        </p:nvSpPr>
        <p:spPr>
          <a:xfrm>
            <a:off x="7193" y="4332783"/>
            <a:ext cx="9144000" cy="51963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2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Um conjunto de “Dados” gera uma “Informação”, um conjunto de “Informação” nos permite ter conhecimento, um conjunto de “Conhecimentos” nos da “Sabedoria”, a “Sabedoria” permite a </a:t>
            </a:r>
            <a:r>
              <a:rPr lang="pt-BR" sz="1200" u="sng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Tomada de Decisão</a:t>
            </a:r>
            <a:r>
              <a:rPr lang="pt-BR" sz="12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. (Modelo DICS – Gerenciamento do Conhecimento).</a:t>
            </a:r>
            <a:endParaRPr lang="pt-BR" sz="12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5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41417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Definição de Gmud / Projeto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1"/>
            <a:ext cx="9144000" cy="777240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Critérios devem ser utilizados para definir o nível de controle necessário para garantir máxima eficiência no planejamento de uma implantação.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876375"/>
              </p:ext>
            </p:extLst>
          </p:nvPr>
        </p:nvGraphicFramePr>
        <p:xfrm>
          <a:off x="971550" y="1600296"/>
          <a:ext cx="6489122" cy="2617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4561">
                  <a:extLst>
                    <a:ext uri="{9D8B030D-6E8A-4147-A177-3AD203B41FA5}">
                      <a16:colId xmlns:a16="http://schemas.microsoft.com/office/drawing/2014/main" val="242053376"/>
                    </a:ext>
                  </a:extLst>
                </a:gridCol>
                <a:gridCol w="3244561">
                  <a:extLst>
                    <a:ext uri="{9D8B030D-6E8A-4147-A177-3AD203B41FA5}">
                      <a16:colId xmlns:a16="http://schemas.microsoft.com/office/drawing/2014/main" val="1010042909"/>
                    </a:ext>
                  </a:extLst>
                </a:gridCol>
              </a:tblGrid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Mudança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Projeto</a:t>
                      </a:r>
                    </a:p>
                  </a:txBody>
                  <a:tcPr marL="92203" marR="92203" marT="46101" marB="46101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6245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Melhor</a:t>
                      </a:r>
                      <a:r>
                        <a:rPr lang="pt-BR" sz="1400" baseline="0" dirty="0"/>
                        <a:t> </a:t>
                      </a:r>
                      <a:r>
                        <a:rPr lang="pt-BR" sz="1400" dirty="0"/>
                        <a:t>controle</a:t>
                      </a:r>
                      <a:r>
                        <a:rPr lang="pt-BR" sz="1400" baseline="0" dirty="0"/>
                        <a:t> de Implantação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aseline="0" dirty="0"/>
                        <a:t>Planejamento mais eficaz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1590996771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1 Implantação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+ de 1 Implantação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2070184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Sem</a:t>
                      </a:r>
                      <a:r>
                        <a:rPr lang="pt-BR" sz="1400" baseline="0" dirty="0"/>
                        <a:t> retorno financeiro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Com retorno financeiro</a:t>
                      </a:r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745834117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Envolvimento </a:t>
                      </a:r>
                      <a:r>
                        <a:rPr lang="pt-BR" sz="1400" baseline="0" dirty="0"/>
                        <a:t>de somente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/>
                        <a:t>+</a:t>
                      </a:r>
                      <a:r>
                        <a:rPr lang="pt-BR" sz="1400" baseline="0" dirty="0"/>
                        <a:t> de 1 área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454762813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Alteração de Serviço</a:t>
                      </a:r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/>
                        <a:t>Inclusão,</a:t>
                      </a:r>
                      <a:r>
                        <a:rPr lang="pt-BR" sz="1400" baseline="0" dirty="0"/>
                        <a:t> alteração e remoção de Serviço</a:t>
                      </a:r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4293718368"/>
                  </a:ext>
                </a:extLst>
              </a:tr>
              <a:tr h="373934"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tc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 marL="92203" marR="92203" marT="46101" marB="46101"/>
                </a:tc>
                <a:extLst>
                  <a:ext uri="{0D108BD9-81ED-4DB2-BD59-A6C34878D82A}">
                    <a16:rowId xmlns:a16="http://schemas.microsoft.com/office/drawing/2014/main" val="3561501154"/>
                  </a:ext>
                </a:extLst>
              </a:tr>
            </a:tbl>
          </a:graphicData>
        </a:graphic>
      </p:graphicFrame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850553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Registro dos Requisitos de Controle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1097" y="563880"/>
            <a:ext cx="9144000" cy="1130808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Visando mitigar de impactos pós Implementação um controle de requisitos será anexo em todas as Gmud para controle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pré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 pós implementação. Os controles serão inseridos pelo planejador com revisão de Gerência CSE e CSC, indicadores de performance serão apresentadas nos comitês de Estabilidade Operacional.</a:t>
            </a: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" y="1929752"/>
            <a:ext cx="7846695" cy="2598337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707361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3879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Impacto da Mudança e Avaliação de Recurso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Avaliação de Impacto da Mudança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Impacto na operação de negócios do cliente.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Efeito na infraestrutura do cliente e serviço entregue para o cliente, </a:t>
            </a:r>
          </a:p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como definido no modelo de serviço.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Impacto em outros serviços que rodam na mesma infraestrutura.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Impacto nos itens que não fazem parte da infraestrutura da organização.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Efeito da não implementação da Mudança.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Recursos necessários para implementar a Mudança.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Agenda atual de Mudanças e Indisponibilidade de serviços Planejada (ISP).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Recursos adicionais.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199908" y="499586"/>
            <a:ext cx="2944091" cy="2208069"/>
          </a:xfrm>
          <a:prstGeom prst="rect">
            <a:avLst/>
          </a:prstGeom>
        </p:spPr>
      </p:pic>
      <p:sp>
        <p:nvSpPr>
          <p:cNvPr id="28" name="Retângulo 27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115305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 txBox="1">
            <a:spLocks/>
          </p:cNvSpPr>
          <p:nvPr/>
        </p:nvSpPr>
        <p:spPr>
          <a:xfrm>
            <a:off x="1097" y="563879"/>
            <a:ext cx="9142903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682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 Risco Associado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buFont typeface="Wingdings" panose="05000000000000000000" pitchFamily="2" charset="2"/>
              <a:buChar char="ü"/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Importante: </a:t>
            </a: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Nenhuma Mudança é ausente de Riscos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!!!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Mesmo a mais simples Mudança pode causar danos que parece completamente fora de proporção para a complexidade ou simplicidade da própria Mudança.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Nos anos recentes, tem ocorrido muitos casos de alta visibilidade e impacto no negócio caro causado pela inclusão, exclusão ou posicionamento errôneo de um “código de software”.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950" y="3193143"/>
            <a:ext cx="3123195" cy="1955120"/>
          </a:xfrm>
          <a:prstGeom prst="rect">
            <a:avLst/>
          </a:prstGeom>
        </p:spPr>
      </p:pic>
      <p:sp>
        <p:nvSpPr>
          <p:cNvPr id="7" name="Retângulo 6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685556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hlinkClick r:id="rId2" action="ppaction://hlinksldjump"/>
          </p:cNvPr>
          <p:cNvSpPr txBox="1">
            <a:spLocks/>
          </p:cNvSpPr>
          <p:nvPr/>
        </p:nvSpPr>
        <p:spPr>
          <a:xfrm>
            <a:off x="1097" y="563879"/>
            <a:ext cx="9142903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Planejamento e Agendamento da Mudança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Cuidadosamente planejar para clarear quais informações estão acontecendo em quais processos (Gerenciamento de Serviços, Fornecedores...).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Recomendar o agrupamento de Mudanças autorizadas em uma Liberação ou pacote de implantação, quando factível.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Avaliar a complexidade do agrupamento contra o melhor teste de integração e a habilidade de integrar mais Mudanças juntas.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Gerenciamento de Mudanças deve agendar Mudanças para atender as necessidades do negócio, por exemplo, evitar períodos críticos do negócio.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Definir e utilizar janela de Mudança e Liberação pré-definida e claramente definir a habilidade de autorizar ajustes “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on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the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fly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”.</a:t>
            </a:r>
          </a:p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Assegurar que os procedimentos de Gerenciamento de Mudança distribui agendamento de Mudança e ISP.  A Central de Serviços tipicamente comunica estas agendas para a comunidade de usuário.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sp>
        <p:nvSpPr>
          <p:cNvPr id="5" name="Retângulo 4"/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3699070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76" y="962293"/>
            <a:ext cx="8628231" cy="3719988"/>
          </a:xfrm>
          <a:prstGeom prst="rect">
            <a:avLst/>
          </a:prstGeom>
        </p:spPr>
      </p:pic>
      <p:sp>
        <p:nvSpPr>
          <p:cNvPr id="6" name="Retângulo 5">
            <a:hlinkClick r:id="rId3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4" action="ppaction://hlinksldjump"/>
              </a:rPr>
              <a:t>Voltar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001025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Planejamento</a:t>
            </a:r>
          </a:p>
        </p:txBody>
      </p:sp>
      <p:sp>
        <p:nvSpPr>
          <p:cNvPr id="6" name="Retângulo 5">
            <a:hlinkClick r:id="rId2" action="ppaction://hlinksldjump"/>
          </p:cNvPr>
          <p:cNvSpPr/>
          <p:nvPr/>
        </p:nvSpPr>
        <p:spPr>
          <a:xfrm>
            <a:off x="8339871" y="4851432"/>
            <a:ext cx="5578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action="ppaction://hlinksldjump"/>
              </a:rPr>
              <a:t>Voltar</a:t>
            </a:r>
            <a:endParaRPr lang="pt-BR" sz="1200" dirty="0"/>
          </a:p>
        </p:txBody>
      </p:sp>
      <p:pic>
        <p:nvPicPr>
          <p:cNvPr id="7" name="Imagem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" y="2240297"/>
            <a:ext cx="603504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456" y="3655092"/>
            <a:ext cx="6050280" cy="1196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m 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886" y="825622"/>
            <a:ext cx="6027420" cy="117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tângulo 9"/>
          <p:cNvSpPr/>
          <p:nvPr/>
        </p:nvSpPr>
        <p:spPr>
          <a:xfrm>
            <a:off x="137075" y="1085291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Atividade do Plano de Ação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6294120" y="2370454"/>
            <a:ext cx="23913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Item de Configuração nos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Compontentes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148505" y="3930096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Registro de Recurso do Plano de Comunicação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8371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2"/>
          <p:cNvSpPr txBox="1">
            <a:spLocks/>
          </p:cNvSpPr>
          <p:nvPr/>
        </p:nvSpPr>
        <p:spPr>
          <a:xfrm>
            <a:off x="1097" y="563879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Um modelo de Teste inclui um plano de testes e script de teste que definem a abordagem de teste para testar cada elemento, condições de teste de liberação, resultados previstos e ciclos de teste.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Integrar teste no Projeto e no ciclo de vida do Serviço.</a:t>
            </a: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Adotar abordagem de teste com base no risco que ajuda a reduzir risco para o serviço e para o negócio do cliente</a:t>
            </a: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Empenhar com os clientes, partes interessadas, usuários e equipes de serviço através do Projeto e ciclo de vida do Serviço.</a:t>
            </a: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Estabelecer medidas de teste e sistemas de monitoração para melhorar a eficiência e eficácia dos processos de Validação e Testes de Serviço e Melhoria contínua do Serviço.</a:t>
            </a:r>
          </a:p>
          <a:p>
            <a:pPr marL="285750" indent="-285750" algn="l">
              <a:lnSpc>
                <a:spcPct val="9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Automatizar utilizando ferramentas e sistemas de teste automatizados.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Teste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228039" y="1332185"/>
            <a:ext cx="1448320" cy="90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68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A fase de Validação tem como principal objetivo verificar que os requisitos do cliente e das partes interessadas para o serviço novo ou alteração são corretamente definidos e corrigir qualquer erro ou variações no ciclo de vida do serviço pois é considerado mais barato do que corrigir os erros em produção. 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Equipe de Gerenciamento de Mudanças validará todas as informações documentadas na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 poderá solicitar correções para a área de planejamento assegurando a entrega de um serviço na qualidade e prazo que atenda todos os requisitos de uma liberação do serviço com sucesso.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Esta é a última fase em que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poderá ser prorrogada,                                                    após ser validada será aprovada ou cancelada.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Pré-requisitos mínimos não concluídos serão notificados ao                                                           grupo responsável com cópia para o Coordenador e Gerente.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532418" y="2652465"/>
            <a:ext cx="2382982" cy="249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6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Aprovação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Níveis diferenciado de aprovação são designados conforme o Tipo de Mudança porém poderão conter particularidades: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Planejada: Gerente do Planejador, Gerente dos Sites Afetados, Gerente de Negócios com Particularidades.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Técnica: Gerenciamento de Mudanças.</a:t>
            </a:r>
          </a:p>
          <a:p>
            <a:pPr indent="-285750"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Emergencial: Gerente do Processo de Gerenciamento de Mudanças, Diretoria Executiva de TI e Diretoria de Negócios.</a:t>
            </a:r>
          </a:p>
          <a:p>
            <a:pPr algn="l">
              <a:lnSpc>
                <a:spcPct val="90000"/>
              </a:lnSpc>
              <a:spcBef>
                <a:spcPts val="682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O risco dos pré-requisitos não concluídos será notificado no e-mail de aprovação.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Em caso de reprovação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 é Cancelada automaticamente.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4" name="Imagem 3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893"/>
          <a:stretch/>
        </p:blipFill>
        <p:spPr bwMode="auto">
          <a:xfrm>
            <a:off x="370609" y="3556421"/>
            <a:ext cx="6019800" cy="949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8980" y="3556421"/>
            <a:ext cx="1349783" cy="123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681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Aprovação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Atenção! 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fase de Aprovação decide se uma liberação ou um pacote de liberação pode ser executado em ambiente produtivo dentro da janela definida para a implantação.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  <a:sym typeface="Helvetica Neue" charset="0"/>
              </a:rPr>
              <a:t>Uma Aprovação registra ciência e concordância do planejamento, comunicação, desenvolvimento, testes, conflitos e riscos provenientes de uma demanda sob responsabilidade de cada aprovador.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33" y="2647945"/>
            <a:ext cx="1568919" cy="246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47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 grupo de pessoas que suportam a avaliação, priorização, autorização e programação de mudanças. Um comitê consultivo de mudança é normalmente composto de representantes de todas as áreas do provedor de serviço de TI, do negócio e de terceiros, tais como fornecedores.</a:t>
            </a: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Membros do CCM receberão previamente a lista das mudanças aprovadas para serem liberadas,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Gmuds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apontadas pelos membros terão sua implantação discutida em comitê, caso não haja objeção por nenhuma área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é aprovada automaticamente.</a:t>
            </a: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5" name="Imagem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701" y="3324181"/>
            <a:ext cx="7566517" cy="11425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198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Comitê Consultivo de Mudanças (CCM)</a:t>
            </a:r>
          </a:p>
        </p:txBody>
      </p:sp>
      <p:sp>
        <p:nvSpPr>
          <p:cNvPr id="3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 principal objetivo do CCM é assegurar: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cumpriu seu objetivo e não afetou ou interrompeu outros serviços.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Recursos utilizados para implementar a Mudança estavam conforme planejado.</a:t>
            </a:r>
          </a:p>
          <a:p>
            <a:pPr marL="742950" lvl="1" indent="-28575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Wingdings" panose="05000000000000000000" pitchFamily="2" charset="2"/>
              <a:buChar char="ü"/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foi implementada no tempo e custo, assim por diante.</a:t>
            </a: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826" y="3013475"/>
            <a:ext cx="3428734" cy="214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78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Mudança Emergencial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emergenciais devem ser implementadas somente desenho e testes da mudança. Isto evita impactos maiores do que o Incidente original.</a:t>
            </a: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Lembre-se, uma Mudança Emergencial não é uma Mudança Urgente.</a:t>
            </a: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Mudança Emergencial é a maior prioridade de uma Mudança na organização.</a:t>
            </a:r>
          </a:p>
          <a:p>
            <a:pPr marL="3603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Organizações devem estimar, avaliar, rejeitar ou aprovar uma Mudança Emergencial em um curto período de tempo.</a:t>
            </a:r>
          </a:p>
          <a:p>
            <a:pPr marL="0" lvl="1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endParaRPr lang="pt-BR" sz="1800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  <a:sym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1125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Revisão Pós Implantação</a:t>
            </a:r>
          </a:p>
        </p:txBody>
      </p:sp>
      <p:sp>
        <p:nvSpPr>
          <p:cNvPr id="4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revisão pós-implementação (RPI) é uma revisão formal de um programa ou projeto.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É utilizada para responder a questão: 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Nós atingimos o que definimos para fazer em termos de negócio e caso negativo, o que deve ser feito?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Para um grande programa de Mudança, deve haver várias revisões pós-implementação (RPI) ao longo do tempo</a:t>
            </a:r>
          </a:p>
        </p:txBody>
      </p:sp>
      <p:pic>
        <p:nvPicPr>
          <p:cNvPr id="5" name="Imagem 4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0"/>
          <a:stretch/>
        </p:blipFill>
        <p:spPr bwMode="auto">
          <a:xfrm>
            <a:off x="1068870" y="3021160"/>
            <a:ext cx="7020646" cy="19089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24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ítulo 2"/>
          <p:cNvSpPr txBox="1">
            <a:spLocks/>
          </p:cNvSpPr>
          <p:nvPr/>
        </p:nvSpPr>
        <p:spPr>
          <a:xfrm>
            <a:off x="7193" y="524043"/>
            <a:ext cx="9144000" cy="4584383"/>
          </a:xfrm>
          <a:prstGeom prst="rect">
            <a:avLst/>
          </a:prstGeom>
          <a:noFill/>
        </p:spPr>
        <p:txBody>
          <a:bodyPr vert="horz" lIns="360000" tIns="72000" rIns="360000" bIns="7200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7463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Uma revisão de Mudança é realizada para confirmar que a mudança atendeu seus objetivos e que o solicitante e partes interessadas estão satisfeitos com seu resultado.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Conferir a documentação da Mudança, por exemplo, linha de base e relatórios de avaliação.</a:t>
            </a:r>
          </a:p>
          <a:p>
            <a:pPr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defRPr/>
            </a:pP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Caso haja pendência de requisitos a </a:t>
            </a:r>
            <a:r>
              <a:rPr lang="pt-BR" sz="1800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sz="18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permanecerá em aberto por até 10 dias após sua implantação para acompanhamento das pendências e garantia de sua conclusão. Após este período, o Gerente da equipe responsável pela pendência será notificado do encerramento com as pendências não concluídas.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Validação de Pendências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473756"/>
            <a:ext cx="8016240" cy="112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37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099" y="2045"/>
            <a:ext cx="4735609" cy="516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6933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</a:t>
            </a:r>
          </a:p>
        </p:txBody>
      </p:sp>
      <p:sp>
        <p:nvSpPr>
          <p:cNvPr id="3" name="Retângulo 2"/>
          <p:cNvSpPr/>
          <p:nvPr/>
        </p:nvSpPr>
        <p:spPr>
          <a:xfrm>
            <a:off x="0" y="566872"/>
            <a:ext cx="9192225" cy="4419397"/>
          </a:xfrm>
          <a:prstGeom prst="rect">
            <a:avLst/>
          </a:prstGeom>
        </p:spPr>
        <p:txBody>
          <a:bodyPr wrap="square" lIns="360000" tIns="72000" rIns="360000" bIns="72000">
            <a:spAutoFit/>
          </a:bodyPr>
          <a:lstStyle/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executadas por mês (mudanças encerradas X mês)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tipo (histórico de mudanças anual X tipo)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Natureza (histórico de mudanças anual X natureza)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Etapa (histórico de mudanças anual X Etapa)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encerradas com sucesso (histórico de mudanças anual X sucesso ou não sucesso)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status (histórico de mudanças anual X Status)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clientes (histórico de mudanças anual X top 10 clientes)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Site (histórico de mudanças anual X Site Contax)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Consolidado por Cliente x Sucesso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Total de Mudanças x Projeto</a:t>
            </a:r>
          </a:p>
          <a:p>
            <a:pPr marL="252000" lvl="1" indent="-2857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ü"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Mudanças por Diretoria X total mês</a:t>
            </a:r>
          </a:p>
        </p:txBody>
      </p:sp>
    </p:spTree>
    <p:extLst>
      <p:ext uri="{BB962C8B-B14F-4D97-AF65-F5344CB8AC3E}">
        <p14:creationId xmlns:p14="http://schemas.microsoft.com/office/powerpoint/2010/main" val="39736970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2" y="810492"/>
            <a:ext cx="1939774" cy="1962867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245" y="957462"/>
            <a:ext cx="3688400" cy="1668925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2272145" y="1468758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Abertura de nova Mudança / Projeto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5482754" y="2642690"/>
            <a:ext cx="23913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Seleção de Mudança ou Projeto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470912" y="3331399"/>
            <a:ext cx="353997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Formulários de Mudança: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de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Mudança Emergencial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4834245" y="3331399"/>
            <a:ext cx="35399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Formulários de Projetos: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 de TI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 Corporativos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Projetos de Negócio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63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Dados do Solicitante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934" y="780923"/>
            <a:ext cx="6456018" cy="3130292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1339934" y="3971801"/>
            <a:ext cx="6456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Dados do Solicitante será padrão do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tProcess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! sem alterações.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68396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Dados da Demanda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04" y="944880"/>
            <a:ext cx="4342342" cy="332541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602146" y="966159"/>
            <a:ext cx="436659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Cliente / Operação Afetada: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permitira seleção múltipla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Previsão de Interrupção: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Sim ou Não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Complexidade: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Alta, Média e Baixa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Risco: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Alto, Médio e Baixo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Data / Hora de execução: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Estimativa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Quantidade de usuários afetados: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0-&gt;10, 10-&gt;100, 100-&gt;1000, Acima de 1000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Classificação: 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Novo Serviço, Remoção de Serviço,  Corretiva de Problema, Corretiva de Incidente, Alteração de Serviço, Conformidade Legal, Ocupação Predial.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Benefício da Demanda: </a:t>
            </a:r>
            <a:r>
              <a:rPr lang="pt-BR" sz="1400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Expansão de Faturamento, Novos Negócios, Eficiência Operacional, Redução de Multas, Adequação Operacional, Mitigação de Riscos.</a:t>
            </a:r>
          </a:p>
        </p:txBody>
      </p:sp>
    </p:spTree>
    <p:extLst>
      <p:ext uri="{BB962C8B-B14F-4D97-AF65-F5344CB8AC3E}">
        <p14:creationId xmlns:p14="http://schemas.microsoft.com/office/powerpoint/2010/main" val="8565920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Registro</a:t>
            </a:r>
          </a:p>
        </p:txBody>
      </p:sp>
      <p:sp>
        <p:nvSpPr>
          <p:cNvPr id="4" name="Retângulo 3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949" y="695727"/>
            <a:ext cx="6441033" cy="428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96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– Todas as visões 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t="55727"/>
          <a:stretch/>
        </p:blipFill>
        <p:spPr>
          <a:xfrm>
            <a:off x="2280806" y="990601"/>
            <a:ext cx="6613814" cy="3595434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41591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Demandas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90" y="692889"/>
            <a:ext cx="6492961" cy="375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757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 - Projeto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58" y="706582"/>
            <a:ext cx="6505061" cy="4099559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8570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bg1">
                  <a:lumMod val="6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 Emergencial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624" y="1051735"/>
            <a:ext cx="6522535" cy="368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187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>
                <a:solidFill>
                  <a:schemeClr val="bg1">
                    <a:lumMod val="6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6334" y="524043"/>
            <a:ext cx="6245226" cy="451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77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7193" y="101638"/>
            <a:ext cx="7453479" cy="422405"/>
          </a:xfrm>
          <a:prstGeom prst="rect">
            <a:avLst/>
          </a:prstGeom>
        </p:spPr>
        <p:txBody>
          <a:bodyPr wrap="square" lIns="270000" tIns="72000" rIns="270000" bIns="72000">
            <a:spAutoFit/>
          </a:bodyPr>
          <a:lstStyle/>
          <a:p>
            <a:r>
              <a:rPr lang="pt-BR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Automação - Resolução</a:t>
            </a:r>
          </a:p>
        </p:txBody>
      </p:sp>
      <p:sp>
        <p:nvSpPr>
          <p:cNvPr id="3" name="Retângulo 2"/>
          <p:cNvSpPr/>
          <p:nvPr/>
        </p:nvSpPr>
        <p:spPr>
          <a:xfrm>
            <a:off x="7193" y="1143175"/>
            <a:ext cx="225242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Projeto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 Planejada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Técnica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Infra/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Facilities</a:t>
            </a:r>
            <a:endParaRPr lang="pt-BR" dirty="0">
              <a:solidFill>
                <a:schemeClr val="accent5">
                  <a:lumMod val="75000"/>
                </a:schemeClr>
              </a:solidFill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 err="1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Gmud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  <a:cs typeface="Aharoni" panose="02010803020104030203" pitchFamily="2" charset="-79"/>
              </a:rPr>
              <a:t> Emergencial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664" y="995423"/>
            <a:ext cx="6486268" cy="345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495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2194756"/>
            <a:ext cx="9144000" cy="76944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ctr"/>
            <a:r>
              <a:rPr lang="pt-BR" sz="440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Obrigado! </a:t>
            </a:r>
          </a:p>
        </p:txBody>
      </p:sp>
    </p:spTree>
    <p:extLst>
      <p:ext uri="{BB962C8B-B14F-4D97-AF65-F5344CB8AC3E}">
        <p14:creationId xmlns:p14="http://schemas.microsoft.com/office/powerpoint/2010/main" val="576794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21538</TotalTime>
  <Words>2856</Words>
  <Application>Microsoft Office PowerPoint</Application>
  <PresentationFormat>Personalizar</PresentationFormat>
  <Paragraphs>357</Paragraphs>
  <Slides>49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60" baseType="lpstr">
      <vt:lpstr>Aharoni</vt:lpstr>
      <vt:lpstr>Arial</vt:lpstr>
      <vt:lpstr>Calibri</vt:lpstr>
      <vt:lpstr>Helvetica Neue</vt:lpstr>
      <vt:lpstr>Wingdings</vt:lpstr>
      <vt:lpstr>Tema do Office</vt:lpstr>
      <vt:lpstr>10_Tema do Office</vt:lpstr>
      <vt:lpstr>Personalizar design</vt:lpstr>
      <vt:lpstr>5_Tema do Office</vt:lpstr>
      <vt:lpstr>7_Tema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Adolpho Chacon;Daniel Donaire - Revisor</dc:creator>
  <cp:lastModifiedBy>Kiss</cp:lastModifiedBy>
  <cp:revision>877</cp:revision>
  <dcterms:created xsi:type="dcterms:W3CDTF">2015-08-20T14:57:26Z</dcterms:created>
  <dcterms:modified xsi:type="dcterms:W3CDTF">2016-07-12T17:04:13Z</dcterms:modified>
</cp:coreProperties>
</file>