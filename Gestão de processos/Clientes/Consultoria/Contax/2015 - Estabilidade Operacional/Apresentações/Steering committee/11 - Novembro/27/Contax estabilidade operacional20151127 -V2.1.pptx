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14"/>
  </p:notesMasterIdLst>
  <p:sldIdLst>
    <p:sldId id="262" r:id="rId5"/>
    <p:sldId id="265" r:id="rId6"/>
    <p:sldId id="392" r:id="rId7"/>
    <p:sldId id="383" r:id="rId8"/>
    <p:sldId id="387" r:id="rId9"/>
    <p:sldId id="393" r:id="rId10"/>
    <p:sldId id="394" r:id="rId11"/>
    <p:sldId id="279" r:id="rId12"/>
    <p:sldId id="395" r:id="rId13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1785" autoAdjust="0"/>
  </p:normalViewPr>
  <p:slideViewPr>
    <p:cSldViewPr snapToGrid="0" snapToObjects="1">
      <p:cViewPr varScale="1">
        <p:scale>
          <a:sx n="83" d="100"/>
          <a:sy n="83" d="100"/>
        </p:scale>
        <p:origin x="180" y="6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Volume</a:t>
            </a:r>
            <a:r>
              <a:rPr lang="pt-BR" sz="1500" b="1" baseline="0" dirty="0" smtClean="0"/>
              <a:t> de </a:t>
            </a:r>
            <a:r>
              <a:rPr lang="pt-BR" sz="1500" b="1" dirty="0" smtClean="0"/>
              <a:t>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1.3402516623432005E-2"/>
                  <c:y val="-0.348592423335921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9463542989298472E-3"/>
                  <c:y val="-0.31828003869801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3506291558579103E-3"/>
                  <c:y val="-0.298071782272744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0715044976905075E-4"/>
                  <c:y val="-9.59892180200365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4.7681804378314676E-3"/>
                  <c:y val="-6.56768333821302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Plan1!$A$2:$A$5</c:f>
              <c:strCache>
                <c:ptCount val="4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        (De 01 a 25)      </c:v>
                </c:pt>
              </c:strCache>
            </c:strRef>
          </c:cat>
          <c:val>
            <c:numRef>
              <c:f>Plan1!$B$2:$B$5</c:f>
              <c:numCache>
                <c:formatCode>#,##0</c:formatCode>
                <c:ptCount val="4"/>
                <c:pt idx="0">
                  <c:v>1494</c:v>
                </c:pt>
                <c:pt idx="1">
                  <c:v>1402</c:v>
                </c:pt>
                <c:pt idx="2">
                  <c:v>1234</c:v>
                </c:pt>
                <c:pt idx="3" formatCode="General">
                  <c:v>348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Dias 01 a 22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Plan1!$A$2:$A$5</c:f>
              <c:strCache>
                <c:ptCount val="4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        (De 01 a 25)      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86146088"/>
        <c:axId val="386149224"/>
      </c:barChart>
      <c:catAx>
        <c:axId val="386146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149224"/>
        <c:crosses val="autoZero"/>
        <c:auto val="1"/>
        <c:lblAlgn val="ctr"/>
        <c:lblOffset val="100"/>
        <c:noMultiLvlLbl val="0"/>
      </c:catAx>
      <c:valAx>
        <c:axId val="38614922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614608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 smtClean="0"/>
              <a:t>Média diária de Incidentes Alto Impacto</a:t>
            </a:r>
            <a:endParaRPr lang="pt-BR" sz="1500" b="1" dirty="0"/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dLbl>
              <c:idx val="0"/>
              <c:layout>
                <c:manualLayout>
                  <c:x val="1.3402516623432005E-2"/>
                  <c:y val="-0.3485924233359216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9.9463542989298472E-3"/>
                  <c:y val="-0.3182800386980154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3506291558579103E-3"/>
                  <c:y val="-0.2980717822727446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5.3528716578207331E-3"/>
                  <c:y val="-0.1515619231895312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4.7681804378314676E-3"/>
                  <c:y val="-6.56768333821302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Plan1!$A$2:$A$5</c:f>
              <c:strCache>
                <c:ptCount val="4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        (De 01 a 25)      </c:v>
                </c:pt>
              </c:strCache>
            </c:strRef>
          </c:cat>
          <c:val>
            <c:numRef>
              <c:f>Plan1!$B$2:$B$5</c:f>
              <c:numCache>
                <c:formatCode>#,##0.00</c:formatCode>
                <c:ptCount val="4"/>
                <c:pt idx="0">
                  <c:v>48.19</c:v>
                </c:pt>
                <c:pt idx="1">
                  <c:v>46.73</c:v>
                </c:pt>
                <c:pt idx="2">
                  <c:v>39.799999999999997</c:v>
                </c:pt>
                <c:pt idx="3">
                  <c:v>13.92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Dias 01 a 04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Plan1!$A$2:$A$5</c:f>
              <c:strCache>
                <c:ptCount val="4"/>
                <c:pt idx="0">
                  <c:v>Agosto</c:v>
                </c:pt>
                <c:pt idx="1">
                  <c:v>Setembro</c:v>
                </c:pt>
                <c:pt idx="2">
                  <c:v>Outubro</c:v>
                </c:pt>
                <c:pt idx="3">
                  <c:v>Novembro        (De 01 a 25)      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386147656"/>
        <c:axId val="386148048"/>
      </c:barChart>
      <c:catAx>
        <c:axId val="386147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148048"/>
        <c:crosses val="autoZero"/>
        <c:auto val="1"/>
        <c:lblAlgn val="ctr"/>
        <c:lblOffset val="100"/>
        <c:noMultiLvlLbl val="0"/>
      </c:catAx>
      <c:valAx>
        <c:axId val="386148048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3861476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 dirty="0"/>
              <a:t>Gestão de </a:t>
            </a:r>
            <a:r>
              <a:rPr lang="en-US" sz="1500" b="1" dirty="0" err="1"/>
              <a:t>Problemas</a:t>
            </a:r>
            <a:endParaRPr lang="en-US" sz="1500" b="1" dirty="0"/>
          </a:p>
        </c:rich>
      </c:tx>
      <c:layout>
        <c:manualLayout>
          <c:xMode val="edge"/>
          <c:yMode val="edge"/>
          <c:x val="0.2135858779210657"/>
          <c:y val="1.78248104626082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Solução de Contorno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1.1870240843764953E-2"/>
                  <c:y val="2.529088849935438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Registrado</c:v>
                </c:pt>
                <c:pt idx="1">
                  <c:v>Aberto</c:v>
                </c:pt>
                <c:pt idx="2">
                  <c:v>Andamento</c:v>
                </c:pt>
                <c:pt idx="3">
                  <c:v>Resolvido</c:v>
                </c:pt>
                <c:pt idx="4">
                  <c:v>Fechado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>
                  <c:v>6</c:v>
                </c:pt>
                <c:pt idx="1">
                  <c:v>1</c:v>
                </c:pt>
                <c:pt idx="2">
                  <c:v>14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86143736"/>
        <c:axId val="386150008"/>
      </c:barChart>
      <c:catAx>
        <c:axId val="386143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150008"/>
        <c:crosses val="autoZero"/>
        <c:auto val="1"/>
        <c:lblAlgn val="ctr"/>
        <c:lblOffset val="100"/>
        <c:noMultiLvlLbl val="0"/>
      </c:catAx>
      <c:valAx>
        <c:axId val="3861500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143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30/11/2015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299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57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958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Boarin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9179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11/30/2015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0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4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emf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3.emf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5.jp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hyperlink" Target="Catalogo_Santander_Cielo.xlsm" TargetMode="Externa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g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 smtClean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Estabilidade</a:t>
            </a: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  <a:latin typeface="Arial"/>
                <a:cs typeface="Arial"/>
              </a:rPr>
              <a:t>Operacional</a:t>
            </a:r>
            <a:endParaRPr lang="en-US" sz="2200" b="1" dirty="0" smtClean="0">
              <a:solidFill>
                <a:srgbClr val="FF0000"/>
              </a:solidFill>
              <a:latin typeface="Arial"/>
              <a:cs typeface="Arial"/>
            </a:endParaRPr>
          </a:p>
          <a:p>
            <a:pPr algn="l">
              <a:lnSpc>
                <a:spcPct val="110000"/>
              </a:lnSpc>
            </a:pPr>
            <a:r>
              <a:rPr lang="en-US" sz="2200" b="1" dirty="0" smtClean="0">
                <a:solidFill>
                  <a:srgbClr val="FF0000"/>
                </a:solidFill>
                <a:latin typeface="Arial"/>
                <a:cs typeface="Arial"/>
              </a:rPr>
              <a:t>27.Novembro.2015</a:t>
            </a:r>
            <a:endParaRPr lang="en-US" sz="22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Tm="8331">
        <p14:reveal/>
      </p:transition>
    </mc:Choice>
    <mc:Fallback xmlns="">
      <p:transition spd="slow" advTm="8331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69" y="1276051"/>
            <a:ext cx="6413859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Decisão - Business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Case - projeto Monitoramento </a:t>
            </a:r>
            <a:r>
              <a:rPr lang="pt-BR" sz="16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PAs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pt-BR" sz="16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Evalyse</a:t>
            </a:r>
            <a:endParaRPr lang="pt-BR" sz="11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lnSpc>
                <a:spcPts val="2400"/>
              </a:lnSpc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Status das Solicitações de Compra</a:t>
            </a:r>
          </a:p>
          <a:p>
            <a:pPr algn="l">
              <a:lnSpc>
                <a:spcPts val="2400"/>
              </a:lnSpc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Projeto Redundância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Link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MPLS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lnSpc>
                <a:spcPts val="2400"/>
              </a:lnSpc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</a:t>
            </a:r>
          </a:p>
          <a:p>
            <a:pPr algn="l">
              <a:lnSpc>
                <a:spcPts val="2400"/>
              </a:lnSpc>
            </a:pP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Catalogo </a:t>
            </a: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Serviços</a:t>
            </a:r>
          </a:p>
          <a:p>
            <a:pPr algn="l">
              <a:lnSpc>
                <a:spcPts val="2400"/>
              </a:lnSpc>
            </a:pPr>
            <a:r>
              <a:rPr lang="pt-BR" sz="1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16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629" y="72274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244413" y="4384318"/>
            <a:ext cx="899587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13849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217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-14516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Business Case - Projeto Monitoramento </a:t>
            </a:r>
            <a:r>
              <a:rPr lang="pt-BR" sz="2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PAs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- </a:t>
            </a:r>
            <a:r>
              <a:rPr lang="pt-BR" sz="2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Evalyse</a:t>
            </a:r>
            <a:endParaRPr lang="pt-BR" sz="16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44604" y="530986"/>
            <a:ext cx="2899317" cy="4527660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 Business da Contax </a:t>
            </a:r>
            <a:r>
              <a:rPr lang="pt-BR" sz="16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 baseado em </a:t>
            </a:r>
            <a:r>
              <a:rPr lang="pt-BR" sz="1600" b="1" u="sn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Contax deverá 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ambicionar</a:t>
            </a: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implementação imediata de uma 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ferramenta tecnologicamente robusta, </a:t>
            </a:r>
            <a:r>
              <a:rPr lang="pt-BR" sz="1600" dirty="0" smtClean="0"/>
              <a:t>com “</a:t>
            </a:r>
            <a:r>
              <a:rPr lang="pt-BR" sz="1600" u="sng" dirty="0" err="1" smtClean="0"/>
              <a:t>report</a:t>
            </a:r>
            <a:r>
              <a:rPr lang="pt-BR" sz="1600" u="sng" dirty="0" smtClean="0"/>
              <a:t> </a:t>
            </a:r>
            <a:r>
              <a:rPr lang="pt-BR" sz="1600" u="sng" dirty="0" err="1" smtClean="0"/>
              <a:t>on</a:t>
            </a:r>
            <a:r>
              <a:rPr lang="pt-BR" sz="1600" u="sng" dirty="0" smtClean="0"/>
              <a:t> time</a:t>
            </a:r>
            <a:r>
              <a:rPr lang="pt-BR" sz="1600" dirty="0" smtClean="0"/>
              <a:t>”</a:t>
            </a: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que permita dar 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vantagem competitiva </a:t>
            </a: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gerenciamento das </a:t>
            </a:r>
            <a:r>
              <a:rPr lang="pt-BR" sz="1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no seu detalhe.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Permitir 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deliberar </a:t>
            </a:r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stratégias eficazes </a:t>
            </a:r>
            <a:r>
              <a:rPr lang="pt-BR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face aos seus concorrentes. </a:t>
            </a:r>
            <a:endParaRPr lang="pt-BR" sz="1600" dirty="0"/>
          </a:p>
        </p:txBody>
      </p:sp>
      <p:sp>
        <p:nvSpPr>
          <p:cNvPr id="13" name="Retângulo 12"/>
          <p:cNvSpPr/>
          <p:nvPr/>
        </p:nvSpPr>
        <p:spPr>
          <a:xfrm>
            <a:off x="3927081" y="880282"/>
            <a:ext cx="5172314" cy="196838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A</a:t>
            </a:r>
            <a:r>
              <a:rPr lang="pt-BR" sz="1200" b="1" dirty="0" smtClean="0">
                <a:solidFill>
                  <a:schemeClr val="tx1"/>
                </a:solidFill>
              </a:rPr>
              <a:t>locações </a:t>
            </a:r>
            <a:r>
              <a:rPr lang="pt-BR" sz="1200" b="1" dirty="0">
                <a:solidFill>
                  <a:schemeClr val="tx1"/>
                </a:solidFill>
              </a:rPr>
              <a:t>indevidas de </a:t>
            </a:r>
            <a:r>
              <a:rPr lang="pt-BR" sz="1200" b="1" dirty="0" err="1">
                <a:solidFill>
                  <a:schemeClr val="tx1"/>
                </a:solidFill>
              </a:rPr>
              <a:t>PA’s</a:t>
            </a:r>
            <a:r>
              <a:rPr lang="pt-BR" sz="1200" b="1" dirty="0">
                <a:solidFill>
                  <a:schemeClr val="tx1"/>
                </a:solidFill>
              </a:rPr>
              <a:t> </a:t>
            </a:r>
            <a:r>
              <a:rPr lang="pt-BR" sz="1200" dirty="0">
                <a:solidFill>
                  <a:schemeClr val="tx1"/>
                </a:solidFill>
              </a:rPr>
              <a:t>a título de contingências operacionais. </a:t>
            </a:r>
            <a:endParaRPr lang="pt-BR" sz="1200" dirty="0" smtClean="0">
              <a:solidFill>
                <a:schemeClr val="tx1"/>
              </a:solidFill>
            </a:endParaRP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/>
                </a:solidFill>
              </a:rPr>
              <a:t>Dificuldade </a:t>
            </a:r>
            <a:r>
              <a:rPr lang="pt-BR" sz="1200" b="1" dirty="0">
                <a:solidFill>
                  <a:schemeClr val="tx1"/>
                </a:solidFill>
              </a:rPr>
              <a:t>para gerenciamento das imagens de workstations </a:t>
            </a:r>
            <a:r>
              <a:rPr lang="pt-BR" sz="1200" dirty="0">
                <a:solidFill>
                  <a:schemeClr val="tx1"/>
                </a:solidFill>
              </a:rPr>
              <a:t>no layout estipulado.</a:t>
            </a:r>
          </a:p>
          <a:p>
            <a:pPr marL="6286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 smtClean="0">
                <a:solidFill>
                  <a:schemeClr val="tx1"/>
                </a:solidFill>
              </a:rPr>
              <a:t>Reserva indevida para crescimento </a:t>
            </a:r>
            <a:r>
              <a:rPr lang="pt-BR" sz="1200" dirty="0" smtClean="0">
                <a:solidFill>
                  <a:schemeClr val="tx1"/>
                </a:solidFill>
              </a:rPr>
              <a:t>– Impacto em projetos de TI.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O rateio de custos </a:t>
            </a:r>
            <a:r>
              <a:rPr lang="pt-BR" sz="1200" b="1" dirty="0">
                <a:solidFill>
                  <a:schemeClr val="tx1"/>
                </a:solidFill>
              </a:rPr>
              <a:t>por alocação onera o </a:t>
            </a:r>
            <a:r>
              <a:rPr lang="pt-BR" sz="1200" b="1" dirty="0" smtClean="0">
                <a:solidFill>
                  <a:schemeClr val="tx1"/>
                </a:solidFill>
              </a:rPr>
              <a:t>resultado </a:t>
            </a:r>
            <a:r>
              <a:rPr lang="pt-BR" sz="1200" b="1" dirty="0">
                <a:solidFill>
                  <a:schemeClr val="tx1"/>
                </a:solidFill>
              </a:rPr>
              <a:t>da operação</a:t>
            </a:r>
            <a:r>
              <a:rPr lang="pt-BR" sz="1200" dirty="0">
                <a:solidFill>
                  <a:schemeClr val="tx1"/>
                </a:solidFill>
              </a:rPr>
              <a:t> com </a:t>
            </a:r>
            <a:r>
              <a:rPr lang="pt-BR" sz="1200" u="sng" dirty="0">
                <a:solidFill>
                  <a:schemeClr val="tx1"/>
                </a:solidFill>
              </a:rPr>
              <a:t>alocações </a:t>
            </a:r>
            <a:r>
              <a:rPr lang="pt-BR" sz="1200" u="sng" dirty="0" smtClean="0">
                <a:solidFill>
                  <a:schemeClr val="tx1"/>
                </a:solidFill>
              </a:rPr>
              <a:t>indevidas</a:t>
            </a:r>
            <a:r>
              <a:rPr lang="pt-BR" sz="1200" dirty="0" smtClean="0">
                <a:solidFill>
                  <a:schemeClr val="tx1"/>
                </a:solidFill>
              </a:rPr>
              <a:t>, inclusive na composição dos custos de TI.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pt-BR" sz="1200" b="1" dirty="0" smtClean="0">
                <a:solidFill>
                  <a:schemeClr val="tx1"/>
                </a:solidFill>
              </a:rPr>
              <a:t>Esforço desnecessário de TI e Operação em </a:t>
            </a:r>
            <a:r>
              <a:rPr lang="pt-BR" sz="1200" b="1" dirty="0" err="1" smtClean="0">
                <a:solidFill>
                  <a:schemeClr val="tx1"/>
                </a:solidFill>
              </a:rPr>
              <a:t>PA´s</a:t>
            </a:r>
            <a:r>
              <a:rPr lang="pt-BR" sz="1200" b="1" dirty="0" smtClean="0">
                <a:solidFill>
                  <a:schemeClr val="tx1"/>
                </a:solidFill>
              </a:rPr>
              <a:t> </a:t>
            </a:r>
            <a:r>
              <a:rPr lang="pt-BR" sz="1200" b="1" dirty="0" err="1" smtClean="0">
                <a:solidFill>
                  <a:schemeClr val="tx1"/>
                </a:solidFill>
              </a:rPr>
              <a:t>desalocadas</a:t>
            </a:r>
            <a:r>
              <a:rPr lang="pt-BR" sz="1200" b="1" dirty="0" smtClean="0">
                <a:solidFill>
                  <a:schemeClr val="tx1"/>
                </a:solidFill>
              </a:rPr>
              <a:t> (sem receita), na ocupação de espaço, consumo de energia elétrica, licenças, contratos de manutenção de HW e SW.</a:t>
            </a:r>
            <a:endParaRPr lang="pt-BR" sz="1200" dirty="0" smtClean="0">
              <a:solidFill>
                <a:schemeClr val="tx1"/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3927080" y="484797"/>
            <a:ext cx="5161165" cy="407302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Cenário Atual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927081" y="3289795"/>
            <a:ext cx="5174164" cy="181746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Alocar esforço de suporte inteligente nas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que geram receita.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Valor de setup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pt-BR" sz="1200" dirty="0">
                <a:solidFill>
                  <a:schemeClr val="tx1"/>
                </a:solidFill>
              </a:rPr>
              <a:t>parametrização e customização da solução, testes, formação e apoio à entrada em produção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): $R57.000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 do </a:t>
            </a:r>
            <a:r>
              <a:rPr lang="pt-BR" sz="12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licenciamento baseado em utilizadores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40.000 ($R5,16 mensal cada)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b="1" dirty="0" smtClean="0">
                <a:solidFill>
                  <a:schemeClr val="tx1"/>
                </a:solidFill>
              </a:rPr>
              <a:t>Preço da licença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$R5,16 – Estimativa anual/mensal: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$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R2.476.800/$R206.400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Estimativa de custo por PA ociosa ($R600) anual/mensal: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ROI 4.128/344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Aumentando a efetividade de utilização das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 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desativação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4.128 num ano ou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344 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PAs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por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mês</a:t>
            </a:r>
            <a:r>
              <a:rPr lang="pt-BR" sz="1200" b="1" u="sng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,  garantimos o financiamento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Evalyse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22"/>
          <p:cNvSpPr/>
          <p:nvPr/>
        </p:nvSpPr>
        <p:spPr>
          <a:xfrm>
            <a:off x="3927080" y="2910934"/>
            <a:ext cx="5161165" cy="378861"/>
          </a:xfrm>
          <a:prstGeom prst="roundRect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“ROI”</a:t>
            </a:r>
          </a:p>
        </p:txBody>
      </p:sp>
      <p:sp>
        <p:nvSpPr>
          <p:cNvPr id="3" name="Chave esquerda 2"/>
          <p:cNvSpPr/>
          <p:nvPr/>
        </p:nvSpPr>
        <p:spPr>
          <a:xfrm>
            <a:off x="3044287" y="587268"/>
            <a:ext cx="215301" cy="449786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2682" y="1309695"/>
            <a:ext cx="734398" cy="2244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2683" y="4297475"/>
            <a:ext cx="734398" cy="246642"/>
          </a:xfrm>
          <a:prstGeom prst="rect">
            <a:avLst/>
          </a:prstGeom>
        </p:spPr>
      </p:pic>
      <p:sp>
        <p:nvSpPr>
          <p:cNvPr id="4" name="Ondulado 3"/>
          <p:cNvSpPr/>
          <p:nvPr/>
        </p:nvSpPr>
        <p:spPr>
          <a:xfrm rot="20357858">
            <a:off x="942538" y="2096656"/>
            <a:ext cx="4769708" cy="1738169"/>
          </a:xfrm>
          <a:prstGeom prst="wav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Decisão: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Ver outras opções mais baratas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45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2400"/>
              </a:lnSpc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Status das Solicitações de Compra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44" y="1687664"/>
            <a:ext cx="8760711" cy="2152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1638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06813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8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2179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07625" y="109394"/>
            <a:ext cx="5098402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2400"/>
              </a:lnSpc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Projeto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Redundância Link MPLS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152400" y="1478312"/>
            <a:ext cx="3667659" cy="334845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/>
                </a:solidFill>
              </a:rPr>
              <a:t>Para dar </a:t>
            </a:r>
            <a:r>
              <a:rPr lang="pt-BR" sz="1600" b="1" dirty="0">
                <a:solidFill>
                  <a:schemeClr val="tx1"/>
                </a:solidFill>
              </a:rPr>
              <a:t>resposta imediata</a:t>
            </a:r>
            <a:r>
              <a:rPr lang="pt-BR" sz="1600" dirty="0">
                <a:solidFill>
                  <a:schemeClr val="tx1"/>
                </a:solidFill>
              </a:rPr>
              <a:t> a situações recorrentes de incidentes, relacionados com a </a:t>
            </a:r>
            <a:r>
              <a:rPr lang="pt-BR" sz="1600" dirty="0" smtClean="0">
                <a:solidFill>
                  <a:schemeClr val="tx1"/>
                </a:solidFill>
              </a:rPr>
              <a:t>perda de </a:t>
            </a:r>
            <a:r>
              <a:rPr lang="pt-BR" sz="1600" b="1" dirty="0" smtClean="0">
                <a:solidFill>
                  <a:schemeClr val="tx1"/>
                </a:solidFill>
              </a:rPr>
              <a:t>Links </a:t>
            </a:r>
            <a:r>
              <a:rPr lang="pt-BR" sz="1600" dirty="0" smtClean="0">
                <a:solidFill>
                  <a:schemeClr val="tx1"/>
                </a:solidFill>
              </a:rPr>
              <a:t>que </a:t>
            </a:r>
            <a:r>
              <a:rPr lang="pt-BR" sz="1600" dirty="0">
                <a:solidFill>
                  <a:schemeClr val="tx1"/>
                </a:solidFill>
              </a:rPr>
              <a:t>interligam </a:t>
            </a:r>
            <a:r>
              <a:rPr lang="pt-BR" sz="1600" dirty="0" smtClean="0">
                <a:solidFill>
                  <a:schemeClr val="tx1"/>
                </a:solidFill>
              </a:rPr>
              <a:t>os </a:t>
            </a:r>
            <a:r>
              <a:rPr lang="pt-BR" sz="1600" dirty="0">
                <a:solidFill>
                  <a:schemeClr val="tx1"/>
                </a:solidFill>
              </a:rPr>
              <a:t>sites da Contax</a:t>
            </a:r>
            <a:r>
              <a:rPr lang="pt-BR" sz="1600" dirty="0" smtClean="0">
                <a:solidFill>
                  <a:schemeClr val="tx1"/>
                </a:solidFill>
              </a:rPr>
              <a:t>, vamos</a:t>
            </a:r>
            <a:r>
              <a:rPr lang="pt-BR" sz="1600" b="1" dirty="0" smtClean="0">
                <a:solidFill>
                  <a:schemeClr val="tx1"/>
                </a:solidFill>
              </a:rPr>
              <a:t> iniciar um </a:t>
            </a:r>
            <a:r>
              <a:rPr lang="pt-BR" sz="1600" b="1" dirty="0">
                <a:solidFill>
                  <a:schemeClr val="tx1"/>
                </a:solidFill>
              </a:rPr>
              <a:t>projeto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smtClean="0">
                <a:solidFill>
                  <a:schemeClr val="tx1"/>
                </a:solidFill>
              </a:rPr>
              <a:t> para: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600" dirty="0" smtClean="0">
                <a:solidFill>
                  <a:schemeClr val="tx1"/>
                </a:solidFill>
              </a:rPr>
              <a:t> </a:t>
            </a:r>
            <a:r>
              <a:rPr lang="pt-BR" sz="1600" b="1" dirty="0" smtClean="0">
                <a:solidFill>
                  <a:schemeClr val="tx1"/>
                </a:solidFill>
              </a:rPr>
              <a:t>Garantir </a:t>
            </a:r>
            <a:r>
              <a:rPr lang="pt-BR" sz="1600" b="1" dirty="0">
                <a:solidFill>
                  <a:schemeClr val="tx1"/>
                </a:solidFill>
              </a:rPr>
              <a:t>e documentar a funcionalidade da </a:t>
            </a:r>
            <a:r>
              <a:rPr lang="pt-BR" sz="1600" b="1" dirty="0" smtClean="0">
                <a:solidFill>
                  <a:schemeClr val="tx1"/>
                </a:solidFill>
              </a:rPr>
              <a:t>contingência </a:t>
            </a:r>
            <a:r>
              <a:rPr lang="pt-BR" sz="1600" dirty="0">
                <a:solidFill>
                  <a:schemeClr val="tx1"/>
                </a:solidFill>
              </a:rPr>
              <a:t>V</a:t>
            </a:r>
            <a:r>
              <a:rPr lang="pt-BR" sz="1600" dirty="0" smtClean="0">
                <a:solidFill>
                  <a:schemeClr val="tx1"/>
                </a:solidFill>
              </a:rPr>
              <a:t>alidar caminhos </a:t>
            </a:r>
            <a:r>
              <a:rPr lang="pt-BR" sz="1600" dirty="0">
                <a:solidFill>
                  <a:schemeClr val="tx1"/>
                </a:solidFill>
              </a:rPr>
              <a:t>possíveis e documentar </a:t>
            </a:r>
            <a:r>
              <a:rPr lang="pt-BR" sz="1600" dirty="0" smtClean="0">
                <a:solidFill>
                  <a:schemeClr val="tx1"/>
                </a:solidFill>
              </a:rPr>
              <a:t>ações.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pt-BR" sz="1600" b="1" dirty="0" smtClean="0">
                <a:solidFill>
                  <a:schemeClr val="tx1"/>
                </a:solidFill>
              </a:rPr>
              <a:t>Criar um Plano </a:t>
            </a:r>
            <a:r>
              <a:rPr lang="pt-BR" sz="1600" b="1" dirty="0">
                <a:solidFill>
                  <a:schemeClr val="tx1"/>
                </a:solidFill>
              </a:rPr>
              <a:t>de continuidade</a:t>
            </a:r>
            <a:r>
              <a:rPr lang="pt-BR" sz="1600" dirty="0">
                <a:solidFill>
                  <a:schemeClr val="tx1"/>
                </a:solidFill>
              </a:rPr>
              <a:t> </a:t>
            </a:r>
            <a:r>
              <a:rPr lang="pt-BR" sz="1600" dirty="0" smtClean="0">
                <a:solidFill>
                  <a:schemeClr val="tx1"/>
                </a:solidFill>
              </a:rPr>
              <a:t>Falha </a:t>
            </a:r>
            <a:r>
              <a:rPr lang="pt-BR" sz="1600" dirty="0">
                <a:solidFill>
                  <a:schemeClr val="tx1"/>
                </a:solidFill>
              </a:rPr>
              <a:t>o principal, falha o secundário, há outro caminho</a:t>
            </a:r>
            <a:r>
              <a:rPr lang="pt-BR" sz="1600" dirty="0" smtClean="0">
                <a:solidFill>
                  <a:schemeClr val="tx1"/>
                </a:solidFill>
              </a:rPr>
              <a:t>?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17" name="Retângulo de cantos arredondados 16"/>
          <p:cNvSpPr/>
          <p:nvPr/>
        </p:nvSpPr>
        <p:spPr>
          <a:xfrm>
            <a:off x="152400" y="890574"/>
            <a:ext cx="3667659" cy="624279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Projeto Redundância Link </a:t>
            </a:r>
            <a:r>
              <a:rPr lang="pt-BR" sz="1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MPLS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</a:rPr>
              <a:t>(</a:t>
            </a:r>
            <a:r>
              <a:rPr lang="pt-BR" sz="1600" dirty="0" err="1">
                <a:solidFill>
                  <a:schemeClr val="bg1"/>
                </a:solidFill>
              </a:rPr>
              <a:t>Multiprotocol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Label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Switching</a:t>
            </a:r>
            <a:r>
              <a:rPr lang="pt-BR" sz="1600" dirty="0" smtClean="0">
                <a:solidFill>
                  <a:schemeClr val="bg1"/>
                </a:solidFill>
              </a:rPr>
              <a:t>)</a:t>
            </a:r>
            <a:endParaRPr lang="pt-B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5368">
            <a:off x="4329871" y="1164762"/>
            <a:ext cx="4337606" cy="3243257"/>
          </a:xfrm>
          <a:prstGeom prst="roundRect">
            <a:avLst>
              <a:gd name="adj" fmla="val 16667"/>
            </a:avLst>
          </a:prstGeom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</p:pic>
    </p:spTree>
    <p:extLst>
      <p:ext uri="{BB962C8B-B14F-4D97-AF65-F5344CB8AC3E}">
        <p14:creationId xmlns:p14="http://schemas.microsoft.com/office/powerpoint/2010/main" val="408833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Indicadores: Incidentes e Problemas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2270366804"/>
              </p:ext>
            </p:extLst>
          </p:nvPr>
        </p:nvGraphicFramePr>
        <p:xfrm>
          <a:off x="1" y="784099"/>
          <a:ext cx="4276020" cy="2239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779190" y="1544794"/>
            <a:ext cx="657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-6,1%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1750794" y="1704033"/>
            <a:ext cx="68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-11,9%</a:t>
            </a:r>
            <a:endParaRPr lang="pt-BR" sz="1200" b="1" dirty="0">
              <a:solidFill>
                <a:srgbClr val="00B050"/>
              </a:solidFill>
            </a:endParaRPr>
          </a:p>
        </p:txBody>
      </p:sp>
      <p:graphicFrame>
        <p:nvGraphicFramePr>
          <p:cNvPr id="27" name="Gráfico 26"/>
          <p:cNvGraphicFramePr/>
          <p:nvPr>
            <p:extLst>
              <p:ext uri="{D42A27DB-BD31-4B8C-83A1-F6EECF244321}">
                <p14:modId xmlns:p14="http://schemas.microsoft.com/office/powerpoint/2010/main" val="2813800092"/>
              </p:ext>
            </p:extLst>
          </p:nvPr>
        </p:nvGraphicFramePr>
        <p:xfrm>
          <a:off x="4532563" y="791263"/>
          <a:ext cx="4250194" cy="2232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CaixaDeTexto 27"/>
          <p:cNvSpPr txBox="1"/>
          <p:nvPr/>
        </p:nvSpPr>
        <p:spPr>
          <a:xfrm>
            <a:off x="5294203" y="1518253"/>
            <a:ext cx="68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-3,0%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6235527" y="1672141"/>
            <a:ext cx="68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-14,8%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7176851" y="1826029"/>
            <a:ext cx="68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00B050"/>
                </a:solidFill>
              </a:rPr>
              <a:t>-65,0%</a:t>
            </a:r>
            <a:endParaRPr lang="pt-BR" sz="1200" b="1" dirty="0">
              <a:solidFill>
                <a:srgbClr val="00B050"/>
              </a:solidFill>
            </a:endParaRPr>
          </a:p>
        </p:txBody>
      </p:sp>
      <p:graphicFrame>
        <p:nvGraphicFramePr>
          <p:cNvPr id="31" name="Gráfico 30"/>
          <p:cNvGraphicFramePr/>
          <p:nvPr>
            <p:extLst/>
          </p:nvPr>
        </p:nvGraphicFramePr>
        <p:xfrm>
          <a:off x="4968607" y="3023572"/>
          <a:ext cx="3492347" cy="20794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3" name="Retângulo de cantos arredondados 32"/>
          <p:cNvSpPr/>
          <p:nvPr/>
        </p:nvSpPr>
        <p:spPr>
          <a:xfrm>
            <a:off x="220647" y="3553688"/>
            <a:ext cx="1775024" cy="105807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Redução Consolidada</a:t>
            </a:r>
            <a:br>
              <a:rPr lang="pt-BR" sz="1600" b="1" dirty="0" smtClean="0"/>
            </a:br>
            <a:r>
              <a:rPr lang="pt-BR" sz="1600" b="1" dirty="0" smtClean="0"/>
              <a:t> </a:t>
            </a:r>
            <a:r>
              <a:rPr lang="pt-BR" sz="1600" b="1" dirty="0" err="1" smtClean="0"/>
              <a:t>Ago</a:t>
            </a:r>
            <a:r>
              <a:rPr lang="pt-BR" sz="1600" b="1" dirty="0" smtClean="0"/>
              <a:t> </a:t>
            </a:r>
            <a:r>
              <a:rPr lang="pt-BR" sz="1600" b="1" dirty="0"/>
              <a:t>/ Out</a:t>
            </a:r>
          </a:p>
          <a:p>
            <a:pPr algn="ctr"/>
            <a:r>
              <a:rPr lang="pt-BR" sz="1600" b="1" dirty="0" smtClean="0"/>
              <a:t>-17,40%</a:t>
            </a:r>
            <a:endParaRPr lang="pt-BR" sz="1600" b="1" dirty="0"/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138011" y="3553689"/>
            <a:ext cx="1775024" cy="1058077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/>
              <a:t>Redução </a:t>
            </a:r>
            <a:r>
              <a:rPr lang="pt-BR" sz="1600" b="1" i="1" dirty="0" smtClean="0"/>
              <a:t>Projetada</a:t>
            </a:r>
            <a:br>
              <a:rPr lang="pt-BR" sz="1600" b="1" i="1" dirty="0" smtClean="0"/>
            </a:br>
            <a:r>
              <a:rPr lang="pt-BR" sz="1600" b="1" dirty="0" smtClean="0"/>
              <a:t> </a:t>
            </a:r>
            <a:r>
              <a:rPr lang="pt-BR" sz="1600" b="1" dirty="0" err="1" smtClean="0"/>
              <a:t>Ago</a:t>
            </a:r>
            <a:r>
              <a:rPr lang="pt-BR" sz="1600" b="1" dirty="0" smtClean="0"/>
              <a:t> </a:t>
            </a:r>
            <a:r>
              <a:rPr lang="pt-BR" sz="1600" b="1" dirty="0"/>
              <a:t>/ </a:t>
            </a:r>
            <a:r>
              <a:rPr lang="pt-BR" sz="1600" b="1" dirty="0" err="1" smtClean="0"/>
              <a:t>Nov</a:t>
            </a:r>
            <a:endParaRPr lang="pt-BR" sz="1600" b="1" dirty="0"/>
          </a:p>
          <a:p>
            <a:pPr algn="ctr"/>
            <a:r>
              <a:rPr lang="pt-BR" sz="1600" b="1" dirty="0" smtClean="0"/>
              <a:t>-72,05%</a:t>
            </a:r>
            <a:endParaRPr lang="pt-BR" sz="1600" b="1" dirty="0"/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5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85825" y="151306"/>
            <a:ext cx="6638979" cy="858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Catálogo de Serviços</a:t>
            </a:r>
          </a:p>
          <a:p>
            <a:pPr>
              <a:buClr>
                <a:srgbClr val="800000"/>
              </a:buClr>
            </a:pPr>
            <a:endParaRPr lang="pt-BR" sz="19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301654" y="1845291"/>
            <a:ext cx="3132401" cy="215745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Estruturação </a:t>
            </a:r>
            <a:r>
              <a:rPr lang="pt-BR" dirty="0">
                <a:solidFill>
                  <a:schemeClr val="tx1"/>
                </a:solidFill>
              </a:rPr>
              <a:t>de </a:t>
            </a:r>
            <a:r>
              <a:rPr lang="pt-BR" b="1" dirty="0">
                <a:solidFill>
                  <a:schemeClr val="tx1"/>
                </a:solidFill>
              </a:rPr>
              <a:t>Catálogo de Serviços,</a:t>
            </a:r>
            <a:r>
              <a:rPr lang="pt-BR" dirty="0">
                <a:solidFill>
                  <a:schemeClr val="tx1"/>
                </a:solidFill>
              </a:rPr>
              <a:t> visando melhorar a qualidade no endereçamento, priorização e tratamento dos incidentes que impactam as Operações Contax.</a:t>
            </a:r>
          </a:p>
        </p:txBody>
      </p:sp>
      <p:sp>
        <p:nvSpPr>
          <p:cNvPr id="9" name="Retângulo de cantos arredondados 8"/>
          <p:cNvSpPr/>
          <p:nvPr/>
        </p:nvSpPr>
        <p:spPr>
          <a:xfrm>
            <a:off x="301654" y="1393128"/>
            <a:ext cx="3132401" cy="624279"/>
          </a:xfrm>
          <a:prstGeom prst="round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Catálogo de serviços (</a:t>
            </a:r>
            <a:r>
              <a:rPr lang="pt-BR" sz="16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pt-BR" sz="1600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nGoing</a:t>
            </a:r>
            <a:r>
              <a:rPr lang="pt-BR" sz="16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)</a:t>
            </a:r>
            <a:endParaRPr lang="pt-BR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m 1">
            <a:hlinkClick r:id="rId5" action="ppaction://hlinkfile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4598" y="1420300"/>
            <a:ext cx="4877789" cy="261121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 prst="cross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462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03" y="650871"/>
            <a:ext cx="6027461" cy="4520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Alinhamento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26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2400"/>
              </a:lnSpc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Status das Solicitações de Compra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764787"/>
              </p:ext>
            </p:extLst>
          </p:nvPr>
        </p:nvGraphicFramePr>
        <p:xfrm>
          <a:off x="301084" y="2470149"/>
          <a:ext cx="8214268" cy="16558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0174"/>
                <a:gridCol w="1770765"/>
                <a:gridCol w="1770765"/>
                <a:gridCol w="2902564"/>
              </a:tblGrid>
              <a:tr h="2365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Projeto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Valor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Descritivo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Status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</a:tr>
              <a:tr h="2365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Projeto – Gravação NICE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R$ 30.000,00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Aquisição de 12 HDs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Encaminhado para abertura de SC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</a:tr>
              <a:tr h="4730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Projeto – Monitoração 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R$19.000,00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Consultoria e certificação ZABBIX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SC Registrada no 34974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(Verificar se fornecedor realizou cadastro)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</a:tr>
              <a:tr h="47308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Projeto- URA Internalização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R$ 75.000,00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Capacitação equipes de suporte e certificação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Encaminhado para abertura de SC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</a:tr>
              <a:tr h="2365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Projeto – Prefeitura RJ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R$ 1.743,00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Movimentação servidores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Encaminhado para abertura de SC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1349" marR="61349" marT="0" marB="0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28650" y="247015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83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8386</TotalTime>
  <Words>554</Words>
  <Application>Microsoft Office PowerPoint</Application>
  <PresentationFormat>Personalizar</PresentationFormat>
  <Paragraphs>95</Paragraphs>
  <Slides>9</Slides>
  <Notes>4</Notes>
  <HiddenSlides>1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707</cp:revision>
  <dcterms:created xsi:type="dcterms:W3CDTF">2015-08-20T14:57:26Z</dcterms:created>
  <dcterms:modified xsi:type="dcterms:W3CDTF">2015-11-30T11:52:32Z</dcterms:modified>
</cp:coreProperties>
</file>