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theme/themeOverride2.xml" ContentType="application/vnd.openxmlformats-officedocument.themeOverride+xml"/>
  <Override PartName="/ppt/charts/chart11.xml" ContentType="application/vnd.openxmlformats-officedocument.drawingml.chart+xml"/>
  <Override PartName="/ppt/theme/themeOverride3.xml" ContentType="application/vnd.openxmlformats-officedocument.themeOverride+xml"/>
  <Override PartName="/ppt/charts/chart12.xml" ContentType="application/vnd.openxmlformats-officedocument.drawingml.chart+xml"/>
  <Override PartName="/ppt/theme/themeOverride4.xml" ContentType="application/vnd.openxmlformats-officedocument.themeOverride+xml"/>
  <Override PartName="/ppt/charts/chart13.xml" ContentType="application/vnd.openxmlformats-officedocument.drawingml.chart+xml"/>
  <Override PartName="/ppt/theme/themeOverride5.xml" ContentType="application/vnd.openxmlformats-officedocument.themeOverride+xml"/>
  <Override PartName="/ppt/charts/chart14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5.xml" ContentType="application/vnd.openxmlformats-officedocument.drawingml.chart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16.xml" ContentType="application/vnd.openxmlformats-officedocument.drawingml.chart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7.xml" ContentType="application/vnd.openxmlformats-officedocument.drawingml.chart+xml"/>
  <Override PartName="/ppt/theme/themeOverride6.xml" ContentType="application/vnd.openxmlformats-officedocument.themeOverride+xml"/>
  <Override PartName="/ppt/charts/chart18.xml" ContentType="application/vnd.openxmlformats-officedocument.drawingml.chart+xml"/>
  <Override PartName="/ppt/drawings/drawing1.xml" ContentType="application/vnd.openxmlformats-officedocument.drawingml.chartshape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19.xml" ContentType="application/vnd.openxmlformats-officedocument.drawingml.chart+xml"/>
  <Override PartName="/ppt/theme/themeOverride7.xml" ContentType="application/vnd.openxmlformats-officedocument.themeOverride+xml"/>
  <Override PartName="/ppt/charts/chart20.xml" ContentType="application/vnd.openxmlformats-officedocument.drawingml.chart+xml"/>
  <Override PartName="/ppt/drawings/drawing2.xml" ContentType="application/vnd.openxmlformats-officedocument.drawingml.chartshape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22.xml" ContentType="application/vnd.openxmlformats-officedocument.drawingml.chart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6.xml" ContentType="application/vnd.openxmlformats-officedocument.presentationml.notesSlide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0"/>
  </p:notesMasterIdLst>
  <p:sldIdLst>
    <p:sldId id="257" r:id="rId3"/>
    <p:sldId id="506" r:id="rId4"/>
    <p:sldId id="369" r:id="rId5"/>
    <p:sldId id="512" r:id="rId6"/>
    <p:sldId id="371" r:id="rId7"/>
    <p:sldId id="372" r:id="rId8"/>
    <p:sldId id="513" r:id="rId9"/>
    <p:sldId id="373" r:id="rId10"/>
    <p:sldId id="514" r:id="rId11"/>
    <p:sldId id="515" r:id="rId12"/>
    <p:sldId id="516" r:id="rId13"/>
    <p:sldId id="508" r:id="rId14"/>
    <p:sldId id="509" r:id="rId15"/>
    <p:sldId id="376" r:id="rId16"/>
    <p:sldId id="517" r:id="rId17"/>
    <p:sldId id="507" r:id="rId18"/>
    <p:sldId id="361" r:id="rId19"/>
  </p:sldIdLst>
  <p:sldSz cx="9144000" cy="6858000" type="screen4x3"/>
  <p:notesSz cx="6858000" cy="9144000"/>
  <p:custDataLst>
    <p:tags r:id="rId21"/>
  </p:custData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onzalez Millares, Maximiliano Alexis      (LAN Airl" initials="GMMA(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305"/>
    <a:srgbClr val="FED6D7"/>
    <a:srgbClr val="FED2D3"/>
    <a:srgbClr val="F8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2" autoAdjust="0"/>
    <p:restoredTop sz="92269" autoAdjust="0"/>
  </p:normalViewPr>
  <p:slideViewPr>
    <p:cSldViewPr>
      <p:cViewPr>
        <p:scale>
          <a:sx n="115" d="100"/>
          <a:sy n="115" d="100"/>
        </p:scale>
        <p:origin x="72" y="8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.xlsx" TargetMode="External"/><Relationship Id="rId1" Type="http://schemas.openxmlformats.org/officeDocument/2006/relationships/themeOverride" Target="../theme/themeOverrid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.xlsx" TargetMode="External"/><Relationship Id="rId1" Type="http://schemas.openxmlformats.org/officeDocument/2006/relationships/themeOverride" Target="../theme/themeOverride2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.xlsx" TargetMode="External"/><Relationship Id="rId1" Type="http://schemas.openxmlformats.org/officeDocument/2006/relationships/themeOverride" Target="../theme/themeOverride3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.xlsx" TargetMode="External"/><Relationship Id="rId1" Type="http://schemas.openxmlformats.org/officeDocument/2006/relationships/themeOverride" Target="../theme/themeOverride4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%204%20-%20instru&#231;&#245;es.xlsx" TargetMode="External"/><Relationship Id="rId1" Type="http://schemas.openxmlformats.org/officeDocument/2006/relationships/themeOverride" Target="../theme/themeOverride5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nho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.xlsx" TargetMode="External"/><Relationship Id="rId1" Type="http://schemas.openxmlformats.org/officeDocument/2006/relationships/themeOverride" Target="../theme/themeOverride6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49.0.66\1.%20service%20desk\4.AUGUSTA\01.EQUIPE\Ceresso\Apresenta&#231;&#227;o\rel.xlsx" TargetMode="External"/><Relationship Id="rId1" Type="http://schemas.openxmlformats.org/officeDocument/2006/relationships/themeOverride" Target="../theme/themeOverride7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49.0.66\1.%20service%20desk\4.AUGUSTA\01.EQUIPE\Ceresso\Apresenta&#231;&#227;o\rel%204%20-%20instru&#231;&#245;es%20-%20Julh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 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'Slide 3'!$B$5</c:f>
              <c:strCache>
                <c:ptCount val="1"/>
                <c:pt idx="0">
                  <c:v>URA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2.7603894974786995E-3"/>
                  <c:y val="3.52777777777777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3801947487393498E-3"/>
                  <c:y val="3.52777777777777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3'!$C$4:$H$4</c:f>
              <c:strCache>
                <c:ptCount val="6"/>
                <c:pt idx="0">
                  <c:v>Março</c:v>
                </c:pt>
                <c:pt idx="1">
                  <c:v>Abril</c:v>
                </c:pt>
                <c:pt idx="2">
                  <c:v>Maio</c:v>
                </c:pt>
                <c:pt idx="3">
                  <c:v>Junho</c:v>
                </c:pt>
                <c:pt idx="4">
                  <c:v>Julho</c:v>
                </c:pt>
                <c:pt idx="5">
                  <c:v>Agosto</c:v>
                </c:pt>
              </c:strCache>
            </c:strRef>
          </c:cat>
          <c:val>
            <c:numRef>
              <c:f>'Slide 3'!$C$5:$H$5</c:f>
              <c:numCache>
                <c:formatCode>0.00%</c:formatCode>
                <c:ptCount val="6"/>
                <c:pt idx="0">
                  <c:v>0.99909999999999999</c:v>
                </c:pt>
                <c:pt idx="1">
                  <c:v>0.99</c:v>
                </c:pt>
                <c:pt idx="2">
                  <c:v>0.92969999999999997</c:v>
                </c:pt>
                <c:pt idx="3">
                  <c:v>0.99370000000000003</c:v>
                </c:pt>
                <c:pt idx="4">
                  <c:v>0.99119999999999997</c:v>
                </c:pt>
                <c:pt idx="5">
                  <c:v>0.99280000000000002</c:v>
                </c:pt>
              </c:numCache>
            </c:numRef>
          </c:val>
        </c:ser>
        <c:ser>
          <c:idx val="1"/>
          <c:order val="1"/>
          <c:tx>
            <c:strRef>
              <c:f>'Slide 3'!$B$6</c:f>
              <c:strCache>
                <c:ptCount val="1"/>
                <c:pt idx="0">
                  <c:v>DAC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4.1405842462180487E-3"/>
                  <c:y val="3.52777777777777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8.2811684924360973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01947487393498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603894974788006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3'!$C$4:$H$4</c:f>
              <c:strCache>
                <c:ptCount val="6"/>
                <c:pt idx="0">
                  <c:v>Março</c:v>
                </c:pt>
                <c:pt idx="1">
                  <c:v>Abril</c:v>
                </c:pt>
                <c:pt idx="2">
                  <c:v>Maio</c:v>
                </c:pt>
                <c:pt idx="3">
                  <c:v>Junho</c:v>
                </c:pt>
                <c:pt idx="4">
                  <c:v>Julho</c:v>
                </c:pt>
                <c:pt idx="5">
                  <c:v>Agosto</c:v>
                </c:pt>
              </c:strCache>
            </c:strRef>
          </c:cat>
          <c:val>
            <c:numRef>
              <c:f>'Slide 3'!$C$6:$H$6</c:f>
              <c:numCache>
                <c:formatCode>0.00%</c:formatCode>
                <c:ptCount val="6"/>
                <c:pt idx="0">
                  <c:v>0.99160000000000004</c:v>
                </c:pt>
                <c:pt idx="1">
                  <c:v>0.99629999999999996</c:v>
                </c:pt>
                <c:pt idx="2" formatCode="0%">
                  <c:v>1</c:v>
                </c:pt>
                <c:pt idx="3" formatCode="0%">
                  <c:v>1</c:v>
                </c:pt>
                <c:pt idx="4" formatCode="0%">
                  <c:v>1</c:v>
                </c:pt>
                <c:pt idx="5" formatCode="0%">
                  <c:v>1</c:v>
                </c:pt>
              </c:numCache>
            </c:numRef>
          </c:val>
        </c:ser>
        <c:ser>
          <c:idx val="2"/>
          <c:order val="2"/>
          <c:tx>
            <c:strRef>
              <c:f>'Slide 3'!$B$7</c:f>
              <c:strCache>
                <c:ptCount val="1"/>
                <c:pt idx="0">
                  <c:v>CTI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4.1405842462180487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8.2811684924360973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2.7604981742305685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603894974786995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3'!$C$4:$H$4</c:f>
              <c:strCache>
                <c:ptCount val="6"/>
                <c:pt idx="0">
                  <c:v>Março</c:v>
                </c:pt>
                <c:pt idx="1">
                  <c:v>Abril</c:v>
                </c:pt>
                <c:pt idx="2">
                  <c:v>Maio</c:v>
                </c:pt>
                <c:pt idx="3">
                  <c:v>Junho</c:v>
                </c:pt>
                <c:pt idx="4">
                  <c:v>Julho</c:v>
                </c:pt>
                <c:pt idx="5">
                  <c:v>Agosto</c:v>
                </c:pt>
              </c:strCache>
            </c:strRef>
          </c:cat>
          <c:val>
            <c:numRef>
              <c:f>'Slide 3'!$C$7:$H$7</c:f>
              <c:numCache>
                <c:formatCode>0%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3"/>
          <c:order val="3"/>
          <c:tx>
            <c:strRef>
              <c:f>'Slide 3'!$B$8</c:f>
              <c:strCache>
                <c:ptCount val="1"/>
                <c:pt idx="0">
                  <c:v>Gravação</c:v>
                </c:pt>
              </c:strCache>
            </c:strRef>
          </c:tx>
          <c:invertIfNegative val="0"/>
          <c:dLbls>
            <c:dLbl>
              <c:idx val="1"/>
              <c:layout>
                <c:manualLayout>
                  <c:x val="6.9009737436967486E-3"/>
                  <c:y val="1.05833333333333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4.140584246218048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380194748739349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4.1405842462180487E-3"/>
                  <c:y val="1.411111111111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2.760389497478699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3'!$C$4:$H$4</c:f>
              <c:strCache>
                <c:ptCount val="6"/>
                <c:pt idx="0">
                  <c:v>Março</c:v>
                </c:pt>
                <c:pt idx="1">
                  <c:v>Abril</c:v>
                </c:pt>
                <c:pt idx="2">
                  <c:v>Maio</c:v>
                </c:pt>
                <c:pt idx="3">
                  <c:v>Junho</c:v>
                </c:pt>
                <c:pt idx="4">
                  <c:v>Julho</c:v>
                </c:pt>
                <c:pt idx="5">
                  <c:v>Agosto</c:v>
                </c:pt>
              </c:strCache>
            </c:strRef>
          </c:cat>
          <c:val>
            <c:numRef>
              <c:f>'Slide 3'!$C$8:$H$8</c:f>
              <c:numCache>
                <c:formatCode>0.00%</c:formatCode>
                <c:ptCount val="6"/>
                <c:pt idx="0">
                  <c:v>0.80730000000000002</c:v>
                </c:pt>
                <c:pt idx="1">
                  <c:v>0.89739999999999998</c:v>
                </c:pt>
                <c:pt idx="2">
                  <c:v>0.98550000000000004</c:v>
                </c:pt>
                <c:pt idx="3">
                  <c:v>0.91669999999999996</c:v>
                </c:pt>
                <c:pt idx="4">
                  <c:v>0.93810000000000004</c:v>
                </c:pt>
                <c:pt idx="5">
                  <c:v>0.94392523364485981</c:v>
                </c:pt>
              </c:numCache>
            </c:numRef>
          </c:val>
        </c:ser>
        <c:ser>
          <c:idx val="4"/>
          <c:order val="4"/>
          <c:tx>
            <c:strRef>
              <c:f>'Slide 3'!$B$9</c:f>
              <c:strCache>
                <c:ptCount val="1"/>
                <c:pt idx="0">
                  <c:v>Service Desk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2.760389497478699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4.140584246217948E-3"/>
                  <c:y val="7.05555555555555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2.7603894974786995E-3"/>
                  <c:y val="3.52777777777781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3'!$C$4:$H$4</c:f>
              <c:strCache>
                <c:ptCount val="6"/>
                <c:pt idx="0">
                  <c:v>Março</c:v>
                </c:pt>
                <c:pt idx="1">
                  <c:v>Abril</c:v>
                </c:pt>
                <c:pt idx="2">
                  <c:v>Maio</c:v>
                </c:pt>
                <c:pt idx="3">
                  <c:v>Junho</c:v>
                </c:pt>
                <c:pt idx="4">
                  <c:v>Julho</c:v>
                </c:pt>
                <c:pt idx="5">
                  <c:v>Agosto</c:v>
                </c:pt>
              </c:strCache>
            </c:strRef>
          </c:cat>
          <c:val>
            <c:numRef>
              <c:f>'Slide 3'!$C$9:$H$9</c:f>
              <c:numCache>
                <c:formatCode>0.00%</c:formatCode>
                <c:ptCount val="6"/>
                <c:pt idx="0">
                  <c:v>0.92759999999999998</c:v>
                </c:pt>
                <c:pt idx="1">
                  <c:v>0.93130000000000002</c:v>
                </c:pt>
                <c:pt idx="2">
                  <c:v>0.91259999999999997</c:v>
                </c:pt>
                <c:pt idx="3">
                  <c:v>0.95409999999999995</c:v>
                </c:pt>
                <c:pt idx="4">
                  <c:v>0.85699999999999998</c:v>
                </c:pt>
                <c:pt idx="5">
                  <c:v>0.87761674718196458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78088448"/>
        <c:axId val="79908864"/>
      </c:barChart>
      <c:catAx>
        <c:axId val="78088448"/>
        <c:scaling>
          <c:orientation val="minMax"/>
        </c:scaling>
        <c:delete val="0"/>
        <c:axPos val="b"/>
        <c:majorTickMark val="none"/>
        <c:minorTickMark val="none"/>
        <c:tickLblPos val="nextTo"/>
        <c:crossAx val="79908864"/>
        <c:crosses val="autoZero"/>
        <c:auto val="1"/>
        <c:lblAlgn val="ctr"/>
        <c:lblOffset val="100"/>
        <c:noMultiLvlLbl val="0"/>
      </c:catAx>
      <c:valAx>
        <c:axId val="79908864"/>
        <c:scaling>
          <c:orientation val="minMax"/>
          <c:min val="0"/>
        </c:scaling>
        <c:delete val="0"/>
        <c:axPos val="l"/>
        <c:numFmt formatCode="0.00%" sourceLinked="1"/>
        <c:majorTickMark val="none"/>
        <c:minorTickMark val="none"/>
        <c:tickLblPos val="nextTo"/>
        <c:spPr>
          <a:ln w="9525">
            <a:noFill/>
          </a:ln>
        </c:spPr>
        <c:crossAx val="78088448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28830650105744654"/>
          <c:y val="4.2714769868260977E-2"/>
          <c:w val="0.48118272909059295"/>
          <c:h val="5.0705675119636452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 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'Slide 3'!$B$41</c:f>
              <c:strCache>
                <c:ptCount val="1"/>
                <c:pt idx="0">
                  <c:v>URA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3'!$C$40:$H$40</c:f>
              <c:strCache>
                <c:ptCount val="3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</c:strCache>
            </c:strRef>
          </c:cat>
          <c:val>
            <c:numRef>
              <c:f>'Slide 3'!$C$41:$H$41</c:f>
              <c:numCache>
                <c:formatCode>0.00%</c:formatCode>
                <c:ptCount val="6"/>
                <c:pt idx="0">
                  <c:v>0.99770000000000003</c:v>
                </c:pt>
                <c:pt idx="1">
                  <c:v>0.99119999999999997</c:v>
                </c:pt>
                <c:pt idx="2">
                  <c:v>0.99790000000000001</c:v>
                </c:pt>
              </c:numCache>
            </c:numRef>
          </c:val>
        </c:ser>
        <c:ser>
          <c:idx val="1"/>
          <c:order val="1"/>
          <c:tx>
            <c:strRef>
              <c:f>'Slide 3'!$B$42</c:f>
              <c:strCache>
                <c:ptCount val="1"/>
                <c:pt idx="0">
                  <c:v>DAC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3'!$C$40:$H$40</c:f>
              <c:strCache>
                <c:ptCount val="3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</c:strCache>
            </c:strRef>
          </c:cat>
          <c:val>
            <c:numRef>
              <c:f>'Slide 3'!$C$42:$H$42</c:f>
              <c:numCache>
                <c:formatCode>0%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'Slide 3'!$B$43</c:f>
              <c:strCache>
                <c:ptCount val="1"/>
                <c:pt idx="0">
                  <c:v>CTI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3'!$C$40:$H$40</c:f>
              <c:strCache>
                <c:ptCount val="3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</c:strCache>
            </c:strRef>
          </c:cat>
          <c:val>
            <c:numRef>
              <c:f>'Slide 3'!$C$43:$H$43</c:f>
              <c:numCache>
                <c:formatCode>0%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'Slide 3'!$B$44</c:f>
              <c:strCache>
                <c:ptCount val="1"/>
                <c:pt idx="0">
                  <c:v>Gravação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3'!$C$40:$H$40</c:f>
              <c:strCache>
                <c:ptCount val="3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</c:strCache>
            </c:strRef>
          </c:cat>
          <c:val>
            <c:numRef>
              <c:f>'Slide 3'!$C$44:$H$44</c:f>
              <c:numCache>
                <c:formatCode>0.00%</c:formatCode>
                <c:ptCount val="6"/>
                <c:pt idx="0">
                  <c:v>0.9113</c:v>
                </c:pt>
                <c:pt idx="1">
                  <c:v>0.93810000000000004</c:v>
                </c:pt>
                <c:pt idx="2" formatCode="0%">
                  <c:v>1</c:v>
                </c:pt>
              </c:numCache>
            </c:numRef>
          </c:val>
        </c:ser>
        <c:ser>
          <c:idx val="4"/>
          <c:order val="4"/>
          <c:tx>
            <c:strRef>
              <c:f>'Slide 3'!$B$45</c:f>
              <c:strCache>
                <c:ptCount val="1"/>
                <c:pt idx="0">
                  <c:v>Service Desk</c:v>
                </c:pt>
              </c:strCache>
            </c:strRef>
          </c:tx>
          <c:invertIfNegative val="0"/>
          <c:dLbls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92,31%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3'!$C$40:$H$40</c:f>
              <c:strCache>
                <c:ptCount val="3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</c:strCache>
            </c:strRef>
          </c:cat>
          <c:val>
            <c:numRef>
              <c:f>'Slide 3'!$C$45:$H$45</c:f>
              <c:numCache>
                <c:formatCode>0.00%</c:formatCode>
                <c:ptCount val="6"/>
                <c:pt idx="0">
                  <c:v>0.875</c:v>
                </c:pt>
                <c:pt idx="1">
                  <c:v>0.85699999999999998</c:v>
                </c:pt>
                <c:pt idx="2">
                  <c:v>0.92310000000000003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77633408"/>
        <c:axId val="77634944"/>
      </c:barChart>
      <c:catAx>
        <c:axId val="77633408"/>
        <c:scaling>
          <c:orientation val="minMax"/>
        </c:scaling>
        <c:delete val="0"/>
        <c:axPos val="b"/>
        <c:majorTickMark val="none"/>
        <c:minorTickMark val="none"/>
        <c:tickLblPos val="nextTo"/>
        <c:crossAx val="77634944"/>
        <c:crosses val="autoZero"/>
        <c:auto val="1"/>
        <c:lblAlgn val="ctr"/>
        <c:lblOffset val="100"/>
        <c:noMultiLvlLbl val="0"/>
      </c:catAx>
      <c:valAx>
        <c:axId val="77634944"/>
        <c:scaling>
          <c:orientation val="minMax"/>
          <c:min val="0"/>
        </c:scaling>
        <c:delete val="0"/>
        <c:axPos val="l"/>
        <c:numFmt formatCode="0.00%" sourceLinked="1"/>
        <c:majorTickMark val="none"/>
        <c:minorTickMark val="none"/>
        <c:tickLblPos val="nextTo"/>
        <c:spPr>
          <a:ln w="9525">
            <a:noFill/>
          </a:ln>
        </c:spPr>
        <c:crossAx val="77633408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28830650105744654"/>
          <c:y val="4.2714769868260977E-2"/>
          <c:w val="0.44667786037210921"/>
          <c:h val="5.0705675119636452E-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/>
              <a:t>Serviços</a:t>
            </a:r>
            <a:r>
              <a:rPr lang="pt-BR" baseline="0"/>
              <a:t> Afetados</a:t>
            </a:r>
            <a:endParaRPr lang="pt-BR"/>
          </a:p>
        </c:rich>
      </c:tx>
      <c:layout>
        <c:manualLayout>
          <c:xMode val="edge"/>
          <c:yMode val="edge"/>
          <c:x val="0.23847922134733174"/>
          <c:y val="2.7777777777777811E-2"/>
        </c:manualLayout>
      </c:layout>
      <c:overlay val="0"/>
    </c:title>
    <c:autoTitleDeleted val="0"/>
    <c:view3D>
      <c:rotX val="75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cat>
            <c:strRef>
              <c:f>Plan1!$E$73:$E$75</c:f>
              <c:strCache>
                <c:ptCount val="3"/>
                <c:pt idx="0">
                  <c:v>URA </c:v>
                </c:pt>
                <c:pt idx="1">
                  <c:v>LAN </c:v>
                </c:pt>
                <c:pt idx="2">
                  <c:v>CTI</c:v>
                </c:pt>
              </c:strCache>
            </c:strRef>
          </c:cat>
          <c:val>
            <c:numRef>
              <c:f>Plan1!$F$73:$F$75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/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pt-BR" dirty="0"/>
              <a:t>Serviços</a:t>
            </a:r>
            <a:r>
              <a:rPr lang="pt-BR" baseline="0" dirty="0"/>
              <a:t> </a:t>
            </a:r>
            <a:r>
              <a:rPr lang="pt-BR" baseline="0" dirty="0" smtClean="0"/>
              <a:t>Afetados</a:t>
            </a:r>
            <a:endParaRPr lang="pt-BR" dirty="0"/>
          </a:p>
        </c:rich>
      </c:tx>
      <c:layout>
        <c:manualLayout>
          <c:xMode val="edge"/>
          <c:yMode val="edge"/>
          <c:x val="0.23847922134733174"/>
          <c:y val="2.7777777777777811E-2"/>
        </c:manualLayout>
      </c:layout>
      <c:overlay val="0"/>
    </c:title>
    <c:autoTitleDeleted val="0"/>
    <c:view3D>
      <c:rotX val="75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cat>
            <c:strRef>
              <c:f>Plan1!$E$73:$E$75</c:f>
              <c:strCache>
                <c:ptCount val="3"/>
                <c:pt idx="0">
                  <c:v>URA </c:v>
                </c:pt>
                <c:pt idx="1">
                  <c:v>LAN </c:v>
                </c:pt>
                <c:pt idx="2">
                  <c:v>CTI</c:v>
                </c:pt>
              </c:strCache>
            </c:strRef>
          </c:cat>
          <c:val>
            <c:numRef>
              <c:f>Plan1!$F$73:$F$75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layout/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b"/>
      <c:layout/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dLbl>
              <c:idx val="0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99,28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'[rel 4 - instruções.xlsx]Slide 5'!$B$5:$B$9</c:f>
              <c:strCache>
                <c:ptCount val="5"/>
                <c:pt idx="0">
                  <c:v>DAC </c:v>
                </c:pt>
                <c:pt idx="1">
                  <c:v>URA </c:v>
                </c:pt>
                <c:pt idx="2">
                  <c:v>LAN </c:v>
                </c:pt>
                <c:pt idx="3">
                  <c:v>CTI</c:v>
                </c:pt>
                <c:pt idx="4">
                  <c:v>DMS Gravador</c:v>
                </c:pt>
              </c:strCache>
            </c:strRef>
          </c:cat>
          <c:val>
            <c:numRef>
              <c:f>'[rel 4 - instruções.xlsx]Slide 5'!$C$5:$C$9</c:f>
              <c:numCache>
                <c:formatCode>0.00</c:formatCode>
                <c:ptCount val="5"/>
                <c:pt idx="0">
                  <c:v>100</c:v>
                </c:pt>
                <c:pt idx="1">
                  <c:v>92.965949820788524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'Slide 5'!$B$19:$B$20</c:f>
              <c:strCache>
                <c:ptCount val="2"/>
                <c:pt idx="0">
                  <c:v>Gravação </c:v>
                </c:pt>
                <c:pt idx="1">
                  <c:v>Service Desk </c:v>
                </c:pt>
              </c:strCache>
            </c:strRef>
          </c:cat>
          <c:val>
            <c:numRef>
              <c:f>'Slide 5'!$C$19:$C$20</c:f>
              <c:numCache>
                <c:formatCode>0.00%</c:formatCode>
                <c:ptCount val="2"/>
                <c:pt idx="0">
                  <c:v>0.94392523364485981</c:v>
                </c:pt>
                <c:pt idx="1">
                  <c:v>0.87761674718196458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b"/>
      <c:layout/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dLbls>
            <c:dLbl>
              <c:idx val="0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99,79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'[rel 4 - instruções.xlsx]Slide 5'!$B$5:$B$9</c:f>
              <c:strCache>
                <c:ptCount val="5"/>
                <c:pt idx="0">
                  <c:v>DAC </c:v>
                </c:pt>
                <c:pt idx="1">
                  <c:v>URA </c:v>
                </c:pt>
                <c:pt idx="2">
                  <c:v>LAN </c:v>
                </c:pt>
                <c:pt idx="3">
                  <c:v>CTI</c:v>
                </c:pt>
                <c:pt idx="4">
                  <c:v>DMS Gravador</c:v>
                </c:pt>
              </c:strCache>
            </c:strRef>
          </c:cat>
          <c:val>
            <c:numRef>
              <c:f>'[rel 4 - instruções.xlsx]Slide 5'!$C$5:$C$9</c:f>
              <c:numCache>
                <c:formatCode>0.00</c:formatCode>
                <c:ptCount val="5"/>
                <c:pt idx="0">
                  <c:v>100</c:v>
                </c:pt>
                <c:pt idx="1">
                  <c:v>92.965949820788524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92,31%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'Slide 5'!$B$19:$B$20</c:f>
              <c:strCache>
                <c:ptCount val="2"/>
                <c:pt idx="0">
                  <c:v>Gravação </c:v>
                </c:pt>
                <c:pt idx="1">
                  <c:v>Service Desk </c:v>
                </c:pt>
              </c:strCache>
            </c:strRef>
          </c:cat>
          <c:val>
            <c:numRef>
              <c:f>'Slide 5'!$C$19:$C$20</c:f>
              <c:numCache>
                <c:formatCode>0.00%</c:formatCode>
                <c:ptCount val="2"/>
                <c:pt idx="0">
                  <c:v>1</c:v>
                </c:pt>
                <c:pt idx="1">
                  <c:v>0.94620000000000004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'Slides 7, 8 e 9'!$I$8:$I$19</c:f>
              <c:strCache>
                <c:ptCount val="12"/>
                <c:pt idx="0">
                  <c:v>Manutenção de Máquinas/Problemas Windows</c:v>
                </c:pt>
                <c:pt idx="1">
                  <c:v>Headset/Escuta</c:v>
                </c:pt>
                <c:pt idx="2">
                  <c:v>Amadeus</c:v>
                </c:pt>
                <c:pt idx="3">
                  <c:v>Avaya</c:v>
                </c:pt>
                <c:pt idx="4">
                  <c:v>ATC</c:v>
                </c:pt>
                <c:pt idx="5">
                  <c:v>Internet Explorer</c:v>
                </c:pt>
                <c:pt idx="6">
                  <c:v>Instalações/Transferencia de Perfis</c:v>
                </c:pt>
                <c:pt idx="7">
                  <c:v>tClock</c:v>
                </c:pt>
                <c:pt idx="8">
                  <c:v>Outlook/Pacote Office</c:v>
                </c:pt>
                <c:pt idx="9">
                  <c:v>Máquina fora do dominio</c:v>
                </c:pt>
                <c:pt idx="10">
                  <c:v>ScreenPop</c:v>
                </c:pt>
                <c:pt idx="11">
                  <c:v>tGuidance</c:v>
                </c:pt>
              </c:strCache>
            </c:strRef>
          </c:cat>
          <c:val>
            <c:numRef>
              <c:f>'Slides 7, 8 e 9'!$J$8:$J$19</c:f>
              <c:numCache>
                <c:formatCode>General</c:formatCode>
                <c:ptCount val="12"/>
                <c:pt idx="0">
                  <c:v>241</c:v>
                </c:pt>
                <c:pt idx="1">
                  <c:v>106</c:v>
                </c:pt>
                <c:pt idx="2">
                  <c:v>101</c:v>
                </c:pt>
                <c:pt idx="3">
                  <c:v>86</c:v>
                </c:pt>
                <c:pt idx="4">
                  <c:v>62</c:v>
                </c:pt>
                <c:pt idx="5">
                  <c:v>51</c:v>
                </c:pt>
                <c:pt idx="6">
                  <c:v>42</c:v>
                </c:pt>
                <c:pt idx="7">
                  <c:v>30</c:v>
                </c:pt>
                <c:pt idx="8">
                  <c:v>19</c:v>
                </c:pt>
                <c:pt idx="9">
                  <c:v>12</c:v>
                </c:pt>
                <c:pt idx="10">
                  <c:v>10</c:v>
                </c:pt>
                <c:pt idx="1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8005237795531315"/>
          <c:y val="5.381185931959287E-2"/>
          <c:w val="0.27985923117621203"/>
          <c:h val="0.89237628136081426"/>
        </c:manualLayout>
      </c:layout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871334840297821E-2"/>
          <c:y val="0.16916073867609482"/>
          <c:w val="0.54055518545722325"/>
          <c:h val="0.69798984753328064"/>
        </c:manualLayout>
      </c:layout>
      <c:pieChart>
        <c:varyColors val="1"/>
        <c:ser>
          <c:idx val="0"/>
          <c:order val="0"/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'Slides 7, 8 e 9'!$I$70:$I$81</c:f>
              <c:strCache>
                <c:ptCount val="12"/>
                <c:pt idx="0">
                  <c:v>Manutenção de Máquinas/Problemas Windows</c:v>
                </c:pt>
                <c:pt idx="1">
                  <c:v>tClock</c:v>
                </c:pt>
                <c:pt idx="2">
                  <c:v>ATC</c:v>
                </c:pt>
                <c:pt idx="3">
                  <c:v>Internet Explorer</c:v>
                </c:pt>
                <c:pt idx="4">
                  <c:v>Avaya</c:v>
                </c:pt>
                <c:pt idx="5">
                  <c:v>Amadeus</c:v>
                </c:pt>
                <c:pt idx="6">
                  <c:v>ScreenPop</c:v>
                </c:pt>
                <c:pt idx="7">
                  <c:v>Headset/Escuta</c:v>
                </c:pt>
                <c:pt idx="8">
                  <c:v>Outlook/Pacote Office</c:v>
                </c:pt>
                <c:pt idx="9">
                  <c:v>Instalações/Transferencia de Perfis</c:v>
                </c:pt>
                <c:pt idx="10">
                  <c:v>Máquina fora do dominio</c:v>
                </c:pt>
                <c:pt idx="11">
                  <c:v>tGuidance</c:v>
                </c:pt>
              </c:strCache>
            </c:strRef>
          </c:cat>
          <c:val>
            <c:numRef>
              <c:f>'Slides 7, 8 e 9'!$J$70:$J$81</c:f>
              <c:numCache>
                <c:formatCode>General</c:formatCode>
                <c:ptCount val="12"/>
                <c:pt idx="0">
                  <c:v>25</c:v>
                </c:pt>
                <c:pt idx="1">
                  <c:v>21</c:v>
                </c:pt>
                <c:pt idx="2">
                  <c:v>10</c:v>
                </c:pt>
                <c:pt idx="3">
                  <c:v>8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0206173240182426"/>
          <c:y val="7.3338256533587776E-2"/>
          <c:w val="0.25532388032601555"/>
          <c:h val="0.86369815118581594"/>
        </c:manualLayout>
      </c:layout>
      <c:overlay val="0"/>
      <c:txPr>
        <a:bodyPr/>
        <a:lstStyle/>
        <a:p>
          <a:pPr rtl="0">
            <a:defRPr sz="9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'Slides 7, 8 e 9'!$D$24:$D$35</c:f>
              <c:strCache>
                <c:ptCount val="12"/>
                <c:pt idx="0">
                  <c:v>Headset/Escuta</c:v>
                </c:pt>
                <c:pt idx="1">
                  <c:v>ATC</c:v>
                </c:pt>
                <c:pt idx="2">
                  <c:v>Manutenção de Máquinas/Problemas Windows</c:v>
                </c:pt>
                <c:pt idx="3">
                  <c:v>Avaya</c:v>
                </c:pt>
                <c:pt idx="4">
                  <c:v>Instalações/Transferencia de Perfis</c:v>
                </c:pt>
                <c:pt idx="5">
                  <c:v>Internet Explorer</c:v>
                </c:pt>
                <c:pt idx="6">
                  <c:v>Amadeus</c:v>
                </c:pt>
                <c:pt idx="7">
                  <c:v>Outlook/Pacote Office</c:v>
                </c:pt>
                <c:pt idx="8">
                  <c:v>ScreenPop</c:v>
                </c:pt>
                <c:pt idx="9">
                  <c:v>tGuidance</c:v>
                </c:pt>
                <c:pt idx="10">
                  <c:v>Máquina fora do dominio</c:v>
                </c:pt>
                <c:pt idx="11">
                  <c:v>tClock</c:v>
                </c:pt>
              </c:strCache>
            </c:strRef>
          </c:cat>
          <c:val>
            <c:numRef>
              <c:f>'Slides 7, 8 e 9'!$G$24:$G$35</c:f>
              <c:numCache>
                <c:formatCode>General</c:formatCode>
                <c:ptCount val="12"/>
                <c:pt idx="0">
                  <c:v>81</c:v>
                </c:pt>
                <c:pt idx="1">
                  <c:v>64</c:v>
                </c:pt>
                <c:pt idx="2">
                  <c:v>45</c:v>
                </c:pt>
                <c:pt idx="3">
                  <c:v>30</c:v>
                </c:pt>
                <c:pt idx="4">
                  <c:v>28</c:v>
                </c:pt>
                <c:pt idx="5">
                  <c:v>18</c:v>
                </c:pt>
                <c:pt idx="6">
                  <c:v>18</c:v>
                </c:pt>
                <c:pt idx="7">
                  <c:v>17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4908128268004062"/>
          <c:y val="4.2362971051976173E-2"/>
          <c:w val="0.22552988388188569"/>
          <c:h val="0.94705271216097986"/>
        </c:manualLayout>
      </c:layout>
      <c:overlay val="0"/>
      <c:txPr>
        <a:bodyPr/>
        <a:lstStyle/>
        <a:p>
          <a:pPr rtl="0">
            <a:defRPr sz="900" baseline="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zero"/>
    <c:showDLblsOverMax val="0"/>
  </c:chart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Lbls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'Slides 7, 8 e 9'!$I$24:$I$35</c:f>
              <c:strCache>
                <c:ptCount val="12"/>
                <c:pt idx="0">
                  <c:v>Manutenção de Máquinas/Problemas Windows</c:v>
                </c:pt>
                <c:pt idx="1">
                  <c:v>ATC</c:v>
                </c:pt>
                <c:pt idx="2">
                  <c:v>Amadeus</c:v>
                </c:pt>
                <c:pt idx="3">
                  <c:v>Internet Explorer</c:v>
                </c:pt>
                <c:pt idx="4">
                  <c:v>Avaya</c:v>
                </c:pt>
                <c:pt idx="5">
                  <c:v>tClock</c:v>
                </c:pt>
                <c:pt idx="6">
                  <c:v>Máquina fora do dominio</c:v>
                </c:pt>
                <c:pt idx="7">
                  <c:v>Instalações/Transferencia de Perfis</c:v>
                </c:pt>
                <c:pt idx="8">
                  <c:v>ScreenPop</c:v>
                </c:pt>
                <c:pt idx="9">
                  <c:v>Headset/Escuta</c:v>
                </c:pt>
                <c:pt idx="10">
                  <c:v>Outlook/Pacote Office</c:v>
                </c:pt>
                <c:pt idx="11">
                  <c:v>tGuidance</c:v>
                </c:pt>
              </c:strCache>
            </c:strRef>
          </c:cat>
          <c:val>
            <c:numRef>
              <c:f>'Slides 7, 8 e 9'!$M$24:$M$35</c:f>
              <c:numCache>
                <c:formatCode>General</c:formatCode>
                <c:ptCount val="12"/>
                <c:pt idx="0">
                  <c:v>168</c:v>
                </c:pt>
                <c:pt idx="1">
                  <c:v>49</c:v>
                </c:pt>
                <c:pt idx="2">
                  <c:v>42</c:v>
                </c:pt>
                <c:pt idx="3">
                  <c:v>43</c:v>
                </c:pt>
                <c:pt idx="4">
                  <c:v>34</c:v>
                </c:pt>
                <c:pt idx="5">
                  <c:v>44</c:v>
                </c:pt>
                <c:pt idx="6">
                  <c:v>17</c:v>
                </c:pt>
                <c:pt idx="7">
                  <c:v>15</c:v>
                </c:pt>
                <c:pt idx="8">
                  <c:v>17</c:v>
                </c:pt>
                <c:pt idx="9">
                  <c:v>13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3626928799505156"/>
          <c:y val="2.555856236836208E-2"/>
          <c:w val="0.23878379056121168"/>
          <c:h val="0.94705271216097986"/>
        </c:manualLayout>
      </c:layout>
      <c:overlay val="0"/>
      <c:txPr>
        <a:bodyPr/>
        <a:lstStyle/>
        <a:p>
          <a:pPr rtl="0">
            <a:defRPr sz="800" baseline="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'Slide 10'!$E$15</c:f>
              <c:strCache>
                <c:ptCount val="1"/>
                <c:pt idx="0">
                  <c:v>Meta %  ou em minutos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4820948932844997E-3"/>
                  <c:y val="2.27573280388200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10'!$F$14:$L$14</c:f>
              <c:strCache>
                <c:ptCount val="7"/>
                <c:pt idx="0">
                  <c:v>DAC </c:v>
                </c:pt>
                <c:pt idx="1">
                  <c:v>URA </c:v>
                </c:pt>
                <c:pt idx="2">
                  <c:v>LAN </c:v>
                </c:pt>
                <c:pt idx="3">
                  <c:v>CTI</c:v>
                </c:pt>
                <c:pt idx="4">
                  <c:v>DMS Gravador</c:v>
                </c:pt>
                <c:pt idx="5">
                  <c:v>Gravação</c:v>
                </c:pt>
                <c:pt idx="6">
                  <c:v>Service Desk</c:v>
                </c:pt>
              </c:strCache>
            </c:strRef>
          </c:cat>
          <c:val>
            <c:numRef>
              <c:f>'Slide 10'!$F$15:$L$15</c:f>
              <c:numCache>
                <c:formatCode>0.00</c:formatCode>
                <c:ptCount val="7"/>
                <c:pt idx="0">
                  <c:v>99.9</c:v>
                </c:pt>
                <c:pt idx="1">
                  <c:v>99</c:v>
                </c:pt>
                <c:pt idx="2">
                  <c:v>99</c:v>
                </c:pt>
                <c:pt idx="3">
                  <c:v>99</c:v>
                </c:pt>
                <c:pt idx="4">
                  <c:v>99</c:v>
                </c:pt>
                <c:pt idx="5">
                  <c:v>98.5</c:v>
                </c:pt>
                <c:pt idx="6">
                  <c:v>85</c:v>
                </c:pt>
              </c:numCache>
            </c:numRef>
          </c:val>
        </c:ser>
        <c:ser>
          <c:idx val="1"/>
          <c:order val="1"/>
          <c:tx>
            <c:strRef>
              <c:f>'Slide 10'!$E$16</c:f>
              <c:strCache>
                <c:ptCount val="1"/>
                <c:pt idx="0">
                  <c:v>% de disponibilidade </c:v>
                </c:pt>
              </c:strCache>
            </c:strRef>
          </c:tx>
          <c:invertIfNegative val="0"/>
          <c:dLbls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smtClean="0"/>
                      <a:t>94,39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/>
              <c:tx>
                <c:rich>
                  <a:bodyPr/>
                  <a:lstStyle/>
                  <a:p>
                    <a:r>
                      <a:rPr lang="en-US" smtClean="0"/>
                      <a:t>87,76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10'!$F$14:$L$14</c:f>
              <c:strCache>
                <c:ptCount val="7"/>
                <c:pt idx="0">
                  <c:v>DAC </c:v>
                </c:pt>
                <c:pt idx="1">
                  <c:v>URA </c:v>
                </c:pt>
                <c:pt idx="2">
                  <c:v>LAN </c:v>
                </c:pt>
                <c:pt idx="3">
                  <c:v>CTI</c:v>
                </c:pt>
                <c:pt idx="4">
                  <c:v>DMS Gravador</c:v>
                </c:pt>
                <c:pt idx="5">
                  <c:v>Gravação</c:v>
                </c:pt>
                <c:pt idx="6">
                  <c:v>Service Desk</c:v>
                </c:pt>
              </c:strCache>
            </c:strRef>
          </c:cat>
          <c:val>
            <c:numRef>
              <c:f>'Slide 10'!$F$16:$L$16</c:f>
              <c:numCache>
                <c:formatCode>0.00</c:formatCode>
                <c:ptCount val="7"/>
                <c:pt idx="0">
                  <c:v>100</c:v>
                </c:pt>
                <c:pt idx="1">
                  <c:v>99.79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92.31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9113728"/>
        <c:axId val="109115264"/>
      </c:barChart>
      <c:catAx>
        <c:axId val="10911372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109115264"/>
        <c:crosses val="autoZero"/>
        <c:auto val="1"/>
        <c:lblAlgn val="ctr"/>
        <c:lblOffset val="100"/>
        <c:noMultiLvlLbl val="0"/>
      </c:catAx>
      <c:valAx>
        <c:axId val="109115264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crossAx val="1091137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22600616738196"/>
          <c:y val="0.39712030204529247"/>
          <c:w val="0.1214203323813694"/>
          <c:h val="0.31385670409381039"/>
        </c:manualLayout>
      </c:layout>
      <c:overlay val="0"/>
      <c:txPr>
        <a:bodyPr/>
        <a:lstStyle/>
        <a:p>
          <a:pPr>
            <a:defRPr sz="9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'Slide 10'!$E$15</c:f>
              <c:strCache>
                <c:ptCount val="1"/>
                <c:pt idx="0">
                  <c:v>Meta %  ou em minutos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10'!$F$14:$L$14</c:f>
              <c:strCache>
                <c:ptCount val="7"/>
                <c:pt idx="0">
                  <c:v>DAC </c:v>
                </c:pt>
                <c:pt idx="1">
                  <c:v>URA </c:v>
                </c:pt>
                <c:pt idx="2">
                  <c:v>LAN </c:v>
                </c:pt>
                <c:pt idx="3">
                  <c:v>CTI</c:v>
                </c:pt>
                <c:pt idx="4">
                  <c:v>DMS Gravador</c:v>
                </c:pt>
                <c:pt idx="5">
                  <c:v>Gravação</c:v>
                </c:pt>
                <c:pt idx="6">
                  <c:v>Service Desk</c:v>
                </c:pt>
              </c:strCache>
            </c:strRef>
          </c:cat>
          <c:val>
            <c:numRef>
              <c:f>'Slide 10'!$F$15:$L$15</c:f>
              <c:numCache>
                <c:formatCode>0.00</c:formatCode>
                <c:ptCount val="7"/>
                <c:pt idx="0">
                  <c:v>99.9</c:v>
                </c:pt>
                <c:pt idx="1">
                  <c:v>99</c:v>
                </c:pt>
                <c:pt idx="2">
                  <c:v>99</c:v>
                </c:pt>
                <c:pt idx="3">
                  <c:v>99</c:v>
                </c:pt>
                <c:pt idx="4">
                  <c:v>99</c:v>
                </c:pt>
                <c:pt idx="5">
                  <c:v>98.5</c:v>
                </c:pt>
                <c:pt idx="6">
                  <c:v>85</c:v>
                </c:pt>
              </c:numCache>
            </c:numRef>
          </c:val>
        </c:ser>
        <c:ser>
          <c:idx val="1"/>
          <c:order val="1"/>
          <c:tx>
            <c:strRef>
              <c:f>'Slide 10'!$E$16</c:f>
              <c:strCache>
                <c:ptCount val="1"/>
                <c:pt idx="0">
                  <c:v>% de disponibilidade 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800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'Slide 10'!$F$14:$L$14</c:f>
              <c:strCache>
                <c:ptCount val="7"/>
                <c:pt idx="0">
                  <c:v>DAC </c:v>
                </c:pt>
                <c:pt idx="1">
                  <c:v>URA </c:v>
                </c:pt>
                <c:pt idx="2">
                  <c:v>LAN </c:v>
                </c:pt>
                <c:pt idx="3">
                  <c:v>CTI</c:v>
                </c:pt>
                <c:pt idx="4">
                  <c:v>DMS Gravador</c:v>
                </c:pt>
                <c:pt idx="5">
                  <c:v>Gravação</c:v>
                </c:pt>
                <c:pt idx="6">
                  <c:v>Service Desk</c:v>
                </c:pt>
              </c:strCache>
            </c:strRef>
          </c:cat>
          <c:val>
            <c:numRef>
              <c:f>'Slide 10'!$F$16:$L$16</c:f>
              <c:numCache>
                <c:formatCode>0.00</c:formatCode>
                <c:ptCount val="7"/>
                <c:pt idx="0">
                  <c:v>100</c:v>
                </c:pt>
                <c:pt idx="1">
                  <c:v>99.79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92.31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830720"/>
        <c:axId val="108832256"/>
      </c:barChart>
      <c:catAx>
        <c:axId val="108830720"/>
        <c:scaling>
          <c:orientation val="minMax"/>
        </c:scaling>
        <c:delete val="0"/>
        <c:axPos val="b"/>
        <c:majorTickMark val="out"/>
        <c:minorTickMark val="none"/>
        <c:tickLblPos val="nextTo"/>
        <c:crossAx val="108832256"/>
        <c:crosses val="autoZero"/>
        <c:auto val="1"/>
        <c:lblAlgn val="ctr"/>
        <c:lblOffset val="100"/>
        <c:noMultiLvlLbl val="0"/>
      </c:catAx>
      <c:valAx>
        <c:axId val="108832256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crossAx val="1088307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273627055581655"/>
          <c:y val="0.40241915746321166"/>
          <c:w val="0.1122262735493086"/>
          <c:h val="0.42180632463466616"/>
        </c:manualLayout>
      </c:layout>
      <c:overlay val="0"/>
      <c:txPr>
        <a:bodyPr/>
        <a:lstStyle/>
        <a:p>
          <a:pPr>
            <a:defRPr sz="900"/>
          </a:pPr>
          <a:endParaRPr lang="pt-BR"/>
        </a:p>
      </c:txPr>
    </c:legend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0.05043</cdr:x>
      <cdr:y>0.03344</cdr:y>
    </cdr:from>
    <cdr:to>
      <cdr:x>0.55202</cdr:x>
      <cdr:y>0.12681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306934" y="174570"/>
          <a:ext cx="3052915" cy="48736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pt-BR" sz="2000" b="1"/>
            <a:t>Site Augusta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0.07696</cdr:x>
      <cdr:y>0.05291</cdr:y>
    </cdr:from>
    <cdr:to>
      <cdr:x>0.57856</cdr:x>
      <cdr:y>0.14628</cdr:y>
    </cdr:to>
    <cdr:sp macro="" textlink="">
      <cdr:nvSpPr>
        <cdr:cNvPr id="2" name="CaixaDeTexto 1"/>
        <cdr:cNvSpPr txBox="1"/>
      </cdr:nvSpPr>
      <cdr:spPr>
        <a:xfrm xmlns:a="http://schemas.openxmlformats.org/drawingml/2006/main">
          <a:off x="460375" y="269875"/>
          <a:ext cx="3000375" cy="4762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2000" b="1"/>
            <a:t>Site Alegria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F7844-888F-4468-B341-BEC98A250A74}" type="datetimeFigureOut">
              <a:rPr lang="es-CL" smtClean="0"/>
              <a:pPr/>
              <a:t>08-09-2015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CA64F-A4B1-41B1-ABBF-A199FB7E3B67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038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75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6675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sz="10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s-CL" dirty="0" smtClean="0"/>
              <a:t>Baja operación</a:t>
            </a: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s-CL" dirty="0" smtClean="0"/>
              <a:t>Baja operación</a:t>
            </a: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s-CL" dirty="0" smtClean="0"/>
              <a:t>Baja operación</a:t>
            </a: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s-CL" dirty="0" smtClean="0"/>
              <a:t>Baja operación</a:t>
            </a: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E2C3B3-C51A-4911-9F74-AAAFE76F446C}" type="slidenum">
              <a:rPr lang="es-CL" smtClean="0"/>
              <a:pPr>
                <a:defRPr/>
              </a:pPr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4320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75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6675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>
              <a:latin typeface="Arial" charset="0"/>
              <a:ea typeface="MS PGothic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797-6AB8-4970-A81A-1202EEEEBF33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16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4EA1C-AF0E-4D40-B348-B5FC4A1CA0EA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04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AD402-DA94-4A91-AFF7-C7AA36CC2C5C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43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A06AD-73A1-4EB8-A27F-274FC4967B5B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6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EB314-7663-41C1-B86C-816BF5C26016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30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B9F9-7DFB-4E92-8803-CEC542803551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96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7EDC4-7BE6-4165-9785-A7DF88AF5BEE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80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ECBF-1A9B-4ACE-B359-BD1A6980C49A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11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8B74-7F47-4C55-B003-74F1D564E0A5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90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BFC0-FD19-41EB-B71D-6502A8C71753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11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4311-FDAC-4CED-9476-307EF0E2DB34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30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/>
          <p:cNvSpPr>
            <a:spLocks noGrp="1"/>
          </p:cNvSpPr>
          <p:nvPr>
            <p:ph sz="quarter" idx="11"/>
          </p:nvPr>
        </p:nvSpPr>
        <p:spPr>
          <a:xfrm>
            <a:off x="381000" y="1608848"/>
            <a:ext cx="7803444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buNone/>
              <a:defRPr lang="es-ES_tradnl" sz="1200" baseline="0" smtClean="0">
                <a:solidFill>
                  <a:srgbClr val="505150"/>
                </a:solidFill>
                <a:latin typeface="Trebuchet MS Bold" charset="0"/>
              </a:defRPr>
            </a:lvl1pPr>
            <a:lvl2pPr>
              <a:defRPr lang="es-ES_tradnl" smtClean="0">
                <a:latin typeface="Calibri" charset="0"/>
                <a:ea typeface="Geneva" charset="0"/>
              </a:defRPr>
            </a:lvl2pPr>
            <a:lvl3pPr>
              <a:defRPr lang="es-ES_tradnl" smtClean="0">
                <a:latin typeface="Calibri" charset="0"/>
                <a:ea typeface="Geneva" charset="0"/>
              </a:defRPr>
            </a:lvl3pPr>
            <a:lvl4pPr>
              <a:defRPr lang="es-ES_tradnl" smtClean="0">
                <a:latin typeface="Calibri" charset="0"/>
                <a:ea typeface="Geneva" charset="0"/>
              </a:defRPr>
            </a:lvl4pPr>
            <a:lvl5pPr>
              <a:defRPr lang="es-ES">
                <a:latin typeface="Calibri" charset="0"/>
                <a:ea typeface="Geneva" charset="0"/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1066800" y="2171700"/>
            <a:ext cx="6825544" cy="340360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Marcador de texto 6"/>
          <p:cNvSpPr>
            <a:spLocks noGrp="1"/>
          </p:cNvSpPr>
          <p:nvPr>
            <p:ph type="body" sz="quarter" idx="10"/>
          </p:nvPr>
        </p:nvSpPr>
        <p:spPr>
          <a:xfrm>
            <a:off x="310090" y="1143354"/>
            <a:ext cx="787435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buNone/>
              <a:defRPr lang="es-ES" sz="2400" baseline="0" dirty="0">
                <a:solidFill>
                  <a:srgbClr val="505150"/>
                </a:solidFill>
                <a:latin typeface="Trebuchet MS Bold" charset="0"/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CuadroTexto"/>
          <p:cNvSpPr txBox="1"/>
          <p:nvPr userDrawn="1">
            <p:custDataLst>
              <p:tags r:id="rId1"/>
            </p:custDataLst>
          </p:nvPr>
        </p:nvSpPr>
        <p:spPr>
          <a:xfrm>
            <a:off x="7728744" y="2633"/>
            <a:ext cx="1440000" cy="3079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 sz="1400" b="1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CL" dirty="0">
                <a:solidFill>
                  <a:prstClr val="white"/>
                </a:solidFill>
              </a:rPr>
              <a:t>YTD </a:t>
            </a:r>
            <a:r>
              <a:rPr lang="es-CL" dirty="0" smtClean="0">
                <a:solidFill>
                  <a:prstClr val="white"/>
                </a:solidFill>
              </a:rPr>
              <a:t>JUN 2013</a:t>
            </a:r>
            <a:endParaRPr lang="es-CL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0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4A45-395D-45E9-8B8D-69397969DE08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2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5438-A8CB-467D-BB0F-BDDB0A31F596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92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32C7-DF50-4901-B38B-3032DE261B39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49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ACCE-2096-4139-95BB-47CF456436D7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72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C1D3B-3AE4-450F-B33A-5E9E97CA83E8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5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7BBF0-4DA6-43A1-9A3C-EE518F42D802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00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21C0-2812-4FC7-9133-5B03E0BEB2CF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01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F3F82-6E25-47E0-BC78-F19CFAB30588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32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ADF4-67B8-4459-B2F0-33D96CD6D5A0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87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6023-6D8C-46AB-ADF2-85E2E7543AEA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16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1325-77EC-4C16-851B-3D262200CD4B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65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/>
          <p:cNvSpPr>
            <a:spLocks noGrp="1"/>
          </p:cNvSpPr>
          <p:nvPr>
            <p:ph sz="quarter" idx="11"/>
          </p:nvPr>
        </p:nvSpPr>
        <p:spPr>
          <a:xfrm>
            <a:off x="381000" y="1608848"/>
            <a:ext cx="7803444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buNone/>
              <a:defRPr lang="es-ES_tradnl" sz="1200" baseline="0" smtClean="0">
                <a:solidFill>
                  <a:srgbClr val="505150"/>
                </a:solidFill>
                <a:latin typeface="Trebuchet MS Bold" charset="0"/>
              </a:defRPr>
            </a:lvl1pPr>
            <a:lvl2pPr>
              <a:defRPr lang="es-ES_tradnl" smtClean="0">
                <a:latin typeface="Calibri" charset="0"/>
                <a:ea typeface="Geneva" charset="0"/>
              </a:defRPr>
            </a:lvl2pPr>
            <a:lvl3pPr>
              <a:defRPr lang="es-ES_tradnl" smtClean="0">
                <a:latin typeface="Calibri" charset="0"/>
                <a:ea typeface="Geneva" charset="0"/>
              </a:defRPr>
            </a:lvl3pPr>
            <a:lvl4pPr>
              <a:defRPr lang="es-ES_tradnl" smtClean="0">
                <a:latin typeface="Calibri" charset="0"/>
                <a:ea typeface="Geneva" charset="0"/>
              </a:defRPr>
            </a:lvl4pPr>
            <a:lvl5pPr>
              <a:defRPr lang="es-ES">
                <a:latin typeface="Calibri" charset="0"/>
                <a:ea typeface="Geneva" charset="0"/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1066800" y="2171700"/>
            <a:ext cx="6825544" cy="340360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Marcador de texto 6"/>
          <p:cNvSpPr>
            <a:spLocks noGrp="1"/>
          </p:cNvSpPr>
          <p:nvPr>
            <p:ph type="body" sz="quarter" idx="10"/>
          </p:nvPr>
        </p:nvSpPr>
        <p:spPr>
          <a:xfrm>
            <a:off x="310090" y="1143354"/>
            <a:ext cx="787435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0" indent="0">
              <a:buNone/>
              <a:defRPr lang="es-ES" sz="2400" baseline="0" dirty="0">
                <a:solidFill>
                  <a:srgbClr val="505150"/>
                </a:solidFill>
                <a:latin typeface="Trebuchet MS Bold" charset="0"/>
              </a:defRPr>
            </a:lvl1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CuadroTexto"/>
          <p:cNvSpPr txBox="1"/>
          <p:nvPr userDrawn="1">
            <p:custDataLst>
              <p:tags r:id="rId1"/>
            </p:custDataLst>
          </p:nvPr>
        </p:nvSpPr>
        <p:spPr>
          <a:xfrm>
            <a:off x="7728744" y="2633"/>
            <a:ext cx="1440000" cy="3079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s-CL"/>
            </a:defPPr>
            <a:lvl1pPr algn="ctr">
              <a:defRPr sz="1400" b="1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CL" dirty="0">
                <a:solidFill>
                  <a:prstClr val="white"/>
                </a:solidFill>
              </a:rPr>
              <a:t>YTD </a:t>
            </a:r>
            <a:r>
              <a:rPr lang="es-CL" dirty="0" smtClean="0">
                <a:solidFill>
                  <a:prstClr val="white"/>
                </a:solidFill>
              </a:rPr>
              <a:t>JUN 2013</a:t>
            </a:r>
            <a:endParaRPr lang="es-CL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Objeto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36505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17" name="think-cell Slide" r:id="rId16" imgW="360" imgH="360" progId="">
                  <p:embed/>
                </p:oleObj>
              </mc:Choice>
              <mc:Fallback>
                <p:oleObj name="think-cell Slide" r:id="rId16" imgW="360" imgH="360" progId="">
                  <p:embed/>
                  <p:pic>
                    <p:nvPicPr>
                      <p:cNvPr id="0" name="Picture 1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7AE7E1A-7622-49AF-8CC4-3EFA14800A6C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38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F1815C8-C5EB-49D2-94F7-981DE852953F}" type="datetime1">
              <a:rPr lang="es-CL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08-09-2015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CL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C60237-BBAB-49D1-B4E6-854B5D19BFA1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99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7.xml"/><Relationship Id="rId7" Type="http://schemas.openxmlformats.org/officeDocument/2006/relationships/image" Target="../media/image3.emf"/><Relationship Id="rId2" Type="http://schemas.openxmlformats.org/officeDocument/2006/relationships/tags" Target="../tags/tag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9.xml"/><Relationship Id="rId7" Type="http://schemas.openxmlformats.org/officeDocument/2006/relationships/image" Target="../media/image3.emf"/><Relationship Id="rId2" Type="http://schemas.openxmlformats.org/officeDocument/2006/relationships/tags" Target="../tags/tag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1.xml"/><Relationship Id="rId7" Type="http://schemas.openxmlformats.org/officeDocument/2006/relationships/image" Target="../media/image3.emf"/><Relationship Id="rId2" Type="http://schemas.openxmlformats.org/officeDocument/2006/relationships/tags" Target="../tags/tag10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3.xml"/><Relationship Id="rId7" Type="http://schemas.openxmlformats.org/officeDocument/2006/relationships/image" Target="../media/image3.emf"/><Relationship Id="rId2" Type="http://schemas.openxmlformats.org/officeDocument/2006/relationships/tags" Target="../tags/tag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5.xml"/><Relationship Id="rId7" Type="http://schemas.openxmlformats.org/officeDocument/2006/relationships/image" Target="../media/image3.emf"/><Relationship Id="rId2" Type="http://schemas.openxmlformats.org/officeDocument/2006/relationships/tags" Target="../tags/tag1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image" Target="../media/image3.emf"/><Relationship Id="rId2" Type="http://schemas.openxmlformats.org/officeDocument/2006/relationships/tags" Target="../tags/tag1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9.xml"/><Relationship Id="rId3" Type="http://schemas.openxmlformats.org/officeDocument/2006/relationships/tags" Target="../tags/tag19.xml"/><Relationship Id="rId7" Type="http://schemas.openxmlformats.org/officeDocument/2006/relationships/image" Target="../media/image3.emf"/><Relationship Id="rId12" Type="http://schemas.openxmlformats.org/officeDocument/2006/relationships/chart" Target="../charts/chart8.xml"/><Relationship Id="rId2" Type="http://schemas.openxmlformats.org/officeDocument/2006/relationships/tags" Target="../tags/tag1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11" Type="http://schemas.openxmlformats.org/officeDocument/2006/relationships/chart" Target="../charts/chart7.xml"/><Relationship Id="rId5" Type="http://schemas.openxmlformats.org/officeDocument/2006/relationships/notesSlide" Target="../notesSlides/notesSlide8.xml"/><Relationship Id="rId10" Type="http://schemas.openxmlformats.org/officeDocument/2006/relationships/chart" Target="../charts/chart6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14.xml"/><Relationship Id="rId3" Type="http://schemas.openxmlformats.org/officeDocument/2006/relationships/tags" Target="../tags/tag21.xml"/><Relationship Id="rId7" Type="http://schemas.openxmlformats.org/officeDocument/2006/relationships/image" Target="../media/image3.emf"/><Relationship Id="rId12" Type="http://schemas.openxmlformats.org/officeDocument/2006/relationships/chart" Target="../charts/chart13.xml"/><Relationship Id="rId2" Type="http://schemas.openxmlformats.org/officeDocument/2006/relationships/tags" Target="../tags/tag20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chart" Target="../charts/chart12.xml"/><Relationship Id="rId5" Type="http://schemas.openxmlformats.org/officeDocument/2006/relationships/notesSlide" Target="../notesSlides/notesSlide9.xml"/><Relationship Id="rId10" Type="http://schemas.openxmlformats.org/officeDocument/2006/relationships/chart" Target="../charts/chart11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3.xml"/><Relationship Id="rId7" Type="http://schemas.openxmlformats.org/officeDocument/2006/relationships/image" Target="../media/image3.emf"/><Relationship Id="rId2" Type="http://schemas.openxmlformats.org/officeDocument/2006/relationships/tags" Target="../tags/tag2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5.xml"/><Relationship Id="rId7" Type="http://schemas.openxmlformats.org/officeDocument/2006/relationships/image" Target="../media/image3.emf"/><Relationship Id="rId2" Type="http://schemas.openxmlformats.org/officeDocument/2006/relationships/tags" Target="../tags/tag2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1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7.xml"/><Relationship Id="rId7" Type="http://schemas.openxmlformats.org/officeDocument/2006/relationships/image" Target="../media/image3.emf"/><Relationship Id="rId2" Type="http://schemas.openxmlformats.org/officeDocument/2006/relationships/tags" Target="../tags/tag2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2.bin"/><Relationship Id="rId5" Type="http://schemas.openxmlformats.org/officeDocument/2006/relationships/notesSlide" Target="../notesSlides/notesSlide12.xml"/><Relationship Id="rId10" Type="http://schemas.openxmlformats.org/officeDocument/2006/relationships/chart" Target="../charts/chart18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9.xml"/><Relationship Id="rId7" Type="http://schemas.openxmlformats.org/officeDocument/2006/relationships/image" Target="../media/image3.emf"/><Relationship Id="rId2" Type="http://schemas.openxmlformats.org/officeDocument/2006/relationships/tags" Target="../tags/tag28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3.bin"/><Relationship Id="rId5" Type="http://schemas.openxmlformats.org/officeDocument/2006/relationships/notesSlide" Target="../notesSlides/notesSlide13.xml"/><Relationship Id="rId10" Type="http://schemas.openxmlformats.org/officeDocument/2006/relationships/chart" Target="../charts/chart20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1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1.xml"/><Relationship Id="rId7" Type="http://schemas.openxmlformats.org/officeDocument/2006/relationships/image" Target="../media/image3.emf"/><Relationship Id="rId2" Type="http://schemas.openxmlformats.org/officeDocument/2006/relationships/tags" Target="../tags/tag30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2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3.xml"/><Relationship Id="rId7" Type="http://schemas.openxmlformats.org/officeDocument/2006/relationships/image" Target="../media/image3.emf"/><Relationship Id="rId2" Type="http://schemas.openxmlformats.org/officeDocument/2006/relationships/tags" Target="../tags/tag3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5.bin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1.xml"/><Relationship Id="rId9" Type="http://schemas.openxmlformats.org/officeDocument/2006/relationships/chart" Target="../charts/chart2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5.xml"/><Relationship Id="rId7" Type="http://schemas.openxmlformats.org/officeDocument/2006/relationships/image" Target="../media/image3.emf"/><Relationship Id="rId2" Type="http://schemas.openxmlformats.org/officeDocument/2006/relationships/tags" Target="../tags/tag3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6.bin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729" name="Rectangle 7"/>
          <p:cNvSpPr>
            <a:spLocks noGrp="1" noChangeArrowheads="1"/>
          </p:cNvSpPr>
          <p:nvPr>
            <p:ph type="dt" sz="half" idx="4294967295"/>
          </p:nvPr>
        </p:nvSpPr>
        <p:spPr>
          <a:xfrm>
            <a:off x="3319946" y="5556625"/>
            <a:ext cx="2667000" cy="276999"/>
          </a:xfrm>
          <a:noFill/>
        </p:spPr>
        <p:txBody>
          <a:bodyPr lIns="0" tIns="0" rIns="0" bIns="0">
            <a:spAutoFit/>
          </a:bodyPr>
          <a:lstStyle/>
          <a:p>
            <a:pPr algn="ctr"/>
            <a:fld id="{77404185-8C59-46F6-BB10-E45C70B91619}" type="datetime1">
              <a:rPr lang="es-CL" sz="1800" smtClean="0">
                <a:solidFill>
                  <a:srgbClr val="808080"/>
                </a:solidFill>
                <a:latin typeface="Trebuchet MS Bold"/>
              </a:rPr>
              <a:pPr algn="ctr"/>
              <a:t>08-09-2015</a:t>
            </a:fld>
            <a:endParaRPr lang="es-ES_tradnl" sz="1800" dirty="0" smtClean="0">
              <a:solidFill>
                <a:srgbClr val="808080"/>
              </a:solidFill>
              <a:latin typeface="Trebuchet MS Bold"/>
            </a:endParaRPr>
          </a:p>
        </p:txBody>
      </p:sp>
      <p:sp>
        <p:nvSpPr>
          <p:cNvPr id="1865730" name="Rectangle 2"/>
          <p:cNvSpPr>
            <a:spLocks noGrp="1"/>
          </p:cNvSpPr>
          <p:nvPr>
            <p:ph type="ctrTitle" idx="4294967295"/>
            <p:custDataLst>
              <p:tags r:id="rId1"/>
            </p:custDataLst>
          </p:nvPr>
        </p:nvSpPr>
        <p:spPr>
          <a:xfrm>
            <a:off x="1259632" y="2278385"/>
            <a:ext cx="6787629" cy="1222053"/>
          </a:xfrm>
        </p:spPr>
        <p:txBody>
          <a:bodyPr>
            <a:noAutofit/>
          </a:bodyPr>
          <a:lstStyle/>
          <a:p>
            <a: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/>
            </a:r>
            <a:b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</a:br>
            <a: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>Reunião de status </a:t>
            </a:r>
            <a:b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</a:br>
            <a: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>Canais TI</a:t>
            </a:r>
            <a:b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</a:br>
            <a: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/>
            </a:r>
            <a:b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</a:br>
            <a:r>
              <a:rPr lang="pt-BR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>Agosto </a:t>
            </a:r>
            <a:r>
              <a:rPr lang="es-ES_tradnl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>2015</a:t>
            </a:r>
            <a: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/>
            </a:r>
            <a:b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</a:br>
            <a:endParaRPr lang="es-ES_tradnl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 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668344" y="0"/>
            <a:ext cx="14756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CL" sz="1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35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411459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6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79512" y="764704"/>
            <a:ext cx="8750206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>
              <a:spcAft>
                <a:spcPts val="0"/>
              </a:spcAft>
            </a:pPr>
            <a:r>
              <a:rPr lang="es-CL" sz="2000" b="1" dirty="0" smtClean="0">
                <a:latin typeface="Calibri" pitchFamily="34" charset="0"/>
              </a:rPr>
              <a:t>Resumo</a:t>
            </a:r>
          </a:p>
          <a:p>
            <a:pPr>
              <a:spcAft>
                <a:spcPts val="0"/>
              </a:spcAft>
            </a:pPr>
            <a:endParaRPr lang="es-CL" sz="2000" b="1" dirty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2000" b="1" dirty="0" smtClean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2000" b="1" dirty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2000" b="1" dirty="0" smtClean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2000" b="1" dirty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2000" b="1" dirty="0" smtClean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r>
              <a:rPr lang="es-CL" sz="2000" b="1" dirty="0" smtClean="0">
                <a:latin typeface="Calibri" pitchFamily="34" charset="0"/>
              </a:rPr>
              <a:t>Eventos</a:t>
            </a:r>
          </a:p>
          <a:p>
            <a:pPr>
              <a:spcAft>
                <a:spcPts val="0"/>
              </a:spcAft>
            </a:pPr>
            <a:endParaRPr lang="es-CL" sz="1600" b="1" dirty="0" smtClean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1600" dirty="0" smtClean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1600" dirty="0" smtClean="0">
              <a:latin typeface="Calibri" pitchFamily="34" charset="0"/>
            </a:endParaRPr>
          </a:p>
          <a:p>
            <a:pPr>
              <a:spcAft>
                <a:spcPts val="0"/>
              </a:spcAft>
              <a:buFont typeface="Arial" pitchFamily="34" charset="0"/>
              <a:buChar char="•"/>
            </a:pPr>
            <a:endParaRPr lang="es-CL" sz="1600" dirty="0" smtClean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CL" sz="1600" dirty="0" smtClean="0">
              <a:latin typeface="Calibri" pitchFamily="34" charset="0"/>
            </a:endParaRP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853276"/>
              </p:ext>
            </p:extLst>
          </p:nvPr>
        </p:nvGraphicFramePr>
        <p:xfrm>
          <a:off x="179511" y="3284984"/>
          <a:ext cx="8750207" cy="304467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960441"/>
                <a:gridCol w="1502396"/>
                <a:gridCol w="3287370"/>
              </a:tblGrid>
              <a:tr h="366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Data/Hora -</a:t>
                      </a: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Finalização</a:t>
                      </a: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Detalhe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190872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de URA </a:t>
                      </a:r>
                      <a:r>
                        <a:rPr lang="pt-BR" sz="1050" b="0" i="0" u="none" strike="noStrike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ringando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, no </a:t>
                      </a:r>
                      <a:r>
                        <a:rPr lang="pt-BR" sz="1050" b="0" i="0" u="none" strike="noStrike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4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28/08/2015 08:56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Normalizado, após resincronismo do Talker 4</a:t>
                      </a:r>
                    </a:p>
                  </a:txBody>
                  <a:tcPr marL="0" marR="0" marT="0" marB="0" anchor="ctr"/>
                </a:tc>
              </a:tr>
              <a:tr h="209044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de URA </a:t>
                      </a:r>
                      <a:r>
                        <a:rPr lang="pt-BR" sz="1050" b="0" i="0" u="none" strike="noStrike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ringando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, no </a:t>
                      </a:r>
                      <a:r>
                        <a:rPr lang="pt-BR" sz="1050" b="0" i="0" u="none" strike="noStrike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7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26/08/2015 15:24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Normalizado, após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resincronismo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do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7</a:t>
                      </a:r>
                    </a:p>
                  </a:txBody>
                  <a:tcPr marL="0" marR="0" marT="0" marB="0" anchor="ctr"/>
                </a:tc>
              </a:tr>
              <a:tr h="301307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Acionamos a contingência e a 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ligação chama por mais ou menos 5 vezes e 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após deriva 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para o operador, mas enquanto isso o operador fica ouvindo uma mensagem: 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“Você 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sabia que acessar pelo site é muito mais rápido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....”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21/08/2015 10:11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Realizado o restart do serviço de roteamento Genesys, o atendimento foi normalizado.</a:t>
                      </a:r>
                    </a:p>
                  </a:txBody>
                  <a:tcPr marL="0" marR="0" marT="0" marB="0" anchor="ctr"/>
                </a:tc>
              </a:tr>
              <a:tr h="207563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 na URA </a:t>
                      </a:r>
                      <a:r>
                        <a:rPr lang="pt-BR" sz="105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Fale,  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as ligações apresentam tom de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11/08/2015 10:34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 após resincronismo do talker</a:t>
                      </a:r>
                    </a:p>
                  </a:txBody>
                  <a:tcPr marL="0" marR="0" marT="0" marB="0" anchor="ctr"/>
                </a:tc>
              </a:tr>
              <a:tr h="219772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do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7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ringando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06/08/2015 08:05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 7 normalizado, houve uma falha de memória no servidor que ocorreu o travamento de um dos serviços Genesys, após o restart do serviço o Talker foi normalizado</a:t>
                      </a:r>
                    </a:p>
                  </a:txBody>
                  <a:tcPr marL="0" marR="0" marT="0" marB="0" anchor="ctr"/>
                </a:tc>
              </a:tr>
              <a:tr h="219772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 na URA Fale as ligações apresentam tom de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03/08/2015 12:02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 após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resincronismo</a:t>
                      </a:r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do </a:t>
                      </a:r>
                      <a:r>
                        <a:rPr lang="pt-BR" sz="105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endParaRPr lang="pt-BR" sz="105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</a:tr>
              <a:tr h="219772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13/08/2015 15:52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ctr"/>
                </a:tc>
              </a:tr>
              <a:tr h="219772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05/08/2015 08:51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516" y="764704"/>
            <a:ext cx="3268980" cy="2051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633583"/>
              </p:ext>
            </p:extLst>
          </p:nvPr>
        </p:nvGraphicFramePr>
        <p:xfrm>
          <a:off x="1043610" y="1196752"/>
          <a:ext cx="4672912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0038"/>
                <a:gridCol w="1152128"/>
                <a:gridCol w="3160746"/>
              </a:tblGrid>
              <a:tr h="1346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Ítem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Detalhe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1346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Operação</a:t>
                      </a:r>
                      <a:r>
                        <a:rPr lang="es-CL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de TI</a:t>
                      </a:r>
                      <a:endParaRPr lang="es-CL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Chamados referente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ao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mês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de Agosto/2015</a:t>
                      </a:r>
                    </a:p>
                  </a:txBody>
                  <a:tcPr/>
                </a:tc>
              </a:tr>
              <a:tr h="134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134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134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4" name="23 Grupo"/>
          <p:cNvGrpSpPr/>
          <p:nvPr/>
        </p:nvGrpSpPr>
        <p:grpSpPr>
          <a:xfrm>
            <a:off x="107504" y="1268760"/>
            <a:ext cx="792089" cy="1008112"/>
            <a:chOff x="611561" y="4149080"/>
            <a:chExt cx="1224136" cy="1548000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1" y="4149080"/>
              <a:ext cx="1224136" cy="154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26 Elipse"/>
            <p:cNvSpPr/>
            <p:nvPr/>
          </p:nvSpPr>
          <p:spPr bwMode="auto">
            <a:xfrm>
              <a:off x="1043608" y="5226508"/>
              <a:ext cx="359999" cy="360001"/>
            </a:xfrm>
            <a:prstGeom prst="ellipse">
              <a:avLst/>
            </a:prstGeom>
            <a:solidFill>
              <a:schemeClr val="tx1">
                <a:alpha val="5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CL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</a:endParaRPr>
            </a:p>
          </p:txBody>
        </p:sp>
        <p:sp>
          <p:nvSpPr>
            <p:cNvPr id="28" name="27 Elipse"/>
            <p:cNvSpPr/>
            <p:nvPr/>
          </p:nvSpPr>
          <p:spPr bwMode="auto">
            <a:xfrm>
              <a:off x="1043608" y="4784222"/>
              <a:ext cx="359999" cy="360001"/>
            </a:xfrm>
            <a:prstGeom prst="ellipse">
              <a:avLst/>
            </a:prstGeom>
            <a:solidFill>
              <a:schemeClr val="tx1">
                <a:alpha val="5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CL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</a:endParaRPr>
            </a:p>
          </p:txBody>
        </p:sp>
      </p:grpSp>
      <p:sp>
        <p:nvSpPr>
          <p:cNvPr id="3" name="2 Elipse"/>
          <p:cNvSpPr/>
          <p:nvPr/>
        </p:nvSpPr>
        <p:spPr>
          <a:xfrm>
            <a:off x="1151640" y="1592816"/>
            <a:ext cx="180000" cy="180000"/>
          </a:xfrm>
          <a:prstGeom prst="ellipse">
            <a:avLst/>
          </a:prstGeom>
          <a:solidFill>
            <a:srgbClr val="00B05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4195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81257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246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1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79512" y="808024"/>
            <a:ext cx="8750206" cy="535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/>
          <a:p>
            <a:pPr>
              <a:spcAft>
                <a:spcPts val="0"/>
              </a:spcAft>
            </a:pPr>
            <a:r>
              <a:rPr lang="es-ES_tradnl" sz="2000" b="1" dirty="0" err="1" smtClean="0">
                <a:latin typeface="Calibri" pitchFamily="34" charset="0"/>
              </a:rPr>
              <a:t>Detalhe</a:t>
            </a:r>
            <a:endParaRPr lang="es-ES_tradnl" sz="2000" b="1" dirty="0">
              <a:latin typeface="Calibri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s-ES_tradnl" sz="2000" dirty="0">
                <a:latin typeface="Calibri" pitchFamily="34" charset="0"/>
              </a:rPr>
              <a:t> </a:t>
            </a:r>
            <a:r>
              <a:rPr lang="es-ES_tradnl" sz="1600" dirty="0">
                <a:latin typeface="Calibri" pitchFamily="34" charset="0"/>
              </a:rPr>
              <a:t>Incidentes</a:t>
            </a:r>
          </a:p>
          <a:p>
            <a:pPr>
              <a:spcAft>
                <a:spcPts val="0"/>
              </a:spcAft>
            </a:pPr>
            <a:endParaRPr lang="es-ES_tradnl" sz="2800" b="1" dirty="0">
              <a:solidFill>
                <a:srgbClr val="FF0000"/>
              </a:solidFill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ES_tradnl" sz="2800" b="1" dirty="0">
              <a:latin typeface="Calibri" pitchFamily="34" charset="0"/>
            </a:endParaRPr>
          </a:p>
          <a:p>
            <a:pPr>
              <a:spcAft>
                <a:spcPts val="0"/>
              </a:spcAft>
            </a:pPr>
            <a:endParaRPr lang="es-ES_tradnl" sz="2800" b="1" dirty="0">
              <a:latin typeface="Calibri" pitchFamily="34" charset="0"/>
            </a:endParaRP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791522"/>
              </p:ext>
            </p:extLst>
          </p:nvPr>
        </p:nvGraphicFramePr>
        <p:xfrm>
          <a:off x="242882" y="1519024"/>
          <a:ext cx="8686836" cy="443025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08838"/>
                <a:gridCol w="720080"/>
                <a:gridCol w="864096"/>
                <a:gridCol w="864096"/>
                <a:gridCol w="792088"/>
                <a:gridCol w="792088"/>
                <a:gridCol w="1008112"/>
                <a:gridCol w="1837438"/>
              </a:tblGrid>
              <a:tr h="43772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  <a:endParaRPr lang="es-E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L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Data/Hora -Inicio</a:t>
                      </a:r>
                      <a:endParaRPr lang="es-E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Data/Hora – </a:t>
                      </a:r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s-E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Downtime</a:t>
                      </a:r>
                      <a:endParaRPr lang="es-E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Serviço</a:t>
                      </a:r>
                      <a:r>
                        <a:rPr lang="es-CL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afetado</a:t>
                      </a:r>
                      <a:endParaRPr lang="es-CL" sz="11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E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Impacto</a:t>
                      </a:r>
                      <a:endParaRPr lang="es-E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s-E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Chamadas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Ação</a:t>
                      </a:r>
                      <a:r>
                        <a:rPr lang="es-CL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paliativa</a:t>
                      </a:r>
                      <a:endParaRPr lang="es-CL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96" marR="7096" marT="709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L" sz="1100" b="1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r>
                        <a:rPr lang="es-CL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definitiva</a:t>
                      </a:r>
                      <a:endParaRPr lang="es-CL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96" marR="7096" marT="7096" marB="0" anchor="ctr"/>
                </a:tc>
              </a:tr>
              <a:tr h="307504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de URA </a:t>
                      </a:r>
                      <a:r>
                        <a:rPr lang="pt-BR" sz="900" b="0" i="0" u="none" strike="noStrike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ringando</a:t>
                      </a:r>
                      <a:r>
                        <a:rPr lang="pt-BR" sz="90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,</a:t>
                      </a:r>
                      <a:r>
                        <a:rPr lang="pt-BR" sz="900" b="0" i="0" u="none" strike="noStrike" baseline="0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no </a:t>
                      </a:r>
                      <a:r>
                        <a:rPr lang="pt-BR" sz="900" b="0" i="0" u="none" strike="noStrike" baseline="0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r>
                        <a:rPr lang="pt-BR" sz="900" b="0" i="0" u="none" strike="noStrike" baseline="0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4</a:t>
                      </a:r>
                      <a:endParaRPr lang="pt-BR" sz="9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28/08/2015 07:52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28/08/2015 08:56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01:03:31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Reservas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Normalizado, após resincronismo do Talker 4</a:t>
                      </a:r>
                    </a:p>
                  </a:txBody>
                  <a:tcPr marL="0" marR="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de URA </a:t>
                      </a:r>
                      <a:r>
                        <a:rPr lang="pt-BR" sz="900" b="0" i="0" u="none" strike="noStrike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ringando</a:t>
                      </a:r>
                      <a:r>
                        <a:rPr lang="pt-BR" sz="90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, no</a:t>
                      </a:r>
                      <a:r>
                        <a:rPr lang="pt-BR" sz="900" b="0" i="0" u="none" strike="noStrike" baseline="0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900" b="0" i="0" u="none" strike="noStrike" baseline="0" dirty="0" err="1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r>
                        <a:rPr lang="pt-BR" sz="900" b="0" i="0" u="none" strike="noStrike" baseline="0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7</a:t>
                      </a:r>
                      <a:endParaRPr lang="pt-BR" sz="9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26/08/2015 14:46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26/08/2015 15:24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00:37:52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Reservas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Normalizado, após resincronismo do Talker 7</a:t>
                      </a:r>
                    </a:p>
                  </a:txBody>
                  <a:tcPr marL="0" marR="0" marT="0" marB="0" anchor="ctr"/>
                </a:tc>
              </a:tr>
              <a:tr h="486902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+mn-lt"/>
                        </a:rPr>
                        <a:t>Acionamos a contingência e a ligação chama por mais ou menos 5 vezes e após deriva para o operador, mas enquanto isso o operador fica ouvindo uma mensagem: “Você sabia que acessar pelo site é muito mais rápido....”</a:t>
                      </a:r>
                      <a:endParaRPr lang="pt-BR" sz="900" b="0" i="0" u="none" strike="noStrike" dirty="0">
                        <a:solidFill>
                          <a:srgbClr val="366092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21/08/2015 07:46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21/08/2015 10:11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02:25:22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Fale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Realizado o restart do serviço de roteamento Genesys, o atendimento foi normalizado.</a:t>
                      </a:r>
                    </a:p>
                  </a:txBody>
                  <a:tcPr marL="0" marR="0" marT="0" marB="0" anchor="ctr"/>
                </a:tc>
              </a:tr>
              <a:tr h="312657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 na URA Fale as ligações apresentam tom de ring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11/08/2015 10:06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11/08/2015 10:34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00:28:04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Fale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 após resincronismo do talker</a:t>
                      </a:r>
                    </a:p>
                  </a:txBody>
                  <a:tcPr marL="0" marR="0" marT="0" marB="0" anchor="ctr"/>
                </a:tc>
              </a:tr>
              <a:tr h="340492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do talker 7 ringando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06/08/2015 07:47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06/08/2015 08:05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00:17:23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Reservas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 7 normalizado, houve uma falha de memória no servidor que ocorreu o travamento de um dos serviços Genesys, após o restart do serviço o Talker foi normalizado</a:t>
                      </a:r>
                    </a:p>
                  </a:txBody>
                  <a:tcPr marL="0" marR="0" marT="0" marB="0" anchor="ctr"/>
                </a:tc>
              </a:tr>
              <a:tr h="43031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 na URA Fale as ligações apresentam tom de ring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03/08/2015 11:30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03/08/2015 12:02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00:31:25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Fale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 após </a:t>
                      </a:r>
                      <a:r>
                        <a:rPr lang="pt-BR" sz="9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resincronismo</a:t>
                      </a:r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do </a:t>
                      </a:r>
                      <a:r>
                        <a:rPr lang="pt-BR" sz="9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endParaRPr lang="pt-BR" sz="9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</a:tr>
              <a:tr h="504056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13/08/2015 15:06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13/08/2015 15:52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00:46:00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Cargo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Normalizado, após </a:t>
                      </a:r>
                      <a:r>
                        <a:rPr lang="pt-BR" sz="9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resincronismo</a:t>
                      </a:r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do </a:t>
                      </a:r>
                      <a:r>
                        <a:rPr lang="pt-BR" sz="9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endParaRPr lang="pt-BR" sz="9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</a:tr>
              <a:tr h="504056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05/08/2015 08:02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Arial"/>
                        </a:rPr>
                        <a:t>05/08/2015 08:51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00:49:00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Cargo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N/A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Normalizado, após </a:t>
                      </a:r>
                      <a:r>
                        <a:rPr lang="pt-BR" sz="9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resincronismo</a:t>
                      </a:r>
                      <a:r>
                        <a:rPr lang="pt-BR" sz="9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 do </a:t>
                      </a:r>
                      <a:r>
                        <a:rPr lang="pt-BR" sz="9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Talker</a:t>
                      </a:r>
                      <a:endParaRPr lang="pt-BR" sz="9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60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170109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49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>
          <a:xfrm>
            <a:off x="5364088" y="6520259"/>
            <a:ext cx="1557536" cy="365125"/>
          </a:xfrm>
        </p:spPr>
        <p:txBody>
          <a:bodyPr/>
          <a:lstStyle/>
          <a:p>
            <a:pPr algn="r"/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Indicadores: Incidentes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/>
          <p:cNvSpPr txBox="1"/>
          <p:nvPr/>
        </p:nvSpPr>
        <p:spPr>
          <a:xfrm>
            <a:off x="2195736" y="1332467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Itens contratuais - % Disponibilidade Mensal</a:t>
            </a:r>
            <a:endParaRPr lang="pt-BR" b="1" dirty="0"/>
          </a:p>
        </p:txBody>
      </p:sp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7687705"/>
              </p:ext>
            </p:extLst>
          </p:nvPr>
        </p:nvGraphicFramePr>
        <p:xfrm>
          <a:off x="0" y="1916832"/>
          <a:ext cx="92016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84826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9075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1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>
          <a:xfrm>
            <a:off x="5364088" y="6520259"/>
            <a:ext cx="1557536" cy="365125"/>
          </a:xfrm>
        </p:spPr>
        <p:txBody>
          <a:bodyPr/>
          <a:lstStyle/>
          <a:p>
            <a:pPr algn="r"/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Indicadores: Incidentes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/>
          <p:cNvSpPr txBox="1"/>
          <p:nvPr/>
        </p:nvSpPr>
        <p:spPr>
          <a:xfrm>
            <a:off x="2195736" y="1332467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Itens contratuais - % Disponibilidade Mensal – </a:t>
            </a:r>
          </a:p>
          <a:p>
            <a:r>
              <a:rPr lang="pt-BR" b="1" dirty="0" smtClean="0"/>
              <a:t>Cargo – Alegria e Augusta</a:t>
            </a:r>
            <a:endParaRPr lang="pt-BR" b="1" dirty="0"/>
          </a:p>
        </p:txBody>
      </p:sp>
      <p:graphicFrame>
        <p:nvGraphicFramePr>
          <p:cNvPr id="17" name="Gráfico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9252793"/>
              </p:ext>
            </p:extLst>
          </p:nvPr>
        </p:nvGraphicFramePr>
        <p:xfrm>
          <a:off x="107504" y="2276872"/>
          <a:ext cx="92016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61223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083004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03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1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Incidentes – Reservas e </a:t>
            </a:r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Fale</a:t>
            </a:r>
            <a:endParaRPr lang="es-CL" sz="24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3622155320"/>
              </p:ext>
            </p:extLst>
          </p:nvPr>
        </p:nvGraphicFramePr>
        <p:xfrm>
          <a:off x="467544" y="692696"/>
          <a:ext cx="4572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37234"/>
              </p:ext>
            </p:extLst>
          </p:nvPr>
        </p:nvGraphicFramePr>
        <p:xfrm>
          <a:off x="467544" y="4393912"/>
          <a:ext cx="4464496" cy="1912855"/>
        </p:xfrm>
        <a:graphic>
          <a:graphicData uri="http://schemas.openxmlformats.org/drawingml/2006/table">
            <a:tbl>
              <a:tblPr/>
              <a:tblGrid>
                <a:gridCol w="592743"/>
                <a:gridCol w="3871753"/>
              </a:tblGrid>
              <a:tr h="22558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de URA </a:t>
                      </a:r>
                      <a:r>
                        <a:rPr lang="pt-BR" sz="11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ringando</a:t>
                      </a:r>
                      <a:endParaRPr lang="pt-BR" sz="11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de URA ringando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69874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Com a URA em contingência a ligação chama por mais ou menos 5 vezes e após deriva para o operador, mas enquanto isso o operador fica ouvindo uma mensagem: </a:t>
                      </a:r>
                      <a:r>
                        <a:rPr lang="pt-BR" sz="110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“Você </a:t>
                      </a:r>
                      <a:r>
                        <a:rPr lang="pt-BR" sz="11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sabia que acessar pelo site é muito mais rápido</a:t>
                      </a:r>
                      <a:r>
                        <a:rPr lang="pt-BR" sz="1100" b="0" i="0" u="none" strike="noStrike" dirty="0" smtClean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....”</a:t>
                      </a:r>
                      <a:endParaRPr lang="pt-BR" sz="11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06/08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 na URA Fale as ligações apresentam tom de ring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44432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Portas do talker 7 ringando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746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 na URA Fale as ligações apresentam tom de </a:t>
                      </a:r>
                      <a:r>
                        <a:rPr lang="pt-BR" sz="1100" b="0" i="0" u="none" strike="noStrike" dirty="0" err="1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ring</a:t>
                      </a:r>
                      <a:endParaRPr lang="pt-BR" sz="11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8059"/>
              </p:ext>
            </p:extLst>
          </p:nvPr>
        </p:nvGraphicFramePr>
        <p:xfrm>
          <a:off x="5436096" y="1484784"/>
          <a:ext cx="3200356" cy="762000"/>
        </p:xfrm>
        <a:graphic>
          <a:graphicData uri="http://schemas.openxmlformats.org/drawingml/2006/table">
            <a:tbl>
              <a:tblPr/>
              <a:tblGrid>
                <a:gridCol w="853428"/>
                <a:gridCol w="1607290"/>
                <a:gridCol w="739638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Solicitações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 Chamados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SLA (Mês)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99,28%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CTI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07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96457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71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Incidentes TAM Cargo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2442854624"/>
              </p:ext>
            </p:extLst>
          </p:nvPr>
        </p:nvGraphicFramePr>
        <p:xfrm>
          <a:off x="467544" y="692696"/>
          <a:ext cx="45720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73749"/>
              </p:ext>
            </p:extLst>
          </p:nvPr>
        </p:nvGraphicFramePr>
        <p:xfrm>
          <a:off x="467544" y="4509120"/>
          <a:ext cx="4464496" cy="1754741"/>
        </p:xfrm>
        <a:graphic>
          <a:graphicData uri="http://schemas.openxmlformats.org/drawingml/2006/table">
            <a:tbl>
              <a:tblPr/>
              <a:tblGrid>
                <a:gridCol w="592743"/>
                <a:gridCol w="3871753"/>
              </a:tblGrid>
              <a:tr h="22558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13/08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05/08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366092"/>
                          </a:solidFill>
                          <a:effectLst/>
                          <a:latin typeface="Calibri"/>
                        </a:rPr>
                        <a:t>Ao ligarmos na URA Cargo e selecionarmos a opção 1, a ligação fica muda e em seguida é desconectada.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69874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02406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000" b="0" i="0" u="none" strike="noStrike" dirty="0">
                        <a:solidFill>
                          <a:srgbClr val="366092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44432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pt-BR" sz="1000" b="0" i="0" u="none" strike="noStrike" kern="1200" dirty="0">
                        <a:solidFill>
                          <a:srgbClr val="366092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746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pt-BR" sz="1000" b="0" i="0" u="none" strike="noStrike" kern="1200" dirty="0">
                        <a:solidFill>
                          <a:srgbClr val="366092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270012"/>
              </p:ext>
            </p:extLst>
          </p:nvPr>
        </p:nvGraphicFramePr>
        <p:xfrm>
          <a:off x="5436096" y="1484784"/>
          <a:ext cx="3200356" cy="762000"/>
        </p:xfrm>
        <a:graphic>
          <a:graphicData uri="http://schemas.openxmlformats.org/drawingml/2006/table">
            <a:tbl>
              <a:tblPr/>
              <a:tblGrid>
                <a:gridCol w="853428"/>
                <a:gridCol w="1607290"/>
                <a:gridCol w="739638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Solicitações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 Chamados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SLA (Mês)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URA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99,79%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CTI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100,00%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46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785716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24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1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>
          <a:xfrm>
            <a:off x="5364088" y="6520259"/>
            <a:ext cx="1557536" cy="365125"/>
          </a:xfrm>
        </p:spPr>
        <p:txBody>
          <a:bodyPr/>
          <a:lstStyle/>
          <a:p>
            <a:pPr algn="r"/>
            <a:fld id="{1ABB2422-FBD3-4421-B2D5-D615C5F59A42}" type="datetime1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 algn="r"/>
              <a:t>08-09-2015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31640" y="6448251"/>
            <a:ext cx="3968080" cy="365125"/>
          </a:xfrm>
        </p:spPr>
        <p:txBody>
          <a:bodyPr/>
          <a:lstStyle/>
          <a:p>
            <a:r>
              <a:rPr lang="es-CL" sz="1000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Incidentes – Reservas e </a:t>
            </a:r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Fale</a:t>
            </a:r>
            <a:endParaRPr lang="es-CL" sz="24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/>
          <p:cNvSpPr txBox="1"/>
          <p:nvPr/>
        </p:nvSpPr>
        <p:spPr>
          <a:xfrm>
            <a:off x="2843808" y="101966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% Disponibilidade de Serviços</a:t>
            </a:r>
            <a:endParaRPr lang="pt-BR" dirty="0"/>
          </a:p>
        </p:txBody>
      </p:sp>
      <p:graphicFrame>
        <p:nvGraphicFramePr>
          <p:cNvPr id="22" name="Gráfico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5041265"/>
              </p:ext>
            </p:extLst>
          </p:nvPr>
        </p:nvGraphicFramePr>
        <p:xfrm>
          <a:off x="2411760" y="3972048"/>
          <a:ext cx="4536504" cy="2281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" name="Gráfico 14"/>
          <p:cNvGraphicFramePr/>
          <p:nvPr>
            <p:extLst>
              <p:ext uri="{D42A27DB-BD31-4B8C-83A1-F6EECF244321}">
                <p14:modId xmlns:p14="http://schemas.microsoft.com/office/powerpoint/2010/main" val="2286042793"/>
              </p:ext>
            </p:extLst>
          </p:nvPr>
        </p:nvGraphicFramePr>
        <p:xfrm>
          <a:off x="-1214478" y="1285860"/>
          <a:ext cx="10896600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7" name="Gráfico 16"/>
          <p:cNvGraphicFramePr/>
          <p:nvPr>
            <p:extLst>
              <p:ext uri="{D42A27DB-BD31-4B8C-83A1-F6EECF244321}">
                <p14:modId xmlns:p14="http://schemas.microsoft.com/office/powerpoint/2010/main" val="1795899604"/>
              </p:ext>
            </p:extLst>
          </p:nvPr>
        </p:nvGraphicFramePr>
        <p:xfrm>
          <a:off x="2428860" y="3929066"/>
          <a:ext cx="4429156" cy="2500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1" name="Gráfico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1933604"/>
              </p:ext>
            </p:extLst>
          </p:nvPr>
        </p:nvGraphicFramePr>
        <p:xfrm>
          <a:off x="-1044624" y="1389000"/>
          <a:ext cx="10896600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8" name="Gráfico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563043"/>
              </p:ext>
            </p:extLst>
          </p:nvPr>
        </p:nvGraphicFramePr>
        <p:xfrm>
          <a:off x="2555776" y="3933056"/>
          <a:ext cx="4608512" cy="2592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extLst>
      <p:ext uri="{BB962C8B-B14F-4D97-AF65-F5344CB8AC3E}">
        <p14:creationId xmlns:p14="http://schemas.microsoft.com/office/powerpoint/2010/main" val="59895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33763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96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>
          <a:xfrm>
            <a:off x="5364088" y="6520259"/>
            <a:ext cx="1557536" cy="365125"/>
          </a:xfrm>
        </p:spPr>
        <p:txBody>
          <a:bodyPr/>
          <a:lstStyle/>
          <a:p>
            <a:pPr algn="r"/>
            <a:fld id="{1ABB2422-FBD3-4421-B2D5-D615C5F59A42}" type="datetime1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 algn="r"/>
              <a:t>08-09-2015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31640" y="6448251"/>
            <a:ext cx="3968080" cy="365125"/>
          </a:xfrm>
        </p:spPr>
        <p:txBody>
          <a:bodyPr/>
          <a:lstStyle/>
          <a:p>
            <a:r>
              <a:rPr lang="es-CL" sz="1000" smtClean="0">
                <a:solidFill>
                  <a:prstClr val="black">
                    <a:tint val="75000"/>
                  </a:prstClr>
                </a:solidFill>
              </a:rPr>
              <a:t>Estatus CCO Mes en Curso hasta el 23 Septiembre 10:00 hrs</a:t>
            </a:r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Incidentes – TAM Cargo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/>
          <p:cNvSpPr txBox="1"/>
          <p:nvPr/>
        </p:nvSpPr>
        <p:spPr>
          <a:xfrm>
            <a:off x="2285281" y="1052736"/>
            <a:ext cx="457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          % Disponibilidade de Serviços</a:t>
            </a:r>
            <a:endParaRPr lang="pt-BR" dirty="0"/>
          </a:p>
        </p:txBody>
      </p:sp>
      <p:graphicFrame>
        <p:nvGraphicFramePr>
          <p:cNvPr id="22" name="Gráfico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4126733"/>
              </p:ext>
            </p:extLst>
          </p:nvPr>
        </p:nvGraphicFramePr>
        <p:xfrm>
          <a:off x="2411760" y="3972048"/>
          <a:ext cx="4536504" cy="2281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" name="Gráfico 14"/>
          <p:cNvGraphicFramePr/>
          <p:nvPr>
            <p:extLst>
              <p:ext uri="{D42A27DB-BD31-4B8C-83A1-F6EECF244321}">
                <p14:modId xmlns:p14="http://schemas.microsoft.com/office/powerpoint/2010/main" val="2276730959"/>
              </p:ext>
            </p:extLst>
          </p:nvPr>
        </p:nvGraphicFramePr>
        <p:xfrm>
          <a:off x="-1214478" y="1285860"/>
          <a:ext cx="10896600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7" name="Gráfico 16"/>
          <p:cNvGraphicFramePr/>
          <p:nvPr>
            <p:extLst>
              <p:ext uri="{D42A27DB-BD31-4B8C-83A1-F6EECF244321}">
                <p14:modId xmlns:p14="http://schemas.microsoft.com/office/powerpoint/2010/main" val="4272947229"/>
              </p:ext>
            </p:extLst>
          </p:nvPr>
        </p:nvGraphicFramePr>
        <p:xfrm>
          <a:off x="2428860" y="3929066"/>
          <a:ext cx="4429156" cy="2500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1" name="Gráfico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5990036"/>
              </p:ext>
            </p:extLst>
          </p:nvPr>
        </p:nvGraphicFramePr>
        <p:xfrm>
          <a:off x="-1044624" y="1389000"/>
          <a:ext cx="10896600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18" name="Gráfico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9079335"/>
              </p:ext>
            </p:extLst>
          </p:nvPr>
        </p:nvGraphicFramePr>
        <p:xfrm>
          <a:off x="2555776" y="38714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  <p:extLst>
      <p:ext uri="{BB962C8B-B14F-4D97-AF65-F5344CB8AC3E}">
        <p14:creationId xmlns:p14="http://schemas.microsoft.com/office/powerpoint/2010/main" val="58421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910218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18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Incidentes </a:t>
            </a:r>
            <a:r>
              <a:rPr lang="pt-BR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Aplic</a:t>
            </a:r>
            <a:r>
              <a:rPr lang="pt-BR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Reservas e Fale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539552" y="868070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% de Incidentes por Aplicação – Alegria e Augusta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650317"/>
              </p:ext>
            </p:extLst>
          </p:nvPr>
        </p:nvGraphicFramePr>
        <p:xfrm>
          <a:off x="5580112" y="1252833"/>
          <a:ext cx="3401938" cy="2309918"/>
        </p:xfrm>
        <a:graphic>
          <a:graphicData uri="http://schemas.openxmlformats.org/drawingml/2006/table">
            <a:tbl>
              <a:tblPr/>
              <a:tblGrid>
                <a:gridCol w="2609850"/>
                <a:gridCol w="792088"/>
              </a:tblGrid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Aplicação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Manutenção de Máquinas/Problemas Windows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Headset/Escuta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Avaya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Internet </a:t>
                      </a:r>
                      <a:r>
                        <a:rPr lang="pt-B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Explorer - Configuração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Amadeus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Instalações/</a:t>
                      </a:r>
                      <a:r>
                        <a:rPr lang="pt-B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Transferencia</a:t>
                      </a:r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 Perfis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tClock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Máquina fora do </a:t>
                      </a:r>
                      <a:r>
                        <a:rPr lang="pt-B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dominio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ScreenPop</a:t>
                      </a:r>
                      <a:endParaRPr lang="pt-BR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Outlook/Pacote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720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007571"/>
              </p:ext>
            </p:extLst>
          </p:nvPr>
        </p:nvGraphicFramePr>
        <p:xfrm>
          <a:off x="-108520" y="1340768"/>
          <a:ext cx="5702399" cy="3966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56103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729914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42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Incidentes </a:t>
            </a:r>
            <a:r>
              <a:rPr lang="pt-BR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Aplicações TAM Cargo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539552" y="868070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Porcentagem de Incidentes por Aplicação – Alegria e Augusta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87149"/>
              </p:ext>
            </p:extLst>
          </p:nvPr>
        </p:nvGraphicFramePr>
        <p:xfrm>
          <a:off x="5580112" y="2204863"/>
          <a:ext cx="3312368" cy="1927860"/>
        </p:xfrm>
        <a:graphic>
          <a:graphicData uri="http://schemas.openxmlformats.org/drawingml/2006/table">
            <a:tbl>
              <a:tblPr/>
              <a:tblGrid>
                <a:gridCol w="2541135"/>
                <a:gridCol w="771233"/>
              </a:tblGrid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Aplicação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Manutenção de Máquinas/Problemas Windows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tClock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Internet Explorer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Avaya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Amadeus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ScreenPop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Headset/Escuta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Outlook/Pacote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38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Gráfic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509216"/>
              </p:ext>
            </p:extLst>
          </p:nvPr>
        </p:nvGraphicFramePr>
        <p:xfrm>
          <a:off x="0" y="1484784"/>
          <a:ext cx="6322644" cy="489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45032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99862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175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Center: Incidentes </a:t>
            </a:r>
            <a:r>
              <a:rPr lang="pt-BR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Aplic</a:t>
            </a:r>
            <a:r>
              <a:rPr lang="pt-BR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Reservas e Fale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513604" y="105273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Porcentagem de Incidentes por Aplicação – </a:t>
            </a:r>
            <a:r>
              <a:rPr lang="pt-BR" dirty="0"/>
              <a:t>S</a:t>
            </a:r>
            <a:r>
              <a:rPr lang="pt-BR" dirty="0" smtClean="0"/>
              <a:t>ite Augusta</a:t>
            </a:r>
          </a:p>
        </p:txBody>
      </p:sp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589979289"/>
              </p:ext>
            </p:extLst>
          </p:nvPr>
        </p:nvGraphicFramePr>
        <p:xfrm>
          <a:off x="500034" y="1643050"/>
          <a:ext cx="4714908" cy="2928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34474"/>
              </p:ext>
            </p:extLst>
          </p:nvPr>
        </p:nvGraphicFramePr>
        <p:xfrm>
          <a:off x="5652120" y="1421146"/>
          <a:ext cx="3384376" cy="2487604"/>
        </p:xfrm>
        <a:graphic>
          <a:graphicData uri="http://schemas.openxmlformats.org/drawingml/2006/table">
            <a:tbl>
              <a:tblPr/>
              <a:tblGrid>
                <a:gridCol w="2684764"/>
                <a:gridCol w="699612"/>
              </a:tblGrid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Aplicação - Site Augusta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Headset/Escuta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Manutenção de Máquinas/Problemas Windows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Avaya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Instalações/Transferencia de Perfis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Internet Explorer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Amadeus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Outlook/Pacote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ScreenPop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tGuidance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Máquina fora do dominio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tClock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áfico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177143"/>
              </p:ext>
            </p:extLst>
          </p:nvPr>
        </p:nvGraphicFramePr>
        <p:xfrm>
          <a:off x="107504" y="1422068"/>
          <a:ext cx="6086475" cy="521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64167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09537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99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 Incidentes </a:t>
            </a:r>
            <a:r>
              <a:rPr lang="pt-BR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Aplic</a:t>
            </a:r>
            <a:r>
              <a:rPr lang="pt-BR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– Reservas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539552" y="105273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Porcentagem de Incidentes por Aplicação – Site Alegria</a:t>
            </a:r>
          </a:p>
        </p:txBody>
      </p:sp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1003742045"/>
              </p:ext>
            </p:extLst>
          </p:nvPr>
        </p:nvGraphicFramePr>
        <p:xfrm>
          <a:off x="500034" y="1643050"/>
          <a:ext cx="4714908" cy="2928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140177"/>
              </p:ext>
            </p:extLst>
          </p:nvPr>
        </p:nvGraphicFramePr>
        <p:xfrm>
          <a:off x="5652120" y="1422068"/>
          <a:ext cx="3384376" cy="2492798"/>
        </p:xfrm>
        <a:graphic>
          <a:graphicData uri="http://schemas.openxmlformats.org/drawingml/2006/table">
            <a:tbl>
              <a:tblPr/>
              <a:tblGrid>
                <a:gridCol w="2592288"/>
                <a:gridCol w="792088"/>
              </a:tblGrid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Aplicação</a:t>
                      </a:r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- Site Alegria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Quantidade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Manutenção de Máquinas/Problemas Windows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Amadeus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Internet Explorer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Avaya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tClock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Máquina fora do dominio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Instalações/Transferencia de Perfis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ScreenPop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Headset/Escuta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Outlook/Pacote Office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rtl="0" fontAlgn="b"/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tGuidance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68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áfico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936668"/>
              </p:ext>
            </p:extLst>
          </p:nvPr>
        </p:nvGraphicFramePr>
        <p:xfrm>
          <a:off x="179512" y="1491746"/>
          <a:ext cx="5981700" cy="5100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82765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727563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93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12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Indicadores: SLA x </a:t>
            </a:r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Disponibilidade</a:t>
            </a:r>
            <a:endParaRPr lang="es-CL" sz="24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42770"/>
              </p:ext>
            </p:extLst>
          </p:nvPr>
        </p:nvGraphicFramePr>
        <p:xfrm>
          <a:off x="251520" y="836712"/>
          <a:ext cx="8498454" cy="1583999"/>
        </p:xfrm>
        <a:graphic>
          <a:graphicData uri="http://schemas.openxmlformats.org/drawingml/2006/table">
            <a:tbl>
              <a:tblPr/>
              <a:tblGrid>
                <a:gridCol w="3066874"/>
                <a:gridCol w="1047299"/>
                <a:gridCol w="1047299"/>
                <a:gridCol w="1303990"/>
                <a:gridCol w="903552"/>
                <a:gridCol w="1129440"/>
              </a:tblGrid>
              <a:tr h="384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Itens Contratuais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minutos do período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Chamados do período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minutos indisponível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Meta %  ou em minutos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de disponibilidade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DAC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URA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322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99,28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LAN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CTI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DMS Gravador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084405"/>
              </p:ext>
            </p:extLst>
          </p:nvPr>
        </p:nvGraphicFramePr>
        <p:xfrm>
          <a:off x="251519" y="2564904"/>
          <a:ext cx="8496945" cy="864000"/>
        </p:xfrm>
        <a:graphic>
          <a:graphicData uri="http://schemas.openxmlformats.org/drawingml/2006/table">
            <a:tbl>
              <a:tblPr/>
              <a:tblGrid>
                <a:gridCol w="3002033"/>
                <a:gridCol w="1059510"/>
                <a:gridCol w="1059510"/>
                <a:gridCol w="1319195"/>
                <a:gridCol w="914088"/>
                <a:gridCol w="1142609"/>
              </a:tblGrid>
              <a:tr h="3749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Itens Contratuais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minutos do período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Chamados do período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Chamados atendidos até 2hrs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Meta %  ou em minutos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de disponibilidade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24454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Gravação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107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98,50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>
                          <a:effectLst/>
                          <a:latin typeface="Verdana"/>
                        </a:rPr>
                        <a:t>94,39%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4454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Service Desk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621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545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85,00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>
                          <a:effectLst/>
                          <a:latin typeface="Verdana"/>
                        </a:rPr>
                        <a:t>87,76%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116671"/>
              </p:ext>
            </p:extLst>
          </p:nvPr>
        </p:nvGraphicFramePr>
        <p:xfrm>
          <a:off x="251520" y="3861048"/>
          <a:ext cx="8568952" cy="22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76120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570492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61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18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1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Indicadores: SLA x </a:t>
            </a:r>
            <a:r>
              <a:rPr lang="es-CL" sz="18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Disponibilidade</a:t>
            </a:r>
            <a:r>
              <a:rPr lang="es-CL" sz="1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– TAM Cargo</a:t>
            </a: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036375"/>
              </p:ext>
            </p:extLst>
          </p:nvPr>
        </p:nvGraphicFramePr>
        <p:xfrm>
          <a:off x="251520" y="692696"/>
          <a:ext cx="8498454" cy="1583999"/>
        </p:xfrm>
        <a:graphic>
          <a:graphicData uri="http://schemas.openxmlformats.org/drawingml/2006/table">
            <a:tbl>
              <a:tblPr/>
              <a:tblGrid>
                <a:gridCol w="3066874"/>
                <a:gridCol w="1047299"/>
                <a:gridCol w="1047299"/>
                <a:gridCol w="1303990"/>
                <a:gridCol w="903552"/>
                <a:gridCol w="1129440"/>
              </a:tblGrid>
              <a:tr h="38421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Itens Contratuais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minutos do período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Chamados do período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minutos indisponível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Meta %  ou em minutos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de disponibilidade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DAC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URA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99,79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LAN - Site Augusta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CTI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3995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effectLst/>
                          <a:latin typeface="Verdana"/>
                        </a:rPr>
                        <a:t>DMS Gravador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effectLst/>
                          <a:latin typeface="Verdana"/>
                        </a:rPr>
                        <a:t>99,00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effectLst/>
                          <a:latin typeface="Verdana"/>
                        </a:rPr>
                        <a:t>100,00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74523"/>
              </p:ext>
            </p:extLst>
          </p:nvPr>
        </p:nvGraphicFramePr>
        <p:xfrm>
          <a:off x="251520" y="2348880"/>
          <a:ext cx="8496943" cy="1413056"/>
        </p:xfrm>
        <a:graphic>
          <a:graphicData uri="http://schemas.openxmlformats.org/drawingml/2006/table">
            <a:tbl>
              <a:tblPr/>
              <a:tblGrid>
                <a:gridCol w="2908031"/>
                <a:gridCol w="1077635"/>
                <a:gridCol w="1077635"/>
                <a:gridCol w="1341761"/>
                <a:gridCol w="929725"/>
                <a:gridCol w="1162156"/>
              </a:tblGrid>
              <a:tr h="39152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Itens Contratuais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minutos do período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Chamados do período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Total de Chamados atendidos até 2hrs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Meta %  ou em minutos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de disponibilidade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2553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Gravação - Augusta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98,50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>
                          <a:effectLst/>
                          <a:latin typeface="Verdana"/>
                        </a:rPr>
                        <a:t>100,00%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553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Gravação - Alegria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98,50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>
                          <a:effectLst/>
                          <a:latin typeface="Verdana"/>
                        </a:rPr>
                        <a:t>100,00%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553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Service Desk - Alegria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 smtClean="0">
                          <a:effectLst/>
                          <a:latin typeface="Verdana"/>
                        </a:rPr>
                        <a:t>78</a:t>
                      </a:r>
                      <a:endParaRPr lang="pt-BR" sz="1000" b="0" i="0" u="none" strike="noStrike" dirty="0">
                        <a:effectLst/>
                        <a:latin typeface="Verdan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85,00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>
                          <a:effectLst/>
                          <a:latin typeface="Verdana"/>
                        </a:rPr>
                        <a:t>92,31%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25538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effectLst/>
                          <a:latin typeface="Verdana"/>
                        </a:rPr>
                        <a:t>Service Desk - Augusta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44640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effectLst/>
                          <a:latin typeface="Verdana"/>
                        </a:rPr>
                        <a:t>85,00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1" i="0" u="none" strike="noStrike" dirty="0">
                          <a:effectLst/>
                          <a:latin typeface="Verdana"/>
                        </a:rPr>
                        <a:t>100,00%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174686"/>
              </p:ext>
            </p:extLst>
          </p:nvPr>
        </p:nvGraphicFramePr>
        <p:xfrm>
          <a:off x="179512" y="3933056"/>
          <a:ext cx="8591972" cy="2353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84579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24 Conector recto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39 Objeto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1852981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7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6 Rectángulo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 anchorCtr="0">
            <a:noAutofit/>
          </a:bodyPr>
          <a:lstStyle/>
          <a:p>
            <a:pPr algn="ctr"/>
            <a:endParaRPr lang="es-CL">
              <a:latin typeface="Calibri"/>
              <a:ea typeface="ＭＳ Ｐゴシック"/>
              <a:sym typeface="Calibri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7553008" y="11430"/>
            <a:ext cx="1579562" cy="4046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504" y="6448251"/>
            <a:ext cx="504056" cy="365125"/>
          </a:xfrm>
        </p:spPr>
        <p:txBody>
          <a:bodyPr/>
          <a:lstStyle/>
          <a:p>
            <a:fld id="{CBC60237-BBAB-49D1-B4E6-854B5D19BFA1}" type="slidenum">
              <a:rPr lang="es-CL" sz="1000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s-CL" sz="10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179512" y="116632"/>
            <a:ext cx="7874354" cy="461665"/>
          </a:xfrm>
        </p:spPr>
        <p:txBody>
          <a:bodyPr/>
          <a:lstStyle/>
          <a:p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Contact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Center : SWOT e </a:t>
            </a:r>
            <a:r>
              <a:rPr lang="pt-BR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Melhoria</a:t>
            </a:r>
            <a:r>
              <a:rPr lang="es-CL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CL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contínua</a:t>
            </a:r>
            <a:endParaRPr lang="es-CL" sz="24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46" y="6381328"/>
            <a:ext cx="161925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15 Conector recto"/>
          <p:cNvCxnSpPr/>
          <p:nvPr/>
        </p:nvCxnSpPr>
        <p:spPr>
          <a:xfrm>
            <a:off x="0" y="6286520"/>
            <a:ext cx="9144000" cy="0"/>
          </a:xfrm>
          <a:prstGeom prst="line">
            <a:avLst/>
          </a:prstGeom>
          <a:ln w="88900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87746"/>
              </p:ext>
            </p:extLst>
          </p:nvPr>
        </p:nvGraphicFramePr>
        <p:xfrm>
          <a:off x="395536" y="1196753"/>
          <a:ext cx="8352928" cy="3200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154846"/>
                <a:gridCol w="4198082"/>
              </a:tblGrid>
              <a:tr h="2409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Pontos Positivos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Pontos Negativos </a:t>
                      </a:r>
                    </a:p>
                  </a:txBody>
                  <a:tcPr/>
                </a:tc>
              </a:tr>
              <a:tr h="7018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Envio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do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levantamento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da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perfomance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das máquinas do Site Alegria para a área de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Projetos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, que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fará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a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análise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para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substiuição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das máquinas no Site Alegria.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Ambiente de </a:t>
                      </a: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Gravação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3899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Levantamento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e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correção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dos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horários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de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atendimentos</a:t>
                      </a:r>
                      <a:r>
                        <a:rPr lang="es-ES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das </a:t>
                      </a:r>
                      <a:r>
                        <a:rPr lang="es-ES" sz="12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VDN´s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2339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2339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2339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Próximos</a:t>
                      </a:r>
                      <a:r>
                        <a:rPr lang="es-ES" sz="12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r>
                        <a:rPr lang="pt-BR" sz="12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passos</a:t>
                      </a:r>
                      <a:r>
                        <a:rPr lang="es-ES" sz="12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endParaRPr lang="es-ES" sz="12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Pontos de </a:t>
                      </a:r>
                      <a:r>
                        <a:rPr lang="pt-BR" sz="12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atenção</a:t>
                      </a:r>
                    </a:p>
                  </a:txBody>
                  <a:tcPr/>
                </a:tc>
              </a:tr>
              <a:tr h="2339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URA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2339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2339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79896"/>
              </p:ext>
            </p:extLst>
          </p:nvPr>
        </p:nvGraphicFramePr>
        <p:xfrm>
          <a:off x="439070" y="4109040"/>
          <a:ext cx="8309393" cy="173963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08594"/>
                <a:gridCol w="1224136"/>
                <a:gridCol w="3024336"/>
                <a:gridCol w="936104"/>
                <a:gridCol w="2016223"/>
              </a:tblGrid>
              <a:tr h="2160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Ação</a:t>
                      </a: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Responsável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Descrição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Data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 anchor="ctr"/>
                </a:tc>
              </a:tr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Substituição</a:t>
                      </a: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de </a:t>
                      </a: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HD´s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Microsoft/</a:t>
                      </a: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Gravadores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As </a:t>
                      </a:r>
                      <a:r>
                        <a:rPr lang="es-ES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ligações</a:t>
                      </a:r>
                      <a:r>
                        <a:rPr lang="es-ES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r>
                        <a:rPr lang="es-ES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estavam</a:t>
                      </a:r>
                      <a:r>
                        <a:rPr lang="es-ES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r>
                        <a:rPr lang="es-ES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on</a:t>
                      </a:r>
                      <a:r>
                        <a:rPr lang="es-ES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line por curto período </a:t>
                      </a:r>
                      <a:r>
                        <a:rPr lang="es-ES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devido</a:t>
                      </a:r>
                      <a:r>
                        <a:rPr lang="es-ES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discos </a:t>
                      </a:r>
                      <a:r>
                        <a:rPr lang="es-ES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danificados</a:t>
                      </a:r>
                      <a:endParaRPr lang="es-ES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12/09</a:t>
                      </a:r>
                      <a:endParaRPr lang="es-ES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Stop/</a:t>
                      </a: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Start</a:t>
                      </a: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AES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Telecom/</a:t>
                      </a:r>
                      <a:r>
                        <a:rPr lang="es-E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Gravadores</a:t>
                      </a: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Ligações</a:t>
                      </a:r>
                      <a:r>
                        <a:rPr lang="es-CL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(2) </a:t>
                      </a:r>
                      <a:r>
                        <a:rPr lang="es-CL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em</a:t>
                      </a:r>
                      <a:r>
                        <a:rPr lang="es-CL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</a:t>
                      </a:r>
                      <a:r>
                        <a:rPr lang="es-CL" sz="1200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bilhetes</a:t>
                      </a:r>
                      <a:r>
                        <a:rPr lang="es-CL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 diferentes</a:t>
                      </a:r>
                      <a:endParaRPr lang="es-CL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itchFamily="34" charset="0"/>
                        </a:rPr>
                        <a:t>12/09</a:t>
                      </a:r>
                      <a:endParaRPr lang="es-CL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200" i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74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730" name="Rectangle 2"/>
          <p:cNvSpPr>
            <a:spLocks noGrp="1"/>
          </p:cNvSpPr>
          <p:nvPr>
            <p:ph type="ctrTitle" idx="4294967295"/>
            <p:custDataLst>
              <p:tags r:id="rId1"/>
            </p:custDataLst>
          </p:nvPr>
        </p:nvSpPr>
        <p:spPr>
          <a:xfrm>
            <a:off x="1259632" y="2348880"/>
            <a:ext cx="6787629" cy="1222053"/>
          </a:xfrm>
        </p:spPr>
        <p:txBody>
          <a:bodyPr>
            <a:noAutofit/>
          </a:bodyPr>
          <a:lstStyle/>
          <a:p>
            <a: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  <a:t>FIM</a:t>
            </a:r>
            <a:br>
              <a:rPr lang="es-ES_tradnl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 "/>
              </a:rPr>
            </a:br>
            <a:endParaRPr lang="es-ES_tradnl" sz="2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 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668344" y="0"/>
            <a:ext cx="1475656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CL" sz="1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36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2254&quot;/&gt;&lt;CPresentation id=&quot;1&quot;&gt;&lt;m_precDefaultNumber&gt;&lt;m_chMinusSymbol&gt;-&lt;/m_chMinusSymbol&gt;&lt;m_chDecimalSymbol17909&gt;,&lt;/m_chDecimalSymbol17909&gt;&lt;m_nGroupingDigits17909 val=&quot;3&quot;/&gt;&lt;m_chGroupingSymbol17909&gt;.&lt;/m_chGroupingSymbol17909&gt;&lt;/m_precDefaultNumber&gt;&lt;m_precDefaultPercent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/m_precDefaultPercent&gt;&lt;m_precDefaultDate&gt;&lt;m_strFormatTime&gt;%1-%y&lt;/m_strFormatTime&gt;&lt;/m_precDefaultDate&gt;&lt;m_precDefaultYear/&gt;&lt;m_precDefaultQuarter/&gt;&lt;m_precDefaultMonth/&gt;&lt;m_precDefaultWeek/&gt;&lt;m_precDefaultDay/&gt;&lt;m_mruColor&gt;&lt;m_vecMRU length=&quot;5&quot;&gt;&lt;elem m_fUsage=&quot;4.35388690000000000000E+000&quot;&gt;&lt;m_ppcolschidx val=&quot;0&quot;/&gt;&lt;m_rgb r=&quot;e&quot; g=&quot;8b&quot; b=&quot;7&quot;/&gt;&lt;m_nBrightness val=&quot;0&quot;/&gt;&lt;/elem&gt;&lt;elem m_fUsage=&quot;1.34144100000000010000E+000&quot;&gt;&lt;m_ppcolschidx val=&quot;0&quot;/&gt;&lt;m_rgb r=&quot;ff&quot; g=&quot;0&quot; b=&quot;0&quot;/&gt;&lt;m_nBrightness val=&quot;0&quot;/&gt;&lt;/elem&gt;&lt;elem m_fUsage=&quot;1.16656613910000020000E+000&quot;&gt;&lt;m_ppcolschidx val=&quot;0&quot;/&gt;&lt;m_rgb r=&quot;6&quot; g=&quot;ce&quot; b=&quot;38&quot;/&gt;&lt;m_nBrightness val=&quot;0&quot;/&gt;&lt;/elem&gt;&lt;elem m_fUsage=&quot;3.13810596090000170000E-001&quot;&gt;&lt;m_ppcolschidx val=&quot;0&quot;/&gt;&lt;m_rgb r=&quot;f7&quot; g=&quot;ca&quot; b=&quot;c8&quot;/&gt;&lt;m_nBrightness val=&quot;0&quot;/&gt;&lt;/elem&gt;&lt;elem m_fUsage=&quot;2.82429536481000170000E-001&quot;&gt;&lt;m_ppcolschidx val=&quot;0&quot;/&gt;&lt;m_rgb r=&quot;80&quot; g=&quot;9&quot; b=&quot;2&quot;/&gt;&lt;m_nBrightness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v0Ca8iboEOxVYhxjEf8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v0Ca8iboEOxVYhxjEf8C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3fbyXDYkWFenPty72Ki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145226</TotalTime>
  <Words>1451</Words>
  <Application>Microsoft Office PowerPoint</Application>
  <PresentationFormat>Apresentação na tela (4:3)</PresentationFormat>
  <Paragraphs>506</Paragraphs>
  <Slides>17</Slides>
  <Notes>17</Notes>
  <HiddenSlides>0</HiddenSlides>
  <MMClips>0</MMClips>
  <ScaleCrop>false</ScaleCrop>
  <HeadingPairs>
    <vt:vector size="6" baseType="variant">
      <vt:variant>
        <vt:lpstr>Tema</vt:lpstr>
      </vt:variant>
      <vt:variant>
        <vt:i4>2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2_Tema de Office</vt:lpstr>
      <vt:lpstr>3_Tema de Office</vt:lpstr>
      <vt:lpstr>think-cell Slide</vt:lpstr>
      <vt:lpstr> Reunião de status  Canais TI  Agosto 2015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FIM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Gonzalez Millares, Maximiliano Alexis      (LAN Airl</dc:creator>
  <cp:lastModifiedBy>Zenailde de Santana Leste</cp:lastModifiedBy>
  <cp:revision>1669</cp:revision>
  <dcterms:created xsi:type="dcterms:W3CDTF">2013-11-14T14:59:24Z</dcterms:created>
  <dcterms:modified xsi:type="dcterms:W3CDTF">2015-09-08T23:13:10Z</dcterms:modified>
</cp:coreProperties>
</file>