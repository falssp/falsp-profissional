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slideLayouts/slideLayout2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  <p:sldMasterId id="2147483668" r:id="rId6"/>
    <p:sldMasterId id="2147483671" r:id="rId7"/>
    <p:sldMasterId id="2147483652" r:id="rId8"/>
  </p:sldMasterIdLst>
  <p:notesMasterIdLst>
    <p:notesMasterId r:id="rId27"/>
  </p:notesMasterIdLst>
  <p:handoutMasterIdLst>
    <p:handoutMasterId r:id="rId28"/>
  </p:handoutMasterIdLst>
  <p:sldIdLst>
    <p:sldId id="330" r:id="rId9"/>
    <p:sldId id="490" r:id="rId10"/>
    <p:sldId id="494" r:id="rId11"/>
    <p:sldId id="492" r:id="rId12"/>
    <p:sldId id="491" r:id="rId13"/>
    <p:sldId id="496" r:id="rId14"/>
    <p:sldId id="499" r:id="rId15"/>
    <p:sldId id="497" r:id="rId16"/>
    <p:sldId id="500" r:id="rId17"/>
    <p:sldId id="507" r:id="rId18"/>
    <p:sldId id="501" r:id="rId19"/>
    <p:sldId id="502" r:id="rId20"/>
    <p:sldId id="508" r:id="rId21"/>
    <p:sldId id="509" r:id="rId22"/>
    <p:sldId id="511" r:id="rId23"/>
    <p:sldId id="510" r:id="rId24"/>
    <p:sldId id="495" r:id="rId25"/>
    <p:sldId id="506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38" autoAdjust="0"/>
    <p:restoredTop sz="94799" autoAdjust="0"/>
  </p:normalViewPr>
  <p:slideViewPr>
    <p:cSldViewPr snapToGrid="0" snapToObjects="1">
      <p:cViewPr varScale="1">
        <p:scale>
          <a:sx n="75" d="100"/>
          <a:sy n="75" d="100"/>
        </p:scale>
        <p:origin x="128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742"/>
    </p:cViewPr>
  </p:sorterViewPr>
  <p:notesViewPr>
    <p:cSldViewPr snapToGrid="0" snapToObjects="1">
      <p:cViewPr varScale="1">
        <p:scale>
          <a:sx n="61" d="100"/>
          <a:sy n="61" d="100"/>
        </p:scale>
        <p:origin x="178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agner\Desktop\Contax\Incidentes%20Junho_2015\&#193;rea%20de%20Trabalho\Incidentes%20Alto%20Impacto_Chacon.xlsb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'Analise Incidentes - Jun2015'!$L$2</c:f>
              <c:strCache>
                <c:ptCount val="1"/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'Analise Incidentes - Jun2015'!$H$4:$I$10</c:f>
              <c:strCache>
                <c:ptCount val="7"/>
                <c:pt idx="0">
                  <c:v>01/09
Terça</c:v>
                </c:pt>
                <c:pt idx="1">
                  <c:v>02/09
Quarta</c:v>
                </c:pt>
                <c:pt idx="2">
                  <c:v>03/09
Quinta</c:v>
                </c:pt>
                <c:pt idx="3">
                  <c:v>04/09
Sexta</c:v>
                </c:pt>
                <c:pt idx="4">
                  <c:v>05/09
Sábado</c:v>
                </c:pt>
                <c:pt idx="5">
                  <c:v>06/09
Domingo</c:v>
                </c:pt>
                <c:pt idx="6">
                  <c:v>07/09
Segunda</c:v>
                </c:pt>
              </c:strCache>
            </c:strRef>
          </c:cat>
          <c:val>
            <c:numRef>
              <c:f>'Analise Incidentes - Jun2015'!$L$4:$L$10</c:f>
              <c:numCache>
                <c:formatCode>General</c:formatCode>
                <c:ptCount val="7"/>
                <c:pt idx="0">
                  <c:v>73</c:v>
                </c:pt>
                <c:pt idx="1">
                  <c:v>60</c:v>
                </c:pt>
                <c:pt idx="2">
                  <c:v>54</c:v>
                </c:pt>
                <c:pt idx="3">
                  <c:v>50</c:v>
                </c:pt>
                <c:pt idx="4">
                  <c:v>25</c:v>
                </c:pt>
                <c:pt idx="5">
                  <c:v>13</c:v>
                </c:pt>
                <c:pt idx="6">
                  <c:v>28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5"/>
        <c:axId val="-288921264"/>
        <c:axId val="-288919632"/>
      </c:barChart>
      <c:catAx>
        <c:axId val="-288921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88919632"/>
        <c:crosses val="autoZero"/>
        <c:auto val="1"/>
        <c:lblAlgn val="ctr"/>
        <c:lblOffset val="100"/>
        <c:noMultiLvlLbl val="1"/>
      </c:catAx>
      <c:valAx>
        <c:axId val="-2889196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-28892126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142DA3-54F2-4354-BE13-A1BF895407F0}" type="datetimeFigureOut">
              <a:rPr lang="pt-BR" smtClean="0"/>
              <a:t>08/09/2015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472F3-1F53-4B04-9F62-E80EF70028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03472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328C1-32DD-4424-948B-EFB98BF20FA7}" type="datetimeFigureOut">
              <a:rPr lang="en-US" smtClean="0"/>
              <a:pPr/>
              <a:t>9/8/2015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F6C8A-5433-49A1-AC9B-BF8CC3A8445A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272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6F6C8A-5433-49A1-AC9B-BF8CC3A8445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452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6F6C8A-5433-49A1-AC9B-BF8CC3A8445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880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6F6C8A-5433-49A1-AC9B-BF8CC3A8445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90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2486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ma Colu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3328988"/>
          </a:xfrm>
          <a:prstGeom prst="rect">
            <a:avLst/>
          </a:prstGeom>
        </p:spPr>
        <p:txBody>
          <a:bodyPr vert="horz" numCol="1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2491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uas Colu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3328988"/>
          </a:xfrm>
          <a:prstGeom prst="rect">
            <a:avLst/>
          </a:prstGeom>
        </p:spPr>
        <p:txBody>
          <a:bodyPr vert="horz" numCol="2" spcCol="216000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95440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 Colu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3328988"/>
          </a:xfrm>
          <a:prstGeom prst="rect">
            <a:avLst/>
          </a:prstGeom>
        </p:spPr>
        <p:txBody>
          <a:bodyPr vert="horz" numCol="1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Colu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3328988"/>
          </a:xfrm>
          <a:prstGeom prst="rect">
            <a:avLst/>
          </a:prstGeom>
        </p:spPr>
        <p:txBody>
          <a:bodyPr vert="horz" numCol="2" spcCol="216000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ês Colu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3328988"/>
          </a:xfrm>
          <a:prstGeom prst="rect">
            <a:avLst/>
          </a:prstGeom>
        </p:spPr>
        <p:txBody>
          <a:bodyPr vert="horz" numCol="3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3328988"/>
          </a:xfrm>
          <a:prstGeom prst="rect">
            <a:avLst/>
          </a:prstGeom>
        </p:spPr>
        <p:txBody>
          <a:bodyPr vert="horz" numCol="1"/>
          <a:lstStyle>
            <a:lvl1pPr>
              <a:buFont typeface="Arial"/>
              <a:buChar char="•"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 Coluna C\ Imagem D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5033776" y="2540000"/>
            <a:ext cx="3828638" cy="33289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3865963" cy="3328988"/>
          </a:xfrm>
          <a:prstGeom prst="rect">
            <a:avLst/>
          </a:prstGeom>
        </p:spPr>
        <p:txBody>
          <a:bodyPr vert="horz" numCol="1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 Coluna C\ Imagem Es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973138" y="2540000"/>
            <a:ext cx="4088448" cy="33289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5228454" y="2540000"/>
            <a:ext cx="3531987" cy="3328988"/>
          </a:xfrm>
          <a:prstGeom prst="rect">
            <a:avLst/>
          </a:prstGeom>
        </p:spPr>
        <p:txBody>
          <a:bodyPr vert="horz" numCol="1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 Coluna C\ Imagem Inf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973137" y="4027488"/>
            <a:ext cx="7787303" cy="18859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1335152"/>
          </a:xfrm>
          <a:prstGeom prst="rect">
            <a:avLst/>
          </a:prstGeom>
        </p:spPr>
        <p:txBody>
          <a:bodyPr vert="horz" numCol="1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Coluna C\ Imagem Inf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973138" y="4027488"/>
            <a:ext cx="7780749" cy="18859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1325882"/>
          </a:xfrm>
          <a:prstGeom prst="rect">
            <a:avLst/>
          </a:prstGeom>
        </p:spPr>
        <p:txBody>
          <a:bodyPr vert="horz" numCol="2" spcCol="216000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ê Coluna C\ Imagem Inf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973138" y="4027488"/>
            <a:ext cx="7780749" cy="18859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  <p:sp>
        <p:nvSpPr>
          <p:cNvPr id="1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973138" y="2540000"/>
            <a:ext cx="7787303" cy="1335152"/>
          </a:xfrm>
          <a:prstGeom prst="rect">
            <a:avLst/>
          </a:prstGeom>
        </p:spPr>
        <p:txBody>
          <a:bodyPr vert="horz" numCol="3" spcCol="216000"/>
          <a:lstStyle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\ Titulo, Subtitulo e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973138" y="2540172"/>
            <a:ext cx="7780749" cy="33732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10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11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73138" y="2001838"/>
            <a:ext cx="5813425" cy="371461"/>
          </a:xfrm>
          <a:prstGeom prst="rect">
            <a:avLst/>
          </a:prstGeom>
        </p:spPr>
        <p:txBody>
          <a:bodyPr vert="horz"/>
          <a:lstStyle>
            <a:lvl1pPr>
              <a:buNone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\ Titulo,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973138" y="1983930"/>
            <a:ext cx="7780749" cy="39295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  <p:sp>
        <p:nvSpPr>
          <p:cNvPr id="6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73138" y="1371600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\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973138" y="1288627"/>
            <a:ext cx="7780749" cy="462481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Maior C\ Titulo,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0" y="1112485"/>
            <a:ext cx="9143999" cy="495982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73138" y="426453"/>
            <a:ext cx="5395912" cy="454264"/>
          </a:xfrm>
          <a:prstGeom prst="rect">
            <a:avLst/>
          </a:prstGeom>
        </p:spPr>
        <p:txBody>
          <a:bodyPr vert="horz"/>
          <a:lstStyle>
            <a:lvl1pPr>
              <a:buNone/>
              <a:defRPr sz="20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3128599" y="2623712"/>
            <a:ext cx="5813425" cy="510352"/>
          </a:xfrm>
          <a:prstGeom prst="rect">
            <a:avLst/>
          </a:prstGeom>
        </p:spPr>
        <p:txBody>
          <a:bodyPr vert="horz"/>
          <a:lstStyle>
            <a:lvl1pPr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defRPr>
            </a:lvl1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pic>
        <p:nvPicPr>
          <p:cNvPr id="3" name="Imagem 2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06" y="6280486"/>
            <a:ext cx="931040" cy="43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2996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P/ Inte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3999" cy="6858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/ Rod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3999" cy="6063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9816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image" Target="../media/image3.jpeg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408636" y="2172501"/>
            <a:ext cx="5280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pic>
        <p:nvPicPr>
          <p:cNvPr id="9" name="Picture 8" descr="Apresentação-26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1" y="-141271"/>
            <a:ext cx="9143999" cy="7015984"/>
          </a:xfrm>
          <a:prstGeom prst="rect">
            <a:avLst/>
          </a:prstGeom>
        </p:spPr>
      </p:pic>
      <p:sp>
        <p:nvSpPr>
          <p:cNvPr id="4" name="Text Placeholder 13"/>
          <p:cNvSpPr txBox="1">
            <a:spLocks/>
          </p:cNvSpPr>
          <p:nvPr/>
        </p:nvSpPr>
        <p:spPr>
          <a:xfrm>
            <a:off x="2705623" y="2623712"/>
            <a:ext cx="6236402" cy="1196726"/>
          </a:xfrm>
          <a:prstGeom prst="rect">
            <a:avLst/>
          </a:prstGeom>
        </p:spPr>
        <p:txBody>
          <a:bodyPr vert="horz"/>
          <a:lstStyle>
            <a:lvl1pPr marL="342900" indent="-342900" algn="r" defTabSz="457200" rtl="0" eaLnBrk="1" latinLnBrk="0" hangingPunct="1">
              <a:spcBef>
                <a:spcPct val="20000"/>
              </a:spcBef>
              <a:buFont typeface="Arial"/>
              <a:buNone/>
              <a:defRPr sz="220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b="1" dirty="0" smtClean="0"/>
              <a:t>Estabilidade Operacional</a:t>
            </a:r>
          </a:p>
          <a:p>
            <a:r>
              <a:rPr lang="pt-BR" b="1" i="0" dirty="0" smtClean="0"/>
              <a:t>Set/2015</a:t>
            </a:r>
            <a:endParaRPr lang="x-none" i="0" dirty="0" smtClean="0"/>
          </a:p>
        </p:txBody>
      </p:sp>
    </p:spTree>
    <p:extLst>
      <p:ext uri="{BB962C8B-B14F-4D97-AF65-F5344CB8AC3E}">
        <p14:creationId xmlns:p14="http://schemas.microsoft.com/office/powerpoint/2010/main" val="3579914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5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rquivos_antigo-21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16710" y="-1"/>
            <a:ext cx="9160710" cy="6865399"/>
          </a:xfrm>
          <a:prstGeom prst="rect">
            <a:avLst/>
          </a:prstGeom>
        </p:spPr>
      </p:pic>
      <p:pic>
        <p:nvPicPr>
          <p:cNvPr id="4" name="Picture 3" descr="Apresentação-26.jpg"/>
          <p:cNvPicPr>
            <a:picLocks noChangeAspect="1"/>
          </p:cNvPicPr>
          <p:nvPr/>
        </p:nvPicPr>
        <p:blipFill>
          <a:blip r:embed="rId17" cstate="print"/>
          <a:srcRect/>
          <a:stretch>
            <a:fillRect/>
          </a:stretch>
        </p:blipFill>
        <p:spPr>
          <a:xfrm>
            <a:off x="-16710" y="-177350"/>
            <a:ext cx="9160710" cy="715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347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55" r:id="rId3"/>
    <p:sldLayoutId id="2147483659" r:id="rId4"/>
    <p:sldLayoutId id="2147483660" r:id="rId5"/>
    <p:sldLayoutId id="2147483661" r:id="rId6"/>
    <p:sldLayoutId id="2147483657" r:id="rId7"/>
    <p:sldLayoutId id="2147483656" r:id="rId8"/>
    <p:sldLayoutId id="2147483658" r:id="rId9"/>
    <p:sldLayoutId id="2147483662" r:id="rId10"/>
    <p:sldLayoutId id="2147483663" r:id="rId11"/>
    <p:sldLayoutId id="2147483664" r:id="rId12"/>
    <p:sldLayoutId id="2147483665" r:id="rId13"/>
    <p:sldLayoutId id="2147483673" r:id="rId14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emplate_Conteudo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6016684"/>
            <a:ext cx="9160193" cy="8413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0332720" y="13208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Apresentação-26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6710" y="-76714"/>
            <a:ext cx="9160710" cy="694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953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112792" y="175118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112792" y="175118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AutoShape 4" descr="data:image/jpeg;base64,/9j/4AAQSkZJRgABAQAAAQABAAD/2wCEAAkGBxMREBURExQSEhUWFBcUFxYWFRMUEhQZGBYZGhQYFRgbHCggGBomHBcXITEhJSkrLjouGR8zODMtNygvLiwBCgoKDg0OGxAQGzQmHCU3Nyw3NzcsNy43LjM3MDQ3Kyw1NS0yLzc0KzUyLDcsLzUvNDc0LC80NC40LCw0Nyw3LP/AABEIAOEA4QMBIgACEQEDEQH/xAAcAAEAAgIDAQAAAAAAAAAAAAAABgcEBQECAwj/xABFEAABAwIDBQUEBwQIBwEAAAABAAIDBBEFEiEGBxMxQSJRYXGBFDJSghUjM0JykaEIYrGyU2NzkqLBwvA0Q3Sz0eHxJP/EABsBAQACAwEBAAAAAAAAAAAAAAAEBQEDBgcC/8QALxEBAAIBAgMECgMBAQAAAAAAAAECAwQRBSExEkFRkRMiMmGBobHB4fAGcdFyFP/aAAwDAQACEQMRAD8AvFERAREQEREBERAREQEREBFrMa2hpaNuapnihvyD3AOd+FvN3oFFXb4cHBt7S4+IgqLfyXQT1FHcD25w+tIbBVRPcdAwkxyHyY8Bx9ApEgIiICIiAiIgIiICIiAiIgIiICIiAiIgIiICIiAiIg4e4AEkgAC5J0AHUlUxtlvRqKuc4fgrHyPJyunY3MTrZ3CB0awcjI70to45W3OL1OMVxwWgdkhZ/wAZUC5aLHtM05gcst+07TQAlWHsnsrTYbAIadmXlnebGWU/E91teunIdAEFO4duMrKgmWtq2xyOOZ1g6olPfneXNGbyLlv2bgqPLrU1Jd3gRAfllP8AFW8iChMX3ASgE01XG/ubKx0en42l1z8oWLS43j+A6VEUlRTN+O80QA+GZtzH4B2n7q+hVwQgimw239JirPqncOYC74HkcRveW/G3xHeLgclLFANq91lLUv8AaKUmgqmnM2WHstLu9zG2sf3m2Out1HaDZCoxCWSlxesr21DBma2KSNlJNECBxIQI7OIJAdcAjM2/NBcKKiNodg6/Am+3YbVSyQxduSJ17hvUvYOxKznfQEc+lxbmxm0LcRoYatoy529pvwPacr2+IDgbHusUG7REQEREBERAREQEREBERAREQEREBEUP2i3l4dROMb5uNLy4UA4sl+WUkdlrr6WJBQRfebt7VisbhOFtLqggcR7Whz2lwzBjM3Zb2dXPOgB6WJWsg2F2kDDJ9J2kI+zNRO4eV8uVp58hbxW13JUgnlxDFHNcJJ6qSNucdtjLiRzfDV7AR/VjuVrIIzu+2TZhlEyAWdK7tzSdXyHnr8I5DwF+ZKkyIgIiICIiAuLdVyiDh7QQQQCCLEHUEdQVVOztJieDOqqenw01lM6pfNC4VUMWVjgLNyuu42AaOQ1BVrogqiq3xvpXZa7C6ul1sDmDwfwlzGB3oVLdlN4NBiJDYJrSf0Ug4cvoDo75SVJqmnZI0se1r2uFi1wDmkdxB0Kp/eTuiZldWYa0xSs7ZgZcNfl1zQ9WPHwjQ2FrHmFyIqn3KbxH1rTRVT81QxuaOQ+9Mwcw7ve3v5ka8wSbYQEREBERAREQEREBERAWPiFbHBE+aVwZHG0ve48gALnz8lkKnv2j8YdHS09I0kCd7nvt1bFlytPhmeD8oQaCt2pxHaSrNHRZqWkF85uQeHe2adw1JPSNptr1tmFpbFbvKLDGgxsEs1u1PIAZCeuTpGPAepPNee6jZhuH4bE3LaWZrZpj1zOAIb5NbZtuV7nqpkg0uzOCex+0tBGSWrkqGW5gStYXh3lJxLW6ZVukRARFCdscbfI80dO4tI+2kB1bcX4bD0cQbk9AR1OmnUZ6YKTe/RI02ntnydivxnwjxeu0+3sVM4xQN9pmGhANomH99+tz4C/jZQStxvEqo3fUvhafuQfUtHzC8h/vLb0eBNYAAAtjHhIXK6jjt7T6vKHSYsOi08cq9qfGf86IJPg73m75ZnkagullcR5Euus6jq6+n+xqprD7r3cZvlaTNYeVlNW4Q3uXSXCR3KHXjGSJ9qW6dXp7+rakbf8AMOuAbxNRHWxiI8hMy5iP42m5Z53I8lP45A4BzSCCLgg3BB5EHqFWlThAIsRf0TZ/FH4dIGPJNK46g3PBJ++3ubfmPXvveaDjVctopk81bquHYctZvpuVvDx/r3+7vWai4BuuV0DnxERB88b1cOOD41BiNOMrZXcfKNBxGECoZ4Nc1wJ/tHL6Dp5g9jXt1a5ocD3gi4VV/tHwg4bA/q2raPR0Ut/5R+Snuw5P0XRZufsdPe/O/BbzQbtERAREQEREBERAREQFSf7S1GTHRzj3WvljPm8Mc39I3K7FGt4uzf0jh01MLcS2eI90jNWeV9Wk9zigkUJBa0jlYW8raLuoRuh2iFZhsbHG09MBTzMN87SwZWOcDr2mtGveHDopugIiINZtHifs1LJMAC4ANYDydI8hsYPhmIv4XUSwfD+HGASXON3Oceb3ON3OPiSSVttuDmdSxdDM6Q+IjjIA/vPafRcxNsFx38k1M+krhjpHNb6WPR4N462+kdPu6xwgL0suV7QUzn3yjkuZx475bdmkbz7mbW25y8UWX7Db3nNb+ZPrZdX0TuY7Q7x/n3KVbhuqrG80n6z5Rz+TXGWviwnxgrVYlR3aRbmFuSF5TsuFFpeayk4sk1tu77A1xdA6neSXU7gwE8zG4XiPpZzfkUoUH2dvHiNukkDwfFzHsLP0c/8ANThekcNzzm01Lz16K/iFIrnmY6Tz8+vzERFPQlYb+Kc1FPRUTPtJ65gaOegY9pJHcOICVZVLAI2Njbo1jQ0eTRYfoFXG2FJXVWJNqqBsL/o1rmtbNfJPNMz65jCCBdrOHqSBmNr6G232K3iwV8hppWOpKxlw6nl0JLfe4ZIGa3wkA89CBdBNUREBERAREQEREBERAUE3ibx48NIp4me01klgyEXIbm0YZLa3PRg1Phe6kO2ePDD6CerIvw2dka2c9xDYwbdC5zb+F1Uu4nAnVlTPjFUTK8PLI3O6yuF5X26WaWgW07R7ggl+7nYmogqJMUrZLVVQCXwRBrIWZrH6wN0e8WHrc3cTdWKiICIiCL7YN+upXeMrPVzWn+DCuW8lmbXUpfTF4F3QuEw8m3D7eOQvWvp5A5oI6hcP/JMU11EX7phbYbdrBX3bx9/uzqGJrndo2Hna63EYa0aWAUeXLX3H+/VaOG8Wpo6beiibePf9GnLhm89UjLh4four3NIsSLeij5ae4rzkk1A6k/kBzP8AAeqsZ/k0zynF8/w1xpfe9qgNzHLy6LyK5Rcrkv27Tbbbfw6JcRtGzEwtl8Qj8IpXHyuxv+pTFR3ZmDNLNP00iZ8ushHhcgebCpEvQ+C4px6OkT38/NE1tt8m3hG375iIitUN0iiawWaA0XJsAALkkuPmSST4kqsd92yQkp/pOAGOqpS2QvZo57Gka3H3maODu5pHda0Vp9spWMw6rdJqwU02Yd4Mbhb15eqDVbr9rPpTD2TvsJWOMUwGgztAOYeDmlp8yR0UtVP/ALNkThRVT/umoa0ebYwXfo5quBAREQEREBERAREQQXfXRulwSoygks4chA+FsjS8+jbn0WJuEmY7BWBtrsmla/wdmzC/yuarAq6Zksb4pGh7HtcxzTyc1ws4HwIJCpfZ8SbL4g+CoLnYdVO+rnsSI3j3M9uTst2u01sHDQEILtReVLUslY2SNzZGOF2uY4OY4HkWkaEL1QEREHBChzYfZ5nU/wB0dqP+zPIfKbt8gO9TJaLa2hL4hMwXkhu8d7mf8xnqBceLQqvi+i/9WnmI9qOcJejyRW/Ynpbl8e6WKF5MdZ5b3jMP4OHobH5l5UVSHNBBuCLhd6mNxdGWNJIfY25BpBBzeF7eoC89pjmbdjvlPmvZnaWSXk6XNl4RC7i++nuDwsTm/XT5Qu9VHI2N0gscrSbEC2gv01XEDA1jQL2AHPn5nxWzLjyUje+/Px/L5jbbk9Fj1LnEtiZ77zlb1A73HwA1/wDq9ZX2F1mbNUlwal3N4szwj7/mOvllUrhWhnV54rPsxzli1ox1m8/sttRUrYo2xt5NFh3nvJ7yTqT4r3RF6PEREbQqZmZneRERZYFUm9jG5K+VuBUA4sryHVLwexE1pBDXkcgDZzj0s0ak2Fk7SucKKpLHmJwp5S140LCI3WcPEHVQ/cfHA7CmTxxNZK9zmzv1dJK9jj2nPOpuCDbkMxsgleymARYfSRUkXusGrj7z3E3e8+JJPloOi26IgIiICIiAiIgIiICgO+zHm0mFSNLGyPqDwGBzQ5rbglzyD8IBt+8WqfKtt/Oz8lXhgliBc6mfxnNHMx5SJCPLR3k0oNrufwMUmEU4+9M32l57zKAW/kwMHopoqw2W3jxHCaQMyvq3OjoWQk2JmAawPfbUR2LXk+Nuas5t7C+p69B+SDlERAXBXKIKyoZeDLLB0jmexvg0OOT/AA2WyrcScxrSxr5HF2UNbzOhOveBa9utrdVG8fnMWI1LXaXkDh4gsbY+S8qzGXs4ZjdY8QX5G4sdFwmp0m2rnaOW8uwtpJy1reI33iJ+Te120rBCC273kWcwNOdpIJs/qw6EC/XvW7NTcAnmRdRv6XnDQ57BqXWdlyusZG21GvI811p8WuxpOhLRca93jqoWbBvX1Y7/AB/eiPOkmY5R09+7bVL+LLFTg/aPDT+EAuf/AIQQp21thYaAKuNk5+LiTOuWKR3l7rf9SshdZwHTxi08275lV8Ur6O9cfhG/nP4ERFeKsWr2ip6h8JdSyCOdnbjD9YZCOccrbjsuGlwQQbEcrHaIgpbHtua3GYHYfh9FPHI8cKrfJYNhvpJEHchfUXdY2Bs2/KyNgdmvo2gipMwe5t3PcOTnuN3W8Bew8AFB8aqhhG0kc3u02JMDJR90StdlD7eBLCT/AFj1bKAiIgIiICIiAiIgIiICFEQULthg1LhO0dDOyMQU0jmvd0iY/O5shaDoxrQ6NxHIX0tyV8grT7V7MU+JU5p6lpLb3a5pAkjd8THWNj+Y7wVWewRqKbHn4SysnmpKaIvDH5TfsMAZfUhrTIOVhdvJBcqIiAiIgr7e3ho4UdW0DOx7YnXOUOY69rnvDrW/EVDKDDKh5a9rIuyQ4fXOOo+VWRvQpHy4ZKI2l5a5khA97Kx4LyB1sLn0VcYBizbD3vyUfJpMOS3atHNOxcS1WKkY639WP6Syaerkbd0NKRe4HEcLZfMdLKG1glhbbJFoLX4rzy+VTWTG4jTNjDH5gbk5e+/X1UF2hqm2Is4XWmvDdLXpT5z/AKxj4hqMfKltvhCyt1lABRiqI+snJLjzAax7msa3w0v5lTRaHYWikgw6nilbke1nab1aS4usfHVb5TKUrSvZrHJGy5r5rze87zIiIvprEREFMftKtb7PRmwzCWQA9bFrc36hv5BWts5Wmejp5zzlgikPzxtd/mqG3z4qcUxaDD6a0hhPABHIzSObxNR0blaCeha7uX0Fh1I2GGOFvuxxtjb5MaGj9AgyEREBERAREQEREBERAREQRfbrbaDC4gXgyzSaRQM+0kPLxytvYXsfAE6Kt8K2Ox010uLxCkpJpsxMMrnOIa61mkBjhfst6g37uS89h5fpXaioqpu02mbIYWnk0MeI4tD3Bzn/AIjdXogqbBd7EsFV7DjFOKWW4bxWfZa+65wJNmH42uI8AL2tkFUz+0nQRmnpaiwEgldFfqWOYXG/fYtH9496sXd7M5+FUTnklxpork8zZgAJ7zYIJCiIg6y+6fIqitkmfVR6XJAV04zhgqY+GZJYtb5o3BruRFjcHTVUrPVy4ZI+CenmdwiPrY2ONO4OAcC1xAFu1a3fp0QTR9xTDQA5n9Bfp/sKEV7iaiD/AKmH/uNuFmS7yITCI/Z59HOObsC9+/VYeD0k2J1McccE0LLiUyyMc2MNaRfK6xDnG+n/AIQX2ixMMoGwRiNpe4Ak3ebu1PfZZaAtdtDiYpaWSpIuIm53c/dBGe1uuW62Kim9SoEeDVrjYXhLPV5DB+rgglL3hoLiQABckmwAHMk9FTu8fewHA0OFl00zzkM0YLgL6FsFtXvPxDQdLnUbVm7CasY04hidZUsIaeEy0UfQgEEuDtetgVMtm9j6LDx/+aBkbrWL9Xynvu913W8L2QQfc/uyNBatqwPaSCGM0IgaRY3PLiEEjTkCR1KtVEQEREBERAREQEREBERB5zzNjaXvc1jWi7nOIa1oHMknQBaWk20w6WThsraVzybACVnaPc3XtHyUC25f9J4/TYO97m0rGcaZjXFhlcGueGm3MWDPEBzyNVMcY3eYbUU5pzSwRDLZr4o2Ryxno5rgL3vrY3B63QVHikcmzeP+1FrnUs7nm46xSEGRg/fY6xA65W8rq9aHHaaan9pjnidDbNxMwDAOuYn3SOoNiFVO5qq9ugq8JrQ2ripy3h5xms3M9pAdzABaC08xc2NgLb925LCi/NlqAPg4pyfmRm/VBWO9/bKHFK6GCOTLSwOyGbKXAl7miWQNGrmtDRbvsbc19D4C2EUsLaZzXQNiY2ItOZpY1oDbHroFHa/djhktJ7IKZkbRctkZpO1x5u4huXHQaOuNBpoFXtLs/jez8jjRj6QpCbmMBzvM8K+Zj+erMw0F76BBeaKsqbfPSizKqmraWXS8bos1z1DDcOPq0Lc7GbxYcSqpqZkU0D42NkAmAbI8E2d2ATltdnU3zeCCaLghcogxhh8QNxFGDzvkbf8AgslEQEREBVlvvreJFS4Yw/WVtTG0gcxG1w18O25nP4Sp5tBjkFDTuqKh4ZG0fM49GsH3nHoFT27Z02NY5Ji0zS2GnBbE3XK0kERRg8nFrXOe4j7xBsMwQXiAuURAREQEREBERAREQEREBdZHhoLnEADUkmwA8Suyp7bJxxTaKLCZXvbSRMEkkbXFomdk4mtuf3RfoM1rE3QdtvcBqH4hDjmEuiq3RWbJHG9jycoIJFj2g5hLC0drla99MnHd5FVUU/s9Dh1eyrlGQmSEtZBfRzg77xHQuygaE8rHW45wcM2loYqBoiEzI4qiGIWjLXvLWuc0aZgO18oPU3uhBAt0OwzsKpXmaxqJyHSZTdrGtvw2A8iRmcSR1NtQAVPURAREQFV29rA54Zoscoh9fTC0zbX4kQvqQOYALg7rlde4yq0UIQRLYfeBSYpG3hvEc9u3TvcOI0jnk/pG/vDwuAdFLVU22G5OColM9HL7I8nMY8uaG/O7LEGPXoLjuAWtpty9ZIAyqxN5j6sbxZAR3DO4AfkUEp3gbXU7miipXSVNe531DaV9nwyAGz3yDssaNczTe4vcZSSOpxnGsOjaaqmjxOPK3PJSktqGGwzZostpNb2LQNBc2Ui2Q2Ko8MYW00facLPlec0z/N3Qae60AeCkSCso9+GG2OdlXG4aFjom5gRzGjytJju/2INIo6aRz9bOnLWMb3HKxxLh4XaraxDB6eo+3ggm/tIo5P5gV1ocCpYDeGmp4T3xxRsP+EBBQFBspjG0NQ2esdJDCL2fIzIxrT0gh0zX07XLTVxIV+bN4DDQUzKWBtmMHM2Lnk+8956uJ/8AVgAFs0QEREBERAREQEREBERAREQCVV+09Jh+I4hDNR4nDTYhF2GPYWSiQa9ktJAc7tOGhOhIIOlpNvRpqiXCKqOmDjK6MDK0Xc5mZvFa0dSY8wt1vbqqoqmsr6DDcMw6nkFRG6GSecQvjbTPDCJnPkIFznJde9uyLXNgAsTY3doyjqnV9TO+tq3EkSPblay4sSG3JzW0vewGgAU9QIgIiICIiAiIgIiICIiAiIgIiICIiAiIgIiICIiAiIgIiICIiAiIgIiICIiAiIgIiICIiAiIgIiICIiAiIgIiICIiAiIgIiICIiAiIgIiICIiAiIgIiICIiAiIgIiICIiAiIgIiICIiAiIg//9k="/>
          <p:cNvSpPr>
            <a:spLocks noChangeAspect="1" noChangeArrowheads="1"/>
          </p:cNvSpPr>
          <p:nvPr/>
        </p:nvSpPr>
        <p:spPr bwMode="auto">
          <a:xfrm>
            <a:off x="1174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AutoShape 6" descr="data:image/jpeg;base64,/9j/4AAQSkZJRgABAQAAAQABAAD/2wCEAAkGBxMREBURExQSEhUWFBcUFxYWFRMUEhQZGBYZGhQYFRgbHCggGBomHBcXITEhJSkrLjouGR8zODMtNygvLiwBCgoKDg0OGxAQGzQmHCU3Nyw3NzcsNy43LjM3MDQ3Kyw1NS0yLzc0KzUyLDcsLzUvNDc0LC80NC40LCw0Nyw3LP/AABEIAOEA4QMBIgACEQEDEQH/xAAcAAEAAgIDAQAAAAAAAAAAAAAABgcEBQECAwj/xABFEAABAwIDBQUEBwQIBwEAAAABAAIDBBEFEiEGBxMxQSJRYXGBFDJSghUjM0JykaEIYrGyU2NzkqLBwvA0Q3Sz0eHxJP/EABsBAQACAwEBAAAAAAAAAAAAAAAEBQEDBgcC/8QALxEBAAIBAgMECgMBAQAAAAAAAAECAwQRBSExEkFRkRMiMmGBobHB4fAGcdFyFP/aAAwDAQACEQMRAD8AvFERAREQEREBERAREQEREBFrMa2hpaNuapnihvyD3AOd+FvN3oFFXb4cHBt7S4+IgqLfyXQT1FHcD25w+tIbBVRPcdAwkxyHyY8Bx9ApEgIiICIiAiIgIiICIiAiIgIiICIiAiIgIiICIiAiIg4e4AEkgAC5J0AHUlUxtlvRqKuc4fgrHyPJyunY3MTrZ3CB0awcjI70to45W3OL1OMVxwWgdkhZ/wAZUC5aLHtM05gcst+07TQAlWHsnsrTYbAIadmXlnebGWU/E91teunIdAEFO4duMrKgmWtq2xyOOZ1g6olPfneXNGbyLlv2bgqPLrU1Jd3gRAfllP8AFW8iChMX3ASgE01XG/ubKx0en42l1z8oWLS43j+A6VEUlRTN+O80QA+GZtzH4B2n7q+hVwQgimw239JirPqncOYC74HkcRveW/G3xHeLgclLFANq91lLUv8AaKUmgqmnM2WHstLu9zG2sf3m2Out1HaDZCoxCWSlxesr21DBma2KSNlJNECBxIQI7OIJAdcAjM2/NBcKKiNodg6/Am+3YbVSyQxduSJ17hvUvYOxKznfQEc+lxbmxm0LcRoYatoy529pvwPacr2+IDgbHusUG7REQEREBERAREQEREBERAREQEREBEUP2i3l4dROMb5uNLy4UA4sl+WUkdlrr6WJBQRfebt7VisbhOFtLqggcR7Whz2lwzBjM3Zb2dXPOgB6WJWsg2F2kDDJ9J2kI+zNRO4eV8uVp58hbxW13JUgnlxDFHNcJJ6qSNucdtjLiRzfDV7AR/VjuVrIIzu+2TZhlEyAWdK7tzSdXyHnr8I5DwF+ZKkyIgIiICIiAuLdVyiDh7QQQQCCLEHUEdQVVOztJieDOqqenw01lM6pfNC4VUMWVjgLNyuu42AaOQ1BVrogqiq3xvpXZa7C6ul1sDmDwfwlzGB3oVLdlN4NBiJDYJrSf0Ug4cvoDo75SVJqmnZI0se1r2uFi1wDmkdxB0Kp/eTuiZldWYa0xSs7ZgZcNfl1zQ9WPHwjQ2FrHmFyIqn3KbxH1rTRVT81QxuaOQ+9Mwcw7ve3v5ka8wSbYQEREBERAREQEREBERAWPiFbHBE+aVwZHG0ve48gALnz8lkKnv2j8YdHS09I0kCd7nvt1bFlytPhmeD8oQaCt2pxHaSrNHRZqWkF85uQeHe2adw1JPSNptr1tmFpbFbvKLDGgxsEs1u1PIAZCeuTpGPAepPNee6jZhuH4bE3LaWZrZpj1zOAIb5NbZtuV7nqpkg0uzOCex+0tBGSWrkqGW5gStYXh3lJxLW6ZVukRARFCdscbfI80dO4tI+2kB1bcX4bD0cQbk9AR1OmnUZ6YKTe/RI02ntnydivxnwjxeu0+3sVM4xQN9pmGhANomH99+tz4C/jZQStxvEqo3fUvhafuQfUtHzC8h/vLb0eBNYAAAtjHhIXK6jjt7T6vKHSYsOi08cq9qfGf86IJPg73m75ZnkagullcR5Euus6jq6+n+xqprD7r3cZvlaTNYeVlNW4Q3uXSXCR3KHXjGSJ9qW6dXp7+rakbf8AMOuAbxNRHWxiI8hMy5iP42m5Z53I8lP45A4BzSCCLgg3BB5EHqFWlThAIsRf0TZ/FH4dIGPJNK46g3PBJ++3ubfmPXvveaDjVctopk81bquHYctZvpuVvDx/r3+7vWai4BuuV0DnxERB88b1cOOD41BiNOMrZXcfKNBxGECoZ4Nc1wJ/tHL6Dp5g9jXt1a5ocD3gi4VV/tHwg4bA/q2raPR0Ut/5R+Snuw5P0XRZufsdPe/O/BbzQbtERAREQEREBERAREQFSf7S1GTHRzj3WvljPm8Mc39I3K7FGt4uzf0jh01MLcS2eI90jNWeV9Wk9zigkUJBa0jlYW8raLuoRuh2iFZhsbHG09MBTzMN87SwZWOcDr2mtGveHDopugIiINZtHifs1LJMAC4ANYDydI8hsYPhmIv4XUSwfD+HGASXON3Oceb3ON3OPiSSVttuDmdSxdDM6Q+IjjIA/vPafRcxNsFx38k1M+krhjpHNb6WPR4N462+kdPu6xwgL0suV7QUzn3yjkuZx475bdmkbz7mbW25y8UWX7Db3nNb+ZPrZdX0TuY7Q7x/n3KVbhuqrG80n6z5Rz+TXGWviwnxgrVYlR3aRbmFuSF5TsuFFpeayk4sk1tu77A1xdA6neSXU7gwE8zG4XiPpZzfkUoUH2dvHiNukkDwfFzHsLP0c/8ANThekcNzzm01Lz16K/iFIrnmY6Tz8+vzERFPQlYb+Kc1FPRUTPtJ65gaOegY9pJHcOICVZVLAI2Njbo1jQ0eTRYfoFXG2FJXVWJNqqBsL/o1rmtbNfJPNMz65jCCBdrOHqSBmNr6G232K3iwV8hppWOpKxlw6nl0JLfe4ZIGa3wkA89CBdBNUREBERAREQEREBERAUE3ibx48NIp4me01klgyEXIbm0YZLa3PRg1Phe6kO2ePDD6CerIvw2dka2c9xDYwbdC5zb+F1Uu4nAnVlTPjFUTK8PLI3O6yuF5X26WaWgW07R7ggl+7nYmogqJMUrZLVVQCXwRBrIWZrH6wN0e8WHrc3cTdWKiICIiCL7YN+upXeMrPVzWn+DCuW8lmbXUpfTF4F3QuEw8m3D7eOQvWvp5A5oI6hcP/JMU11EX7phbYbdrBX3bx9/uzqGJrndo2Hna63EYa0aWAUeXLX3H+/VaOG8Wpo6beiibePf9GnLhm89UjLh4four3NIsSLeij5ae4rzkk1A6k/kBzP8AAeqsZ/k0zynF8/w1xpfe9qgNzHLy6LyK5Rcrkv27Tbbbfw6JcRtGzEwtl8Qj8IpXHyuxv+pTFR3ZmDNLNP00iZ8ushHhcgebCpEvQ+C4px6OkT38/NE1tt8m3hG375iIitUN0iiawWaA0XJsAALkkuPmSST4kqsd92yQkp/pOAGOqpS2QvZo57Gka3H3maODu5pHda0Vp9spWMw6rdJqwU02Yd4Mbhb15eqDVbr9rPpTD2TvsJWOMUwGgztAOYeDmlp8yR0UtVP/ALNkThRVT/umoa0ebYwXfo5quBAREQEREBERAREQQXfXRulwSoygks4chA+FsjS8+jbn0WJuEmY7BWBtrsmla/wdmzC/yuarAq6Zksb4pGh7HtcxzTyc1ws4HwIJCpfZ8SbL4g+CoLnYdVO+rnsSI3j3M9uTst2u01sHDQEILtReVLUslY2SNzZGOF2uY4OY4HkWkaEL1QEREHBChzYfZ5nU/wB0dqP+zPIfKbt8gO9TJaLa2hL4hMwXkhu8d7mf8xnqBceLQqvi+i/9WnmI9qOcJejyRW/Ynpbl8e6WKF5MdZ5b3jMP4OHobH5l5UVSHNBBuCLhd6mNxdGWNJIfY25BpBBzeF7eoC89pjmbdjvlPmvZnaWSXk6XNl4RC7i++nuDwsTm/XT5Qu9VHI2N0gscrSbEC2gv01XEDA1jQL2AHPn5nxWzLjyUje+/Px/L5jbbk9Fj1LnEtiZ77zlb1A73HwA1/wDq9ZX2F1mbNUlwal3N4szwj7/mOvllUrhWhnV54rPsxzli1ox1m8/sttRUrYo2xt5NFh3nvJ7yTqT4r3RF6PEREbQqZmZneRERZYFUm9jG5K+VuBUA4sryHVLwexE1pBDXkcgDZzj0s0ak2Fk7SucKKpLHmJwp5S140LCI3WcPEHVQ/cfHA7CmTxxNZK9zmzv1dJK9jj2nPOpuCDbkMxsgleymARYfSRUkXusGrj7z3E3e8+JJPloOi26IgIiICIiAiIgIiICgO+zHm0mFSNLGyPqDwGBzQ5rbglzyD8IBt+8WqfKtt/Oz8lXhgliBc6mfxnNHMx5SJCPLR3k0oNrufwMUmEU4+9M32l57zKAW/kwMHopoqw2W3jxHCaQMyvq3OjoWQk2JmAawPfbUR2LXk+Nuas5t7C+p69B+SDlERAXBXKIKyoZeDLLB0jmexvg0OOT/AA2WyrcScxrSxr5HF2UNbzOhOveBa9utrdVG8fnMWI1LXaXkDh4gsbY+S8qzGXs4ZjdY8QX5G4sdFwmp0m2rnaOW8uwtpJy1reI33iJ+Te120rBCC273kWcwNOdpIJs/qw6EC/XvW7NTcAnmRdRv6XnDQ57BqXWdlyusZG21GvI811p8WuxpOhLRca93jqoWbBvX1Y7/AB/eiPOkmY5R09+7bVL+LLFTg/aPDT+EAuf/AIQQp21thYaAKuNk5+LiTOuWKR3l7rf9SshdZwHTxi08275lV8Ur6O9cfhG/nP4ERFeKsWr2ip6h8JdSyCOdnbjD9YZCOccrbjsuGlwQQbEcrHaIgpbHtua3GYHYfh9FPHI8cKrfJYNhvpJEHchfUXdY2Bs2/KyNgdmvo2gipMwe5t3PcOTnuN3W8Bew8AFB8aqhhG0kc3u02JMDJR90StdlD7eBLCT/AFj1bKAiIgIiICIiAiIgIiICFEQULthg1LhO0dDOyMQU0jmvd0iY/O5shaDoxrQ6NxHIX0tyV8grT7V7MU+JU5p6lpLb3a5pAkjd8THWNj+Y7wVWewRqKbHn4SysnmpKaIvDH5TfsMAZfUhrTIOVhdvJBcqIiAiIgr7e3ho4UdW0DOx7YnXOUOY69rnvDrW/EVDKDDKh5a9rIuyQ4fXOOo+VWRvQpHy4ZKI2l5a5khA97Kx4LyB1sLn0VcYBizbD3vyUfJpMOS3atHNOxcS1WKkY639WP6Syaerkbd0NKRe4HEcLZfMdLKG1glhbbJFoLX4rzy+VTWTG4jTNjDH5gbk5e+/X1UF2hqm2Is4XWmvDdLXpT5z/AKxj4hqMfKltvhCyt1lABRiqI+snJLjzAax7msa3w0v5lTRaHYWikgw6nilbke1nab1aS4usfHVb5TKUrSvZrHJGy5r5rze87zIiIvprEREFMftKtb7PRmwzCWQA9bFrc36hv5BWts5Wmejp5zzlgikPzxtd/mqG3z4qcUxaDD6a0hhPABHIzSObxNR0blaCeha7uX0Fh1I2GGOFvuxxtjb5MaGj9AgyEREBERAREQEREBERAREQRfbrbaDC4gXgyzSaRQM+0kPLxytvYXsfAE6Kt8K2Ox010uLxCkpJpsxMMrnOIa61mkBjhfst6g37uS89h5fpXaioqpu02mbIYWnk0MeI4tD3Bzn/AIjdXogqbBd7EsFV7DjFOKWW4bxWfZa+65wJNmH42uI8AL2tkFUz+0nQRmnpaiwEgldFfqWOYXG/fYtH9496sXd7M5+FUTnklxpork8zZgAJ7zYIJCiIg6y+6fIqitkmfVR6XJAV04zhgqY+GZJYtb5o3BruRFjcHTVUrPVy4ZI+CenmdwiPrY2ONO4OAcC1xAFu1a3fp0QTR9xTDQA5n9Bfp/sKEV7iaiD/AKmH/uNuFmS7yITCI/Z59HOObsC9+/VYeD0k2J1McccE0LLiUyyMc2MNaRfK6xDnG+n/AIQX2ixMMoGwRiNpe4Ak3ebu1PfZZaAtdtDiYpaWSpIuIm53c/dBGe1uuW62Kim9SoEeDVrjYXhLPV5DB+rgglL3hoLiQABckmwAHMk9FTu8fewHA0OFl00zzkM0YLgL6FsFtXvPxDQdLnUbVm7CasY04hidZUsIaeEy0UfQgEEuDtetgVMtm9j6LDx/+aBkbrWL9Xynvu913W8L2QQfc/uyNBatqwPaSCGM0IgaRY3PLiEEjTkCR1KtVEQEREBERAREQEREBERB5zzNjaXvc1jWi7nOIa1oHMknQBaWk20w6WThsraVzybACVnaPc3XtHyUC25f9J4/TYO97m0rGcaZjXFhlcGueGm3MWDPEBzyNVMcY3eYbUU5pzSwRDLZr4o2Ryxno5rgL3vrY3B63QVHikcmzeP+1FrnUs7nm46xSEGRg/fY6xA65W8rq9aHHaaan9pjnidDbNxMwDAOuYn3SOoNiFVO5qq9ugq8JrQ2ripy3h5xms3M9pAdzABaC08xc2NgLb925LCi/NlqAPg4pyfmRm/VBWO9/bKHFK6GCOTLSwOyGbKXAl7miWQNGrmtDRbvsbc19D4C2EUsLaZzXQNiY2ItOZpY1oDbHroFHa/djhktJ7IKZkbRctkZpO1x5u4huXHQaOuNBpoFXtLs/jez8jjRj6QpCbmMBzvM8K+Zj+erMw0F76BBeaKsqbfPSizKqmraWXS8bos1z1DDcOPq0Lc7GbxYcSqpqZkU0D42NkAmAbI8E2d2ATltdnU3zeCCaLghcogxhh8QNxFGDzvkbf8AgslEQEREBVlvvreJFS4Yw/WVtTG0gcxG1w18O25nP4Sp5tBjkFDTuqKh4ZG0fM49GsH3nHoFT27Z02NY5Ji0zS2GnBbE3XK0kERRg8nFrXOe4j7xBsMwQXiAuURAREQEREBERAREQEREBdZHhoLnEADUkmwA8Suyp7bJxxTaKLCZXvbSRMEkkbXFomdk4mtuf3RfoM1rE3QdtvcBqH4hDjmEuiq3RWbJHG9jycoIJFj2g5hLC0drla99MnHd5FVUU/s9Dh1eyrlGQmSEtZBfRzg77xHQuygaE8rHW45wcM2loYqBoiEzI4qiGIWjLXvLWuc0aZgO18oPU3uhBAt0OwzsKpXmaxqJyHSZTdrGtvw2A8iRmcSR1NtQAVPURAREQFV29rA54Zoscoh9fTC0zbX4kQvqQOYALg7rlde4yq0UIQRLYfeBSYpG3hvEc9u3TvcOI0jnk/pG/vDwuAdFLVU22G5OColM9HL7I8nMY8uaG/O7LEGPXoLjuAWtpty9ZIAyqxN5j6sbxZAR3DO4AfkUEp3gbXU7miipXSVNe531DaV9nwyAGz3yDssaNczTe4vcZSSOpxnGsOjaaqmjxOPK3PJSktqGGwzZostpNb2LQNBc2Ui2Q2Ko8MYW00facLPlec0z/N3Qae60AeCkSCso9+GG2OdlXG4aFjom5gRzGjytJju/2INIo6aRz9bOnLWMb3HKxxLh4XaraxDB6eo+3ggm/tIo5P5gV1ocCpYDeGmp4T3xxRsP+EBBQFBspjG0NQ2esdJDCL2fIzIxrT0gh0zX07XLTVxIV+bN4DDQUzKWBtmMHM2Lnk+8956uJ/8AVgAFs0QEREBERAREQEREBERAREQCVV+09Jh+I4hDNR4nDTYhF2GPYWSiQa9ktJAc7tOGhOhIIOlpNvRpqiXCKqOmDjK6MDK0Xc5mZvFa0dSY8wt1vbqqoqmsr6DDcMw6nkFRG6GSecQvjbTPDCJnPkIFznJde9uyLXNgAsTY3doyjqnV9TO+tq3EkSPblay4sSG3JzW0vewGgAU9QIgIiICIiAiIgIiICIiAiIgIiICIiAiIgIiICIiAiIgIiICIiAiIgIiICIiAiIgIiICIiAiIgIiICIiAiIgIiICIiAiIgIiICIiAiIgIiICIiAiIgIiICIiAiIgIiICIiAiIgIiICIiAiIg//9k="/>
          <p:cNvSpPr>
            <a:spLocks noChangeAspect="1" noChangeArrowheads="1"/>
          </p:cNvSpPr>
          <p:nvPr/>
        </p:nvSpPr>
        <p:spPr bwMode="auto">
          <a:xfrm>
            <a:off x="2698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" name="AutoShape 8" descr="data:image/jpeg;base64,/9j/4AAQSkZJRgABAQAAAQABAAD/2wCEAAkGBxMREBURExQSEhUWFBcUFxYWFRMUEhQZGBYZGhQYFRgbHCggGBomHBcXITEhJSkrLjouGR8zODMtNygvLiwBCgoKDg0OGxAQGzQmHCU3Nyw3NzcsNy43LjM3MDQ3Kyw1NS0yLzc0KzUyLDcsLzUvNDc0LC80NC40LCw0Nyw3LP/AABEIAOEA4QMBIgACEQEDEQH/xAAcAAEAAgIDAQAAAAAAAAAAAAAABgcEBQECAwj/xABFEAABAwIDBQUEBwQIBwEAAAABAAIDBBEFEiEGBxMxQSJRYXGBFDJSghUjM0JykaEIYrGyU2NzkqLBwvA0Q3Sz0eHxJP/EABsBAQACAwEBAAAAAAAAAAAAAAAEBQEDBgcC/8QALxEBAAIBAgMECgMBAQAAAAAAAAECAwQRBSExEkFRkRMiMmGBobHB4fAGcdFyFP/aAAwDAQACEQMRAD8AvFERAREQEREBERAREQEREBFrMa2hpaNuapnihvyD3AOd+FvN3oFFXb4cHBt7S4+IgqLfyXQT1FHcD25w+tIbBVRPcdAwkxyHyY8Bx9ApEgIiICIiAiIgIiICIiAiIgIiICIiAiIgIiICIiAiIg4e4AEkgAC5J0AHUlUxtlvRqKuc4fgrHyPJyunY3MTrZ3CB0awcjI70to45W3OL1OMVxwWgdkhZ/wAZUC5aLHtM05gcst+07TQAlWHsnsrTYbAIadmXlnebGWU/E91teunIdAEFO4duMrKgmWtq2xyOOZ1g6olPfneXNGbyLlv2bgqPLrU1Jd3gRAfllP8AFW8iChMX3ASgE01XG/ubKx0en42l1z8oWLS43j+A6VEUlRTN+O80QA+GZtzH4B2n7q+hVwQgimw239JirPqncOYC74HkcRveW/G3xHeLgclLFANq91lLUv8AaKUmgqmnM2WHstLu9zG2sf3m2Out1HaDZCoxCWSlxesr21DBma2KSNlJNECBxIQI7OIJAdcAjM2/NBcKKiNodg6/Am+3YbVSyQxduSJ17hvUvYOxKznfQEc+lxbmxm0LcRoYatoy529pvwPacr2+IDgbHusUG7REQEREBERAREQEREBERAREQEREBEUP2i3l4dROMb5uNLy4UA4sl+WUkdlrr6WJBQRfebt7VisbhOFtLqggcR7Whz2lwzBjM3Zb2dXPOgB6WJWsg2F2kDDJ9J2kI+zNRO4eV8uVp58hbxW13JUgnlxDFHNcJJ6qSNucdtjLiRzfDV7AR/VjuVrIIzu+2TZhlEyAWdK7tzSdXyHnr8I5DwF+ZKkyIgIiICIiAuLdVyiDh7QQQQCCLEHUEdQVVOztJieDOqqenw01lM6pfNC4VUMWVjgLNyuu42AaOQ1BVrogqiq3xvpXZa7C6ul1sDmDwfwlzGB3oVLdlN4NBiJDYJrSf0Ug4cvoDo75SVJqmnZI0se1r2uFi1wDmkdxB0Kp/eTuiZldWYa0xSs7ZgZcNfl1zQ9WPHwjQ2FrHmFyIqn3KbxH1rTRVT81QxuaOQ+9Mwcw7ve3v5ka8wSbYQEREBERAREQEREBERAWPiFbHBE+aVwZHG0ve48gALnz8lkKnv2j8YdHS09I0kCd7nvt1bFlytPhmeD8oQaCt2pxHaSrNHRZqWkF85uQeHe2adw1JPSNptr1tmFpbFbvKLDGgxsEs1u1PIAZCeuTpGPAepPNee6jZhuH4bE3LaWZrZpj1zOAIb5NbZtuV7nqpkg0uzOCex+0tBGSWrkqGW5gStYXh3lJxLW6ZVukRARFCdscbfI80dO4tI+2kB1bcX4bD0cQbk9AR1OmnUZ6YKTe/RI02ntnydivxnwjxeu0+3sVM4xQN9pmGhANomH99+tz4C/jZQStxvEqo3fUvhafuQfUtHzC8h/vLb0eBNYAAAtjHhIXK6jjt7T6vKHSYsOi08cq9qfGf86IJPg73m75ZnkagullcR5Euus6jq6+n+xqprD7r3cZvlaTNYeVlNW4Q3uXSXCR3KHXjGSJ9qW6dXp7+rakbf8AMOuAbxNRHWxiI8hMy5iP42m5Z53I8lP45A4BzSCCLgg3BB5EHqFWlThAIsRf0TZ/FH4dIGPJNK46g3PBJ++3ubfmPXvveaDjVctopk81bquHYctZvpuVvDx/r3+7vWai4BuuV0DnxERB88b1cOOD41BiNOMrZXcfKNBxGECoZ4Nc1wJ/tHL6Dp5g9jXt1a5ocD3gi4VV/tHwg4bA/q2raPR0Ut/5R+Snuw5P0XRZufsdPe/O/BbzQbtERAREQEREBERAREQFSf7S1GTHRzj3WvljPm8Mc39I3K7FGt4uzf0jh01MLcS2eI90jNWeV9Wk9zigkUJBa0jlYW8raLuoRuh2iFZhsbHG09MBTzMN87SwZWOcDr2mtGveHDopugIiINZtHifs1LJMAC4ANYDydI8hsYPhmIv4XUSwfD+HGASXON3Oceb3ON3OPiSSVttuDmdSxdDM6Q+IjjIA/vPafRcxNsFx38k1M+krhjpHNb6WPR4N462+kdPu6xwgL0suV7QUzn3yjkuZx475bdmkbz7mbW25y8UWX7Db3nNb+ZPrZdX0TuY7Q7x/n3KVbhuqrG80n6z5Rz+TXGWviwnxgrVYlR3aRbmFuSF5TsuFFpeayk4sk1tu77A1xdA6neSXU7gwE8zG4XiPpZzfkUoUH2dvHiNukkDwfFzHsLP0c/8ANThekcNzzm01Lz16K/iFIrnmY6Tz8+vzERFPQlYb+Kc1FPRUTPtJ65gaOegY9pJHcOICVZVLAI2Njbo1jQ0eTRYfoFXG2FJXVWJNqqBsL/o1rmtbNfJPNMz65jCCBdrOHqSBmNr6G232K3iwV8hppWOpKxlw6nl0JLfe4ZIGa3wkA89CBdBNUREBERAREQEREBERAUE3ibx48NIp4me01klgyEXIbm0YZLa3PRg1Phe6kO2ePDD6CerIvw2dka2c9xDYwbdC5zb+F1Uu4nAnVlTPjFUTK8PLI3O6yuF5X26WaWgW07R7ggl+7nYmogqJMUrZLVVQCXwRBrIWZrH6wN0e8WHrc3cTdWKiICIiCL7YN+upXeMrPVzWn+DCuW8lmbXUpfTF4F3QuEw8m3D7eOQvWvp5A5oI6hcP/JMU11EX7phbYbdrBX3bx9/uzqGJrndo2Hna63EYa0aWAUeXLX3H+/VaOG8Wpo6beiibePf9GnLhm89UjLh4four3NIsSLeij5ae4rzkk1A6k/kBzP8AAeqsZ/k0zynF8/w1xpfe9qgNzHLy6LyK5Rcrkv27Tbbbfw6JcRtGzEwtl8Qj8IpXHyuxv+pTFR3ZmDNLNP00iZ8ushHhcgebCpEvQ+C4px6OkT38/NE1tt8m3hG375iIitUN0iiawWaA0XJsAALkkuPmSST4kqsd92yQkp/pOAGOqpS2QvZo57Gka3H3maODu5pHda0Vp9spWMw6rdJqwU02Yd4Mbhb15eqDVbr9rPpTD2TvsJWOMUwGgztAOYeDmlp8yR0UtVP/ALNkThRVT/umoa0ebYwXfo5quBAREQEREBERAREQQXfXRulwSoygks4chA+FsjS8+jbn0WJuEmY7BWBtrsmla/wdmzC/yuarAq6Zksb4pGh7HtcxzTyc1ws4HwIJCpfZ8SbL4g+CoLnYdVO+rnsSI3j3M9uTst2u01sHDQEILtReVLUslY2SNzZGOF2uY4OY4HkWkaEL1QEREHBChzYfZ5nU/wB0dqP+zPIfKbt8gO9TJaLa2hL4hMwXkhu8d7mf8xnqBceLQqvi+i/9WnmI9qOcJejyRW/Ynpbl8e6WKF5MdZ5b3jMP4OHobH5l5UVSHNBBuCLhd6mNxdGWNJIfY25BpBBzeF7eoC89pjmbdjvlPmvZnaWSXk6XNl4RC7i++nuDwsTm/XT5Qu9VHI2N0gscrSbEC2gv01XEDA1jQL2AHPn5nxWzLjyUje+/Px/L5jbbk9Fj1LnEtiZ77zlb1A73HwA1/wDq9ZX2F1mbNUlwal3N4szwj7/mOvllUrhWhnV54rPsxzli1ox1m8/sttRUrYo2xt5NFh3nvJ7yTqT4r3RF6PEREbQqZmZneRERZYFUm9jG5K+VuBUA4sryHVLwexE1pBDXkcgDZzj0s0ak2Fk7SucKKpLHmJwp5S140LCI3WcPEHVQ/cfHA7CmTxxNZK9zmzv1dJK9jj2nPOpuCDbkMxsgleymARYfSRUkXusGrj7z3E3e8+JJPloOi26IgIiICIiAiIgIiICgO+zHm0mFSNLGyPqDwGBzQ5rbglzyD8IBt+8WqfKtt/Oz8lXhgliBc6mfxnNHMx5SJCPLR3k0oNrufwMUmEU4+9M32l57zKAW/kwMHopoqw2W3jxHCaQMyvq3OjoWQk2JmAawPfbUR2LXk+Nuas5t7C+p69B+SDlERAXBXKIKyoZeDLLB0jmexvg0OOT/AA2WyrcScxrSxr5HF2UNbzOhOveBa9utrdVG8fnMWI1LXaXkDh4gsbY+S8qzGXs4ZjdY8QX5G4sdFwmp0m2rnaOW8uwtpJy1reI33iJ+Te120rBCC273kWcwNOdpIJs/qw6EC/XvW7NTcAnmRdRv6XnDQ57BqXWdlyusZG21GvI811p8WuxpOhLRca93jqoWbBvX1Y7/AB/eiPOkmY5R09+7bVL+LLFTg/aPDT+EAuf/AIQQp21thYaAKuNk5+LiTOuWKR3l7rf9SshdZwHTxi08275lV8Ur6O9cfhG/nP4ERFeKsWr2ip6h8JdSyCOdnbjD9YZCOccrbjsuGlwQQbEcrHaIgpbHtua3GYHYfh9FPHI8cKrfJYNhvpJEHchfUXdY2Bs2/KyNgdmvo2gipMwe5t3PcOTnuN3W8Bew8AFB8aqhhG0kc3u02JMDJR90StdlD7eBLCT/AFj1bKAiIgIiICIiAiIgIiICFEQULthg1LhO0dDOyMQU0jmvd0iY/O5shaDoxrQ6NxHIX0tyV8grT7V7MU+JU5p6lpLb3a5pAkjd8THWNj+Y7wVWewRqKbHn4SysnmpKaIvDH5TfsMAZfUhrTIOVhdvJBcqIiAiIgr7e3ho4UdW0DOx7YnXOUOY69rnvDrW/EVDKDDKh5a9rIuyQ4fXOOo+VWRvQpHy4ZKI2l5a5khA97Kx4LyB1sLn0VcYBizbD3vyUfJpMOS3atHNOxcS1WKkY639WP6Syaerkbd0NKRe4HEcLZfMdLKG1glhbbJFoLX4rzy+VTWTG4jTNjDH5gbk5e+/X1UF2hqm2Is4XWmvDdLXpT5z/AKxj4hqMfKltvhCyt1lABRiqI+snJLjzAax7msa3w0v5lTRaHYWikgw6nilbke1nab1aS4usfHVb5TKUrSvZrHJGy5r5rze87zIiIvprEREFMftKtb7PRmwzCWQA9bFrc36hv5BWts5Wmejp5zzlgikPzxtd/mqG3z4qcUxaDD6a0hhPABHIzSObxNR0blaCeha7uX0Fh1I2GGOFvuxxtjb5MaGj9AgyEREBERAREQEREBERAREQRfbrbaDC4gXgyzSaRQM+0kPLxytvYXsfAE6Kt8K2Ox010uLxCkpJpsxMMrnOIa61mkBjhfst6g37uS89h5fpXaioqpu02mbIYWnk0MeI4tD3Bzn/AIjdXogqbBd7EsFV7DjFOKWW4bxWfZa+65wJNmH42uI8AL2tkFUz+0nQRmnpaiwEgldFfqWOYXG/fYtH9496sXd7M5+FUTnklxpork8zZgAJ7zYIJCiIg6y+6fIqitkmfVR6XJAV04zhgqY+GZJYtb5o3BruRFjcHTVUrPVy4ZI+CenmdwiPrY2ONO4OAcC1xAFu1a3fp0QTR9xTDQA5n9Bfp/sKEV7iaiD/AKmH/uNuFmS7yITCI/Z59HOObsC9+/VYeD0k2J1McccE0LLiUyyMc2MNaRfK6xDnG+n/AIQX2ixMMoGwRiNpe4Ak3ebu1PfZZaAtdtDiYpaWSpIuIm53c/dBGe1uuW62Kim9SoEeDVrjYXhLPV5DB+rgglL3hoLiQABckmwAHMk9FTu8fewHA0OFl00zzkM0YLgL6FsFtXvPxDQdLnUbVm7CasY04hidZUsIaeEy0UfQgEEuDtetgVMtm9j6LDx/+aBkbrWL9Xynvu913W8L2QQfc/uyNBatqwPaSCGM0IgaRY3PLiEEjTkCR1KtVEQEREBERAREQEREBERB5zzNjaXvc1jWi7nOIa1oHMknQBaWk20w6WThsraVzybACVnaPc3XtHyUC25f9J4/TYO97m0rGcaZjXFhlcGueGm3MWDPEBzyNVMcY3eYbUU5pzSwRDLZr4o2Ryxno5rgL3vrY3B63QVHikcmzeP+1FrnUs7nm46xSEGRg/fY6xA65W8rq9aHHaaan9pjnidDbNxMwDAOuYn3SOoNiFVO5qq9ugq8JrQ2ripy3h5xms3M9pAdzABaC08xc2NgLb925LCi/NlqAPg4pyfmRm/VBWO9/bKHFK6GCOTLSwOyGbKXAl7miWQNGrmtDRbvsbc19D4C2EUsLaZzXQNiY2ItOZpY1oDbHroFHa/djhktJ7IKZkbRctkZpO1x5u4huXHQaOuNBpoFXtLs/jez8jjRj6QpCbmMBzvM8K+Zj+erMw0F76BBeaKsqbfPSizKqmraWXS8bos1z1DDcOPq0Lc7GbxYcSqpqZkU0D42NkAmAbI8E2d2ATltdnU3zeCCaLghcogxhh8QNxFGDzvkbf8AgslEQEREBVlvvreJFS4Yw/WVtTG0gcxG1w18O25nP4Sp5tBjkFDTuqKh4ZG0fM49GsH3nHoFT27Z02NY5Ji0zS2GnBbE3XK0kERRg8nFrXOe4j7xBsMwQXiAuURAREQEREBERAREQEREBdZHhoLnEADUkmwA8Suyp7bJxxTaKLCZXvbSRMEkkbXFomdk4mtuf3RfoM1rE3QdtvcBqH4hDjmEuiq3RWbJHG9jycoIJFj2g5hLC0drla99MnHd5FVUU/s9Dh1eyrlGQmSEtZBfRzg77xHQuygaE8rHW45wcM2loYqBoiEzI4qiGIWjLXvLWuc0aZgO18oPU3uhBAt0OwzsKpXmaxqJyHSZTdrGtvw2A8iRmcSR1NtQAVPURAREQFV29rA54Zoscoh9fTC0zbX4kQvqQOYALg7rlde4yq0UIQRLYfeBSYpG3hvEc9u3TvcOI0jnk/pG/vDwuAdFLVU22G5OColM9HL7I8nMY8uaG/O7LEGPXoLjuAWtpty9ZIAyqxN5j6sbxZAR3DO4AfkUEp3gbXU7miipXSVNe531DaV9nwyAGz3yDssaNczTe4vcZSSOpxnGsOjaaqmjxOPK3PJSktqGGwzZostpNb2LQNBc2Ui2Q2Ko8MYW00facLPlec0z/N3Qae60AeCkSCso9+GG2OdlXG4aFjom5gRzGjytJju/2INIo6aRz9bOnLWMb3HKxxLh4XaraxDB6eo+3ggm/tIo5P5gV1ocCpYDeGmp4T3xxRsP+EBBQFBspjG0NQ2esdJDCL2fIzIxrT0gh0zX07XLTVxIV+bN4DDQUzKWBtmMHM2Lnk+8956uJ/8AVgAFs0QEREBERAREQEREBERAREQCVV+09Jh+I4hDNR4nDTYhF2GPYWSiQa9ktJAc7tOGhOhIIOlpNvRpqiXCKqOmDjK6MDK0Xc5mZvFa0dSY8wt1vbqqoqmsr6DDcMw6nkFRG6GSecQvjbTPDCJnPkIFznJde9uyLXNgAsTY3doyjqnV9TO+tq3EkSPblay4sSG3JzW0vewGgAU9QIgIiICIiAiIgIiICIiAiIgIiICIiAiIgIiICIiAiIgIiICIiAiIgIiICIiAiIgIiICIiAiIgIiICIiAiIgIiICIiAiIgIiICIiAiIgIiICIiAiIgIiICIiAiIgIiICIiAiIgIiICIiAiIg//9k="/>
          <p:cNvSpPr>
            <a:spLocks noChangeAspect="1" noChangeArrowheads="1"/>
          </p:cNvSpPr>
          <p:nvPr/>
        </p:nvSpPr>
        <p:spPr bwMode="auto">
          <a:xfrm>
            <a:off x="4222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10" descr="data:image/jpeg;base64,/9j/4AAQSkZJRgABAQAAAQABAAD/2wCEAAkGBxMREBURExQSEhUWFBcUFxYWFRMUEhQZGBYZGhQYFRgbHCggGBomHBcXITEhJSkrLjouGR8zODMtNygvLiwBCgoKDg0OGxAQGzQmHCU3Nyw3NzcsNy43LjM3MDQ3Kyw1NS0yLzc0KzUyLDcsLzUvNDc0LC80NC40LCw0Nyw3LP/AABEIAOEA4QMBIgACEQEDEQH/xAAcAAEAAgIDAQAAAAAAAAAAAAAABgcEBQECAwj/xABFEAABAwIDBQUEBwQIBwEAAAABAAIDBBEFEiEGBxMxQSJRYXGBFDJSghUjM0JykaEIYrGyU2NzkqLBwvA0Q3Sz0eHxJP/EABsBAQACAwEBAAAAAAAAAAAAAAAEBQEDBgcC/8QALxEBAAIBAgMECgMBAQAAAAAAAAECAwQRBSExEkFRkRMiMmGBobHB4fAGcdFyFP/aAAwDAQACEQMRAD8AvFERAREQEREBERAREQEREBFrMa2hpaNuapnihvyD3AOd+FvN3oFFXb4cHBt7S4+IgqLfyXQT1FHcD25w+tIbBVRPcdAwkxyHyY8Bx9ApEgIiICIiAiIgIiICIiAiIgIiICIiAiIgIiICIiAiIg4e4AEkgAC5J0AHUlUxtlvRqKuc4fgrHyPJyunY3MTrZ3CB0awcjI70to45W3OL1OMVxwWgdkhZ/wAZUC5aLHtM05gcst+07TQAlWHsnsrTYbAIadmXlnebGWU/E91teunIdAEFO4duMrKgmWtq2xyOOZ1g6olPfneXNGbyLlv2bgqPLrU1Jd3gRAfllP8AFW8iChMX3ASgE01XG/ubKx0en42l1z8oWLS43j+A6VEUlRTN+O80QA+GZtzH4B2n7q+hVwQgimw239JirPqncOYC74HkcRveW/G3xHeLgclLFANq91lLUv8AaKUmgqmnM2WHstLu9zG2sf3m2Out1HaDZCoxCWSlxesr21DBma2KSNlJNECBxIQI7OIJAdcAjM2/NBcKKiNodg6/Am+3YbVSyQxduSJ17hvUvYOxKznfQEc+lxbmxm0LcRoYatoy529pvwPacr2+IDgbHusUG7REQEREBERAREQEREBERAREQEREBEUP2i3l4dROMb5uNLy4UA4sl+WUkdlrr6WJBQRfebt7VisbhOFtLqggcR7Whz2lwzBjM3Zb2dXPOgB6WJWsg2F2kDDJ9J2kI+zNRO4eV8uVp58hbxW13JUgnlxDFHNcJJ6qSNucdtjLiRzfDV7AR/VjuVrIIzu+2TZhlEyAWdK7tzSdXyHnr8I5DwF+ZKkyIgIiICIiAuLdVyiDh7QQQQCCLEHUEdQVVOztJieDOqqenw01lM6pfNC4VUMWVjgLNyuu42AaOQ1BVrogqiq3xvpXZa7C6ul1sDmDwfwlzGB3oVLdlN4NBiJDYJrSf0Ug4cvoDo75SVJqmnZI0se1r2uFi1wDmkdxB0Kp/eTuiZldWYa0xSs7ZgZcNfl1zQ9WPHwjQ2FrHmFyIqn3KbxH1rTRVT81QxuaOQ+9Mwcw7ve3v5ka8wSbYQEREBERAREQEREBERAWPiFbHBE+aVwZHG0ve48gALnz8lkKnv2j8YdHS09I0kCd7nvt1bFlytPhmeD8oQaCt2pxHaSrNHRZqWkF85uQeHe2adw1JPSNptr1tmFpbFbvKLDGgxsEs1u1PIAZCeuTpGPAepPNee6jZhuH4bE3LaWZrZpj1zOAIb5NbZtuV7nqpkg0uzOCex+0tBGSWrkqGW5gStYXh3lJxLW6ZVukRARFCdscbfI80dO4tI+2kB1bcX4bD0cQbk9AR1OmnUZ6YKTe/RI02ntnydivxnwjxeu0+3sVM4xQN9pmGhANomH99+tz4C/jZQStxvEqo3fUvhafuQfUtHzC8h/vLb0eBNYAAAtjHhIXK6jjt7T6vKHSYsOi08cq9qfGf86IJPg73m75ZnkagullcR5Euus6jq6+n+xqprD7r3cZvlaTNYeVlNW4Q3uXSXCR3KHXjGSJ9qW6dXp7+rakbf8AMOuAbxNRHWxiI8hMy5iP42m5Z53I8lP45A4BzSCCLgg3BB5EHqFWlThAIsRf0TZ/FH4dIGPJNK46g3PBJ++3ubfmPXvveaDjVctopk81bquHYctZvpuVvDx/r3+7vWai4BuuV0DnxERB88b1cOOD41BiNOMrZXcfKNBxGECoZ4Nc1wJ/tHL6Dp5g9jXt1a5ocD3gi4VV/tHwg4bA/q2raPR0Ut/5R+Snuw5P0XRZufsdPe/O/BbzQbtERAREQEREBERAREQFSf7S1GTHRzj3WvljPm8Mc39I3K7FGt4uzf0jh01MLcS2eI90jNWeV9Wk9zigkUJBa0jlYW8raLuoRuh2iFZhsbHG09MBTzMN87SwZWOcDr2mtGveHDopugIiINZtHifs1LJMAC4ANYDydI8hsYPhmIv4XUSwfD+HGASXON3Oceb3ON3OPiSSVttuDmdSxdDM6Q+IjjIA/vPafRcxNsFx38k1M+krhjpHNb6WPR4N462+kdPu6xwgL0suV7QUzn3yjkuZx475bdmkbz7mbW25y8UWX7Db3nNb+ZPrZdX0TuY7Q7x/n3KVbhuqrG80n6z5Rz+TXGWviwnxgrVYlR3aRbmFuSF5TsuFFpeayk4sk1tu77A1xdA6neSXU7gwE8zG4XiPpZzfkUoUH2dvHiNukkDwfFzHsLP0c/8ANThekcNzzm01Lz16K/iFIrnmY6Tz8+vzERFPQlYb+Kc1FPRUTPtJ65gaOegY9pJHcOICVZVLAI2Njbo1jQ0eTRYfoFXG2FJXVWJNqqBsL/o1rmtbNfJPNMz65jCCBdrOHqSBmNr6G232K3iwV8hppWOpKxlw6nl0JLfe4ZIGa3wkA89CBdBNUREBERAREQEREBERAUE3ibx48NIp4me01klgyEXIbm0YZLa3PRg1Phe6kO2ePDD6CerIvw2dka2c9xDYwbdC5zb+F1Uu4nAnVlTPjFUTK8PLI3O6yuF5X26WaWgW07R7ggl+7nYmogqJMUrZLVVQCXwRBrIWZrH6wN0e8WHrc3cTdWKiICIiCL7YN+upXeMrPVzWn+DCuW8lmbXUpfTF4F3QuEw8m3D7eOQvWvp5A5oI6hcP/JMU11EX7phbYbdrBX3bx9/uzqGJrndo2Hna63EYa0aWAUeXLX3H+/VaOG8Wpo6beiibePf9GnLhm89UjLh4four3NIsSLeij5ae4rzkk1A6k/kBzP8AAeqsZ/k0zynF8/w1xpfe9qgNzHLy6LyK5Rcrkv27Tbbbfw6JcRtGzEwtl8Qj8IpXHyuxv+pTFR3ZmDNLNP00iZ8ushHhcgebCpEvQ+C4px6OkT38/NE1tt8m3hG375iIitUN0iiawWaA0XJsAALkkuPmSST4kqsd92yQkp/pOAGOqpS2QvZo57Gka3H3maODu5pHda0Vp9spWMw6rdJqwU02Yd4Mbhb15eqDVbr9rPpTD2TvsJWOMUwGgztAOYeDmlp8yR0UtVP/ALNkThRVT/umoa0ebYwXfo5quBAREQEREBERAREQQXfXRulwSoygks4chA+FsjS8+jbn0WJuEmY7BWBtrsmla/wdmzC/yuarAq6Zksb4pGh7HtcxzTyc1ws4HwIJCpfZ8SbL4g+CoLnYdVO+rnsSI3j3M9uTst2u01sHDQEILtReVLUslY2SNzZGOF2uY4OY4HkWkaEL1QEREHBChzYfZ5nU/wB0dqP+zPIfKbt8gO9TJaLa2hL4hMwXkhu8d7mf8xnqBceLQqvi+i/9WnmI9qOcJejyRW/Ynpbl8e6WKF5MdZ5b3jMP4OHobH5l5UVSHNBBuCLhd6mNxdGWNJIfY25BpBBzeF7eoC89pjmbdjvlPmvZnaWSXk6XNl4RC7i++nuDwsTm/XT5Qu9VHI2N0gscrSbEC2gv01XEDA1jQL2AHPn5nxWzLjyUje+/Px/L5jbbk9Fj1LnEtiZ77zlb1A73HwA1/wDq9ZX2F1mbNUlwal3N4szwj7/mOvllUrhWhnV54rPsxzli1ox1m8/sttRUrYo2xt5NFh3nvJ7yTqT4r3RF6PEREbQqZmZneRERZYFUm9jG5K+VuBUA4sryHVLwexE1pBDXkcgDZzj0s0ak2Fk7SucKKpLHmJwp5S140LCI3WcPEHVQ/cfHA7CmTxxNZK9zmzv1dJK9jj2nPOpuCDbkMxsgleymARYfSRUkXusGrj7z3E3e8+JJPloOi26IgIiICIiAiIgIiICgO+zHm0mFSNLGyPqDwGBzQ5rbglzyD8IBt+8WqfKtt/Oz8lXhgliBc6mfxnNHMx5SJCPLR3k0oNrufwMUmEU4+9M32l57zKAW/kwMHopoqw2W3jxHCaQMyvq3OjoWQk2JmAawPfbUR2LXk+Nuas5t7C+p69B+SDlERAXBXKIKyoZeDLLB0jmexvg0OOT/AA2WyrcScxrSxr5HF2UNbzOhOveBa9utrdVG8fnMWI1LXaXkDh4gsbY+S8qzGXs4ZjdY8QX5G4sdFwmp0m2rnaOW8uwtpJy1reI33iJ+Te120rBCC273kWcwNOdpIJs/qw6EC/XvW7NTcAnmRdRv6XnDQ57BqXWdlyusZG21GvI811p8WuxpOhLRca93jqoWbBvX1Y7/AB/eiPOkmY5R09+7bVL+LLFTg/aPDT+EAuf/AIQQp21thYaAKuNk5+LiTOuWKR3l7rf9SshdZwHTxi08275lV8Ur6O9cfhG/nP4ERFeKsWr2ip6h8JdSyCOdnbjD9YZCOccrbjsuGlwQQbEcrHaIgpbHtua3GYHYfh9FPHI8cKrfJYNhvpJEHchfUXdY2Bs2/KyNgdmvo2gipMwe5t3PcOTnuN3W8Bew8AFB8aqhhG0kc3u02JMDJR90StdlD7eBLCT/AFj1bKAiIgIiICIiAiIgIiICFEQULthg1LhO0dDOyMQU0jmvd0iY/O5shaDoxrQ6NxHIX0tyV8grT7V7MU+JU5p6lpLb3a5pAkjd8THWNj+Y7wVWewRqKbHn4SysnmpKaIvDH5TfsMAZfUhrTIOVhdvJBcqIiAiIgr7e3ho4UdW0DOx7YnXOUOY69rnvDrW/EVDKDDKh5a9rIuyQ4fXOOo+VWRvQpHy4ZKI2l5a5khA97Kx4LyB1sLn0VcYBizbD3vyUfJpMOS3atHNOxcS1WKkY639WP6Syaerkbd0NKRe4HEcLZfMdLKG1glhbbJFoLX4rzy+VTWTG4jTNjDH5gbk5e+/X1UF2hqm2Is4XWmvDdLXpT5z/AKxj4hqMfKltvhCyt1lABRiqI+snJLjzAax7msa3w0v5lTRaHYWikgw6nilbke1nab1aS4usfHVb5TKUrSvZrHJGy5r5rze87zIiIvprEREFMftKtb7PRmwzCWQA9bFrc36hv5BWts5Wmejp5zzlgikPzxtd/mqG3z4qcUxaDD6a0hhPABHIzSObxNR0blaCeha7uX0Fh1I2GGOFvuxxtjb5MaGj9AgyEREBERAREQEREBERAREQRfbrbaDC4gXgyzSaRQM+0kPLxytvYXsfAE6Kt8K2Ox010uLxCkpJpsxMMrnOIa61mkBjhfst6g37uS89h5fpXaioqpu02mbIYWnk0MeI4tD3Bzn/AIjdXogqbBd7EsFV7DjFOKWW4bxWfZa+65wJNmH42uI8AL2tkFUz+0nQRmnpaiwEgldFfqWOYXG/fYtH9496sXd7M5+FUTnklxpork8zZgAJ7zYIJCiIg6y+6fIqitkmfVR6XJAV04zhgqY+GZJYtb5o3BruRFjcHTVUrPVy4ZI+CenmdwiPrY2ONO4OAcC1xAFu1a3fp0QTR9xTDQA5n9Bfp/sKEV7iaiD/AKmH/uNuFmS7yITCI/Z59HOObsC9+/VYeD0k2J1McccE0LLiUyyMc2MNaRfK6xDnG+n/AIQX2ixMMoGwRiNpe4Ak3ebu1PfZZaAtdtDiYpaWSpIuIm53c/dBGe1uuW62Kim9SoEeDVrjYXhLPV5DB+rgglL3hoLiQABckmwAHMk9FTu8fewHA0OFl00zzkM0YLgL6FsFtXvPxDQdLnUbVm7CasY04hidZUsIaeEy0UfQgEEuDtetgVMtm9j6LDx/+aBkbrWL9Xynvu913W8L2QQfc/uyNBatqwPaSCGM0IgaRY3PLiEEjTkCR1KtVEQEREBERAREQEREBERB5zzNjaXvc1jWi7nOIa1oHMknQBaWk20w6WThsraVzybACVnaPc3XtHyUC25f9J4/TYO97m0rGcaZjXFhlcGueGm3MWDPEBzyNVMcY3eYbUU5pzSwRDLZr4o2Ryxno5rgL3vrY3B63QVHikcmzeP+1FrnUs7nm46xSEGRg/fY6xA65W8rq9aHHaaan9pjnidDbNxMwDAOuYn3SOoNiFVO5qq9ugq8JrQ2ripy3h5xms3M9pAdzABaC08xc2NgLb925LCi/NlqAPg4pyfmRm/VBWO9/bKHFK6GCOTLSwOyGbKXAl7miWQNGrmtDRbvsbc19D4C2EUsLaZzXQNiY2ItOZpY1oDbHroFHa/djhktJ7IKZkbRctkZpO1x5u4huXHQaOuNBpoFXtLs/jez8jjRj6QpCbmMBzvM8K+Zj+erMw0F76BBeaKsqbfPSizKqmraWXS8bos1z1DDcOPq0Lc7GbxYcSqpqZkU0D42NkAmAbI8E2d2ATltdnU3zeCCaLghcogxhh8QNxFGDzvkbf8AgslEQEREBVlvvreJFS4Yw/WVtTG0gcxG1w18O25nP4Sp5tBjkFDTuqKh4ZG0fM49GsH3nHoFT27Z02NY5Ji0zS2GnBbE3XK0kERRg8nFrXOe4j7xBsMwQXiAuURAREQEREBERAREQEREBdZHhoLnEADUkmwA8Suyp7bJxxTaKLCZXvbSRMEkkbXFomdk4mtuf3RfoM1rE3QdtvcBqH4hDjmEuiq3RWbJHG9jycoIJFj2g5hLC0drla99MnHd5FVUU/s9Dh1eyrlGQmSEtZBfRzg77xHQuygaE8rHW45wcM2loYqBoiEzI4qiGIWjLXvLWuc0aZgO18oPU3uhBAt0OwzsKpXmaxqJyHSZTdrGtvw2A8iRmcSR1NtQAVPURAREQFV29rA54Zoscoh9fTC0zbX4kQvqQOYALg7rlde4yq0UIQRLYfeBSYpG3hvEc9u3TvcOI0jnk/pG/vDwuAdFLVU22G5OColM9HL7I8nMY8uaG/O7LEGPXoLjuAWtpty9ZIAyqxN5j6sbxZAR3DO4AfkUEp3gbXU7miipXSVNe531DaV9nwyAGz3yDssaNczTe4vcZSSOpxnGsOjaaqmjxOPK3PJSktqGGwzZostpNb2LQNBc2Ui2Q2Ko8MYW00facLPlec0z/N3Qae60AeCkSCso9+GG2OdlXG4aFjom5gRzGjytJju/2INIo6aRz9bOnLWMb3HKxxLh4XaraxDB6eo+3ggm/tIo5P5gV1ocCpYDeGmp4T3xxRsP+EBBQFBspjG0NQ2esdJDCL2fIzIxrT0gh0zX07XLTVxIV+bN4DDQUzKWBtmMHM2Lnk+8956uJ/8AVgAFs0QEREBERAREQEREBERAREQCVV+09Jh+I4hDNR4nDTYhF2GPYWSiQa9ktJAc7tOGhOhIIOlpNvRpqiXCKqOmDjK6MDK0Xc5mZvFa0dSY8wt1vbqqoqmsr6DDcMw6nkFRG6GSecQvjbTPDCJnPkIFznJde9uyLXNgAsTY3doyjqnV9TO+tq3EkSPblay4sSG3JzW0vewGgAU9QIgIiICIiAiIgIiICIiAiIgIiICIiAiIgIiICIiAiIgIiICIiAiIgIiICIiAiIgIiICIiAiIgIiICIiAiIgIiICIiAiIgIiICIiAiIgIiICIiAiIgIiICIiAiIgIiICIiAiIgIiICIiAiIg//9k="/>
          <p:cNvSpPr>
            <a:spLocks noChangeAspect="1" noChangeArrowheads="1"/>
          </p:cNvSpPr>
          <p:nvPr/>
        </p:nvSpPr>
        <p:spPr bwMode="auto">
          <a:xfrm>
            <a:off x="5746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1327" y="214479"/>
            <a:ext cx="1077597" cy="50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199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824786" y="177395"/>
            <a:ext cx="5813425" cy="510352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  <a:latin typeface="Century Gothic" pitchFamily="34" charset="0"/>
              </a:rPr>
              <a:t>Estabilidade Operacional</a:t>
            </a:r>
          </a:p>
          <a:p>
            <a:r>
              <a:rPr lang="en-US" sz="1800" dirty="0" smtClean="0">
                <a:solidFill>
                  <a:schemeClr val="tx2"/>
                </a:solidFill>
                <a:latin typeface="Century Gothic" pitchFamily="34" charset="0"/>
              </a:rPr>
              <a:t>Agenda</a:t>
            </a:r>
            <a:endParaRPr lang="en-US" sz="1800" dirty="0">
              <a:solidFill>
                <a:schemeClr val="tx2"/>
              </a:solidFill>
              <a:latin typeface="Century Gothic" pitchFamily="34" charset="0"/>
            </a:endParaRP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284748" y="1645152"/>
            <a:ext cx="4191000" cy="281254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/>
              <a:buNone/>
            </a:pPr>
            <a:endParaRPr lang="pt-BR" sz="2000" dirty="0" smtClean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pt-BR" sz="2400" b="1" dirty="0" smtClean="0">
                <a:solidFill>
                  <a:schemeClr val="tx2">
                    <a:lumMod val="75000"/>
                  </a:schemeClr>
                </a:solidFill>
              </a:rPr>
              <a:t>Escopo de Atuação</a:t>
            </a:r>
          </a:p>
          <a:p>
            <a:r>
              <a:rPr lang="pt-BR" sz="2400" b="1" dirty="0" smtClean="0">
                <a:solidFill>
                  <a:schemeClr val="tx2">
                    <a:lumMod val="75000"/>
                  </a:schemeClr>
                </a:solidFill>
              </a:rPr>
              <a:t>Métodos</a:t>
            </a:r>
          </a:p>
          <a:p>
            <a:r>
              <a:rPr lang="pt-BR" sz="2400" b="1" dirty="0">
                <a:solidFill>
                  <a:schemeClr val="tx2">
                    <a:lumMod val="75000"/>
                  </a:schemeClr>
                </a:solidFill>
              </a:rPr>
              <a:t>Ações </a:t>
            </a:r>
            <a:r>
              <a:rPr lang="pt-BR" sz="2400" b="1" dirty="0" smtClean="0">
                <a:solidFill>
                  <a:schemeClr val="tx2">
                    <a:lumMod val="75000"/>
                  </a:schemeClr>
                </a:solidFill>
              </a:rPr>
              <a:t>Identificadas</a:t>
            </a:r>
          </a:p>
          <a:p>
            <a:r>
              <a:rPr lang="pt-BR" sz="2400" b="1" dirty="0" smtClean="0">
                <a:solidFill>
                  <a:schemeClr val="tx2">
                    <a:lumMod val="75000"/>
                  </a:schemeClr>
                </a:solidFill>
              </a:rPr>
              <a:t>Plano de Ação</a:t>
            </a:r>
          </a:p>
          <a:p>
            <a:r>
              <a:rPr lang="pt-BR" sz="2400" b="1" dirty="0" smtClean="0">
                <a:solidFill>
                  <a:schemeClr val="tx2">
                    <a:lumMod val="75000"/>
                  </a:schemeClr>
                </a:solidFill>
              </a:rPr>
              <a:t>Indicadores</a:t>
            </a:r>
            <a:endParaRPr lang="pt-BR" sz="2400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pt-BR" sz="2400" b="1" dirty="0" smtClean="0">
                <a:solidFill>
                  <a:schemeClr val="tx2">
                    <a:lumMod val="75000"/>
                  </a:schemeClr>
                </a:solidFill>
              </a:rPr>
              <a:t>Rituais de Gestão</a:t>
            </a:r>
          </a:p>
          <a:p>
            <a:endParaRPr lang="pt-BR" sz="24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endParaRPr lang="pt-BR" sz="2400" b="1" dirty="0" smtClean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383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824786" y="177395"/>
            <a:ext cx="5813425" cy="510352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  <a:latin typeface="Century Gothic" pitchFamily="34" charset="0"/>
              </a:rPr>
              <a:t>Estabilidade Operacional</a:t>
            </a:r>
          </a:p>
          <a:p>
            <a:r>
              <a:rPr lang="en-US" sz="1800" dirty="0" smtClean="0">
                <a:solidFill>
                  <a:schemeClr val="tx2"/>
                </a:solidFill>
                <a:latin typeface="Century Gothic" pitchFamily="34" charset="0"/>
              </a:rPr>
              <a:t>Escopo de Atuação</a:t>
            </a:r>
            <a:endParaRPr lang="en-US" sz="1800" dirty="0">
              <a:solidFill>
                <a:schemeClr val="tx2"/>
              </a:solidFill>
              <a:latin typeface="Century Gothic" pitchFamily="34" charset="0"/>
            </a:endParaRP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1485186" y="1545553"/>
            <a:ext cx="5006037" cy="930947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3600" b="1" dirty="0" smtClean="0">
                <a:solidFill>
                  <a:srgbClr val="C00000"/>
                </a:solidFill>
              </a:rPr>
              <a:t>Problema</a:t>
            </a:r>
          </a:p>
          <a:p>
            <a:pPr marL="457200" lvl="1" indent="0" algn="ctr">
              <a:buFont typeface="Arial"/>
              <a:buNone/>
            </a:pPr>
            <a:r>
              <a:rPr lang="pt-BR" sz="3200" dirty="0" smtClean="0">
                <a:solidFill>
                  <a:schemeClr val="tx2">
                    <a:lumMod val="75000"/>
                  </a:schemeClr>
                </a:solidFill>
              </a:rPr>
              <a:t>Volume alto de Incidentes de Alto Impacto</a:t>
            </a:r>
          </a:p>
          <a:p>
            <a:pPr marL="457200" lvl="1" indent="0">
              <a:buFont typeface="Arial"/>
              <a:buNone/>
            </a:pPr>
            <a:endParaRPr lang="pt-BR" sz="2400" dirty="0" smtClean="0">
              <a:solidFill>
                <a:schemeClr val="tx2">
                  <a:lumMod val="75000"/>
                </a:schemeClr>
              </a:solidFill>
            </a:endParaRPr>
          </a:p>
          <a:p>
            <a:endParaRPr lang="pt-BR" sz="2800" dirty="0"/>
          </a:p>
        </p:txBody>
      </p:sp>
      <p:sp>
        <p:nvSpPr>
          <p:cNvPr id="6" name="Espaço Reservado para Conteúdo 3"/>
          <p:cNvSpPr txBox="1">
            <a:spLocks/>
          </p:cNvSpPr>
          <p:nvPr/>
        </p:nvSpPr>
        <p:spPr>
          <a:xfrm>
            <a:off x="1964610" y="3985860"/>
            <a:ext cx="6388101" cy="1539797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ü"/>
            </a:pPr>
            <a:r>
              <a:rPr lang="pt-BR" sz="2400" dirty="0" smtClean="0">
                <a:solidFill>
                  <a:schemeClr val="tx2">
                    <a:lumMod val="75000"/>
                  </a:schemeClr>
                </a:solidFill>
              </a:rPr>
              <a:t>Redução significativa do tempo de resposta e do volume dos incidentes de alto impacto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 smtClean="0">
                <a:solidFill>
                  <a:schemeClr val="tx2">
                    <a:lumMod val="75000"/>
                  </a:schemeClr>
                </a:solidFill>
              </a:rPr>
              <a:t>Aumento da satisfação dos clientes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 smtClean="0">
                <a:solidFill>
                  <a:schemeClr val="tx2">
                    <a:lumMod val="75000"/>
                  </a:schemeClr>
                </a:solidFill>
              </a:rPr>
              <a:t>Diminuição do risco de penalidades contratuais</a:t>
            </a:r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8211" y="1413243"/>
            <a:ext cx="1714500" cy="170497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" y="3913137"/>
            <a:ext cx="2045965" cy="168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202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/>
          <p:cNvSpPr txBox="1">
            <a:spLocks/>
          </p:cNvSpPr>
          <p:nvPr/>
        </p:nvSpPr>
        <p:spPr>
          <a:xfrm>
            <a:off x="824786" y="177395"/>
            <a:ext cx="5813425" cy="510352"/>
          </a:xfrm>
          <a:prstGeom prst="rect">
            <a:avLst/>
          </a:prstGeom>
        </p:spPr>
        <p:txBody>
          <a:bodyPr vert="horz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2"/>
                </a:solidFill>
                <a:latin typeface="Century Gothic" pitchFamily="34" charset="0"/>
              </a:rPr>
              <a:t>Estabilidade Operacional</a:t>
            </a:r>
          </a:p>
          <a:p>
            <a:r>
              <a:rPr lang="en-US" sz="1800" dirty="0" smtClean="0">
                <a:solidFill>
                  <a:schemeClr val="tx2"/>
                </a:solidFill>
                <a:latin typeface="Century Gothic" pitchFamily="34" charset="0"/>
              </a:rPr>
              <a:t>Método</a:t>
            </a:r>
            <a:endParaRPr lang="en-US" dirty="0" smtClean="0">
              <a:solidFill>
                <a:schemeClr val="tx2"/>
              </a:solidFill>
              <a:latin typeface="Century Gothic" pitchFamily="34" charset="0"/>
            </a:endParaRPr>
          </a:p>
          <a:p>
            <a:endParaRPr lang="en-US" sz="1800" dirty="0">
              <a:solidFill>
                <a:schemeClr val="tx2"/>
              </a:solidFill>
              <a:latin typeface="Century Gothic" pitchFamily="34" charset="0"/>
            </a:endParaRPr>
          </a:p>
        </p:txBody>
      </p:sp>
      <p:grpSp>
        <p:nvGrpSpPr>
          <p:cNvPr id="4" name="Grupo 3"/>
          <p:cNvGrpSpPr/>
          <p:nvPr/>
        </p:nvGrpSpPr>
        <p:grpSpPr>
          <a:xfrm>
            <a:off x="511644" y="4149080"/>
            <a:ext cx="8472920" cy="1800200"/>
            <a:chOff x="511644" y="4149080"/>
            <a:chExt cx="8472920" cy="1800200"/>
          </a:xfrm>
        </p:grpSpPr>
        <p:sp>
          <p:nvSpPr>
            <p:cNvPr id="5" name="Rechteck 51"/>
            <p:cNvSpPr/>
            <p:nvPr/>
          </p:nvSpPr>
          <p:spPr bwMode="gray">
            <a:xfrm>
              <a:off x="1245771" y="4217320"/>
              <a:ext cx="7738793" cy="1584108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5400000" scaled="1"/>
            </a:gradFill>
            <a:ln w="12700">
              <a:solidFill>
                <a:srgbClr val="C0C0C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16000" tIns="36000" rIns="216000" bIns="36000" anchor="ctr"/>
            <a:lstStyle/>
            <a:p>
              <a:pPr marL="72000"/>
              <a:r>
                <a:rPr lang="pt-BR" b="1" noProof="1" smtClean="0">
                  <a:latin typeface="Trebuchet MS" panose="020B0603020202020204" pitchFamily="34" charset="0"/>
                </a:rPr>
                <a:t>Método</a:t>
              </a:r>
              <a:r>
                <a:rPr lang="pt-BR" b="1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utilizado para </a:t>
              </a:r>
              <a:r>
                <a:rPr lang="pt-BR" b="1" noProof="1" smtClean="0">
                  <a:latin typeface="Trebuchet MS" panose="020B0603020202020204" pitchFamily="34" charset="0"/>
                </a:rPr>
                <a:t>manter </a:t>
              </a:r>
              <a:r>
                <a:rPr lang="pt-BR" b="1" noProof="1">
                  <a:latin typeface="Trebuchet MS" panose="020B0603020202020204" pitchFamily="34" charset="0"/>
                </a:rPr>
                <a:t>e </a:t>
              </a:r>
              <a:r>
                <a:rPr lang="pt-BR" b="1" noProof="1" smtClean="0">
                  <a:latin typeface="Trebuchet MS" panose="020B0603020202020204" pitchFamily="34" charset="0"/>
                </a:rPr>
                <a:t>melhorar </a:t>
              </a:r>
              <a:r>
                <a:rPr lang="pt-BR" b="1" noProof="1">
                  <a:latin typeface="Trebuchet MS" panose="020B0603020202020204" pitchFamily="34" charset="0"/>
                </a:rPr>
                <a:t>a qualidade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dos </a:t>
              </a:r>
              <a:r>
                <a:rPr lang="pt-BR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serviços para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um cliente </a:t>
              </a:r>
              <a:r>
                <a:rPr lang="pt-BR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(externo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ou </a:t>
              </a:r>
              <a:r>
                <a:rPr lang="pt-BR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interno), </a:t>
              </a:r>
              <a:r>
                <a:rPr lang="pt-BR" b="1" noProof="1">
                  <a:latin typeface="Trebuchet MS" panose="020B0603020202020204" pitchFamily="34" charset="0"/>
                </a:rPr>
                <a:t>através de </a:t>
              </a:r>
              <a:r>
                <a:rPr lang="pt-BR" b="1" noProof="1" smtClean="0">
                  <a:latin typeface="Trebuchet MS" panose="020B0603020202020204" pitchFamily="34" charset="0"/>
                </a:rPr>
                <a:t>um </a:t>
              </a:r>
              <a:r>
                <a:rPr lang="pt-BR" b="1" noProof="1">
                  <a:latin typeface="Trebuchet MS" panose="020B0603020202020204" pitchFamily="34" charset="0"/>
                </a:rPr>
                <a:t>ciclo contínuo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que </a:t>
              </a:r>
              <a:r>
                <a:rPr lang="pt-BR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envolva </a:t>
              </a:r>
              <a:r>
                <a:rPr lang="pt-BR" b="1" noProof="1" smtClean="0">
                  <a:latin typeface="Trebuchet MS" panose="020B0603020202020204" pitchFamily="34" charset="0"/>
                </a:rPr>
                <a:t>combinar, monitorar (diariamente, semanalmente e mensalmente) e reportar</a:t>
              </a:r>
              <a:r>
                <a:rPr lang="pt-BR" b="1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os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níveis de </a:t>
              </a:r>
              <a:r>
                <a:rPr lang="pt-BR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serviços, permitindo </a:t>
              </a:r>
              <a:r>
                <a:rPr lang="pt-BR" b="1" noProof="1" smtClean="0">
                  <a:latin typeface="Trebuchet MS" panose="020B0603020202020204" pitchFamily="34" charset="0"/>
                </a:rPr>
                <a:t>alcançar metas</a:t>
              </a:r>
              <a:r>
                <a:rPr lang="pt-BR" b="1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previamente</a:t>
              </a:r>
              <a:r>
                <a:rPr lang="pt-BR" b="1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estabelecidas. </a:t>
              </a:r>
              <a:endParaRPr lang="en-US" noProof="1">
                <a:solidFill>
                  <a:srgbClr val="404040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6" name="Abgerundetes Rechteck 57"/>
            <p:cNvSpPr/>
            <p:nvPr/>
          </p:nvSpPr>
          <p:spPr bwMode="gray">
            <a:xfrm>
              <a:off x="511644" y="4149080"/>
              <a:ext cx="1008000" cy="1800200"/>
            </a:xfrm>
            <a:prstGeom prst="roundRect">
              <a:avLst>
                <a:gd name="adj" fmla="val 9083"/>
              </a:avLst>
            </a:prstGeom>
            <a:solidFill>
              <a:srgbClr val="0070C0"/>
            </a:solidFill>
            <a:ln w="12700">
              <a:noFill/>
              <a:round/>
              <a:headEnd/>
              <a:tailEnd/>
            </a:ln>
            <a:scene3d>
              <a:camera prst="perspectiveRelaxed" fov="3600000">
                <a:rot lat="300000" lon="19499988" rev="0"/>
              </a:camera>
              <a:lightRig rig="threePt" dir="t"/>
            </a:scene3d>
            <a:sp3d extrusionH="787400">
              <a:bevelT w="63500" h="63500"/>
              <a:bevelB w="63500" h="63500"/>
            </a:sp3d>
          </p:spPr>
          <p:txBody>
            <a:bodyPr rtlCol="0" anchor="ctr"/>
            <a:lstStyle/>
            <a:p>
              <a:pPr algn="ctr"/>
              <a:r>
                <a:rPr lang="en-US" b="1" dirty="0" err="1" smtClean="0"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</a:rPr>
                <a:t>Rotina</a:t>
              </a:r>
              <a:endParaRPr lang="en-US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endParaRPr>
            </a:p>
          </p:txBody>
        </p:sp>
      </p:grpSp>
      <p:sp>
        <p:nvSpPr>
          <p:cNvPr id="7" name="Retângulo 6"/>
          <p:cNvSpPr/>
          <p:nvPr/>
        </p:nvSpPr>
        <p:spPr>
          <a:xfrm>
            <a:off x="824786" y="1145591"/>
            <a:ext cx="7194748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Reflexão</a:t>
            </a:r>
          </a:p>
          <a:p>
            <a:pPr algn="r"/>
            <a:endParaRPr lang="pt-BR" sz="2400" dirty="0" smtClean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</a:endParaRPr>
          </a:p>
          <a:p>
            <a:pPr algn="r"/>
            <a:r>
              <a:rPr lang="pt-BR" sz="2400" dirty="0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Estamos </a:t>
            </a:r>
            <a:r>
              <a:rPr lang="pt-BR" sz="2400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medindo e, principalmente analisando o que realmente importa pra </a:t>
            </a:r>
            <a:r>
              <a:rPr lang="pt-BR" sz="2400" dirty="0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uma gestão efetiva? </a:t>
            </a:r>
            <a:endParaRPr lang="pt-BR" sz="2400" dirty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 smtClean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</a:endParaRPr>
          </a:p>
          <a:p>
            <a:r>
              <a:rPr lang="pt-BR" sz="2400" dirty="0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Lembre-se:   </a:t>
            </a:r>
            <a:r>
              <a:rPr lang="pt-BR" sz="3200" b="1" i="1" dirty="0" smtClean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“Se </a:t>
            </a:r>
            <a:r>
              <a:rPr lang="pt-BR" sz="3200" b="1" i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você não pode medir, </a:t>
            </a:r>
            <a:endParaRPr lang="pt-BR" sz="3200" b="1" i="1" dirty="0" smtClean="0">
              <a:solidFill>
                <a:schemeClr val="accent1">
                  <a:lumMod val="50000"/>
                </a:schemeClr>
              </a:solidFill>
              <a:latin typeface="Trebuchet MS" panose="020B0603020202020204" pitchFamily="34" charset="0"/>
            </a:endParaRPr>
          </a:p>
          <a:p>
            <a:pPr algn="r"/>
            <a:r>
              <a:rPr lang="pt-BR" sz="3200" b="1" i="1" dirty="0" smtClean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você </a:t>
            </a:r>
            <a:r>
              <a:rPr lang="pt-BR" sz="3200" b="1" i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não pode </a:t>
            </a:r>
            <a:r>
              <a:rPr lang="pt-BR" sz="3200" b="1" i="1" dirty="0" smtClean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gerenciar!” </a:t>
            </a:r>
            <a:endParaRPr lang="pt-BR" sz="3200" b="1" i="1" dirty="0">
              <a:solidFill>
                <a:schemeClr val="accent1">
                  <a:lumMod val="50000"/>
                </a:schemeClr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919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grayscl/>
          </a:blip>
          <a:stretch>
            <a:fillRect/>
          </a:stretch>
        </p:blipFill>
        <p:spPr>
          <a:xfrm>
            <a:off x="1560488" y="1497104"/>
            <a:ext cx="4619625" cy="4191000"/>
          </a:xfrm>
          <a:prstGeom prst="rect">
            <a:avLst/>
          </a:prstGeom>
        </p:spPr>
      </p:pic>
      <p:grpSp>
        <p:nvGrpSpPr>
          <p:cNvPr id="10" name="Grupo 9"/>
          <p:cNvGrpSpPr/>
          <p:nvPr/>
        </p:nvGrpSpPr>
        <p:grpSpPr>
          <a:xfrm>
            <a:off x="6723910" y="2781103"/>
            <a:ext cx="1961172" cy="1961172"/>
            <a:chOff x="6723910" y="2781103"/>
            <a:chExt cx="1961172" cy="1961172"/>
          </a:xfrm>
        </p:grpSpPr>
        <p:pic>
          <p:nvPicPr>
            <p:cNvPr id="8" name="Picture 2" descr="https://images.hiperoriginal.com.br/VK2C9KNJ5JJKV4SHP9MNMM2114/35883049341892985_440x440.jpg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3910" y="2781103"/>
              <a:ext cx="1961172" cy="1961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Símbolo de 'Não' 8"/>
            <p:cNvSpPr/>
            <p:nvPr/>
          </p:nvSpPr>
          <p:spPr>
            <a:xfrm>
              <a:off x="7042205" y="3028183"/>
              <a:ext cx="1620000" cy="1620000"/>
            </a:xfrm>
            <a:prstGeom prst="noSmoking">
              <a:avLst>
                <a:gd name="adj" fmla="val 8763"/>
              </a:avLst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</p:grpSp>
      <p:sp>
        <p:nvSpPr>
          <p:cNvPr id="13" name="Text Placeholder 1"/>
          <p:cNvSpPr txBox="1">
            <a:spLocks/>
          </p:cNvSpPr>
          <p:nvPr/>
        </p:nvSpPr>
        <p:spPr>
          <a:xfrm>
            <a:off x="824786" y="177395"/>
            <a:ext cx="5813425" cy="510352"/>
          </a:xfrm>
          <a:prstGeom prst="rect">
            <a:avLst/>
          </a:prstGeom>
        </p:spPr>
        <p:txBody>
          <a:bodyPr vert="horz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2"/>
                </a:solidFill>
                <a:latin typeface="Century Gothic" pitchFamily="34" charset="0"/>
              </a:rPr>
              <a:t>Estabilidade Operacional</a:t>
            </a:r>
          </a:p>
          <a:p>
            <a:r>
              <a:rPr lang="en-US" sz="1800" dirty="0" smtClean="0">
                <a:solidFill>
                  <a:schemeClr val="tx2"/>
                </a:solidFill>
                <a:latin typeface="Century Gothic" pitchFamily="34" charset="0"/>
              </a:rPr>
              <a:t>Método</a:t>
            </a:r>
            <a:endParaRPr lang="en-US" dirty="0" smtClean="0">
              <a:solidFill>
                <a:schemeClr val="tx2"/>
              </a:solidFill>
              <a:latin typeface="Century Gothic" pitchFamily="34" charset="0"/>
            </a:endParaRPr>
          </a:p>
          <a:p>
            <a:endParaRPr lang="en-US" sz="1800" dirty="0">
              <a:solidFill>
                <a:schemeClr val="tx2"/>
              </a:solidFill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381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/>
          <p:cNvSpPr txBox="1">
            <a:spLocks/>
          </p:cNvSpPr>
          <p:nvPr/>
        </p:nvSpPr>
        <p:spPr>
          <a:xfrm>
            <a:off x="824786" y="177395"/>
            <a:ext cx="5813425" cy="510352"/>
          </a:xfrm>
          <a:prstGeom prst="rect">
            <a:avLst/>
          </a:prstGeom>
        </p:spPr>
        <p:txBody>
          <a:bodyPr vert="horz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2"/>
                </a:solidFill>
                <a:latin typeface="Century Gothic" pitchFamily="34" charset="0"/>
              </a:rPr>
              <a:t>Estabilidade Operacional</a:t>
            </a:r>
          </a:p>
          <a:p>
            <a:r>
              <a:rPr lang="en-US" sz="1800" dirty="0" smtClean="0">
                <a:solidFill>
                  <a:schemeClr val="tx2"/>
                </a:solidFill>
                <a:latin typeface="Century Gothic" pitchFamily="34" charset="0"/>
              </a:rPr>
              <a:t>Método - PDCA</a:t>
            </a:r>
            <a:endParaRPr lang="en-US" dirty="0" smtClean="0">
              <a:solidFill>
                <a:schemeClr val="tx2"/>
              </a:solidFill>
              <a:latin typeface="Century Gothic" pitchFamily="34" charset="0"/>
            </a:endParaRPr>
          </a:p>
          <a:p>
            <a:endParaRPr lang="en-US" sz="1800" dirty="0">
              <a:solidFill>
                <a:schemeClr val="tx2"/>
              </a:solidFill>
              <a:latin typeface="Century Gothic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420" y="1062038"/>
            <a:ext cx="5095161" cy="4969762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7442200" y="5475692"/>
            <a:ext cx="1511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CAMPOS, VINCENTE FALCONI. </a:t>
            </a:r>
            <a:r>
              <a:rPr lang="pt-BR" sz="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Gerenciamento da Rotina do Trabalho do Dia-a-Dia. 8ª Edição. MG:INDG TecS,2004.P.114</a:t>
            </a:r>
            <a:endParaRPr lang="pt-BR" sz="700" b="0" i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204888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/>
          <p:cNvSpPr txBox="1">
            <a:spLocks/>
          </p:cNvSpPr>
          <p:nvPr/>
        </p:nvSpPr>
        <p:spPr>
          <a:xfrm>
            <a:off x="824786" y="177395"/>
            <a:ext cx="5813425" cy="510352"/>
          </a:xfrm>
          <a:prstGeom prst="rect">
            <a:avLst/>
          </a:prstGeom>
        </p:spPr>
        <p:txBody>
          <a:bodyPr vert="horz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2"/>
                </a:solidFill>
                <a:latin typeface="Century Gothic" pitchFamily="34" charset="0"/>
              </a:rPr>
              <a:t>Estabilidade Operacional</a:t>
            </a:r>
          </a:p>
          <a:p>
            <a:r>
              <a:rPr lang="en-US" sz="1800" dirty="0" smtClean="0">
                <a:solidFill>
                  <a:schemeClr val="tx2"/>
                </a:solidFill>
                <a:latin typeface="Century Gothic" pitchFamily="34" charset="0"/>
              </a:rPr>
              <a:t>Método – 5W2H</a:t>
            </a:r>
            <a:endParaRPr lang="en-US" dirty="0" smtClean="0">
              <a:solidFill>
                <a:schemeClr val="tx2"/>
              </a:solidFill>
              <a:latin typeface="Century Gothic" pitchFamily="34" charset="0"/>
            </a:endParaRPr>
          </a:p>
          <a:p>
            <a:endParaRPr lang="en-US" sz="1800" dirty="0">
              <a:solidFill>
                <a:schemeClr val="tx2"/>
              </a:solidFill>
              <a:latin typeface="Century Gothic" pitchFamily="34" charset="0"/>
            </a:endParaRPr>
          </a:p>
        </p:txBody>
      </p:sp>
      <p:pic>
        <p:nvPicPr>
          <p:cNvPr id="1026" name="Picture 2" descr="http://www.blogdaqualidade.com.br/wp-content/uploads/2012/06/5w2hh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086" y="1108502"/>
            <a:ext cx="5152296" cy="489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746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/>
          <p:cNvSpPr txBox="1">
            <a:spLocks/>
          </p:cNvSpPr>
          <p:nvPr/>
        </p:nvSpPr>
        <p:spPr>
          <a:xfrm>
            <a:off x="824786" y="177395"/>
            <a:ext cx="5813425" cy="510352"/>
          </a:xfrm>
          <a:prstGeom prst="rect">
            <a:avLst/>
          </a:prstGeom>
        </p:spPr>
        <p:txBody>
          <a:bodyPr vert="horz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2"/>
                </a:solidFill>
                <a:latin typeface="Century Gothic" pitchFamily="34" charset="0"/>
              </a:rPr>
              <a:t>Estabilidade Operacional</a:t>
            </a:r>
          </a:p>
          <a:p>
            <a:r>
              <a:rPr lang="en-US" sz="1800" dirty="0" smtClean="0">
                <a:solidFill>
                  <a:schemeClr val="tx2"/>
                </a:solidFill>
                <a:latin typeface="Century Gothic" pitchFamily="34" charset="0"/>
              </a:rPr>
              <a:t>Ações Identificadas</a:t>
            </a:r>
            <a:endParaRPr lang="en-US" sz="1800" dirty="0">
              <a:solidFill>
                <a:schemeClr val="tx2"/>
              </a:solidFill>
              <a:latin typeface="Century Gothic" pitchFamily="34" charset="0"/>
            </a:endParaRPr>
          </a:p>
        </p:txBody>
      </p:sp>
      <p:sp>
        <p:nvSpPr>
          <p:cNvPr id="4" name="Espaço Reservado para Conteúdo 3"/>
          <p:cNvSpPr txBox="1">
            <a:spLocks/>
          </p:cNvSpPr>
          <p:nvPr/>
        </p:nvSpPr>
        <p:spPr>
          <a:xfrm>
            <a:off x="152400" y="1880430"/>
            <a:ext cx="8722895" cy="255187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pt-BR" sz="2000" b="1" dirty="0" smtClean="0">
                <a:solidFill>
                  <a:schemeClr val="tx2">
                    <a:lumMod val="75000"/>
                  </a:schemeClr>
                </a:solidFill>
              </a:rPr>
              <a:t>Sanear </a:t>
            </a:r>
            <a:r>
              <a:rPr lang="pt-BR" sz="2000" b="1" dirty="0">
                <a:solidFill>
                  <a:schemeClr val="tx2">
                    <a:lumMod val="75000"/>
                  </a:schemeClr>
                </a:solidFill>
              </a:rPr>
              <a:t>o </a:t>
            </a:r>
            <a:r>
              <a:rPr lang="pt-BR" sz="2000" b="1" i="1" dirty="0" err="1">
                <a:solidFill>
                  <a:schemeClr val="tx2">
                    <a:lumMod val="75000"/>
                  </a:schemeClr>
                </a:solidFill>
              </a:rPr>
              <a:t>backlog</a:t>
            </a: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, para diminuir o volume total de incidentes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;</a:t>
            </a:r>
          </a:p>
          <a:p>
            <a:pPr marL="857250" lvl="1" indent="-457200">
              <a:buFont typeface="+mj-lt"/>
              <a:buAutoNum type="arabicPeriod"/>
            </a:pPr>
            <a:r>
              <a:rPr lang="pt-BR" sz="1800" dirty="0" smtClean="0">
                <a:solidFill>
                  <a:schemeClr val="tx2">
                    <a:lumMod val="75000"/>
                  </a:schemeClr>
                </a:solidFill>
              </a:rPr>
              <a:t>Fechar itens com mais de </a:t>
            </a:r>
            <a:r>
              <a:rPr lang="pt-BR" sz="1800" dirty="0" smtClean="0">
                <a:solidFill>
                  <a:srgbClr val="C00000"/>
                </a:solidFill>
              </a:rPr>
              <a:t>N </a:t>
            </a:r>
            <a:r>
              <a:rPr lang="pt-BR" sz="1800" dirty="0" smtClean="0">
                <a:solidFill>
                  <a:schemeClr val="tx2">
                    <a:lumMod val="75000"/>
                  </a:schemeClr>
                </a:solidFill>
              </a:rPr>
              <a:t>meses;</a:t>
            </a:r>
          </a:p>
          <a:p>
            <a:pPr marL="857250" lvl="1" indent="-457200">
              <a:buFont typeface="+mj-lt"/>
              <a:buAutoNum type="arabicPeriod"/>
            </a:pPr>
            <a:r>
              <a:rPr lang="pt-BR" sz="1800" dirty="0" smtClean="0">
                <a:solidFill>
                  <a:schemeClr val="tx2">
                    <a:lumMod val="75000"/>
                  </a:schemeClr>
                </a:solidFill>
              </a:rPr>
              <a:t>Identificar os resolvidos duplicados;</a:t>
            </a:r>
          </a:p>
          <a:p>
            <a:pPr marL="857250" lvl="1" indent="-457200">
              <a:buFont typeface="+mj-lt"/>
              <a:buAutoNum type="arabicPeriod"/>
            </a:pPr>
            <a:r>
              <a:rPr lang="pt-BR" sz="1800" dirty="0" smtClean="0">
                <a:solidFill>
                  <a:schemeClr val="tx2">
                    <a:lumMod val="75000"/>
                  </a:schemeClr>
                </a:solidFill>
              </a:rPr>
              <a:t>Localizar desvios na reclassificação para os de alto impacto.</a:t>
            </a:r>
            <a:endParaRPr lang="pt-BR" sz="1800" dirty="0">
              <a:solidFill>
                <a:schemeClr val="tx2">
                  <a:lumMod val="7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Identificar </a:t>
            </a:r>
            <a:r>
              <a:rPr lang="pt-BR" sz="2000" b="1" dirty="0">
                <a:solidFill>
                  <a:schemeClr val="tx2">
                    <a:lumMod val="75000"/>
                  </a:schemeClr>
                </a:solidFill>
              </a:rPr>
              <a:t>causas da recorrência de </a:t>
            </a:r>
            <a:r>
              <a:rPr lang="pt-BR" sz="2000" b="1" dirty="0" smtClean="0">
                <a:solidFill>
                  <a:schemeClr val="tx2">
                    <a:lumMod val="75000"/>
                  </a:schemeClr>
                </a:solidFill>
              </a:rPr>
              <a:t>incidentes 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e </a:t>
            </a: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agir para sua eliminação;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Estabelecer </a:t>
            </a: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ritos específicos para </a:t>
            </a:r>
            <a:r>
              <a:rPr lang="pt-BR" sz="2000" b="1" dirty="0">
                <a:solidFill>
                  <a:schemeClr val="tx2">
                    <a:lumMod val="75000"/>
                  </a:schemeClr>
                </a:solidFill>
              </a:rPr>
              <a:t>incidentes de alto impacto</a:t>
            </a: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Reduzir </a:t>
            </a: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os </a:t>
            </a:r>
            <a:r>
              <a:rPr lang="pt-BR" sz="2000" b="1" dirty="0">
                <a:solidFill>
                  <a:schemeClr val="tx2">
                    <a:lumMod val="75000"/>
                  </a:schemeClr>
                </a:solidFill>
              </a:rPr>
              <a:t>prazos de </a:t>
            </a:r>
            <a:r>
              <a:rPr lang="pt-BR" sz="2000" b="1" dirty="0" smtClean="0">
                <a:solidFill>
                  <a:schemeClr val="tx2">
                    <a:lumMod val="75000"/>
                  </a:schemeClr>
                </a:solidFill>
              </a:rPr>
              <a:t>resolução 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de </a:t>
            </a: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incidentes e requisições;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000" b="1" dirty="0" smtClean="0">
                <a:solidFill>
                  <a:schemeClr val="tx2">
                    <a:lumMod val="75000"/>
                  </a:schemeClr>
                </a:solidFill>
              </a:rPr>
              <a:t>Mudar </a:t>
            </a:r>
            <a:r>
              <a:rPr lang="pt-BR" sz="2000" b="1" dirty="0">
                <a:solidFill>
                  <a:schemeClr val="tx2">
                    <a:lumMod val="75000"/>
                  </a:schemeClr>
                </a:solidFill>
              </a:rPr>
              <a:t>a </a:t>
            </a:r>
            <a:r>
              <a:rPr lang="pt-BR" sz="2000" b="1" dirty="0" smtClean="0">
                <a:solidFill>
                  <a:schemeClr val="tx2">
                    <a:lumMod val="75000"/>
                  </a:schemeClr>
                </a:solidFill>
              </a:rPr>
              <a:t>mentalidade 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relacionada </a:t>
            </a: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ao tratamento de Incidentes e Problemas</a:t>
            </a:r>
            <a:r>
              <a:rPr lang="pt-BR" sz="18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endParaRPr lang="pt-BR" sz="1800" dirty="0" smtClean="0">
              <a:solidFill>
                <a:srgbClr val="002060"/>
              </a:solidFill>
            </a:endParaRPr>
          </a:p>
          <a:p>
            <a:pPr marL="457200" lvl="1" indent="0">
              <a:buNone/>
            </a:pPr>
            <a:endParaRPr lang="pt-BR" sz="2400" dirty="0">
              <a:solidFill>
                <a:srgbClr val="002060"/>
              </a:solidFill>
            </a:endParaRPr>
          </a:p>
          <a:p>
            <a:pPr marL="457200" lvl="1" indent="0">
              <a:buNone/>
            </a:pPr>
            <a:endParaRPr lang="pt-BR" sz="2200" dirty="0" smtClean="0">
              <a:solidFill>
                <a:srgbClr val="002060"/>
              </a:solidFill>
            </a:endParaRPr>
          </a:p>
          <a:p>
            <a:pPr marL="457200" lvl="1" indent="0">
              <a:buNone/>
            </a:pPr>
            <a:endParaRPr lang="pt-BR" sz="2200" dirty="0" smtClean="0">
              <a:solidFill>
                <a:srgbClr val="002060"/>
              </a:solidFill>
            </a:endParaRPr>
          </a:p>
          <a:p>
            <a:pPr marL="457200" lvl="1" indent="0">
              <a:buNone/>
            </a:pPr>
            <a:endParaRPr lang="pt-BR" dirty="0" smtClean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024485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2920830"/>
            <a:ext cx="7246938" cy="3068815"/>
          </a:xfrm>
          <a:prstGeom prst="rect">
            <a:avLst/>
          </a:prstGeom>
        </p:spPr>
      </p:pic>
      <p:sp>
        <p:nvSpPr>
          <p:cNvPr id="11" name="Seta para baixo 10"/>
          <p:cNvSpPr/>
          <p:nvPr/>
        </p:nvSpPr>
        <p:spPr>
          <a:xfrm rot="18526470">
            <a:off x="472225" y="2469150"/>
            <a:ext cx="513833" cy="594789"/>
          </a:xfrm>
          <a:prstGeom prst="downArrow">
            <a:avLst/>
          </a:prstGeom>
          <a:gradFill>
            <a:gsLst>
              <a:gs pos="0">
                <a:srgbClr val="002060"/>
              </a:gs>
              <a:gs pos="100000">
                <a:schemeClr val="accent5">
                  <a:tint val="37000"/>
                  <a:satMod val="300000"/>
                </a:schemeClr>
              </a:gs>
              <a:gs pos="100000">
                <a:schemeClr val="accent5">
                  <a:tint val="15000"/>
                  <a:satMod val="350000"/>
                </a:schemeClr>
              </a:gs>
            </a:gsLst>
          </a:gra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12" name="CaixaDeTexto 7"/>
          <p:cNvSpPr txBox="1"/>
          <p:nvPr/>
        </p:nvSpPr>
        <p:spPr>
          <a:xfrm>
            <a:off x="1016000" y="2445201"/>
            <a:ext cx="6480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526">
              <a:buClr>
                <a:schemeClr val="tx2"/>
              </a:buClr>
            </a:pPr>
            <a:r>
              <a:rPr lang="pt-BR" sz="2000" b="1" dirty="0">
                <a:solidFill>
                  <a:schemeClr val="tx2">
                    <a:lumMod val="75000"/>
                  </a:schemeClr>
                </a:solidFill>
              </a:rPr>
              <a:t>Área</a:t>
            </a: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Service Desk Serviços Compartilhados</a:t>
            </a:r>
          </a:p>
          <a:p>
            <a:pPr defTabSz="913526">
              <a:buClr>
                <a:schemeClr val="tx2"/>
              </a:buClr>
            </a:pPr>
            <a:r>
              <a:rPr lang="pt-BR" sz="2000" b="1" dirty="0" smtClean="0">
                <a:solidFill>
                  <a:schemeClr val="tx2">
                    <a:lumMod val="75000"/>
                  </a:schemeClr>
                </a:solidFill>
              </a:rPr>
              <a:t>Responsável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: Daniel Donaire</a:t>
            </a:r>
            <a:endParaRPr lang="pt-BR"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Text Placeholder 1"/>
          <p:cNvSpPr txBox="1">
            <a:spLocks/>
          </p:cNvSpPr>
          <p:nvPr/>
        </p:nvSpPr>
        <p:spPr>
          <a:xfrm>
            <a:off x="824786" y="177395"/>
            <a:ext cx="5813425" cy="510352"/>
          </a:xfrm>
          <a:prstGeom prst="rect">
            <a:avLst/>
          </a:prstGeom>
        </p:spPr>
        <p:txBody>
          <a:bodyPr vert="horz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2"/>
                </a:solidFill>
                <a:latin typeface="Century Gothic" pitchFamily="34" charset="0"/>
              </a:rPr>
              <a:t>Estabilidade Operacional</a:t>
            </a:r>
          </a:p>
          <a:p>
            <a:r>
              <a:rPr lang="en-US" sz="1800" dirty="0" err="1" smtClean="0">
                <a:solidFill>
                  <a:schemeClr val="tx2"/>
                </a:solidFill>
                <a:latin typeface="Century Gothic" pitchFamily="34" charset="0"/>
              </a:rPr>
              <a:t>Planos</a:t>
            </a:r>
            <a:r>
              <a:rPr lang="en-US" sz="1800" dirty="0" smtClean="0">
                <a:solidFill>
                  <a:schemeClr val="tx2"/>
                </a:solidFill>
                <a:latin typeface="Century Gothic" pitchFamily="34" charset="0"/>
              </a:rPr>
              <a:t> de </a:t>
            </a:r>
            <a:r>
              <a:rPr lang="en-US" sz="1800" dirty="0" err="1" smtClean="0">
                <a:solidFill>
                  <a:schemeClr val="tx2"/>
                </a:solidFill>
                <a:latin typeface="Century Gothic" pitchFamily="34" charset="0"/>
              </a:rPr>
              <a:t>Ação</a:t>
            </a:r>
            <a:endParaRPr lang="en-US" dirty="0" smtClean="0">
              <a:solidFill>
                <a:schemeClr val="tx2"/>
              </a:solidFill>
              <a:latin typeface="Century Gothic" pitchFamily="34" charset="0"/>
            </a:endParaRPr>
          </a:p>
          <a:p>
            <a:endParaRPr lang="en-US" sz="1800" dirty="0">
              <a:solidFill>
                <a:schemeClr val="tx2"/>
              </a:solidFill>
              <a:latin typeface="Century Gothic" pitchFamily="34" charset="0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302017" y="1147704"/>
            <a:ext cx="8254999" cy="1264898"/>
            <a:chOff x="-2783" y="1147704"/>
            <a:chExt cx="8254999" cy="1264898"/>
          </a:xfrm>
        </p:grpSpPr>
        <p:sp>
          <p:nvSpPr>
            <p:cNvPr id="13" name="Retângulo 12"/>
            <p:cNvSpPr/>
            <p:nvPr/>
          </p:nvSpPr>
          <p:spPr>
            <a:xfrm>
              <a:off x="1336914" y="1195975"/>
              <a:ext cx="6676786" cy="929727"/>
            </a:xfrm>
            <a:prstGeom prst="rect">
              <a:avLst/>
            </a:prstGeom>
            <a:gradFill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33000">
                  <a:schemeClr val="accent1">
                    <a:tint val="50000"/>
                    <a:shade val="100000"/>
                    <a:satMod val="350000"/>
                  </a:schemeClr>
                </a:gs>
              </a:gsLst>
            </a:gradFill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127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/>
            <p:cNvSpPr/>
            <p:nvPr/>
          </p:nvSpPr>
          <p:spPr>
            <a:xfrm>
              <a:off x="606816" y="1301874"/>
              <a:ext cx="7645400" cy="6771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 algn="ctr"/>
              <a:r>
                <a:rPr lang="pt-BR" sz="2000" b="1" dirty="0" smtClean="0">
                  <a:solidFill>
                    <a:schemeClr val="tx2">
                      <a:lumMod val="75000"/>
                    </a:schemeClr>
                  </a:solidFill>
                </a:rPr>
                <a:t>Plano de Ação:</a:t>
              </a:r>
            </a:p>
            <a:p>
              <a:pPr lvl="1" algn="ctr"/>
              <a:r>
                <a:rPr lang="pt-BR" b="1" dirty="0" smtClean="0">
                  <a:solidFill>
                    <a:schemeClr val="tx2">
                      <a:lumMod val="75000"/>
                    </a:schemeClr>
                  </a:solidFill>
                </a:rPr>
                <a:t>      Redução do tempo de resposta aos </a:t>
              </a:r>
              <a:r>
                <a:rPr lang="pt-BR" b="1" dirty="0">
                  <a:solidFill>
                    <a:schemeClr val="tx2">
                      <a:lumMod val="75000"/>
                    </a:schemeClr>
                  </a:solidFill>
                </a:rPr>
                <a:t>incidentes de alto impacto</a:t>
              </a:r>
            </a:p>
          </p:txBody>
        </p:sp>
        <p:pic>
          <p:nvPicPr>
            <p:cNvPr id="2" name="Imagem 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783" y="1147704"/>
              <a:ext cx="1857412" cy="12648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3539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2920830"/>
            <a:ext cx="7246938" cy="3068815"/>
          </a:xfrm>
          <a:prstGeom prst="rect">
            <a:avLst/>
          </a:prstGeom>
        </p:spPr>
      </p:pic>
      <p:sp>
        <p:nvSpPr>
          <p:cNvPr id="11" name="Seta para baixo 10"/>
          <p:cNvSpPr/>
          <p:nvPr/>
        </p:nvSpPr>
        <p:spPr>
          <a:xfrm rot="18526470">
            <a:off x="472225" y="2469150"/>
            <a:ext cx="513833" cy="594789"/>
          </a:xfrm>
          <a:prstGeom prst="downArrow">
            <a:avLst/>
          </a:prstGeom>
          <a:gradFill>
            <a:gsLst>
              <a:gs pos="0">
                <a:srgbClr val="002060"/>
              </a:gs>
              <a:gs pos="100000">
                <a:schemeClr val="accent5">
                  <a:tint val="37000"/>
                  <a:satMod val="300000"/>
                </a:schemeClr>
              </a:gs>
              <a:gs pos="100000">
                <a:schemeClr val="accent5">
                  <a:tint val="15000"/>
                  <a:satMod val="350000"/>
                </a:schemeClr>
              </a:gs>
            </a:gsLst>
          </a:gra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12" name="CaixaDeTexto 7"/>
          <p:cNvSpPr txBox="1"/>
          <p:nvPr/>
        </p:nvSpPr>
        <p:spPr>
          <a:xfrm>
            <a:off x="1016000" y="2445201"/>
            <a:ext cx="6480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526">
              <a:buClr>
                <a:schemeClr val="tx2"/>
              </a:buClr>
            </a:pPr>
            <a:r>
              <a:rPr lang="pt-BR" sz="2000" b="1" dirty="0">
                <a:solidFill>
                  <a:schemeClr val="tx2">
                    <a:lumMod val="75000"/>
                  </a:schemeClr>
                </a:solidFill>
              </a:rPr>
              <a:t>Área</a:t>
            </a: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Service Desk Serviços Compartilhados</a:t>
            </a:r>
          </a:p>
          <a:p>
            <a:pPr defTabSz="913526">
              <a:buClr>
                <a:schemeClr val="tx2"/>
              </a:buClr>
            </a:pPr>
            <a:r>
              <a:rPr lang="pt-BR" sz="2000" b="1" dirty="0" smtClean="0">
                <a:solidFill>
                  <a:schemeClr val="tx2">
                    <a:lumMod val="75000"/>
                  </a:schemeClr>
                </a:solidFill>
              </a:rPr>
              <a:t>Responsável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: Daniel Donaire</a:t>
            </a:r>
            <a:endParaRPr lang="pt-BR"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Text Placeholder 1"/>
          <p:cNvSpPr txBox="1">
            <a:spLocks/>
          </p:cNvSpPr>
          <p:nvPr/>
        </p:nvSpPr>
        <p:spPr>
          <a:xfrm>
            <a:off x="824786" y="177395"/>
            <a:ext cx="5813425" cy="510352"/>
          </a:xfrm>
          <a:prstGeom prst="rect">
            <a:avLst/>
          </a:prstGeom>
        </p:spPr>
        <p:txBody>
          <a:bodyPr vert="horz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2"/>
                </a:solidFill>
                <a:latin typeface="Century Gothic" pitchFamily="34" charset="0"/>
              </a:rPr>
              <a:t>Estabilidade Operacional</a:t>
            </a:r>
          </a:p>
          <a:p>
            <a:r>
              <a:rPr lang="en-US" sz="1800" dirty="0" err="1" smtClean="0">
                <a:solidFill>
                  <a:schemeClr val="tx2"/>
                </a:solidFill>
                <a:latin typeface="Century Gothic" pitchFamily="34" charset="0"/>
              </a:rPr>
              <a:t>Planos</a:t>
            </a:r>
            <a:r>
              <a:rPr lang="en-US" sz="1800" dirty="0" smtClean="0">
                <a:solidFill>
                  <a:schemeClr val="tx2"/>
                </a:solidFill>
                <a:latin typeface="Century Gothic" pitchFamily="34" charset="0"/>
              </a:rPr>
              <a:t> de </a:t>
            </a:r>
            <a:r>
              <a:rPr lang="en-US" sz="1800" dirty="0" err="1" smtClean="0">
                <a:solidFill>
                  <a:schemeClr val="tx2"/>
                </a:solidFill>
                <a:latin typeface="Century Gothic" pitchFamily="34" charset="0"/>
              </a:rPr>
              <a:t>Ação</a:t>
            </a:r>
            <a:endParaRPr lang="en-US" dirty="0" smtClean="0">
              <a:solidFill>
                <a:schemeClr val="tx2"/>
              </a:solidFill>
              <a:latin typeface="Century Gothic" pitchFamily="34" charset="0"/>
            </a:endParaRPr>
          </a:p>
          <a:p>
            <a:endParaRPr lang="en-US" sz="1800" dirty="0">
              <a:solidFill>
                <a:schemeClr val="tx2"/>
              </a:solidFill>
              <a:latin typeface="Century Gothic" pitchFamily="34" charset="0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302017" y="1147704"/>
            <a:ext cx="8254999" cy="1264898"/>
            <a:chOff x="-2783" y="1147704"/>
            <a:chExt cx="8254999" cy="1264898"/>
          </a:xfrm>
        </p:grpSpPr>
        <p:sp>
          <p:nvSpPr>
            <p:cNvPr id="13" name="Retângulo 12"/>
            <p:cNvSpPr/>
            <p:nvPr/>
          </p:nvSpPr>
          <p:spPr>
            <a:xfrm>
              <a:off x="1336914" y="1195975"/>
              <a:ext cx="6676786" cy="929727"/>
            </a:xfrm>
            <a:prstGeom prst="rect">
              <a:avLst/>
            </a:prstGeom>
            <a:gradFill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33000">
                  <a:schemeClr val="accent1">
                    <a:tint val="50000"/>
                    <a:shade val="100000"/>
                    <a:satMod val="350000"/>
                  </a:schemeClr>
                </a:gs>
              </a:gsLst>
            </a:gradFill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127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/>
            <p:cNvSpPr/>
            <p:nvPr/>
          </p:nvSpPr>
          <p:spPr>
            <a:xfrm>
              <a:off x="606816" y="1301874"/>
              <a:ext cx="76454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 algn="ctr"/>
              <a:r>
                <a:rPr lang="pt-BR" sz="2000" b="1" dirty="0" smtClean="0">
                  <a:solidFill>
                    <a:schemeClr val="tx2">
                      <a:lumMod val="75000"/>
                    </a:schemeClr>
                  </a:solidFill>
                </a:rPr>
                <a:t>Plano de Ação:</a:t>
              </a:r>
            </a:p>
            <a:p>
              <a:pPr lvl="1" algn="ctr"/>
              <a:r>
                <a:rPr lang="pt-BR" sz="2000" b="1" dirty="0" smtClean="0">
                  <a:solidFill>
                    <a:schemeClr val="tx2">
                      <a:lumMod val="75000"/>
                    </a:schemeClr>
                  </a:solidFill>
                </a:rPr>
                <a:t>Redução </a:t>
              </a:r>
              <a:r>
                <a:rPr lang="pt-BR" sz="2000" b="1" dirty="0">
                  <a:solidFill>
                    <a:schemeClr val="tx2">
                      <a:lumMod val="75000"/>
                    </a:schemeClr>
                  </a:solidFill>
                </a:rPr>
                <a:t>significativa dos incidentes de alto impacto</a:t>
              </a:r>
            </a:p>
          </p:txBody>
        </p:sp>
        <p:pic>
          <p:nvPicPr>
            <p:cNvPr id="2" name="Imagem 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783" y="1147704"/>
              <a:ext cx="1857412" cy="12648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28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62" y="2920830"/>
            <a:ext cx="7246938" cy="3068815"/>
          </a:xfrm>
          <a:prstGeom prst="rect">
            <a:avLst/>
          </a:prstGeom>
        </p:spPr>
      </p:pic>
      <p:sp>
        <p:nvSpPr>
          <p:cNvPr id="3" name="Text Placeholder 1"/>
          <p:cNvSpPr txBox="1">
            <a:spLocks/>
          </p:cNvSpPr>
          <p:nvPr/>
        </p:nvSpPr>
        <p:spPr>
          <a:xfrm>
            <a:off x="824786" y="177395"/>
            <a:ext cx="5813425" cy="510352"/>
          </a:xfrm>
          <a:prstGeom prst="rect">
            <a:avLst/>
          </a:prstGeom>
        </p:spPr>
        <p:txBody>
          <a:bodyPr vert="horz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2"/>
                </a:solidFill>
                <a:latin typeface="Century Gothic" pitchFamily="34" charset="0"/>
              </a:rPr>
              <a:t>Estabilidade Operacional</a:t>
            </a:r>
          </a:p>
          <a:p>
            <a:r>
              <a:rPr lang="en-US" sz="1800" dirty="0" err="1" smtClean="0">
                <a:solidFill>
                  <a:schemeClr val="tx2"/>
                </a:solidFill>
                <a:latin typeface="Century Gothic" pitchFamily="34" charset="0"/>
              </a:rPr>
              <a:t>Planos</a:t>
            </a:r>
            <a:r>
              <a:rPr lang="en-US" sz="1800" dirty="0" smtClean="0">
                <a:solidFill>
                  <a:schemeClr val="tx2"/>
                </a:solidFill>
                <a:latin typeface="Century Gothic" pitchFamily="34" charset="0"/>
              </a:rPr>
              <a:t> de </a:t>
            </a:r>
            <a:r>
              <a:rPr lang="en-US" sz="1800" dirty="0" err="1" smtClean="0">
                <a:solidFill>
                  <a:schemeClr val="tx2"/>
                </a:solidFill>
                <a:latin typeface="Century Gothic" pitchFamily="34" charset="0"/>
              </a:rPr>
              <a:t>Ação</a:t>
            </a:r>
            <a:endParaRPr lang="en-US" dirty="0" smtClean="0">
              <a:solidFill>
                <a:schemeClr val="tx2"/>
              </a:solidFill>
              <a:latin typeface="Century Gothic" pitchFamily="34" charset="0"/>
            </a:endParaRPr>
          </a:p>
          <a:p>
            <a:endParaRPr lang="en-US" sz="1800" dirty="0">
              <a:solidFill>
                <a:schemeClr val="tx2"/>
              </a:solidFill>
              <a:latin typeface="Century Gothic" pitchFamily="34" charset="0"/>
            </a:endParaRPr>
          </a:p>
        </p:txBody>
      </p:sp>
      <p:sp>
        <p:nvSpPr>
          <p:cNvPr id="7" name="Seta para baixo 6"/>
          <p:cNvSpPr/>
          <p:nvPr/>
        </p:nvSpPr>
        <p:spPr>
          <a:xfrm rot="18526470">
            <a:off x="472225" y="2469150"/>
            <a:ext cx="513833" cy="594789"/>
          </a:xfrm>
          <a:prstGeom prst="downArrow">
            <a:avLst/>
          </a:prstGeom>
          <a:gradFill>
            <a:gsLst>
              <a:gs pos="0">
                <a:srgbClr val="002060"/>
              </a:gs>
              <a:gs pos="100000">
                <a:schemeClr val="accent5">
                  <a:tint val="37000"/>
                  <a:satMod val="300000"/>
                </a:schemeClr>
              </a:gs>
              <a:gs pos="100000">
                <a:schemeClr val="accent5">
                  <a:tint val="15000"/>
                  <a:satMod val="350000"/>
                </a:schemeClr>
              </a:gs>
            </a:gsLst>
          </a:gra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1016000" y="2445201"/>
            <a:ext cx="6480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526">
              <a:buClr>
                <a:schemeClr val="tx2"/>
              </a:buClr>
            </a:pPr>
            <a:r>
              <a:rPr lang="pt-BR" sz="2000" b="1" dirty="0">
                <a:solidFill>
                  <a:schemeClr val="tx2">
                    <a:lumMod val="75000"/>
                  </a:schemeClr>
                </a:solidFill>
              </a:rPr>
              <a:t>Área</a:t>
            </a: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Service Desk Serviços Compartilhados</a:t>
            </a:r>
          </a:p>
          <a:p>
            <a:pPr defTabSz="913526">
              <a:buClr>
                <a:schemeClr val="tx2"/>
              </a:buClr>
            </a:pPr>
            <a:r>
              <a:rPr lang="pt-BR" sz="2000" b="1" dirty="0" smtClean="0">
                <a:solidFill>
                  <a:schemeClr val="tx2">
                    <a:lumMod val="75000"/>
                  </a:schemeClr>
                </a:solidFill>
              </a:rPr>
              <a:t>Responsável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: Daniel Donaire</a:t>
            </a:r>
            <a:endParaRPr lang="pt-BR"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grpSp>
        <p:nvGrpSpPr>
          <p:cNvPr id="10" name="Grupo 9"/>
          <p:cNvGrpSpPr/>
          <p:nvPr/>
        </p:nvGrpSpPr>
        <p:grpSpPr>
          <a:xfrm>
            <a:off x="302017" y="1147704"/>
            <a:ext cx="8254999" cy="1264898"/>
            <a:chOff x="-2783" y="1147704"/>
            <a:chExt cx="8254999" cy="1264898"/>
          </a:xfrm>
        </p:grpSpPr>
        <p:sp>
          <p:nvSpPr>
            <p:cNvPr id="11" name="Retângulo 10"/>
            <p:cNvSpPr/>
            <p:nvPr/>
          </p:nvSpPr>
          <p:spPr>
            <a:xfrm>
              <a:off x="1336914" y="1195975"/>
              <a:ext cx="6676786" cy="929727"/>
            </a:xfrm>
            <a:prstGeom prst="rect">
              <a:avLst/>
            </a:prstGeom>
            <a:gradFill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33000">
                  <a:schemeClr val="accent1">
                    <a:tint val="50000"/>
                    <a:shade val="100000"/>
                    <a:satMod val="350000"/>
                  </a:schemeClr>
                </a:gs>
              </a:gsLst>
            </a:gradFill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127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/>
            <p:cNvSpPr/>
            <p:nvPr/>
          </p:nvSpPr>
          <p:spPr>
            <a:xfrm>
              <a:off x="606816" y="1301874"/>
              <a:ext cx="76454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 algn="ctr"/>
              <a:r>
                <a:rPr lang="pt-BR" sz="2000" b="1" dirty="0" smtClean="0">
                  <a:solidFill>
                    <a:schemeClr val="tx2">
                      <a:lumMod val="75000"/>
                    </a:schemeClr>
                  </a:solidFill>
                </a:rPr>
                <a:t>Plano de Ação:</a:t>
              </a:r>
            </a:p>
            <a:p>
              <a:pPr lvl="1" algn="ctr"/>
              <a:r>
                <a:rPr lang="pt-BR" sz="2000" b="1" dirty="0" smtClean="0">
                  <a:solidFill>
                    <a:schemeClr val="tx2">
                      <a:lumMod val="75000"/>
                    </a:schemeClr>
                  </a:solidFill>
                </a:rPr>
                <a:t>Aumento da Satisfação do Cliente</a:t>
              </a:r>
              <a:endParaRPr lang="pt-BR" sz="2000" b="1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pic>
          <p:nvPicPr>
            <p:cNvPr id="13" name="Imagem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783" y="1147704"/>
              <a:ext cx="1857412" cy="12648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13321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62" y="2920830"/>
            <a:ext cx="7246938" cy="3068815"/>
          </a:xfrm>
          <a:prstGeom prst="rect">
            <a:avLst/>
          </a:prstGeom>
        </p:spPr>
      </p:pic>
      <p:sp>
        <p:nvSpPr>
          <p:cNvPr id="3" name="Text Placeholder 1"/>
          <p:cNvSpPr txBox="1">
            <a:spLocks/>
          </p:cNvSpPr>
          <p:nvPr/>
        </p:nvSpPr>
        <p:spPr>
          <a:xfrm>
            <a:off x="824786" y="177395"/>
            <a:ext cx="5813425" cy="510352"/>
          </a:xfrm>
          <a:prstGeom prst="rect">
            <a:avLst/>
          </a:prstGeom>
        </p:spPr>
        <p:txBody>
          <a:bodyPr vert="horz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2"/>
                </a:solidFill>
                <a:latin typeface="Century Gothic" pitchFamily="34" charset="0"/>
              </a:rPr>
              <a:t>Estabilidade Operacional</a:t>
            </a:r>
          </a:p>
          <a:p>
            <a:r>
              <a:rPr lang="en-US" sz="1800" dirty="0" err="1" smtClean="0">
                <a:solidFill>
                  <a:schemeClr val="tx2"/>
                </a:solidFill>
                <a:latin typeface="Century Gothic" pitchFamily="34" charset="0"/>
              </a:rPr>
              <a:t>Planos</a:t>
            </a:r>
            <a:r>
              <a:rPr lang="en-US" sz="1800" dirty="0" smtClean="0">
                <a:solidFill>
                  <a:schemeClr val="tx2"/>
                </a:solidFill>
                <a:latin typeface="Century Gothic" pitchFamily="34" charset="0"/>
              </a:rPr>
              <a:t> de </a:t>
            </a:r>
            <a:r>
              <a:rPr lang="en-US" sz="1800" dirty="0" err="1" smtClean="0">
                <a:solidFill>
                  <a:schemeClr val="tx2"/>
                </a:solidFill>
                <a:latin typeface="Century Gothic" pitchFamily="34" charset="0"/>
              </a:rPr>
              <a:t>Ação</a:t>
            </a:r>
            <a:endParaRPr lang="en-US" dirty="0" smtClean="0">
              <a:solidFill>
                <a:schemeClr val="tx2"/>
              </a:solidFill>
              <a:latin typeface="Century Gothic" pitchFamily="34" charset="0"/>
            </a:endParaRPr>
          </a:p>
          <a:p>
            <a:endParaRPr lang="en-US" sz="1800" dirty="0">
              <a:solidFill>
                <a:schemeClr val="tx2"/>
              </a:solidFill>
              <a:latin typeface="Century Gothic" pitchFamily="34" charset="0"/>
            </a:endParaRPr>
          </a:p>
        </p:txBody>
      </p:sp>
      <p:sp>
        <p:nvSpPr>
          <p:cNvPr id="7" name="Seta para baixo 6"/>
          <p:cNvSpPr/>
          <p:nvPr/>
        </p:nvSpPr>
        <p:spPr>
          <a:xfrm rot="18526470">
            <a:off x="472225" y="2469150"/>
            <a:ext cx="513833" cy="594789"/>
          </a:xfrm>
          <a:prstGeom prst="downArrow">
            <a:avLst/>
          </a:prstGeom>
          <a:gradFill>
            <a:gsLst>
              <a:gs pos="0">
                <a:srgbClr val="002060"/>
              </a:gs>
              <a:gs pos="100000">
                <a:schemeClr val="accent5">
                  <a:tint val="37000"/>
                  <a:satMod val="300000"/>
                </a:schemeClr>
              </a:gs>
              <a:gs pos="100000">
                <a:schemeClr val="accent5">
                  <a:tint val="15000"/>
                  <a:satMod val="350000"/>
                </a:schemeClr>
              </a:gs>
            </a:gsLst>
          </a:gra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1016000" y="2445201"/>
            <a:ext cx="6480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526">
              <a:buClr>
                <a:schemeClr val="tx2"/>
              </a:buClr>
            </a:pPr>
            <a:r>
              <a:rPr lang="pt-BR" sz="2000" b="1" dirty="0">
                <a:solidFill>
                  <a:schemeClr val="tx2">
                    <a:lumMod val="75000"/>
                  </a:schemeClr>
                </a:solidFill>
              </a:rPr>
              <a:t>Área</a:t>
            </a: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Service Desk Serviços Compartilhados</a:t>
            </a:r>
          </a:p>
          <a:p>
            <a:pPr defTabSz="913526">
              <a:buClr>
                <a:schemeClr val="tx2"/>
              </a:buClr>
            </a:pPr>
            <a:r>
              <a:rPr lang="pt-BR" sz="2000" b="1" dirty="0" smtClean="0">
                <a:solidFill>
                  <a:schemeClr val="tx2">
                    <a:lumMod val="75000"/>
                  </a:schemeClr>
                </a:solidFill>
              </a:rPr>
              <a:t>Responsável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: Daniel Donaire</a:t>
            </a:r>
            <a:endParaRPr lang="pt-BR"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grpSp>
        <p:nvGrpSpPr>
          <p:cNvPr id="10" name="Grupo 9"/>
          <p:cNvGrpSpPr/>
          <p:nvPr/>
        </p:nvGrpSpPr>
        <p:grpSpPr>
          <a:xfrm>
            <a:off x="302017" y="1147704"/>
            <a:ext cx="8254999" cy="1264898"/>
            <a:chOff x="-2783" y="1147704"/>
            <a:chExt cx="8254999" cy="1264898"/>
          </a:xfrm>
        </p:grpSpPr>
        <p:sp>
          <p:nvSpPr>
            <p:cNvPr id="11" name="Retângulo 10"/>
            <p:cNvSpPr/>
            <p:nvPr/>
          </p:nvSpPr>
          <p:spPr>
            <a:xfrm>
              <a:off x="1336914" y="1195975"/>
              <a:ext cx="6676786" cy="929727"/>
            </a:xfrm>
            <a:prstGeom prst="rect">
              <a:avLst/>
            </a:prstGeom>
            <a:gradFill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33000">
                  <a:schemeClr val="accent1">
                    <a:tint val="50000"/>
                    <a:shade val="100000"/>
                    <a:satMod val="350000"/>
                  </a:schemeClr>
                </a:gs>
              </a:gsLst>
            </a:gradFill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127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/>
            <p:cNvSpPr/>
            <p:nvPr/>
          </p:nvSpPr>
          <p:spPr>
            <a:xfrm>
              <a:off x="606816" y="1301874"/>
              <a:ext cx="76454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 algn="ctr"/>
              <a:r>
                <a:rPr lang="pt-BR" sz="2000" b="1" dirty="0" smtClean="0">
                  <a:solidFill>
                    <a:schemeClr val="tx2">
                      <a:lumMod val="75000"/>
                    </a:schemeClr>
                  </a:solidFill>
                </a:rPr>
                <a:t>Plano de Ação:</a:t>
              </a:r>
            </a:p>
            <a:p>
              <a:pPr lvl="1" algn="ctr"/>
              <a:r>
                <a:rPr lang="pt-BR" sz="2000" b="1" dirty="0" smtClean="0">
                  <a:solidFill>
                    <a:schemeClr val="tx2">
                      <a:lumMod val="75000"/>
                    </a:schemeClr>
                  </a:solidFill>
                </a:rPr>
                <a:t>Diminuição do Risco de Penalidades Contratuais</a:t>
              </a:r>
              <a:endParaRPr lang="pt-BR" sz="2000" b="1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pic>
          <p:nvPicPr>
            <p:cNvPr id="13" name="Imagem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783" y="1147704"/>
              <a:ext cx="1857412" cy="12648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76019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/>
          <p:cNvSpPr txBox="1">
            <a:spLocks/>
          </p:cNvSpPr>
          <p:nvPr/>
        </p:nvSpPr>
        <p:spPr>
          <a:xfrm>
            <a:off x="824786" y="177395"/>
            <a:ext cx="5813425" cy="510352"/>
          </a:xfrm>
          <a:prstGeom prst="rect">
            <a:avLst/>
          </a:prstGeom>
        </p:spPr>
        <p:txBody>
          <a:bodyPr vert="horz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2"/>
                </a:solidFill>
                <a:latin typeface="Century Gothic" pitchFamily="34" charset="0"/>
              </a:rPr>
              <a:t>Estabilidade Operacional</a:t>
            </a:r>
          </a:p>
          <a:p>
            <a:r>
              <a:rPr lang="en-US" sz="1800" dirty="0" smtClean="0">
                <a:solidFill>
                  <a:schemeClr val="tx2"/>
                </a:solidFill>
                <a:latin typeface="Century Gothic" pitchFamily="34" charset="0"/>
              </a:rPr>
              <a:t>Indicador</a:t>
            </a:r>
            <a:endParaRPr lang="en-US" dirty="0" smtClean="0">
              <a:solidFill>
                <a:schemeClr val="tx2"/>
              </a:solidFill>
              <a:latin typeface="Century Gothic" pitchFamily="34" charset="0"/>
            </a:endParaRPr>
          </a:p>
          <a:p>
            <a:endParaRPr lang="en-US" sz="1800" dirty="0">
              <a:solidFill>
                <a:schemeClr val="tx2"/>
              </a:solidFill>
              <a:latin typeface="Century Gothic" pitchFamily="34" charset="0"/>
            </a:endParaRPr>
          </a:p>
        </p:txBody>
      </p:sp>
      <p:graphicFrame>
        <p:nvGraphicFramePr>
          <p:cNvPr id="10" name="Gráfico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8056981"/>
              </p:ext>
            </p:extLst>
          </p:nvPr>
        </p:nvGraphicFramePr>
        <p:xfrm>
          <a:off x="1027308" y="2173972"/>
          <a:ext cx="7089385" cy="37306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4" name="Grupo 3"/>
          <p:cNvGrpSpPr/>
          <p:nvPr/>
        </p:nvGrpSpPr>
        <p:grpSpPr>
          <a:xfrm>
            <a:off x="302017" y="1147704"/>
            <a:ext cx="8254999" cy="1264898"/>
            <a:chOff x="-2783" y="1147704"/>
            <a:chExt cx="8254999" cy="1264898"/>
          </a:xfrm>
        </p:grpSpPr>
        <p:sp>
          <p:nvSpPr>
            <p:cNvPr id="5" name="Retângulo 4"/>
            <p:cNvSpPr/>
            <p:nvPr/>
          </p:nvSpPr>
          <p:spPr>
            <a:xfrm>
              <a:off x="1336914" y="1195975"/>
              <a:ext cx="6676786" cy="929727"/>
            </a:xfrm>
            <a:prstGeom prst="rect">
              <a:avLst/>
            </a:prstGeom>
            <a:gradFill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33000">
                  <a:schemeClr val="accent1">
                    <a:tint val="50000"/>
                    <a:shade val="100000"/>
                    <a:satMod val="350000"/>
                  </a:schemeClr>
                </a:gs>
              </a:gsLst>
            </a:gradFill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127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Retângulo 5"/>
            <p:cNvSpPr/>
            <p:nvPr/>
          </p:nvSpPr>
          <p:spPr>
            <a:xfrm>
              <a:off x="606816" y="1301874"/>
              <a:ext cx="7645400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 algn="ctr"/>
              <a:r>
                <a:rPr lang="pt-BR" sz="2400" b="1" dirty="0" smtClean="0">
                  <a:solidFill>
                    <a:schemeClr val="tx2">
                      <a:lumMod val="75000"/>
                    </a:schemeClr>
                  </a:solidFill>
                </a:rPr>
                <a:t>Indicador: </a:t>
              </a:r>
            </a:p>
            <a:p>
              <a:pPr lvl="1" algn="ctr"/>
              <a:r>
                <a:rPr lang="pt-BR" sz="2400" b="1" dirty="0" smtClean="0">
                  <a:solidFill>
                    <a:schemeClr val="tx2">
                      <a:lumMod val="75000"/>
                    </a:schemeClr>
                  </a:solidFill>
                </a:rPr>
                <a:t>Volumetria de Incidentes de Alto Impacto</a:t>
              </a:r>
              <a:endParaRPr lang="pt-BR" b="1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783" y="1147704"/>
              <a:ext cx="1857412" cy="12648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87228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/>
          <p:cNvSpPr txBox="1">
            <a:spLocks/>
          </p:cNvSpPr>
          <p:nvPr/>
        </p:nvSpPr>
        <p:spPr>
          <a:xfrm>
            <a:off x="824786" y="177395"/>
            <a:ext cx="5813425" cy="510352"/>
          </a:xfrm>
          <a:prstGeom prst="rect">
            <a:avLst/>
          </a:prstGeom>
        </p:spPr>
        <p:txBody>
          <a:bodyPr vert="horz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2"/>
                </a:solidFill>
                <a:latin typeface="Century Gothic" pitchFamily="34" charset="0"/>
              </a:rPr>
              <a:t>Estabilidade Operacional</a:t>
            </a:r>
          </a:p>
          <a:p>
            <a:r>
              <a:rPr lang="en-US" sz="1800" dirty="0" smtClean="0">
                <a:solidFill>
                  <a:schemeClr val="tx2"/>
                </a:solidFill>
                <a:latin typeface="Century Gothic" pitchFamily="34" charset="0"/>
              </a:rPr>
              <a:t>Indicador</a:t>
            </a:r>
            <a:endParaRPr lang="en-US" dirty="0" smtClean="0">
              <a:solidFill>
                <a:schemeClr val="tx2"/>
              </a:solidFill>
              <a:latin typeface="Century Gothic" pitchFamily="34" charset="0"/>
            </a:endParaRPr>
          </a:p>
          <a:p>
            <a:endParaRPr lang="en-US" sz="1800" dirty="0">
              <a:solidFill>
                <a:schemeClr val="tx2"/>
              </a:solidFill>
              <a:latin typeface="Century Gothic" pitchFamily="34" charset="0"/>
            </a:endParaRPr>
          </a:p>
        </p:txBody>
      </p:sp>
      <p:grpSp>
        <p:nvGrpSpPr>
          <p:cNvPr id="4" name="Grupo 3"/>
          <p:cNvGrpSpPr/>
          <p:nvPr/>
        </p:nvGrpSpPr>
        <p:grpSpPr>
          <a:xfrm>
            <a:off x="302017" y="1147704"/>
            <a:ext cx="8254999" cy="1264898"/>
            <a:chOff x="-2783" y="1147704"/>
            <a:chExt cx="8254999" cy="1264898"/>
          </a:xfrm>
        </p:grpSpPr>
        <p:sp>
          <p:nvSpPr>
            <p:cNvPr id="5" name="Retângulo 4"/>
            <p:cNvSpPr/>
            <p:nvPr/>
          </p:nvSpPr>
          <p:spPr>
            <a:xfrm>
              <a:off x="1336914" y="1195975"/>
              <a:ext cx="6676786" cy="929727"/>
            </a:xfrm>
            <a:prstGeom prst="rect">
              <a:avLst/>
            </a:prstGeom>
            <a:gradFill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33000">
                  <a:schemeClr val="accent1">
                    <a:tint val="50000"/>
                    <a:shade val="100000"/>
                    <a:satMod val="350000"/>
                  </a:schemeClr>
                </a:gs>
              </a:gsLst>
            </a:gradFill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127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Retângulo 5"/>
            <p:cNvSpPr/>
            <p:nvPr/>
          </p:nvSpPr>
          <p:spPr>
            <a:xfrm>
              <a:off x="606816" y="1301874"/>
              <a:ext cx="7645400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 algn="ctr"/>
              <a:r>
                <a:rPr lang="pt-BR" sz="2400" b="1" dirty="0" smtClean="0">
                  <a:solidFill>
                    <a:schemeClr val="tx2">
                      <a:lumMod val="75000"/>
                    </a:schemeClr>
                  </a:solidFill>
                </a:rPr>
                <a:t>Indicador: </a:t>
              </a:r>
            </a:p>
            <a:p>
              <a:pPr lvl="1" algn="ctr"/>
              <a:r>
                <a:rPr lang="pt-BR" sz="2400" b="1" dirty="0" smtClean="0">
                  <a:solidFill>
                    <a:schemeClr val="tx2">
                      <a:lumMod val="75000"/>
                    </a:schemeClr>
                  </a:solidFill>
                </a:rPr>
                <a:t>SLA de Incidentes de Alto Impacto</a:t>
              </a:r>
              <a:endParaRPr lang="pt-BR" b="1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783" y="1147704"/>
              <a:ext cx="1857412" cy="1264898"/>
            </a:xfrm>
            <a:prstGeom prst="rect">
              <a:avLst/>
            </a:prstGeom>
          </p:spPr>
        </p:pic>
      </p:grpSp>
      <p:grpSp>
        <p:nvGrpSpPr>
          <p:cNvPr id="17" name="Grupo 16"/>
          <p:cNvGrpSpPr/>
          <p:nvPr/>
        </p:nvGrpSpPr>
        <p:grpSpPr>
          <a:xfrm>
            <a:off x="1200469" y="2460873"/>
            <a:ext cx="6781851" cy="3406527"/>
            <a:chOff x="1200469" y="2460873"/>
            <a:chExt cx="6781851" cy="3406527"/>
          </a:xfrm>
        </p:grpSpPr>
        <p:pic>
          <p:nvPicPr>
            <p:cNvPr id="13" name="Imagem 12"/>
            <p:cNvPicPr>
              <a:picLocks noChangeAspect="1"/>
            </p:cNvPicPr>
            <p:nvPr/>
          </p:nvPicPr>
          <p:blipFill rotWithShape="1">
            <a:blip r:embed="rId3"/>
            <a:srcRect l="27582" t="87902" r="29774" b="-1"/>
            <a:stretch/>
          </p:blipFill>
          <p:spPr>
            <a:xfrm>
              <a:off x="1235313" y="5378689"/>
              <a:ext cx="6712162" cy="488711"/>
            </a:xfrm>
            <a:prstGeom prst="rect">
              <a:avLst/>
            </a:prstGeom>
          </p:spPr>
        </p:pic>
        <p:pic>
          <p:nvPicPr>
            <p:cNvPr id="12" name="Imagem 11"/>
            <p:cNvPicPr>
              <a:picLocks noChangeAspect="1"/>
            </p:cNvPicPr>
            <p:nvPr/>
          </p:nvPicPr>
          <p:blipFill rotWithShape="1">
            <a:blip r:embed="rId4"/>
            <a:srcRect l="4060" t="3978" r="51365" b="14731"/>
            <a:stretch/>
          </p:blipFill>
          <p:spPr>
            <a:xfrm>
              <a:off x="1200469" y="2460873"/>
              <a:ext cx="6781851" cy="28047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6698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302017" y="1147704"/>
            <a:ext cx="8254999" cy="1264898"/>
            <a:chOff x="-2783" y="1147704"/>
            <a:chExt cx="8254999" cy="1264898"/>
          </a:xfrm>
        </p:grpSpPr>
        <p:sp>
          <p:nvSpPr>
            <p:cNvPr id="4" name="Retângulo 3"/>
            <p:cNvSpPr/>
            <p:nvPr/>
          </p:nvSpPr>
          <p:spPr>
            <a:xfrm>
              <a:off x="1336914" y="1195975"/>
              <a:ext cx="6676786" cy="929727"/>
            </a:xfrm>
            <a:prstGeom prst="rect">
              <a:avLst/>
            </a:prstGeom>
            <a:gradFill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33000">
                  <a:schemeClr val="accent1">
                    <a:tint val="50000"/>
                    <a:shade val="100000"/>
                    <a:satMod val="350000"/>
                  </a:schemeClr>
                </a:gs>
              </a:gsLst>
            </a:gradFill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127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Retângulo 4"/>
            <p:cNvSpPr/>
            <p:nvPr/>
          </p:nvSpPr>
          <p:spPr>
            <a:xfrm>
              <a:off x="606816" y="1301874"/>
              <a:ext cx="7645400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 algn="ctr"/>
              <a:r>
                <a:rPr lang="pt-BR" sz="2400" b="1" dirty="0" smtClean="0">
                  <a:solidFill>
                    <a:schemeClr val="tx2">
                      <a:lumMod val="75000"/>
                    </a:schemeClr>
                  </a:solidFill>
                </a:rPr>
                <a:t>Indicador: </a:t>
              </a:r>
            </a:p>
            <a:p>
              <a:pPr lvl="1" algn="ctr"/>
              <a:r>
                <a:rPr lang="pt-BR" sz="2400" b="1" dirty="0" smtClean="0">
                  <a:solidFill>
                    <a:schemeClr val="tx2">
                      <a:lumMod val="75000"/>
                    </a:schemeClr>
                  </a:solidFill>
                </a:rPr>
                <a:t>Tempo de Solução x Tempo entre Falhas</a:t>
              </a:r>
              <a:endParaRPr lang="pt-BR" b="1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pic>
          <p:nvPicPr>
            <p:cNvPr id="6" name="Imagem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783" y="1147704"/>
              <a:ext cx="1857412" cy="1264898"/>
            </a:xfrm>
            <a:prstGeom prst="rect">
              <a:avLst/>
            </a:prstGeom>
          </p:spPr>
        </p:pic>
      </p:grpSp>
      <p:sp>
        <p:nvSpPr>
          <p:cNvPr id="7" name="Text Placeholder 1"/>
          <p:cNvSpPr txBox="1">
            <a:spLocks/>
          </p:cNvSpPr>
          <p:nvPr/>
        </p:nvSpPr>
        <p:spPr>
          <a:xfrm>
            <a:off x="824786" y="177395"/>
            <a:ext cx="5813425" cy="510352"/>
          </a:xfrm>
          <a:prstGeom prst="rect">
            <a:avLst/>
          </a:prstGeom>
        </p:spPr>
        <p:txBody>
          <a:bodyPr vert="horz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2"/>
                </a:solidFill>
                <a:latin typeface="Century Gothic" pitchFamily="34" charset="0"/>
              </a:rPr>
              <a:t>Estabilidade Operacional</a:t>
            </a:r>
          </a:p>
          <a:p>
            <a:r>
              <a:rPr lang="en-US" sz="1800" dirty="0" smtClean="0">
                <a:solidFill>
                  <a:schemeClr val="tx2"/>
                </a:solidFill>
                <a:latin typeface="Century Gothic" pitchFamily="34" charset="0"/>
              </a:rPr>
              <a:t>Indicador</a:t>
            </a:r>
            <a:endParaRPr lang="en-US" dirty="0" smtClean="0">
              <a:solidFill>
                <a:schemeClr val="tx2"/>
              </a:solidFill>
              <a:latin typeface="Century Gothic" pitchFamily="34" charset="0"/>
            </a:endParaRPr>
          </a:p>
          <a:p>
            <a:endParaRPr lang="en-US" sz="1800" dirty="0">
              <a:solidFill>
                <a:schemeClr val="tx2"/>
              </a:solidFill>
              <a:latin typeface="Century Gothic" pitchFamily="34" charset="0"/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312" y="2728773"/>
            <a:ext cx="7943704" cy="280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033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 rot="20440466">
            <a:off x="2447917" y="3636621"/>
            <a:ext cx="4018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b="0" i="0" dirty="0" smtClean="0">
                <a:solidFill>
                  <a:schemeClr val="bg1">
                    <a:lumMod val="50000"/>
                  </a:schemeClr>
                </a:solidFill>
                <a:latin typeface="Tahoma"/>
                <a:cs typeface="Tahoma"/>
              </a:rPr>
              <a:t>Gráfico índice de satisfação do cliente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302017" y="1147704"/>
            <a:ext cx="8254999" cy="1264898"/>
            <a:chOff x="-2783" y="1147704"/>
            <a:chExt cx="8254999" cy="1264898"/>
          </a:xfrm>
        </p:grpSpPr>
        <p:sp>
          <p:nvSpPr>
            <p:cNvPr id="5" name="Retângulo 4"/>
            <p:cNvSpPr/>
            <p:nvPr/>
          </p:nvSpPr>
          <p:spPr>
            <a:xfrm>
              <a:off x="1336914" y="1195975"/>
              <a:ext cx="6676786" cy="929727"/>
            </a:xfrm>
            <a:prstGeom prst="rect">
              <a:avLst/>
            </a:prstGeom>
            <a:gradFill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33000">
                  <a:schemeClr val="accent1">
                    <a:tint val="50000"/>
                    <a:shade val="100000"/>
                    <a:satMod val="350000"/>
                  </a:schemeClr>
                </a:gs>
              </a:gsLst>
            </a:gradFill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127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Retângulo 5"/>
            <p:cNvSpPr/>
            <p:nvPr/>
          </p:nvSpPr>
          <p:spPr>
            <a:xfrm>
              <a:off x="606816" y="1301874"/>
              <a:ext cx="7645400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 algn="ctr"/>
              <a:r>
                <a:rPr lang="pt-BR" sz="2400" b="1" dirty="0" smtClean="0">
                  <a:solidFill>
                    <a:schemeClr val="tx2">
                      <a:lumMod val="75000"/>
                    </a:schemeClr>
                  </a:solidFill>
                </a:rPr>
                <a:t>Indicador: </a:t>
              </a:r>
            </a:p>
            <a:p>
              <a:pPr lvl="1" algn="ctr"/>
              <a:r>
                <a:rPr lang="pt-BR" sz="2400" b="1" dirty="0" smtClean="0">
                  <a:solidFill>
                    <a:schemeClr val="tx2">
                      <a:lumMod val="75000"/>
                    </a:schemeClr>
                  </a:solidFill>
                </a:rPr>
                <a:t>Pesquisa de Satisfação de Cliente</a:t>
              </a:r>
              <a:endParaRPr lang="pt-BR" b="1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783" y="1147704"/>
              <a:ext cx="1857412" cy="1264898"/>
            </a:xfrm>
            <a:prstGeom prst="rect">
              <a:avLst/>
            </a:prstGeom>
          </p:spPr>
        </p:pic>
      </p:grpSp>
      <p:sp>
        <p:nvSpPr>
          <p:cNvPr id="8" name="Text Placeholder 1"/>
          <p:cNvSpPr txBox="1">
            <a:spLocks/>
          </p:cNvSpPr>
          <p:nvPr/>
        </p:nvSpPr>
        <p:spPr>
          <a:xfrm>
            <a:off x="824786" y="177395"/>
            <a:ext cx="5813425" cy="510352"/>
          </a:xfrm>
          <a:prstGeom prst="rect">
            <a:avLst/>
          </a:prstGeom>
        </p:spPr>
        <p:txBody>
          <a:bodyPr vert="horz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2"/>
                </a:solidFill>
                <a:latin typeface="Century Gothic" pitchFamily="34" charset="0"/>
              </a:rPr>
              <a:t>Estabilidade Operacional</a:t>
            </a:r>
          </a:p>
          <a:p>
            <a:r>
              <a:rPr lang="en-US" sz="1800" dirty="0" smtClean="0">
                <a:solidFill>
                  <a:schemeClr val="tx2"/>
                </a:solidFill>
                <a:latin typeface="Century Gothic" pitchFamily="34" charset="0"/>
              </a:rPr>
              <a:t>Indicador</a:t>
            </a:r>
            <a:endParaRPr lang="en-US" dirty="0" smtClean="0">
              <a:solidFill>
                <a:schemeClr val="tx2"/>
              </a:solidFill>
              <a:latin typeface="Century Gothic" pitchFamily="34" charset="0"/>
            </a:endParaRPr>
          </a:p>
          <a:p>
            <a:endParaRPr lang="en-US" sz="1800" dirty="0">
              <a:solidFill>
                <a:schemeClr val="tx2"/>
              </a:solidFill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89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ágrima 2"/>
          <p:cNvSpPr/>
          <p:nvPr/>
        </p:nvSpPr>
        <p:spPr>
          <a:xfrm>
            <a:off x="7704496" y="1131863"/>
            <a:ext cx="1332000" cy="1332000"/>
          </a:xfrm>
          <a:prstGeom prst="teardrop">
            <a:avLst/>
          </a:prstGeom>
          <a:blipFill>
            <a:blip r:embed="rId2"/>
            <a:srcRect/>
            <a:stretch>
              <a:fillRect l="-2714" t="-3441" r="-21624" b="-15491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205036" y="2196108"/>
            <a:ext cx="806489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b="1" dirty="0" smtClean="0">
                <a:solidFill>
                  <a:schemeClr val="tx2">
                    <a:lumMod val="75000"/>
                  </a:schemeClr>
                </a:solidFill>
                <a:latin typeface="Trebuchet MS" panose="020B0603020202020204" pitchFamily="34" charset="0"/>
              </a:rPr>
              <a:t>1 </a:t>
            </a:r>
            <a:r>
              <a:rPr lang="pt-BR" b="1" dirty="0">
                <a:solidFill>
                  <a:schemeClr val="tx2">
                    <a:lumMod val="75000"/>
                  </a:schemeClr>
                </a:solidFill>
                <a:latin typeface="Trebuchet MS" panose="020B0603020202020204" pitchFamily="34" charset="0"/>
              </a:rPr>
              <a:t>reunião </a:t>
            </a:r>
            <a:r>
              <a:rPr lang="pt-BR" b="1" dirty="0" smtClean="0">
                <a:solidFill>
                  <a:schemeClr val="tx2">
                    <a:lumMod val="75000"/>
                  </a:schemeClr>
                </a:solidFill>
                <a:latin typeface="Trebuchet MS" panose="020B0603020202020204" pitchFamily="34" charset="0"/>
              </a:rPr>
              <a:t>DIÁRIA demonstrando os </a:t>
            </a:r>
            <a:r>
              <a:rPr lang="pt-BR" b="1" dirty="0">
                <a:solidFill>
                  <a:schemeClr val="tx2">
                    <a:lumMod val="75000"/>
                  </a:schemeClr>
                </a:solidFill>
                <a:latin typeface="Trebuchet MS" panose="020B0603020202020204" pitchFamily="34" charset="0"/>
              </a:rPr>
              <a:t>indicadores e ações </a:t>
            </a:r>
            <a:r>
              <a:rPr lang="pt-BR" b="1" dirty="0" smtClean="0">
                <a:solidFill>
                  <a:schemeClr val="tx2">
                    <a:lumMod val="75000"/>
                  </a:schemeClr>
                </a:solidFill>
                <a:latin typeface="Trebuchet MS" panose="020B0603020202020204" pitchFamily="34" charset="0"/>
              </a:rPr>
              <a:t>de </a:t>
            </a:r>
            <a:r>
              <a:rPr lang="pt-BR" b="1" dirty="0">
                <a:solidFill>
                  <a:schemeClr val="tx2">
                    <a:lumMod val="75000"/>
                  </a:schemeClr>
                </a:solidFill>
                <a:latin typeface="Trebuchet MS" panose="020B0603020202020204" pitchFamily="34" charset="0"/>
              </a:rPr>
              <a:t>contorno 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para manutenção da operação cotidiana 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(20 min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. – </a:t>
            </a:r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quick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meeting). </a:t>
            </a:r>
            <a:endParaRPr lang="pt-BR" dirty="0" smtClean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b="1" dirty="0" smtClean="0">
                <a:solidFill>
                  <a:schemeClr val="tx2">
                    <a:lumMod val="75000"/>
                  </a:schemeClr>
                </a:solidFill>
                <a:latin typeface="Trebuchet MS" panose="020B0603020202020204" pitchFamily="34" charset="0"/>
              </a:rPr>
              <a:t>1 </a:t>
            </a:r>
            <a:r>
              <a:rPr lang="pt-BR" b="1" dirty="0">
                <a:solidFill>
                  <a:schemeClr val="tx2">
                    <a:lumMod val="75000"/>
                  </a:schemeClr>
                </a:solidFill>
                <a:latin typeface="Trebuchet MS" panose="020B0603020202020204" pitchFamily="34" charset="0"/>
              </a:rPr>
              <a:t>reunião </a:t>
            </a:r>
            <a:r>
              <a:rPr lang="pt-BR" b="1" dirty="0" smtClean="0">
                <a:solidFill>
                  <a:schemeClr val="tx2">
                    <a:lumMod val="75000"/>
                  </a:schemeClr>
                </a:solidFill>
                <a:latin typeface="Trebuchet MS" panose="020B0603020202020204" pitchFamily="34" charset="0"/>
              </a:rPr>
              <a:t>SEMANAL para </a:t>
            </a:r>
            <a:r>
              <a:rPr lang="pt-BR" b="1" dirty="0">
                <a:solidFill>
                  <a:schemeClr val="tx2">
                    <a:lumMod val="75000"/>
                  </a:schemeClr>
                </a:solidFill>
                <a:latin typeface="Trebuchet MS" panose="020B0603020202020204" pitchFamily="34" charset="0"/>
              </a:rPr>
              <a:t>alinhamento operacional 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entre 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as Equipes 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de TI e/ou Provedor(es)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pt-BR" b="1" dirty="0">
                <a:solidFill>
                  <a:schemeClr val="tx2">
                    <a:lumMod val="75000"/>
                  </a:schemeClr>
                </a:solidFill>
                <a:latin typeface="Trebuchet MS" panose="020B0603020202020204" pitchFamily="34" charset="0"/>
              </a:rPr>
              <a:t>para criação/atualização de Planos de </a:t>
            </a:r>
            <a:r>
              <a:rPr lang="pt-BR" b="1" dirty="0" smtClean="0">
                <a:solidFill>
                  <a:schemeClr val="tx2">
                    <a:lumMod val="75000"/>
                  </a:schemeClr>
                </a:solidFill>
                <a:latin typeface="Trebuchet MS" panose="020B0603020202020204" pitchFamily="34" charset="0"/>
              </a:rPr>
              <a:t>Ação </a:t>
            </a:r>
            <a:r>
              <a:rPr lang="pt-BR" b="1" dirty="0">
                <a:solidFill>
                  <a:schemeClr val="tx2">
                    <a:lumMod val="75000"/>
                  </a:schemeClr>
                </a:solidFill>
                <a:latin typeface="Trebuchet MS" panose="020B0603020202020204" pitchFamily="34" charset="0"/>
              </a:rPr>
              <a:t>para os indicadores operacionais abaixo da meta 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e, 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para indisponibilidade dos serviços (priorizados através de metas, 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exemplo: 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disponibilidade de sistema críticos, infraestrutura, entre outras coisas).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b="1" dirty="0" smtClean="0">
                <a:solidFill>
                  <a:schemeClr val="tx2">
                    <a:lumMod val="75000"/>
                  </a:schemeClr>
                </a:solidFill>
                <a:latin typeface="Trebuchet MS" panose="020B0603020202020204" pitchFamily="34" charset="0"/>
              </a:rPr>
              <a:t>1 </a:t>
            </a:r>
            <a:r>
              <a:rPr lang="pt-BR" b="1" dirty="0">
                <a:solidFill>
                  <a:schemeClr val="tx2">
                    <a:lumMod val="75000"/>
                  </a:schemeClr>
                </a:solidFill>
                <a:latin typeface="Trebuchet MS" panose="020B0603020202020204" pitchFamily="34" charset="0"/>
              </a:rPr>
              <a:t>reunião </a:t>
            </a:r>
            <a:r>
              <a:rPr lang="pt-BR" b="1" dirty="0" smtClean="0">
                <a:solidFill>
                  <a:schemeClr val="tx2">
                    <a:lumMod val="75000"/>
                  </a:schemeClr>
                </a:solidFill>
                <a:latin typeface="Trebuchet MS" panose="020B0603020202020204" pitchFamily="34" charset="0"/>
              </a:rPr>
              <a:t>MENSAL com intuito de mostrar os resultados 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(metas 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vs. realizado), apresentação dos resultados dos Planos de 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Ação, 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antecipação de necessidades da 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Empresa. </a:t>
            </a:r>
            <a:endParaRPr lang="pt-BR" dirty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824786" y="177395"/>
            <a:ext cx="5813425" cy="510352"/>
          </a:xfrm>
          <a:prstGeom prst="rect">
            <a:avLst/>
          </a:prstGeom>
        </p:spPr>
        <p:txBody>
          <a:bodyPr vert="horz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2"/>
                </a:solidFill>
                <a:latin typeface="Century Gothic" pitchFamily="34" charset="0"/>
              </a:rPr>
              <a:t>Estabilidade Operacional</a:t>
            </a:r>
          </a:p>
          <a:p>
            <a:r>
              <a:rPr lang="en-US" sz="1800" dirty="0" smtClean="0">
                <a:solidFill>
                  <a:schemeClr val="tx2"/>
                </a:solidFill>
                <a:latin typeface="Century Gothic" pitchFamily="34" charset="0"/>
              </a:rPr>
              <a:t>Rituais de Gestão</a:t>
            </a:r>
            <a:endParaRPr lang="en-US" sz="1800" dirty="0">
              <a:solidFill>
                <a:schemeClr val="tx2"/>
              </a:solidFill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17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1"/>
          </p:nvPr>
        </p:nvSpPr>
        <p:spPr>
          <a:xfrm>
            <a:off x="3128599" y="2623712"/>
            <a:ext cx="2434001" cy="805288"/>
          </a:xfrm>
        </p:spPr>
        <p:txBody>
          <a:bodyPr/>
          <a:lstStyle/>
          <a:p>
            <a:r>
              <a:rPr lang="pt-BR" sz="3200" b="1" i="1" dirty="0"/>
              <a:t>Obrigado!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201404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0" marR="0" indent="0" algn="just" defTabSz="4572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1200" b="0" i="0" dirty="0" err="1" smtClean="0">
            <a:solidFill>
              <a:schemeClr val="tx1">
                <a:lumMod val="50000"/>
                <a:lumOff val="50000"/>
              </a:schemeClr>
            </a:solidFill>
            <a:latin typeface="Tahoma"/>
            <a:cs typeface="Tahom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Logo Grupo Contax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3B5D3D784E3BA449570ADAAF37FA8B2" ma:contentTypeVersion="0" ma:contentTypeDescription="Crie um novo documento." ma:contentTypeScope="" ma:versionID="704348065d9a17421fec285126e8bba4">
  <xsd:schema xmlns:xsd="http://www.w3.org/2001/XMLSchema" xmlns:p="http://schemas.microsoft.com/office/2006/metadata/properties" targetNamespace="http://schemas.microsoft.com/office/2006/metadata/properties" ma:root="true" ma:fieldsID="834597303d62dd03ddcd59f56325a21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 ma:readOnly="tru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E1139C90-FA66-45BF-95F5-438C4B1FB8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83B94244-89C9-4E0E-B1DB-6B1A44EA378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492C84-DD8C-44DD-A88A-883CEE8F2250}">
  <ds:schemaRefs>
    <ds:schemaRef ds:uri="http://purl.org/dc/terms/"/>
    <ds:schemaRef ds:uri="http://purl.org/dc/dcmitype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36054</TotalTime>
  <Words>517</Words>
  <Application>Microsoft Office PowerPoint</Application>
  <PresentationFormat>Apresentação na tela (4:3)</PresentationFormat>
  <Paragraphs>99</Paragraphs>
  <Slides>18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5</vt:i4>
      </vt:variant>
      <vt:variant>
        <vt:lpstr>Títulos de slides</vt:lpstr>
      </vt:variant>
      <vt:variant>
        <vt:i4>18</vt:i4>
      </vt:variant>
    </vt:vector>
  </HeadingPairs>
  <TitlesOfParts>
    <vt:vector size="30" baseType="lpstr">
      <vt:lpstr>Arial</vt:lpstr>
      <vt:lpstr>Calibri</vt:lpstr>
      <vt:lpstr>Century Gothic</vt:lpstr>
      <vt:lpstr>Tahoma</vt:lpstr>
      <vt:lpstr>Trebuchet MS</vt:lpstr>
      <vt:lpstr>Verdana</vt:lpstr>
      <vt:lpstr>Wingdings</vt:lpstr>
      <vt:lpstr>Office Theme</vt:lpstr>
      <vt:lpstr>Custom Design</vt:lpstr>
      <vt:lpstr>Office Theme</vt:lpstr>
      <vt:lpstr>Office Theme</vt:lpstr>
      <vt:lpstr>Logo Grupo Contax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Wagner Fumagalli</cp:lastModifiedBy>
  <cp:revision>825</cp:revision>
  <dcterms:created xsi:type="dcterms:W3CDTF">2013-12-19T17:40:11Z</dcterms:created>
  <dcterms:modified xsi:type="dcterms:W3CDTF">2015-09-08T15:28:05Z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0x01010043B5D3D784E3BA449570ADAAF37FA8B2</vt:lpwstr>
  </property>
</Properties>
</file>