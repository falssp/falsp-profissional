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 id="2147483676" r:id="rId3"/>
  </p:sldMasterIdLst>
  <p:notesMasterIdLst>
    <p:notesMasterId r:id="rId27"/>
  </p:notesMasterIdLst>
  <p:sldIdLst>
    <p:sldId id="256" r:id="rId4"/>
    <p:sldId id="1759" r:id="rId5"/>
    <p:sldId id="1760" r:id="rId6"/>
    <p:sldId id="1761" r:id="rId7"/>
    <p:sldId id="1762" r:id="rId8"/>
    <p:sldId id="1781" r:id="rId9"/>
    <p:sldId id="1763" r:id="rId10"/>
    <p:sldId id="1782" r:id="rId11"/>
    <p:sldId id="1775" r:id="rId12"/>
    <p:sldId id="1764" r:id="rId13"/>
    <p:sldId id="1765" r:id="rId14"/>
    <p:sldId id="1776" r:id="rId15"/>
    <p:sldId id="1766" r:id="rId16"/>
    <p:sldId id="1767" r:id="rId17"/>
    <p:sldId id="1777" r:id="rId18"/>
    <p:sldId id="1768" r:id="rId19"/>
    <p:sldId id="1769" r:id="rId20"/>
    <p:sldId id="1778" r:id="rId21"/>
    <p:sldId id="1779" r:id="rId22"/>
    <p:sldId id="1770" r:id="rId23"/>
    <p:sldId id="1771" r:id="rId24"/>
    <p:sldId id="1780" r:id="rId25"/>
    <p:sldId id="17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325" userDrawn="1">
          <p15:clr>
            <a:srgbClr val="A4A3A4"/>
          </p15:clr>
        </p15:guide>
        <p15:guide id="4" pos="753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DBCE"/>
    <a:srgbClr val="17212D"/>
    <a:srgbClr val="73ADED"/>
    <a:srgbClr val="B1B9C8"/>
    <a:srgbClr val="9FCDC7"/>
    <a:srgbClr val="B0B9CA"/>
    <a:srgbClr val="FFE800"/>
    <a:srgbClr val="EFF9FD"/>
    <a:srgbClr val="F8FDFB"/>
    <a:srgbClr val="E1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3B3A31-4371-CC43-BEC2-7D7F07551FE1}" v="42" dt="2020-10-15T15:26:57.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37" autoAdjust="0"/>
    <p:restoredTop sz="83126" autoAdjust="0"/>
  </p:normalViewPr>
  <p:slideViewPr>
    <p:cSldViewPr snapToGrid="0" snapToObjects="1">
      <p:cViewPr>
        <p:scale>
          <a:sx n="110" d="100"/>
          <a:sy n="110" d="100"/>
        </p:scale>
        <p:origin x="872" y="152"/>
      </p:cViewPr>
      <p:guideLst>
        <p:guide orient="horz" pos="4110"/>
        <p:guide pos="325"/>
        <p:guide pos="7537"/>
      </p:guideLst>
    </p:cSldViewPr>
  </p:slideViewPr>
  <p:outlineViewPr>
    <p:cViewPr>
      <p:scale>
        <a:sx n="33" d="100"/>
        <a:sy n="33" d="100"/>
      </p:scale>
      <p:origin x="0" y="5992"/>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varScale="1">
        <p:scale>
          <a:sx n="84" d="100"/>
          <a:sy n="84" d="100"/>
        </p:scale>
        <p:origin x="3960" y="19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slide" Target="slides/slide10.xml" Id="rId13" /><Relationship Type="http://schemas.openxmlformats.org/officeDocument/2006/relationships/slide" Target="slides/slide15.xml" Id="rId18" /><Relationship Type="http://schemas.openxmlformats.org/officeDocument/2006/relationships/slide" Target="slides/slide23.xml" Id="rId26" /><Relationship Type="http://schemas.openxmlformats.org/officeDocument/2006/relationships/slideMaster" Target="slideMasters/slideMaster3.xml" Id="rId3" /><Relationship Type="http://schemas.openxmlformats.org/officeDocument/2006/relationships/slide" Target="slides/slide18.xml" Id="rId21" /><Relationship Type="http://schemas.openxmlformats.org/officeDocument/2006/relationships/slide" Target="slides/slide4.xml" Id="rId7" /><Relationship Type="http://schemas.openxmlformats.org/officeDocument/2006/relationships/slide" Target="slides/slide9.xml" Id="rId12" /><Relationship Type="http://schemas.openxmlformats.org/officeDocument/2006/relationships/slide" Target="slides/slide14.xml" Id="rId17" /><Relationship Type="http://schemas.openxmlformats.org/officeDocument/2006/relationships/slide" Target="slides/slide22.xml" Id="rId25" /><Relationship Type="http://schemas.microsoft.com/office/2015/10/relationships/revisionInfo" Target="revisionInfo.xml" Id="rId33" /><Relationship Type="http://schemas.openxmlformats.org/officeDocument/2006/relationships/slideMaster" Target="slideMasters/slideMaster2.xml" Id="rId2" /><Relationship Type="http://schemas.openxmlformats.org/officeDocument/2006/relationships/slide" Target="slides/slide13.xml" Id="rId16" /><Relationship Type="http://schemas.openxmlformats.org/officeDocument/2006/relationships/slide" Target="slides/slide17.xml" Id="rId20" /><Relationship Type="http://schemas.openxmlformats.org/officeDocument/2006/relationships/viewProps" Target="viewProps.xml" Id="rId29" /><Relationship Type="http://schemas.openxmlformats.org/officeDocument/2006/relationships/slideMaster" Target="slideMasters/slideMaster1.xml" Id="rId1" /><Relationship Type="http://schemas.openxmlformats.org/officeDocument/2006/relationships/slide" Target="slides/slide3.xml" Id="rId6" /><Relationship Type="http://schemas.openxmlformats.org/officeDocument/2006/relationships/slide" Target="slides/slide8.xml" Id="rId11" /><Relationship Type="http://schemas.openxmlformats.org/officeDocument/2006/relationships/slide" Target="slides/slide21.xml" Id="rId24" /><Relationship Type="http://schemas.openxmlformats.org/officeDocument/2006/relationships/slide" Target="slides/slide2.xml" Id="rId5" /><Relationship Type="http://schemas.openxmlformats.org/officeDocument/2006/relationships/slide" Target="slides/slide12.xml" Id="rId15" /><Relationship Type="http://schemas.openxmlformats.org/officeDocument/2006/relationships/slide" Target="slides/slide20.xml" Id="rId23" /><Relationship Type="http://schemas.openxmlformats.org/officeDocument/2006/relationships/presProps" Target="presProps.xml" Id="rId28" /><Relationship Type="http://schemas.openxmlformats.org/officeDocument/2006/relationships/slide" Target="slides/slide7.xml" Id="rId10" /><Relationship Type="http://schemas.openxmlformats.org/officeDocument/2006/relationships/slide" Target="slides/slide16.xml" Id="rId19" /><Relationship Type="http://schemas.openxmlformats.org/officeDocument/2006/relationships/tableStyles" Target="tableStyles.xml" Id="rId31" /><Relationship Type="http://schemas.openxmlformats.org/officeDocument/2006/relationships/slide" Target="slides/slide1.xml" Id="rId4" /><Relationship Type="http://schemas.openxmlformats.org/officeDocument/2006/relationships/slide" Target="slides/slide6.xml" Id="rId9" /><Relationship Type="http://schemas.openxmlformats.org/officeDocument/2006/relationships/slide" Target="slides/slide11.xml" Id="rId14" /><Relationship Type="http://schemas.openxmlformats.org/officeDocument/2006/relationships/slide" Target="slides/slide19.xml" Id="rId22" /><Relationship Type="http://schemas.openxmlformats.org/officeDocument/2006/relationships/notesMaster" Target="notesMasters/notesMaster1.xml" Id="rId27" /><Relationship Type="http://schemas.openxmlformats.org/officeDocument/2006/relationships/theme" Target="theme/theme1.xml" Id="rId30" /><Relationship Type="http://schemas.openxmlformats.org/officeDocument/2006/relationships/slide" Target="slides/slide5.xml" Id="rId8"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83120F-E54E-8346-AC6D-E80F500EBAC9}" type="datetimeFigureOut">
              <a:rPr lang="en-GB" smtClean="0"/>
              <a:t>15/10/2020</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5C6D2D-5EDB-EF46-BBA4-82C8BBEB693C}" type="slidenum">
              <a:rPr lang="en-GB" smtClean="0"/>
              <a:t>‹#›</a:t>
            </a:fld>
            <a:endParaRPr lang="en-GB" dirty="0"/>
          </a:p>
        </p:txBody>
      </p:sp>
    </p:spTree>
    <p:extLst>
      <p:ext uri="{BB962C8B-B14F-4D97-AF65-F5344CB8AC3E}">
        <p14:creationId xmlns:p14="http://schemas.microsoft.com/office/powerpoint/2010/main" val="96388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5C6D2D-5EDB-EF46-BBA4-82C8BBEB693C}" type="slidenum">
              <a:rPr lang="en-GB" smtClean="0"/>
              <a:t>1</a:t>
            </a:fld>
            <a:endParaRPr lang="en-GB" dirty="0"/>
          </a:p>
        </p:txBody>
      </p:sp>
    </p:spTree>
    <p:extLst>
      <p:ext uri="{BB962C8B-B14F-4D97-AF65-F5344CB8AC3E}">
        <p14:creationId xmlns:p14="http://schemas.microsoft.com/office/powerpoint/2010/main" val="412898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5C6D2D-5EDB-EF46-BBA4-82C8BBEB693C}" type="slidenum">
              <a:rPr lang="en-GB" smtClean="0"/>
              <a:t>2</a:t>
            </a:fld>
            <a:endParaRPr lang="en-GB" dirty="0"/>
          </a:p>
        </p:txBody>
      </p:sp>
    </p:spTree>
    <p:extLst>
      <p:ext uri="{BB962C8B-B14F-4D97-AF65-F5344CB8AC3E}">
        <p14:creationId xmlns:p14="http://schemas.microsoft.com/office/powerpoint/2010/main" val="1415100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a:t>
            </a:r>
          </a:p>
          <a:p>
            <a:pPr marL="171450" indent="-171450">
              <a:buFontTx/>
              <a:buChar char="-"/>
            </a:pPr>
            <a:r>
              <a:rPr lang="en-US" dirty="0"/>
              <a:t>Check Frames hidden</a:t>
            </a:r>
          </a:p>
          <a:p>
            <a:pPr marL="171450" indent="-171450">
              <a:buFontTx/>
              <a:buChar char="-"/>
            </a:pPr>
            <a:r>
              <a:rPr lang="en-US" dirty="0"/>
              <a:t>Change screenshot to generic client view</a:t>
            </a:r>
          </a:p>
          <a:p>
            <a:pPr marL="171450" indent="-171450">
              <a:buFontTx/>
              <a:buChar char="-"/>
            </a:pPr>
            <a:r>
              <a:rPr lang="en-US" dirty="0"/>
              <a:t>Update with ORCA nav bar</a:t>
            </a:r>
          </a:p>
        </p:txBody>
      </p:sp>
      <p:sp>
        <p:nvSpPr>
          <p:cNvPr id="4" name="Slide Number Placeholder 3"/>
          <p:cNvSpPr>
            <a:spLocks noGrp="1"/>
          </p:cNvSpPr>
          <p:nvPr>
            <p:ph type="sldNum" sz="quarter" idx="5"/>
          </p:nvPr>
        </p:nvSpPr>
        <p:spPr/>
        <p:txBody>
          <a:bodyPr/>
          <a:lstStyle/>
          <a:p>
            <a:fld id="{BB5C6D2D-5EDB-EF46-BBA4-82C8BBEB693C}" type="slidenum">
              <a:rPr lang="en-GB" smtClean="0"/>
              <a:t>7</a:t>
            </a:fld>
            <a:endParaRPr lang="en-GB" dirty="0"/>
          </a:p>
        </p:txBody>
      </p:sp>
    </p:spTree>
    <p:extLst>
      <p:ext uri="{BB962C8B-B14F-4D97-AF65-F5344CB8AC3E}">
        <p14:creationId xmlns:p14="http://schemas.microsoft.com/office/powerpoint/2010/main" val="1684914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a:t>
            </a:r>
          </a:p>
          <a:p>
            <a:pPr marL="171450" indent="-171450">
              <a:buFontTx/>
              <a:buChar char="-"/>
            </a:pPr>
            <a:r>
              <a:rPr lang="en-US" dirty="0"/>
              <a:t>Check Frames hidden</a:t>
            </a:r>
          </a:p>
          <a:p>
            <a:pPr marL="171450" indent="-171450">
              <a:buFontTx/>
              <a:buChar char="-"/>
            </a:pPr>
            <a:r>
              <a:rPr lang="en-US" dirty="0"/>
              <a:t>Change screenshot to generic client view</a:t>
            </a:r>
          </a:p>
          <a:p>
            <a:pPr marL="171450" indent="-171450">
              <a:buFontTx/>
              <a:buChar char="-"/>
            </a:pPr>
            <a:r>
              <a:rPr lang="en-US" dirty="0"/>
              <a:t>Update with ORCA nav bar</a:t>
            </a:r>
          </a:p>
        </p:txBody>
      </p:sp>
      <p:sp>
        <p:nvSpPr>
          <p:cNvPr id="4" name="Slide Number Placeholder 3"/>
          <p:cNvSpPr>
            <a:spLocks noGrp="1"/>
          </p:cNvSpPr>
          <p:nvPr>
            <p:ph type="sldNum" sz="quarter" idx="5"/>
          </p:nvPr>
        </p:nvSpPr>
        <p:spPr/>
        <p:txBody>
          <a:bodyPr/>
          <a:lstStyle/>
          <a:p>
            <a:fld id="{BB5C6D2D-5EDB-EF46-BBA4-82C8BBEB693C}" type="slidenum">
              <a:rPr lang="en-GB" smtClean="0"/>
              <a:t>8</a:t>
            </a:fld>
            <a:endParaRPr lang="en-GB" dirty="0"/>
          </a:p>
        </p:txBody>
      </p:sp>
    </p:spTree>
    <p:extLst>
      <p:ext uri="{BB962C8B-B14F-4D97-AF65-F5344CB8AC3E}">
        <p14:creationId xmlns:p14="http://schemas.microsoft.com/office/powerpoint/2010/main" val="2550777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UPDATES:</a:t>
            </a:r>
          </a:p>
          <a:p>
            <a:pPr marL="171450" indent="-171450">
              <a:buFontTx/>
              <a:buChar char="-"/>
            </a:pPr>
            <a:r>
              <a:rPr lang="en-US" dirty="0"/>
              <a:t>Check Frames hidden</a:t>
            </a:r>
          </a:p>
          <a:p>
            <a:pPr marL="171450" indent="-171450">
              <a:buFontTx/>
              <a:buChar char="-"/>
            </a:pPr>
            <a:r>
              <a:rPr lang="en-US" dirty="0"/>
              <a:t>Change screenshot to generic client view</a:t>
            </a:r>
          </a:p>
          <a:p>
            <a:pPr marL="171450" indent="-171450">
              <a:buFontTx/>
              <a:buChar char="-"/>
            </a:pPr>
            <a:r>
              <a:rPr lang="en-US" dirty="0"/>
              <a:t>Update with ORCA nav bar</a:t>
            </a:r>
          </a:p>
        </p:txBody>
      </p:sp>
      <p:sp>
        <p:nvSpPr>
          <p:cNvPr id="4" name="Slide Number Placeholder 3"/>
          <p:cNvSpPr>
            <a:spLocks noGrp="1"/>
          </p:cNvSpPr>
          <p:nvPr>
            <p:ph type="sldNum" sz="quarter" idx="5"/>
          </p:nvPr>
        </p:nvSpPr>
        <p:spPr/>
        <p:txBody>
          <a:bodyPr/>
          <a:lstStyle/>
          <a:p>
            <a:fld id="{BB5C6D2D-5EDB-EF46-BBA4-82C8BBEB693C}" type="slidenum">
              <a:rPr lang="en-GB" smtClean="0"/>
              <a:t>9</a:t>
            </a:fld>
            <a:endParaRPr lang="en-GB" dirty="0"/>
          </a:p>
        </p:txBody>
      </p:sp>
    </p:spTree>
    <p:extLst>
      <p:ext uri="{BB962C8B-B14F-4D97-AF65-F5344CB8AC3E}">
        <p14:creationId xmlns:p14="http://schemas.microsoft.com/office/powerpoint/2010/main" val="5226591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7ACE19-1D49-874D-BC39-2B5A334EA410}"/>
              </a:ext>
            </a:extLst>
          </p:cNvPr>
          <p:cNvSpPr/>
          <p:nvPr userDrawn="1"/>
        </p:nvSpPr>
        <p:spPr>
          <a:xfrm>
            <a:off x="0" y="523359"/>
            <a:ext cx="12192000" cy="609874"/>
          </a:xfrm>
          <a:prstGeom prst="rect">
            <a:avLst/>
          </a:prstGeom>
          <a:solidFill>
            <a:srgbClr val="1B3F5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solidFill>
                <a:srgbClr val="FF8DC1"/>
              </a:solidFill>
            </a:endParaRPr>
          </a:p>
        </p:txBody>
      </p:sp>
      <p:sp>
        <p:nvSpPr>
          <p:cNvPr id="3" name="Rectangle 2">
            <a:extLst>
              <a:ext uri="{FF2B5EF4-FFF2-40B4-BE49-F238E27FC236}">
                <a16:creationId xmlns:a16="http://schemas.microsoft.com/office/drawing/2014/main" id="{444572E4-4B2B-0D40-B938-DDE92FA6AE08}"/>
              </a:ext>
            </a:extLst>
          </p:cNvPr>
          <p:cNvSpPr/>
          <p:nvPr userDrawn="1"/>
        </p:nvSpPr>
        <p:spPr>
          <a:xfrm>
            <a:off x="-35681" y="-69802"/>
            <a:ext cx="12332313" cy="583453"/>
          </a:xfrm>
          <a:prstGeom prst="rect">
            <a:avLst/>
          </a:prstGeom>
          <a:solidFill>
            <a:srgbClr val="182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8DC1"/>
              </a:solidFill>
            </a:endParaRPr>
          </a:p>
        </p:txBody>
      </p:sp>
      <p:pic>
        <p:nvPicPr>
          <p:cNvPr id="4" name="Picture 3" descr="A picture containing drawing&#10;&#10;Description automatically generated">
            <a:extLst>
              <a:ext uri="{FF2B5EF4-FFF2-40B4-BE49-F238E27FC236}">
                <a16:creationId xmlns:a16="http://schemas.microsoft.com/office/drawing/2014/main" id="{3FCFFC52-C4CE-584F-8A18-43297A9713FA}"/>
              </a:ext>
            </a:extLst>
          </p:cNvPr>
          <p:cNvPicPr>
            <a:picLocks noChangeAspect="1"/>
          </p:cNvPicPr>
          <p:nvPr userDrawn="1"/>
        </p:nvPicPr>
        <p:blipFill>
          <a:blip r:embed="rId2"/>
          <a:stretch>
            <a:fillRect/>
          </a:stretch>
        </p:blipFill>
        <p:spPr>
          <a:xfrm>
            <a:off x="0" y="-20106"/>
            <a:ext cx="1383175" cy="468350"/>
          </a:xfrm>
          <a:prstGeom prst="rect">
            <a:avLst/>
          </a:prstGeom>
        </p:spPr>
      </p:pic>
      <p:sp>
        <p:nvSpPr>
          <p:cNvPr id="5" name="TextBox 4">
            <a:extLst>
              <a:ext uri="{FF2B5EF4-FFF2-40B4-BE49-F238E27FC236}">
                <a16:creationId xmlns:a16="http://schemas.microsoft.com/office/drawing/2014/main" id="{7EF9170B-AE55-0443-BD93-CEF2453AFFD2}"/>
              </a:ext>
            </a:extLst>
          </p:cNvPr>
          <p:cNvSpPr txBox="1"/>
          <p:nvPr userDrawn="1"/>
        </p:nvSpPr>
        <p:spPr>
          <a:xfrm>
            <a:off x="9872199" y="113521"/>
            <a:ext cx="2139696" cy="261610"/>
          </a:xfrm>
          <a:prstGeom prst="rect">
            <a:avLst/>
          </a:prstGeom>
          <a:noFill/>
        </p:spPr>
        <p:txBody>
          <a:bodyPr wrap="square" rtlCol="0">
            <a:spAutoFit/>
          </a:bodyPr>
          <a:lstStyle/>
          <a:p>
            <a:pPr algn="r"/>
            <a:r>
              <a:rPr lang="en-US" sz="1100" b="0" i="0" dirty="0">
                <a:solidFill>
                  <a:schemeClr val="bg1"/>
                </a:solidFill>
                <a:latin typeface="Noto Sans Thin" panose="020B0202040504020204" pitchFamily="34" charset="0"/>
                <a:ea typeface="Noto Sans Thin" panose="020B0202040504020204" pitchFamily="34" charset="0"/>
                <a:cs typeface="Noto Sans Thin" panose="020B0202040504020204" pitchFamily="34" charset="0"/>
              </a:rPr>
              <a:t>Platform Training Doc</a:t>
            </a:r>
          </a:p>
        </p:txBody>
      </p:sp>
      <p:pic>
        <p:nvPicPr>
          <p:cNvPr id="6" name="Picture 5">
            <a:extLst>
              <a:ext uri="{FF2B5EF4-FFF2-40B4-BE49-F238E27FC236}">
                <a16:creationId xmlns:a16="http://schemas.microsoft.com/office/drawing/2014/main" id="{04D78D76-6854-F147-92A6-85CC3145ACC6}"/>
              </a:ext>
            </a:extLst>
          </p:cNvPr>
          <p:cNvPicPr>
            <a:picLocks noChangeAspect="1"/>
          </p:cNvPicPr>
          <p:nvPr userDrawn="1"/>
        </p:nvPicPr>
        <p:blipFill>
          <a:blip r:embed="rId3"/>
          <a:stretch>
            <a:fillRect/>
          </a:stretch>
        </p:blipFill>
        <p:spPr>
          <a:xfrm>
            <a:off x="10543310" y="6453188"/>
            <a:ext cx="1399310" cy="139932"/>
          </a:xfrm>
          <a:prstGeom prst="rect">
            <a:avLst/>
          </a:prstGeom>
        </p:spPr>
      </p:pic>
      <p:sp>
        <p:nvSpPr>
          <p:cNvPr id="8" name="Title 7">
            <a:extLst>
              <a:ext uri="{FF2B5EF4-FFF2-40B4-BE49-F238E27FC236}">
                <a16:creationId xmlns:a16="http://schemas.microsoft.com/office/drawing/2014/main" id="{6A52CA41-B12A-6844-9B9D-FC2B64CB1873}"/>
              </a:ext>
            </a:extLst>
          </p:cNvPr>
          <p:cNvSpPr>
            <a:spLocks noGrp="1"/>
          </p:cNvSpPr>
          <p:nvPr>
            <p:ph type="title"/>
          </p:nvPr>
        </p:nvSpPr>
        <p:spPr>
          <a:xfrm>
            <a:off x="386690" y="536611"/>
            <a:ext cx="11555929" cy="619582"/>
          </a:xfrm>
          <a:prstGeom prst="rect">
            <a:avLst/>
          </a:prstGeom>
        </p:spPr>
        <p:txBody>
          <a:bodyPr anchor="ctr"/>
          <a:lstStyle>
            <a:lvl1pPr>
              <a:defRPr sz="2000" b="1" i="0">
                <a:latin typeface="Noto Sans" panose="020B0502040504020204" pitchFamily="34" charset="0"/>
                <a:ea typeface="Noto Sans" panose="020B0502040504020204" pitchFamily="34" charset="0"/>
                <a:cs typeface="Noto Sans" panose="020B0502040504020204" pitchFamily="34" charset="0"/>
              </a:defRPr>
            </a:lvl1pPr>
          </a:lstStyle>
          <a:p>
            <a:r>
              <a:rPr lang="en-GB" dirty="0"/>
              <a:t>Click to edit Master title style</a:t>
            </a:r>
            <a:endParaRPr lang="en-US" dirty="0"/>
          </a:p>
        </p:txBody>
      </p:sp>
    </p:spTree>
  </p:cSld>
  <p:clrMapOvr>
    <a:masterClrMapping/>
  </p:clrMapOvr>
  <p:extLst>
    <p:ext uri="{DCECCB84-F9BA-43D5-87BE-67443E8EF086}">
      <p15:sldGuideLst xmlns:p15="http://schemas.microsoft.com/office/powerpoint/2012/main">
        <p15:guide id="1" orient="horz" pos="4156" userDrawn="1">
          <p15:clr>
            <a:srgbClr val="FBAE40"/>
          </p15:clr>
        </p15:guide>
        <p15:guide id="2" pos="30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23" indent="0" algn="ctr">
              <a:buNone/>
              <a:defRPr sz="2000"/>
            </a:lvl2pPr>
            <a:lvl3pPr marL="914445" indent="0" algn="ctr">
              <a:buNone/>
              <a:defRPr sz="1801"/>
            </a:lvl3pPr>
            <a:lvl4pPr marL="1371669" indent="0" algn="ctr">
              <a:buNone/>
              <a:defRPr sz="1600"/>
            </a:lvl4pPr>
            <a:lvl5pPr marL="1828891" indent="0" algn="ctr">
              <a:buNone/>
              <a:defRPr sz="1600"/>
            </a:lvl5pPr>
            <a:lvl6pPr marL="2286114" indent="0" algn="ctr">
              <a:buNone/>
              <a:defRPr sz="1600"/>
            </a:lvl6pPr>
            <a:lvl7pPr marL="2743336" indent="0" algn="ctr">
              <a:buNone/>
              <a:defRPr sz="1600"/>
            </a:lvl7pPr>
            <a:lvl8pPr marL="3200561" indent="0" algn="ctr">
              <a:buNone/>
              <a:defRPr sz="1600"/>
            </a:lvl8pPr>
            <a:lvl9pPr marL="3657784"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D7074E4-EFEC-0D4E-A357-592753AF4A3F}" type="datetimeFigureOut">
              <a:rPr lang="en-US" smtClean="0"/>
              <a:t>10/15/20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358EFA-EAF8-5348-8C13-4FD16CDC3AA4}" type="slidenum">
              <a:rPr lang="en-US" smtClean="0"/>
              <a:t>‹#›</a:t>
            </a:fld>
            <a:endParaRPr lang="en-US"/>
          </a:p>
        </p:txBody>
      </p:sp>
    </p:spTree>
    <p:extLst>
      <p:ext uri="{BB962C8B-B14F-4D97-AF65-F5344CB8AC3E}">
        <p14:creationId xmlns:p14="http://schemas.microsoft.com/office/powerpoint/2010/main" val="337089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Green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95DB5014-43EF-3A4E-9B4A-EAE47E78E410}"/>
              </a:ext>
            </a:extLst>
          </p:cNvPr>
          <p:cNvSpPr txBox="1"/>
          <p:nvPr userDrawn="1"/>
        </p:nvSpPr>
        <p:spPr>
          <a:xfrm>
            <a:off x="774177" y="773688"/>
            <a:ext cx="4572373" cy="400110"/>
          </a:xfrm>
          <a:prstGeom prst="rect">
            <a:avLst/>
          </a:prstGeom>
          <a:noFill/>
        </p:spPr>
        <p:txBody>
          <a:bodyPr wrap="square" rtlCol="0">
            <a:spAutoFit/>
          </a:bodyPr>
          <a:lstStyle/>
          <a:p>
            <a:pPr algn="l"/>
            <a:r>
              <a:rPr lang="en-GB" sz="2000" b="1" spc="300" baseline="0" dirty="0">
                <a:solidFill>
                  <a:srgbClr val="80D6C7"/>
                </a:solidFill>
                <a:latin typeface="Gotham Narrow Bold" panose="02000603000000000000" pitchFamily="2" charset="0"/>
                <a:ea typeface="Helvetica Neue Thin" panose="020B0403020202020204" pitchFamily="34" charset="0"/>
                <a:cs typeface="Helvetica Neue" panose="02000503000000020004" pitchFamily="2" charset="0"/>
              </a:rPr>
              <a:t>Overview of </a:t>
            </a:r>
            <a:r>
              <a:rPr lang="en-GB" sz="2000" b="1" spc="300" baseline="0" dirty="0" err="1">
                <a:solidFill>
                  <a:srgbClr val="80D6C7"/>
                </a:solidFill>
                <a:latin typeface="Gotham Narrow Bold" panose="02000603000000000000" pitchFamily="2" charset="0"/>
                <a:ea typeface="Helvetica Neue Thin" panose="020B0403020202020204" pitchFamily="34" charset="0"/>
                <a:cs typeface="Helvetica Neue" panose="02000503000000020004" pitchFamily="2" charset="0"/>
              </a:rPr>
              <a:t>Adylic</a:t>
            </a:r>
            <a:endParaRPr lang="en-GB" sz="2000" b="1" spc="300" baseline="0" dirty="0">
              <a:solidFill>
                <a:srgbClr val="80D6C7"/>
              </a:solidFill>
              <a:latin typeface="Gotham Narrow Bold" panose="02000603000000000000" pitchFamily="2" charset="0"/>
              <a:ea typeface="Helvetica Neue Thin" panose="020B0403020202020204" pitchFamily="34" charset="0"/>
              <a:cs typeface="Helvetica Neue" panose="02000503000000020004" pitchFamily="2" charset="0"/>
            </a:endParaRPr>
          </a:p>
        </p:txBody>
      </p:sp>
      <p:sp>
        <p:nvSpPr>
          <p:cNvPr id="11" name="Rectangle 10">
            <a:extLst>
              <a:ext uri="{FF2B5EF4-FFF2-40B4-BE49-F238E27FC236}">
                <a16:creationId xmlns:a16="http://schemas.microsoft.com/office/drawing/2014/main" id="{51018BD0-2D3C-E143-BB03-46C1C190CBCA}"/>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pic>
        <p:nvPicPr>
          <p:cNvPr id="6" name="Picture 5">
            <a:extLst>
              <a:ext uri="{FF2B5EF4-FFF2-40B4-BE49-F238E27FC236}">
                <a16:creationId xmlns:a16="http://schemas.microsoft.com/office/drawing/2014/main" id="{EDB882FB-F5D3-5C49-B054-D941234C2D81}"/>
              </a:ext>
            </a:extLst>
          </p:cNvPr>
          <p:cNvPicPr>
            <a:picLocks noChangeAspect="1"/>
          </p:cNvPicPr>
          <p:nvPr userDrawn="1"/>
        </p:nvPicPr>
        <p:blipFill>
          <a:blip r:embed="rId3"/>
          <a:stretch>
            <a:fillRect/>
          </a:stretch>
        </p:blipFill>
        <p:spPr>
          <a:xfrm>
            <a:off x="806455" y="6147790"/>
            <a:ext cx="1269776" cy="158722"/>
          </a:xfrm>
          <a:prstGeom prst="rect">
            <a:avLst/>
          </a:prstGeom>
        </p:spPr>
      </p:pic>
    </p:spTree>
    <p:extLst>
      <p:ext uri="{BB962C8B-B14F-4D97-AF65-F5344CB8AC3E}">
        <p14:creationId xmlns:p14="http://schemas.microsoft.com/office/powerpoint/2010/main" val="3602948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31781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
            <a:ext cx="12192000" cy="6854653"/>
          </a:xfrm>
          <a:prstGeom prst="rect">
            <a:avLst/>
          </a:prstGeom>
        </p:spPr>
      </p:pic>
      <p:sp>
        <p:nvSpPr>
          <p:cNvPr id="10" name="Rectangle 9"/>
          <p:cNvSpPr/>
          <p:nvPr userDrawn="1"/>
        </p:nvSpPr>
        <p:spPr>
          <a:xfrm>
            <a:off x="2841675" y="1125415"/>
            <a:ext cx="6428935" cy="4441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sp>
        <p:nvSpPr>
          <p:cNvPr id="11" name="Rectangle 10"/>
          <p:cNvSpPr/>
          <p:nvPr userDrawn="1"/>
        </p:nvSpPr>
        <p:spPr>
          <a:xfrm>
            <a:off x="5904089" y="84898"/>
            <a:ext cx="1169617" cy="767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sp>
        <p:nvSpPr>
          <p:cNvPr id="12" name="Rectangle 11"/>
          <p:cNvSpPr/>
          <p:nvPr userDrawn="1"/>
        </p:nvSpPr>
        <p:spPr>
          <a:xfrm>
            <a:off x="9730500" y="1730327"/>
            <a:ext cx="1169617" cy="725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sp>
        <p:nvSpPr>
          <p:cNvPr id="13" name="Rectangle 12"/>
          <p:cNvSpPr/>
          <p:nvPr userDrawn="1"/>
        </p:nvSpPr>
        <p:spPr>
          <a:xfrm>
            <a:off x="443478" y="3064520"/>
            <a:ext cx="1169617" cy="725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sp>
        <p:nvSpPr>
          <p:cNvPr id="14" name="Rectangle 13"/>
          <p:cNvSpPr/>
          <p:nvPr userDrawn="1"/>
        </p:nvSpPr>
        <p:spPr>
          <a:xfrm>
            <a:off x="6969542" y="6126578"/>
            <a:ext cx="1169617" cy="725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32096" t="12690" r="59943" b="26199"/>
          <a:stretch/>
        </p:blipFill>
        <p:spPr>
          <a:xfrm>
            <a:off x="7073710" y="105159"/>
            <a:ext cx="699041" cy="628125"/>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32096" t="12690" r="59943" b="26199"/>
          <a:stretch/>
        </p:blipFill>
        <p:spPr>
          <a:xfrm rot="19854507">
            <a:off x="6965102" y="5864533"/>
            <a:ext cx="699041" cy="628125"/>
          </a:xfrm>
          <a:prstGeom prst="rect">
            <a:avLst/>
          </a:prstGeom>
        </p:spPr>
      </p:pic>
      <p:sp>
        <p:nvSpPr>
          <p:cNvPr id="16" name="Rectangle 15"/>
          <p:cNvSpPr/>
          <p:nvPr userDrawn="1"/>
        </p:nvSpPr>
        <p:spPr>
          <a:xfrm>
            <a:off x="10762651" y="0"/>
            <a:ext cx="1293364" cy="725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dirty="0"/>
          </a:p>
        </p:txBody>
      </p:sp>
    </p:spTree>
    <p:extLst>
      <p:ext uri="{BB962C8B-B14F-4D97-AF65-F5344CB8AC3E}">
        <p14:creationId xmlns:p14="http://schemas.microsoft.com/office/powerpoint/2010/main" val="196979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ured backgroun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88523DDE-25D7-D04E-8C8C-F2F397B8AB61}"/>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nochrome backgroun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ADA342A-6C7C-AE43-AC6F-0D710BB9451A}"/>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7EE7051B-FC93-3B46-AE16-062931A4F104}"/>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ink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92597" y="0"/>
            <a:ext cx="12192000" cy="6858000"/>
          </a:xfrm>
          <a:prstGeom prst="rect">
            <a:avLst/>
          </a:prstGeom>
        </p:spPr>
      </p:pic>
      <p:sp>
        <p:nvSpPr>
          <p:cNvPr id="9" name="Rectangle 8">
            <a:extLst>
              <a:ext uri="{FF2B5EF4-FFF2-40B4-BE49-F238E27FC236}">
                <a16:creationId xmlns:a16="http://schemas.microsoft.com/office/drawing/2014/main" id="{7EE7051B-FC93-3B46-AE16-062931A4F104}"/>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95DB5014-43EF-3A4E-9B4A-EAE47E78E410}"/>
              </a:ext>
            </a:extLst>
          </p:cNvPr>
          <p:cNvSpPr txBox="1"/>
          <p:nvPr userDrawn="1"/>
        </p:nvSpPr>
        <p:spPr>
          <a:xfrm>
            <a:off x="774177" y="773689"/>
            <a:ext cx="4572373" cy="400110"/>
          </a:xfrm>
          <a:prstGeom prst="rect">
            <a:avLst/>
          </a:prstGeom>
          <a:noFill/>
        </p:spPr>
        <p:txBody>
          <a:bodyPr wrap="square" rtlCol="0">
            <a:spAutoFit/>
          </a:bodyPr>
          <a:lstStyle/>
          <a:p>
            <a:r>
              <a:rPr lang="en-GB" sz="2000" b="1" spc="300" dirty="0">
                <a:solidFill>
                  <a:srgbClr val="80D6C7"/>
                </a:solidFill>
                <a:latin typeface="Gotham Narrow Bold" panose="02000603000000000000" pitchFamily="2" charset="0"/>
                <a:ea typeface="Helvetica Neue Thin" panose="020B0403020202020204" pitchFamily="34" charset="0"/>
                <a:cs typeface="Helvetica Neue" panose="02000503000000020004" pitchFamily="2" charset="0"/>
              </a:rPr>
              <a:t>The Future</a:t>
            </a:r>
          </a:p>
        </p:txBody>
      </p:sp>
      <p:sp>
        <p:nvSpPr>
          <p:cNvPr id="11" name="Rectangle 10">
            <a:extLst>
              <a:ext uri="{FF2B5EF4-FFF2-40B4-BE49-F238E27FC236}">
                <a16:creationId xmlns:a16="http://schemas.microsoft.com/office/drawing/2014/main" id="{51018BD0-2D3C-E143-BB03-46C1C190CBCA}"/>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EDB882FB-F5D3-5C49-B054-D941234C2D81}"/>
              </a:ext>
            </a:extLst>
          </p:cNvPr>
          <p:cNvPicPr>
            <a:picLocks noChangeAspect="1"/>
          </p:cNvPicPr>
          <p:nvPr userDrawn="1"/>
        </p:nvPicPr>
        <p:blipFill>
          <a:blip r:embed="rId3"/>
          <a:stretch>
            <a:fillRect/>
          </a:stretch>
        </p:blipFill>
        <p:spPr>
          <a:xfrm>
            <a:off x="806455" y="6147790"/>
            <a:ext cx="1269776" cy="15872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Green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51018BD0-2D3C-E143-BB03-46C1C190CBCA}"/>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EDB882FB-F5D3-5C49-B054-D941234C2D81}"/>
              </a:ext>
            </a:extLst>
          </p:cNvPr>
          <p:cNvPicPr>
            <a:picLocks noChangeAspect="1"/>
          </p:cNvPicPr>
          <p:nvPr userDrawn="1"/>
        </p:nvPicPr>
        <p:blipFill>
          <a:blip r:embed="rId3"/>
          <a:stretch>
            <a:fillRect/>
          </a:stretch>
        </p:blipFill>
        <p:spPr>
          <a:xfrm>
            <a:off x="806455" y="6147790"/>
            <a:ext cx="1269776" cy="15872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y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3E35E571-0F74-3A46-848E-86AE51230367}"/>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CCA94839-B87A-C14A-91B0-9487881FEED1}"/>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47A4344-8EC2-C344-BD6D-468D8BEA99BC}"/>
              </a:ext>
            </a:extLst>
          </p:cNvPr>
          <p:cNvSpPr txBox="1"/>
          <p:nvPr userDrawn="1"/>
        </p:nvSpPr>
        <p:spPr>
          <a:xfrm>
            <a:off x="774177" y="773689"/>
            <a:ext cx="4572373" cy="400110"/>
          </a:xfrm>
          <a:prstGeom prst="rect">
            <a:avLst/>
          </a:prstGeom>
          <a:noFill/>
        </p:spPr>
        <p:txBody>
          <a:bodyPr wrap="square" rtlCol="0">
            <a:spAutoFit/>
          </a:bodyPr>
          <a:lstStyle/>
          <a:p>
            <a:r>
              <a:rPr lang="en-GB" sz="2000" b="1" spc="300" dirty="0">
                <a:solidFill>
                  <a:srgbClr val="ABB3C5"/>
                </a:solidFill>
                <a:latin typeface="Gotham Narrow Bold" panose="02000603000000000000" pitchFamily="2" charset="0"/>
                <a:ea typeface="Helvetica Neue Thin" panose="020B0403020202020204" pitchFamily="34" charset="0"/>
                <a:cs typeface="Helvetica Neue" panose="02000503000000020004" pitchFamily="2" charset="0"/>
              </a:rPr>
              <a:t>More Video</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Grey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3E35E571-0F74-3A46-848E-86AE51230367}"/>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CCA94839-B87A-C14A-91B0-9487881FEED1}"/>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47A4344-8EC2-C344-BD6D-468D8BEA99BC}"/>
              </a:ext>
            </a:extLst>
          </p:cNvPr>
          <p:cNvSpPr txBox="1"/>
          <p:nvPr userDrawn="1"/>
        </p:nvSpPr>
        <p:spPr>
          <a:xfrm>
            <a:off x="774177" y="773689"/>
            <a:ext cx="4572373" cy="400110"/>
          </a:xfrm>
          <a:prstGeom prst="rect">
            <a:avLst/>
          </a:prstGeom>
          <a:noFill/>
        </p:spPr>
        <p:txBody>
          <a:bodyPr wrap="square" rtlCol="0">
            <a:spAutoFit/>
          </a:bodyPr>
          <a:lstStyle/>
          <a:p>
            <a:r>
              <a:rPr lang="en-GB" sz="2000" b="1" spc="300" dirty="0">
                <a:solidFill>
                  <a:srgbClr val="ABB3C5"/>
                </a:solidFill>
                <a:latin typeface="Gotham Narrow Bold" panose="02000603000000000000" pitchFamily="2" charset="0"/>
                <a:ea typeface="Helvetica Neue Thin" panose="020B0403020202020204" pitchFamily="34" charset="0"/>
                <a:cs typeface="Helvetica Neue" panose="02000503000000020004" pitchFamily="2" charset="0"/>
              </a:rPr>
              <a:t>More Social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Grey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3E35E571-0F74-3A46-848E-86AE51230367}"/>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CCA94839-B87A-C14A-91B0-9487881FEED1}"/>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47A4344-8EC2-C344-BD6D-468D8BEA99BC}"/>
              </a:ext>
            </a:extLst>
          </p:cNvPr>
          <p:cNvSpPr txBox="1"/>
          <p:nvPr userDrawn="1"/>
        </p:nvSpPr>
        <p:spPr>
          <a:xfrm>
            <a:off x="774177" y="773690"/>
            <a:ext cx="3204267" cy="1015663"/>
          </a:xfrm>
          <a:prstGeom prst="rect">
            <a:avLst/>
          </a:prstGeom>
          <a:noFill/>
        </p:spPr>
        <p:txBody>
          <a:bodyPr wrap="square" rtlCol="0">
            <a:spAutoFit/>
          </a:bodyPr>
          <a:lstStyle/>
          <a:p>
            <a:r>
              <a:rPr lang="en-GB" sz="2000" b="1" spc="300" dirty="0">
                <a:solidFill>
                  <a:srgbClr val="ABB3C5"/>
                </a:solidFill>
                <a:latin typeface="Gotham Narrow Bold" panose="02000603000000000000" pitchFamily="2" charset="0"/>
                <a:ea typeface="Helvetica Neue Thin" panose="020B0403020202020204" pitchFamily="34" charset="0"/>
                <a:cs typeface="Helvetica Neue" panose="02000503000000020004" pitchFamily="2" charset="0"/>
              </a:rPr>
              <a:t>New Communication Channels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Grey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3E35E571-0F74-3A46-848E-86AE51230367}"/>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CCA94839-B87A-C14A-91B0-9487881FEED1}"/>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47A4344-8EC2-C344-BD6D-468D8BEA99BC}"/>
              </a:ext>
            </a:extLst>
          </p:cNvPr>
          <p:cNvSpPr txBox="1"/>
          <p:nvPr userDrawn="1"/>
        </p:nvSpPr>
        <p:spPr>
          <a:xfrm>
            <a:off x="774177" y="773688"/>
            <a:ext cx="3204267" cy="400110"/>
          </a:xfrm>
          <a:prstGeom prst="rect">
            <a:avLst/>
          </a:prstGeom>
          <a:noFill/>
        </p:spPr>
        <p:txBody>
          <a:bodyPr wrap="square" rtlCol="0">
            <a:spAutoFit/>
          </a:bodyPr>
          <a:lstStyle/>
          <a:p>
            <a:r>
              <a:rPr lang="en-GB" sz="2000" b="1" spc="300" dirty="0">
                <a:solidFill>
                  <a:srgbClr val="ABB3C5"/>
                </a:solidFill>
                <a:latin typeface="Gotham Narrow Bold" panose="02000603000000000000" pitchFamily="2" charset="0"/>
                <a:ea typeface="Helvetica Neue Thin" panose="020B0403020202020204" pitchFamily="34" charset="0"/>
                <a:cs typeface="Helvetica Neue" panose="02000503000000020004" pitchFamily="2" charset="0"/>
              </a:rPr>
              <a:t>Product Roadmap</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Grey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3E35E571-0F74-3A46-848E-86AE51230367}"/>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CCA94839-B87A-C14A-91B0-9487881FEED1}"/>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47A4344-8EC2-C344-BD6D-468D8BEA99BC}"/>
              </a:ext>
            </a:extLst>
          </p:cNvPr>
          <p:cNvSpPr txBox="1"/>
          <p:nvPr userDrawn="1"/>
        </p:nvSpPr>
        <p:spPr>
          <a:xfrm>
            <a:off x="774177" y="773688"/>
            <a:ext cx="3204267" cy="400110"/>
          </a:xfrm>
          <a:prstGeom prst="rect">
            <a:avLst/>
          </a:prstGeom>
          <a:noFill/>
        </p:spPr>
        <p:txBody>
          <a:bodyPr wrap="square" rtlCol="0">
            <a:spAutoFit/>
          </a:bodyPr>
          <a:lstStyle/>
          <a:p>
            <a:r>
              <a:rPr lang="en-GB" sz="2000" b="1" spc="300" dirty="0">
                <a:solidFill>
                  <a:srgbClr val="ABB3C5"/>
                </a:solidFill>
                <a:latin typeface="Gotham Narrow Bold" panose="02000603000000000000" pitchFamily="2" charset="0"/>
                <a:ea typeface="Helvetica Neue Thin" panose="020B0403020202020204" pitchFamily="34" charset="0"/>
                <a:cs typeface="Helvetica Neue" panose="02000503000000020004" pitchFamily="2" charset="0"/>
              </a:rPr>
              <a:t>New Markets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E4E6DF83-0F6E-F641-9426-151D3E3A8DC0}"/>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pic>
        <p:nvPicPr>
          <p:cNvPr id="6" name="Picture 5">
            <a:extLst>
              <a:ext uri="{FF2B5EF4-FFF2-40B4-BE49-F238E27FC236}">
                <a16:creationId xmlns:a16="http://schemas.microsoft.com/office/drawing/2014/main" id="{789F400B-5B28-CD44-8ED5-A7C572955200}"/>
              </a:ext>
            </a:extLst>
          </p:cNvPr>
          <p:cNvPicPr>
            <a:picLocks noChangeAspect="1"/>
          </p:cNvPicPr>
          <p:nvPr userDrawn="1"/>
        </p:nvPicPr>
        <p:blipFill>
          <a:blip r:embed="rId3"/>
          <a:stretch>
            <a:fillRect/>
          </a:stretch>
        </p:blipFill>
        <p:spPr>
          <a:xfrm>
            <a:off x="806455" y="6147790"/>
            <a:ext cx="1269776" cy="158722"/>
          </a:xfrm>
          <a:prstGeom prst="rect">
            <a:avLst/>
          </a:prstGeom>
        </p:spPr>
      </p:pic>
      <p:sp>
        <p:nvSpPr>
          <p:cNvPr id="9" name="TextBox 8">
            <a:extLst>
              <a:ext uri="{FF2B5EF4-FFF2-40B4-BE49-F238E27FC236}">
                <a16:creationId xmlns:a16="http://schemas.microsoft.com/office/drawing/2014/main" id="{EB951171-CC2F-7748-8D8E-698670B8893C}"/>
              </a:ext>
            </a:extLst>
          </p:cNvPr>
          <p:cNvSpPr txBox="1"/>
          <p:nvPr userDrawn="1"/>
        </p:nvSpPr>
        <p:spPr>
          <a:xfrm>
            <a:off x="774177" y="773689"/>
            <a:ext cx="4572373" cy="400110"/>
          </a:xfrm>
          <a:prstGeom prst="rect">
            <a:avLst/>
          </a:prstGeom>
          <a:noFill/>
        </p:spPr>
        <p:txBody>
          <a:bodyPr wrap="square" rtlCol="0">
            <a:spAutoFit/>
          </a:bodyPr>
          <a:lstStyle/>
          <a:p>
            <a:r>
              <a:rPr lang="en-GB" sz="2000" b="1" spc="300" dirty="0">
                <a:solidFill>
                  <a:srgbClr val="68BAE9"/>
                </a:solidFill>
                <a:latin typeface="Gotham Narrow Bold" panose="02000603000000000000" pitchFamily="2" charset="0"/>
                <a:ea typeface="Helvetica Neue Thin" panose="020B0403020202020204" pitchFamily="34" charset="0"/>
                <a:cs typeface="Helvetica Neue" panose="02000503000000020004" pitchFamily="2" charset="0"/>
              </a:rPr>
              <a:t>Our Work</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ec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CC92EB09-DBA5-5C49-A5A9-87DDA8A75A24}"/>
              </a:ext>
            </a:extLst>
          </p:cNvPr>
          <p:cNvPicPr>
            <a:picLocks noChangeAspect="1"/>
          </p:cNvPicPr>
          <p:nvPr userDrawn="1"/>
        </p:nvPicPr>
        <p:blipFill>
          <a:blip r:embed="rId3"/>
          <a:stretch>
            <a:fillRect/>
          </a:stretch>
        </p:blipFill>
        <p:spPr>
          <a:xfrm>
            <a:off x="9251950" y="5959428"/>
            <a:ext cx="2192839" cy="274105"/>
          </a:xfrm>
          <a:prstGeom prst="rect">
            <a:avLst/>
          </a:prstGeom>
        </p:spPr>
      </p:pic>
      <p:sp>
        <p:nvSpPr>
          <p:cNvPr id="11" name="Rectangle 10">
            <a:extLst>
              <a:ext uri="{FF2B5EF4-FFF2-40B4-BE49-F238E27FC236}">
                <a16:creationId xmlns:a16="http://schemas.microsoft.com/office/drawing/2014/main" id="{80B0494D-04CA-2D41-A66C-93574CC7FA98}"/>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y 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F9C239-8548-3640-9F3B-289689F094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D EXAMPLE DO NO US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18D772-6F7D-BA49-968B-AA8892594D29}"/>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tretch>
            <a:fillRect/>
          </a:stretch>
        </p:blipFill>
        <p:spPr>
          <a:xfrm>
            <a:off x="0" y="4906"/>
            <a:ext cx="12192000" cy="6858000"/>
          </a:xfrm>
          <a:prstGeom prst="rect">
            <a:avLst/>
          </a:prstGeom>
        </p:spPr>
      </p:pic>
      <p:sp>
        <p:nvSpPr>
          <p:cNvPr id="7" name="TextBox 6">
            <a:extLst>
              <a:ext uri="{FF2B5EF4-FFF2-40B4-BE49-F238E27FC236}">
                <a16:creationId xmlns:a16="http://schemas.microsoft.com/office/drawing/2014/main" id="{B64BECF5-AFF0-3D40-82F5-D6CCB1CB1C42}"/>
              </a:ext>
            </a:extLst>
          </p:cNvPr>
          <p:cNvSpPr txBox="1"/>
          <p:nvPr userDrawn="1"/>
        </p:nvSpPr>
        <p:spPr>
          <a:xfrm>
            <a:off x="305275" y="80493"/>
            <a:ext cx="2882900" cy="523220"/>
          </a:xfrm>
          <a:prstGeom prst="rect">
            <a:avLst/>
          </a:prstGeom>
          <a:noFill/>
        </p:spPr>
        <p:txBody>
          <a:bodyPr wrap="square" rtlCol="0">
            <a:spAutoFit/>
          </a:bodyPr>
          <a:lstStyle/>
          <a:p>
            <a:r>
              <a:rPr lang="en-GB" sz="2800" b="1" spc="300" dirty="0">
                <a:solidFill>
                  <a:srgbClr val="FFB3D7"/>
                </a:solidFill>
                <a:latin typeface="Gotham Narrow Bold" panose="02000603000000000000" pitchFamily="2" charset="0"/>
                <a:ea typeface="Helvetica Neue Thin" panose="020B0403020202020204" pitchFamily="34" charset="0"/>
                <a:cs typeface="Helvetica Neue" panose="02000503000000020004" pitchFamily="2" charset="0"/>
              </a:rPr>
              <a:t>Section title</a:t>
            </a:r>
          </a:p>
        </p:txBody>
      </p:sp>
      <p:pic>
        <p:nvPicPr>
          <p:cNvPr id="6" name="Picture 5">
            <a:extLst>
              <a:ext uri="{FF2B5EF4-FFF2-40B4-BE49-F238E27FC236}">
                <a16:creationId xmlns:a16="http://schemas.microsoft.com/office/drawing/2014/main" id="{B8542901-4549-EE47-A81F-3185878D2991}"/>
              </a:ext>
            </a:extLst>
          </p:cNvPr>
          <p:cNvPicPr>
            <a:picLocks noChangeAspect="1"/>
          </p:cNvPicPr>
          <p:nvPr userDrawn="1"/>
        </p:nvPicPr>
        <p:blipFill>
          <a:blip r:embed="rId3"/>
          <a:stretch>
            <a:fillRect/>
          </a:stretch>
        </p:blipFill>
        <p:spPr>
          <a:xfrm>
            <a:off x="0" y="6061193"/>
            <a:ext cx="3102631" cy="387829"/>
          </a:xfrm>
          <a:prstGeom prst="rect">
            <a:avLst/>
          </a:prstGeom>
        </p:spPr>
      </p:pic>
      <p:sp>
        <p:nvSpPr>
          <p:cNvPr id="9" name="Rectangle 8">
            <a:extLst>
              <a:ext uri="{FF2B5EF4-FFF2-40B4-BE49-F238E27FC236}">
                <a16:creationId xmlns:a16="http://schemas.microsoft.com/office/drawing/2014/main" id="{7EE7051B-FC93-3B46-AE16-062931A4F104}"/>
              </a:ext>
            </a:extLst>
          </p:cNvPr>
          <p:cNvSpPr/>
          <p:nvPr userDrawn="1"/>
        </p:nvSpPr>
        <p:spPr>
          <a:xfrm>
            <a:off x="8255001" y="5626100"/>
            <a:ext cx="711200" cy="7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prstClr val="white"/>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2D1E5-6F90-4849-990A-B6D00B948AE0}"/>
              </a:ext>
            </a:extLst>
          </p:cNvPr>
          <p:cNvSpPr>
            <a:spLocks noGrp="1"/>
          </p:cNvSpPr>
          <p:nvPr>
            <p:ph type="ctrTitle"/>
          </p:nvPr>
        </p:nvSpPr>
        <p:spPr>
          <a:xfrm>
            <a:off x="1524000" y="1122363"/>
            <a:ext cx="9144000"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394D69D3-292B-4545-B136-258AFA6F0F3D}"/>
              </a:ext>
            </a:extLst>
          </p:cNvPr>
          <p:cNvSpPr>
            <a:spLocks noGrp="1"/>
          </p:cNvSpPr>
          <p:nvPr>
            <p:ph type="subTitle" idx="1"/>
          </p:nvPr>
        </p:nvSpPr>
        <p:spPr>
          <a:xfrm>
            <a:off x="1524000" y="3602038"/>
            <a:ext cx="9144000" cy="1655762"/>
          </a:xfrm>
        </p:spPr>
        <p:txBody>
          <a:bodyPr/>
          <a:lstStyle>
            <a:lvl1pPr marL="0" indent="0" algn="ctr">
              <a:buNone/>
              <a:defRPr sz="2400"/>
            </a:lvl1pPr>
            <a:lvl2pPr marL="457183" indent="0" algn="ctr">
              <a:buNone/>
              <a:defRPr sz="2000"/>
            </a:lvl2pPr>
            <a:lvl3pPr marL="914367" indent="0" algn="ctr">
              <a:buNone/>
              <a:defRPr sz="1801"/>
            </a:lvl3pPr>
            <a:lvl4pPr marL="1371553" indent="0" algn="ctr">
              <a:buNone/>
              <a:defRPr sz="1600"/>
            </a:lvl4pPr>
            <a:lvl5pPr marL="1828737" indent="0" algn="ctr">
              <a:buNone/>
              <a:defRPr sz="1600"/>
            </a:lvl5pPr>
            <a:lvl6pPr marL="2285923" indent="0" algn="ctr">
              <a:buNone/>
              <a:defRPr sz="1600"/>
            </a:lvl6pPr>
            <a:lvl7pPr marL="2743106" indent="0" algn="ctr">
              <a:buNone/>
              <a:defRPr sz="1600"/>
            </a:lvl7pPr>
            <a:lvl8pPr marL="3200293" indent="0" algn="ctr">
              <a:buNone/>
              <a:defRPr sz="1600"/>
            </a:lvl8pPr>
            <a:lvl9pPr marL="365747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6B182F-1A7C-9547-AFAB-071528037580}"/>
              </a:ext>
            </a:extLst>
          </p:cNvPr>
          <p:cNvSpPr>
            <a:spLocks noGrp="1"/>
          </p:cNvSpPr>
          <p:nvPr>
            <p:ph type="dt" sz="half" idx="10"/>
          </p:nvPr>
        </p:nvSpPr>
        <p:spPr/>
        <p:txBody>
          <a:bodyPr/>
          <a:lstStyle/>
          <a:p>
            <a:fld id="{2ED60071-9E5C-474E-8A4E-22FA10F0CA89}" type="datetimeFigureOut">
              <a:rPr lang="en-US" smtClean="0">
                <a:solidFill>
                  <a:prstClr val="black"/>
                </a:solidFill>
              </a:rPr>
              <a:pPr/>
              <a:t>10/15/20</a:t>
            </a:fld>
            <a:endParaRPr lang="en-US" dirty="0">
              <a:solidFill>
                <a:prstClr val="black"/>
              </a:solidFill>
            </a:endParaRPr>
          </a:p>
        </p:txBody>
      </p:sp>
      <p:sp>
        <p:nvSpPr>
          <p:cNvPr id="5" name="Footer Placeholder 4">
            <a:extLst>
              <a:ext uri="{FF2B5EF4-FFF2-40B4-BE49-F238E27FC236}">
                <a16:creationId xmlns:a16="http://schemas.microsoft.com/office/drawing/2014/main" id="{35044C3B-F260-E045-8DD8-AAD9486480E8}"/>
              </a:ext>
            </a:extLst>
          </p:cNvPr>
          <p:cNvSpPr>
            <a:spLocks noGrp="1"/>
          </p:cNvSpPr>
          <p:nvPr>
            <p:ph type="ftr" sz="quarter" idx="11"/>
          </p:nvPr>
        </p:nvSpPr>
        <p:spPr/>
        <p:txBody>
          <a:bodyPr/>
          <a:lstStyle/>
          <a:p>
            <a:endParaRPr lang="en-US" dirty="0">
              <a:solidFill>
                <a:prstClr val="black"/>
              </a:solidFill>
            </a:endParaRPr>
          </a:p>
        </p:txBody>
      </p:sp>
      <p:sp>
        <p:nvSpPr>
          <p:cNvPr id="6" name="Slide Number Placeholder 5">
            <a:extLst>
              <a:ext uri="{FF2B5EF4-FFF2-40B4-BE49-F238E27FC236}">
                <a16:creationId xmlns:a16="http://schemas.microsoft.com/office/drawing/2014/main" id="{380123DA-5B6C-D64C-B2F8-7ED11D1F0EF5}"/>
              </a:ext>
            </a:extLst>
          </p:cNvPr>
          <p:cNvSpPr>
            <a:spLocks noGrp="1"/>
          </p:cNvSpPr>
          <p:nvPr>
            <p:ph type="sldNum" sz="quarter" idx="12"/>
          </p:nvPr>
        </p:nvSpPr>
        <p:spPr/>
        <p:txBody>
          <a:bodyPr/>
          <a:lstStyle/>
          <a:p>
            <a:fld id="{E01E527A-750A-8141-BF68-B10C6266C017}" type="slidenum">
              <a:rPr lang="en-US" smtClean="0">
                <a:solidFill>
                  <a:prstClr val="black"/>
                </a:solidFill>
              </a:rPr>
              <a:pPr/>
              <a:t>‹#›</a:t>
            </a:fld>
            <a:endParaRPr lang="en-US" dirty="0">
              <a:solidFill>
                <a:prstClr val="black"/>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Green Breaker">
    <p:spTree>
      <p:nvGrpSpPr>
        <p:cNvPr id="1" name=""/>
        <p:cNvGrpSpPr/>
        <p:nvPr/>
      </p:nvGrpSpPr>
      <p:grpSpPr>
        <a:xfrm>
          <a:off x="0" y="0"/>
          <a:ext cx="0" cy="0"/>
          <a:chOff x="0" y="0"/>
          <a:chExt cx="0" cy="0"/>
        </a:xfrm>
      </p:grpSpPr>
      <p:sp>
        <p:nvSpPr>
          <p:cNvPr id="4" name="Title 1"/>
          <p:cNvSpPr>
            <a:spLocks noGrp="1"/>
          </p:cNvSpPr>
          <p:nvPr>
            <p:ph type="ctrTitle"/>
          </p:nvPr>
        </p:nvSpPr>
        <p:spPr>
          <a:xfrm>
            <a:off x="998123" y="5668644"/>
            <a:ext cx="10940231" cy="935709"/>
          </a:xfrm>
          <a:prstGeom prst="rect">
            <a:avLst/>
          </a:prstGeom>
        </p:spPr>
        <p:txBody>
          <a:bodyPr>
            <a:normAutofit/>
          </a:bodyPr>
          <a:lstStyle>
            <a:lvl1pPr algn="r">
              <a:defRPr sz="3733" b="1">
                <a:solidFill>
                  <a:schemeClr val="bg1"/>
                </a:solidFill>
              </a:defRPr>
            </a:lvl1pPr>
          </a:lstStyle>
          <a:p>
            <a:r>
              <a:rPr lang="en-US"/>
              <a:t>Click to edit Master title style</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38B000-69A5-8640-8331-E4EA05D5B219}"/>
              </a:ext>
            </a:extLst>
          </p:cNvPr>
          <p:cNvPicPr>
            <a:picLocks noChangeAspect="1"/>
          </p:cNvPicPr>
          <p:nvPr userDrawn="1"/>
        </p:nvPicPr>
        <p:blipFill rotWithShape="1">
          <a:blip r:embed="rId2">
            <a:alphaModFix amt="49000"/>
          </a:blip>
          <a:srcRect r="78683"/>
          <a:stretch/>
        </p:blipFill>
        <p:spPr>
          <a:xfrm>
            <a:off x="11328411" y="6053776"/>
            <a:ext cx="512980" cy="518114"/>
          </a:xfrm>
          <a:prstGeom prst="rect">
            <a:avLst/>
          </a:prstGeom>
        </p:spPr>
      </p:pic>
    </p:spTree>
    <p:extLst>
      <p:ext uri="{BB962C8B-B14F-4D97-AF65-F5344CB8AC3E}">
        <p14:creationId xmlns:p14="http://schemas.microsoft.com/office/powerpoint/2010/main" val="3959644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5A2133-04A3-C24A-8BCF-612D207A76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27832" y="6302361"/>
            <a:ext cx="1536597" cy="179880"/>
          </a:xfrm>
          <a:prstGeom prst="rect">
            <a:avLst/>
          </a:prstGeom>
        </p:spPr>
      </p:pic>
    </p:spTree>
    <p:extLst>
      <p:ext uri="{BB962C8B-B14F-4D97-AF65-F5344CB8AC3E}">
        <p14:creationId xmlns:p14="http://schemas.microsoft.com/office/powerpoint/2010/main" val="2106062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theme" Target="../theme/theme3.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8046913"/>
      </p:ext>
    </p:extLst>
  </p:cSld>
  <p:clrMap bg1="lt1" tx1="dk1" bg2="lt2" tx2="dk2" accent1="accent1" accent2="accent2" accent3="accent3" accent4="accent4" accent5="accent5" accent6="accent6" hlink="hlink" folHlink="folHlink"/>
  <p:sldLayoutIdLst>
    <p:sldLayoutId id="2147483673" r:id="rId1"/>
    <p:sldLayoutId id="2147483696" r:id="rId2"/>
    <p:sldLayoutId id="2147483699" r:id="rId3"/>
    <p:sldLayoutId id="2147483701" r:id="rId4"/>
  </p:sldLayoutIdLst>
  <p:txStyles>
    <p:titleStyle>
      <a:lvl1pPr algn="l" defTabSz="91444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2" indent="-228612" algn="l" defTabSz="914445"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35" indent="-228612" algn="l" defTabSz="91444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2" algn="l" defTabSz="91444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50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727"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9"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9" algn="l" defTabSz="914445" rtl="0" eaLnBrk="1" latinLnBrk="0" hangingPunct="1">
        <a:defRPr sz="1801" kern="1200">
          <a:solidFill>
            <a:schemeClr val="tx1"/>
          </a:solidFill>
          <a:latin typeface="+mn-lt"/>
          <a:ea typeface="+mn-ea"/>
          <a:cs typeface="+mn-cs"/>
        </a:defRPr>
      </a:lvl4pPr>
      <a:lvl5pPr marL="1828891" algn="l" defTabSz="914445" rtl="0" eaLnBrk="1" latinLnBrk="0" hangingPunct="1">
        <a:defRPr sz="1801" kern="1200">
          <a:solidFill>
            <a:schemeClr val="tx1"/>
          </a:solidFill>
          <a:latin typeface="+mn-lt"/>
          <a:ea typeface="+mn-ea"/>
          <a:cs typeface="+mn-cs"/>
        </a:defRPr>
      </a:lvl5pPr>
      <a:lvl6pPr marL="2286114" algn="l" defTabSz="914445" rtl="0" eaLnBrk="1" latinLnBrk="0" hangingPunct="1">
        <a:defRPr sz="1801" kern="1200">
          <a:solidFill>
            <a:schemeClr val="tx1"/>
          </a:solidFill>
          <a:latin typeface="+mn-lt"/>
          <a:ea typeface="+mn-ea"/>
          <a:cs typeface="+mn-cs"/>
        </a:defRPr>
      </a:lvl6pPr>
      <a:lvl7pPr marL="2743336" algn="l" defTabSz="914445" rtl="0" eaLnBrk="1" latinLnBrk="0" hangingPunct="1">
        <a:defRPr sz="1801" kern="1200">
          <a:solidFill>
            <a:schemeClr val="tx1"/>
          </a:solidFill>
          <a:latin typeface="+mn-lt"/>
          <a:ea typeface="+mn-ea"/>
          <a:cs typeface="+mn-cs"/>
        </a:defRPr>
      </a:lvl7pPr>
      <a:lvl8pPr marL="3200561" algn="l" defTabSz="914445" rtl="0" eaLnBrk="1" latinLnBrk="0" hangingPunct="1">
        <a:defRPr sz="1801" kern="1200">
          <a:solidFill>
            <a:schemeClr val="tx1"/>
          </a:solidFill>
          <a:latin typeface="+mn-lt"/>
          <a:ea typeface="+mn-ea"/>
          <a:cs typeface="+mn-cs"/>
        </a:defRPr>
      </a:lvl8pPr>
      <a:lvl9pPr marL="3657784" algn="l" defTabSz="914445"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676998"/>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6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3" indent="-228593" algn="l" defTabSz="914367" rtl="0" eaLnBrk="1" latinLnBrk="0" hangingPunct="1">
        <a:lnSpc>
          <a:spcPct val="90000"/>
        </a:lnSpc>
        <a:spcBef>
          <a:spcPts val="1001"/>
        </a:spcBef>
        <a:buFont typeface="Arial"/>
        <a:buChar char="•"/>
        <a:defRPr sz="2800" kern="1200">
          <a:solidFill>
            <a:schemeClr val="tx1"/>
          </a:solidFill>
          <a:latin typeface="+mn-lt"/>
          <a:ea typeface="+mn-ea"/>
          <a:cs typeface="+mn-cs"/>
        </a:defRPr>
      </a:lvl1pPr>
      <a:lvl2pPr marL="685777" indent="-228593" algn="l" defTabSz="91436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63" indent="-228593" algn="l" defTabSz="91436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47"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4pPr>
      <a:lvl5pPr marL="2057333"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5pPr>
      <a:lvl6pPr marL="2514517"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6pPr>
      <a:lvl7pPr marL="2971700"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7pPr>
      <a:lvl8pPr marL="3428883"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8pPr>
      <a:lvl9pPr marL="3886069" indent="-228593" algn="l" defTabSz="914367" rtl="0" eaLnBrk="1" latinLnBrk="0" hangingPunct="1">
        <a:lnSpc>
          <a:spcPct val="90000"/>
        </a:lnSpc>
        <a:spcBef>
          <a:spcPts val="500"/>
        </a:spcBef>
        <a:buFont typeface="Arial"/>
        <a:buChar char="•"/>
        <a:defRPr sz="1801" kern="1200">
          <a:solidFill>
            <a:schemeClr val="tx1"/>
          </a:solidFill>
          <a:latin typeface="+mn-lt"/>
          <a:ea typeface="+mn-ea"/>
          <a:cs typeface="+mn-cs"/>
        </a:defRPr>
      </a:lvl9pPr>
    </p:bodyStyle>
    <p:otherStyle>
      <a:defPPr>
        <a:defRPr lang="en-US"/>
      </a:defPPr>
      <a:lvl1pPr marL="0" algn="l" defTabSz="914367" rtl="0" eaLnBrk="1" latinLnBrk="0" hangingPunct="1">
        <a:defRPr sz="1801" kern="1200">
          <a:solidFill>
            <a:schemeClr val="tx1"/>
          </a:solidFill>
          <a:latin typeface="+mn-lt"/>
          <a:ea typeface="+mn-ea"/>
          <a:cs typeface="+mn-cs"/>
        </a:defRPr>
      </a:lvl1pPr>
      <a:lvl2pPr marL="457183" algn="l" defTabSz="914367" rtl="0" eaLnBrk="1" latinLnBrk="0" hangingPunct="1">
        <a:defRPr sz="1801" kern="1200">
          <a:solidFill>
            <a:schemeClr val="tx1"/>
          </a:solidFill>
          <a:latin typeface="+mn-lt"/>
          <a:ea typeface="+mn-ea"/>
          <a:cs typeface="+mn-cs"/>
        </a:defRPr>
      </a:lvl2pPr>
      <a:lvl3pPr marL="914367" algn="l" defTabSz="914367" rtl="0" eaLnBrk="1" latinLnBrk="0" hangingPunct="1">
        <a:defRPr sz="1801" kern="1200">
          <a:solidFill>
            <a:schemeClr val="tx1"/>
          </a:solidFill>
          <a:latin typeface="+mn-lt"/>
          <a:ea typeface="+mn-ea"/>
          <a:cs typeface="+mn-cs"/>
        </a:defRPr>
      </a:lvl3pPr>
      <a:lvl4pPr marL="1371553" algn="l" defTabSz="914367" rtl="0" eaLnBrk="1" latinLnBrk="0" hangingPunct="1">
        <a:defRPr sz="1801" kern="1200">
          <a:solidFill>
            <a:schemeClr val="tx1"/>
          </a:solidFill>
          <a:latin typeface="+mn-lt"/>
          <a:ea typeface="+mn-ea"/>
          <a:cs typeface="+mn-cs"/>
        </a:defRPr>
      </a:lvl4pPr>
      <a:lvl5pPr marL="1828737" algn="l" defTabSz="914367" rtl="0" eaLnBrk="1" latinLnBrk="0" hangingPunct="1">
        <a:defRPr sz="1801" kern="1200">
          <a:solidFill>
            <a:schemeClr val="tx1"/>
          </a:solidFill>
          <a:latin typeface="+mn-lt"/>
          <a:ea typeface="+mn-ea"/>
          <a:cs typeface="+mn-cs"/>
        </a:defRPr>
      </a:lvl5pPr>
      <a:lvl6pPr marL="2285923" algn="l" defTabSz="914367" rtl="0" eaLnBrk="1" latinLnBrk="0" hangingPunct="1">
        <a:defRPr sz="1801" kern="1200">
          <a:solidFill>
            <a:schemeClr val="tx1"/>
          </a:solidFill>
          <a:latin typeface="+mn-lt"/>
          <a:ea typeface="+mn-ea"/>
          <a:cs typeface="+mn-cs"/>
        </a:defRPr>
      </a:lvl6pPr>
      <a:lvl7pPr marL="2743106" algn="l" defTabSz="914367" rtl="0" eaLnBrk="1" latinLnBrk="0" hangingPunct="1">
        <a:defRPr sz="1801" kern="1200">
          <a:solidFill>
            <a:schemeClr val="tx1"/>
          </a:solidFill>
          <a:latin typeface="+mn-lt"/>
          <a:ea typeface="+mn-ea"/>
          <a:cs typeface="+mn-cs"/>
        </a:defRPr>
      </a:lvl7pPr>
      <a:lvl8pPr marL="3200293" algn="l" defTabSz="914367" rtl="0" eaLnBrk="1" latinLnBrk="0" hangingPunct="1">
        <a:defRPr sz="1801" kern="1200">
          <a:solidFill>
            <a:schemeClr val="tx1"/>
          </a:solidFill>
          <a:latin typeface="+mn-lt"/>
          <a:ea typeface="+mn-ea"/>
          <a:cs typeface="+mn-cs"/>
        </a:defRPr>
      </a:lvl8pPr>
      <a:lvl9pPr marL="3657477" algn="l" defTabSz="914367" rtl="0" eaLnBrk="1" latinLnBrk="0" hangingPunct="1">
        <a:defRPr sz="180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68992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8" r:id="rId19"/>
    <p:sldLayoutId id="2147483700" r:id="rId20"/>
  </p:sldLayoutIdLst>
  <p:txStyles>
    <p:titleStyle>
      <a:lvl1pPr algn="l" defTabSz="91436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3" indent="-228593" algn="l" defTabSz="914367"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777" indent="-228593" algn="l" defTabSz="91436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63" indent="-228593" algn="l" defTabSz="91436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47"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333"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517"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00"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83"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69" indent="-228593" algn="l" defTabSz="914367"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67" rtl="0" eaLnBrk="1" latinLnBrk="0" hangingPunct="1">
        <a:defRPr sz="1801" kern="1200">
          <a:solidFill>
            <a:schemeClr val="tx1"/>
          </a:solidFill>
          <a:latin typeface="+mn-lt"/>
          <a:ea typeface="+mn-ea"/>
          <a:cs typeface="+mn-cs"/>
        </a:defRPr>
      </a:lvl1pPr>
      <a:lvl2pPr marL="457183" algn="l" defTabSz="914367" rtl="0" eaLnBrk="1" latinLnBrk="0" hangingPunct="1">
        <a:defRPr sz="1801" kern="1200">
          <a:solidFill>
            <a:schemeClr val="tx1"/>
          </a:solidFill>
          <a:latin typeface="+mn-lt"/>
          <a:ea typeface="+mn-ea"/>
          <a:cs typeface="+mn-cs"/>
        </a:defRPr>
      </a:lvl2pPr>
      <a:lvl3pPr marL="914367" algn="l" defTabSz="914367" rtl="0" eaLnBrk="1" latinLnBrk="0" hangingPunct="1">
        <a:defRPr sz="1801" kern="1200">
          <a:solidFill>
            <a:schemeClr val="tx1"/>
          </a:solidFill>
          <a:latin typeface="+mn-lt"/>
          <a:ea typeface="+mn-ea"/>
          <a:cs typeface="+mn-cs"/>
        </a:defRPr>
      </a:lvl3pPr>
      <a:lvl4pPr marL="1371553" algn="l" defTabSz="914367" rtl="0" eaLnBrk="1" latinLnBrk="0" hangingPunct="1">
        <a:defRPr sz="1801" kern="1200">
          <a:solidFill>
            <a:schemeClr val="tx1"/>
          </a:solidFill>
          <a:latin typeface="+mn-lt"/>
          <a:ea typeface="+mn-ea"/>
          <a:cs typeface="+mn-cs"/>
        </a:defRPr>
      </a:lvl4pPr>
      <a:lvl5pPr marL="1828737" algn="l" defTabSz="914367" rtl="0" eaLnBrk="1" latinLnBrk="0" hangingPunct="1">
        <a:defRPr sz="1801" kern="1200">
          <a:solidFill>
            <a:schemeClr val="tx1"/>
          </a:solidFill>
          <a:latin typeface="+mn-lt"/>
          <a:ea typeface="+mn-ea"/>
          <a:cs typeface="+mn-cs"/>
        </a:defRPr>
      </a:lvl5pPr>
      <a:lvl6pPr marL="2285923" algn="l" defTabSz="914367" rtl="0" eaLnBrk="1" latinLnBrk="0" hangingPunct="1">
        <a:defRPr sz="1801" kern="1200">
          <a:solidFill>
            <a:schemeClr val="tx1"/>
          </a:solidFill>
          <a:latin typeface="+mn-lt"/>
          <a:ea typeface="+mn-ea"/>
          <a:cs typeface="+mn-cs"/>
        </a:defRPr>
      </a:lvl6pPr>
      <a:lvl7pPr marL="2743106" algn="l" defTabSz="914367" rtl="0" eaLnBrk="1" latinLnBrk="0" hangingPunct="1">
        <a:defRPr sz="1801" kern="1200">
          <a:solidFill>
            <a:schemeClr val="tx1"/>
          </a:solidFill>
          <a:latin typeface="+mn-lt"/>
          <a:ea typeface="+mn-ea"/>
          <a:cs typeface="+mn-cs"/>
        </a:defRPr>
      </a:lvl7pPr>
      <a:lvl8pPr marL="3200293" algn="l" defTabSz="914367" rtl="0" eaLnBrk="1" latinLnBrk="0" hangingPunct="1">
        <a:defRPr sz="1801" kern="1200">
          <a:solidFill>
            <a:schemeClr val="tx1"/>
          </a:solidFill>
          <a:latin typeface="+mn-lt"/>
          <a:ea typeface="+mn-ea"/>
          <a:cs typeface="+mn-cs"/>
        </a:defRPr>
      </a:lvl8pPr>
      <a:lvl9pPr marL="3657477" algn="l" defTabSz="914367"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2.tiff"/><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orca.adylic.com/login" TargetMode="External"/><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18.tiff"/></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hyperlink" Target="https://orca.adylic.com/table" TargetMode="Externa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hyperlink" Target="https://orca.adylic.com/table" TargetMode="Externa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hyperlink" Target="https://orca.adylic.com/table" TargetMode="Externa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2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22.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4.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3.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3.jp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orca.adylic.com/masscreate?ids=115665&amp;action=DUPLICATE" TargetMode="External"/><Relationship Id="rId2" Type="http://schemas.openxmlformats.org/officeDocument/2006/relationships/image" Target="../media/image37.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30885" r="72514" b="32632"/>
          <a:stretch/>
        </p:blipFill>
        <p:spPr>
          <a:xfrm>
            <a:off x="2115405" y="2388046"/>
            <a:ext cx="1583141" cy="1497163"/>
          </a:xfrm>
          <a:prstGeom prst="rect">
            <a:avLst/>
          </a:prstGeom>
        </p:spPr>
      </p:pic>
      <p:sp>
        <p:nvSpPr>
          <p:cNvPr id="6" name="Title 1">
            <a:extLst>
              <a:ext uri="{FF2B5EF4-FFF2-40B4-BE49-F238E27FC236}">
                <a16:creationId xmlns:a16="http://schemas.microsoft.com/office/drawing/2014/main" id="{C4693E0B-7CC2-B546-8BDC-685480FE5E19}"/>
              </a:ext>
            </a:extLst>
          </p:cNvPr>
          <p:cNvSpPr txBox="1">
            <a:spLocks/>
          </p:cNvSpPr>
          <p:nvPr/>
        </p:nvSpPr>
        <p:spPr>
          <a:xfrm>
            <a:off x="3698546" y="2531456"/>
            <a:ext cx="7165185" cy="605171"/>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Noto Sans" panose="020B0502040504020204" pitchFamily="34" charset="0"/>
                <a:ea typeface="Noto Sans" panose="020B0502040504020204" pitchFamily="34" charset="0"/>
                <a:cs typeface="Noto Sans" panose="020B0502040504020204" pitchFamily="34" charset="0"/>
              </a:rPr>
              <a:t>Mass Create</a:t>
            </a:r>
          </a:p>
          <a:p>
            <a:r>
              <a:rPr lang="en-US" sz="2800" dirty="0">
                <a:solidFill>
                  <a:srgbClr val="FF8DC1"/>
                </a:solidFill>
                <a:latin typeface="Noto Sans Light" panose="020B0402040504020204" pitchFamily="34" charset="0"/>
                <a:ea typeface="Noto Sans Light" panose="020B0402040504020204" pitchFamily="34" charset="0"/>
                <a:cs typeface="Noto Sans Light" panose="020B0402040504020204" pitchFamily="34" charset="0"/>
              </a:rPr>
              <a:t>Introductory Training</a:t>
            </a:r>
          </a:p>
          <a:p>
            <a:br>
              <a:rPr lang="en-US" sz="1600" i="1" dirty="0">
                <a:solidFill>
                  <a:srgbClr val="1B3F55"/>
                </a:solidFill>
                <a:latin typeface="Noto Sans" panose="020B0502040504020204" pitchFamily="34" charset="0"/>
                <a:ea typeface="Noto Sans" panose="020B0502040504020204" pitchFamily="34" charset="0"/>
                <a:cs typeface="Noto Sans" panose="020B0502040504020204" pitchFamily="34" charset="0"/>
              </a:rPr>
            </a:br>
            <a:endParaRPr lang="en-US" sz="1600" i="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7" name="Picture 6">
            <a:extLst>
              <a:ext uri="{FF2B5EF4-FFF2-40B4-BE49-F238E27FC236}">
                <a16:creationId xmlns:a16="http://schemas.microsoft.com/office/drawing/2014/main" id="{61CB603B-5646-0B49-94FC-56D70803696F}"/>
              </a:ext>
            </a:extLst>
          </p:cNvPr>
          <p:cNvPicPr>
            <a:picLocks noChangeAspect="1"/>
          </p:cNvPicPr>
          <p:nvPr/>
        </p:nvPicPr>
        <p:blipFill>
          <a:blip r:embed="rId4"/>
          <a:stretch>
            <a:fillRect/>
          </a:stretch>
        </p:blipFill>
        <p:spPr>
          <a:xfrm>
            <a:off x="10543310" y="6453188"/>
            <a:ext cx="1399310" cy="139932"/>
          </a:xfrm>
          <a:prstGeom prst="rect">
            <a:avLst/>
          </a:prstGeom>
        </p:spPr>
      </p:pic>
      <p:sp>
        <p:nvSpPr>
          <p:cNvPr id="5" name="Rectangle 4">
            <a:extLst>
              <a:ext uri="{FF2B5EF4-FFF2-40B4-BE49-F238E27FC236}">
                <a16:creationId xmlns:a16="http://schemas.microsoft.com/office/drawing/2014/main" id="{670BE28E-EA88-A446-8E59-90B57A39EA35}"/>
              </a:ext>
            </a:extLst>
          </p:cNvPr>
          <p:cNvSpPr/>
          <p:nvPr/>
        </p:nvSpPr>
        <p:spPr>
          <a:xfrm>
            <a:off x="405755" y="6433293"/>
            <a:ext cx="938077" cy="253916"/>
          </a:xfrm>
          <a:prstGeom prst="rect">
            <a:avLst/>
          </a:prstGeom>
        </p:spPr>
        <p:txBody>
          <a:bodyPr wrap="none">
            <a:spAutoFit/>
          </a:bodyPr>
          <a:lstStyle/>
          <a:p>
            <a:r>
              <a:rPr lang="en-US" sz="1050" dirty="0">
                <a:solidFill>
                  <a:srgbClr val="1B3F55"/>
                </a:solidFill>
                <a:latin typeface="Noto Sans" panose="020B0502040504020204" pitchFamily="34" charset="0"/>
                <a:ea typeface="Noto Sans" panose="020B0502040504020204" pitchFamily="34" charset="0"/>
                <a:cs typeface="Noto Sans" panose="020B0502040504020204" pitchFamily="34" charset="0"/>
              </a:rPr>
              <a:t>October 2020</a:t>
            </a:r>
            <a:endParaRPr lang="en-US" sz="1050" dirty="0"/>
          </a:p>
        </p:txBody>
      </p:sp>
    </p:spTree>
    <p:extLst>
      <p:ext uri="{BB962C8B-B14F-4D97-AF65-F5344CB8AC3E}">
        <p14:creationId xmlns:p14="http://schemas.microsoft.com/office/powerpoint/2010/main" val="606749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6F59EE-B34F-FC46-B2E5-394D076617BA}"/>
              </a:ext>
            </a:extLst>
          </p:cNvPr>
          <p:cNvSpPr/>
          <p:nvPr/>
        </p:nvSpPr>
        <p:spPr>
          <a:xfrm>
            <a:off x="-35681" y="-69802"/>
            <a:ext cx="12332313" cy="583453"/>
          </a:xfrm>
          <a:prstGeom prst="rect">
            <a:avLst/>
          </a:prstGeom>
          <a:solidFill>
            <a:srgbClr val="182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8DC1"/>
              </a:solidFill>
            </a:endParaRPr>
          </a:p>
        </p:txBody>
      </p:sp>
      <p:pic>
        <p:nvPicPr>
          <p:cNvPr id="3" name="Picture 2" descr="A picture containing drawing&#10;&#10;Description automatically generated">
            <a:extLst>
              <a:ext uri="{FF2B5EF4-FFF2-40B4-BE49-F238E27FC236}">
                <a16:creationId xmlns:a16="http://schemas.microsoft.com/office/drawing/2014/main" id="{87473084-1713-3E44-82CF-E59D2E78A4EF}"/>
              </a:ext>
            </a:extLst>
          </p:cNvPr>
          <p:cNvPicPr>
            <a:picLocks noChangeAspect="1"/>
          </p:cNvPicPr>
          <p:nvPr/>
        </p:nvPicPr>
        <p:blipFill>
          <a:blip r:embed="rId3"/>
          <a:stretch>
            <a:fillRect/>
          </a:stretch>
        </p:blipFill>
        <p:spPr>
          <a:xfrm>
            <a:off x="0" y="-20106"/>
            <a:ext cx="1383175" cy="468350"/>
          </a:xfrm>
          <a:prstGeom prst="rect">
            <a:avLst/>
          </a:prstGeom>
        </p:spPr>
      </p:pic>
      <p:sp>
        <p:nvSpPr>
          <p:cNvPr id="4" name="TextBox 3">
            <a:extLst>
              <a:ext uri="{FF2B5EF4-FFF2-40B4-BE49-F238E27FC236}">
                <a16:creationId xmlns:a16="http://schemas.microsoft.com/office/drawing/2014/main" id="{E102B9D1-A6BF-3942-97C3-F30050B087F7}"/>
              </a:ext>
            </a:extLst>
          </p:cNvPr>
          <p:cNvSpPr txBox="1"/>
          <p:nvPr/>
        </p:nvSpPr>
        <p:spPr>
          <a:xfrm>
            <a:off x="9872199" y="113521"/>
            <a:ext cx="2139696" cy="261610"/>
          </a:xfrm>
          <a:prstGeom prst="rect">
            <a:avLst/>
          </a:prstGeom>
          <a:noFill/>
        </p:spPr>
        <p:txBody>
          <a:bodyPr wrap="square" rtlCol="0">
            <a:spAutoFit/>
          </a:bodyPr>
          <a:lstStyle/>
          <a:p>
            <a:pPr algn="r"/>
            <a:r>
              <a:rPr lang="en-US" sz="1100" b="0" i="0" dirty="0">
                <a:solidFill>
                  <a:schemeClr val="bg1"/>
                </a:solidFill>
                <a:latin typeface="Noto Sans" panose="020B0502040504020204" pitchFamily="34" charset="0"/>
                <a:ea typeface="Noto Sans" panose="020B0502040504020204" pitchFamily="34" charset="0"/>
                <a:cs typeface="Noto Sans" panose="020B0502040504020204" pitchFamily="34" charset="0"/>
              </a:rPr>
              <a:t>Platform Training Doc</a:t>
            </a:r>
          </a:p>
        </p:txBody>
      </p:sp>
      <p:sp>
        <p:nvSpPr>
          <p:cNvPr id="5" name="Rectangle 4">
            <a:extLst>
              <a:ext uri="{FF2B5EF4-FFF2-40B4-BE49-F238E27FC236}">
                <a16:creationId xmlns:a16="http://schemas.microsoft.com/office/drawing/2014/main" id="{17583E5B-87D6-B24C-BEA1-5D824BFEF8A0}"/>
              </a:ext>
            </a:extLst>
          </p:cNvPr>
          <p:cNvSpPr/>
          <p:nvPr/>
        </p:nvSpPr>
        <p:spPr>
          <a:xfrm>
            <a:off x="0" y="523359"/>
            <a:ext cx="12192000" cy="609874"/>
          </a:xfrm>
          <a:prstGeom prst="rect">
            <a:avLst/>
          </a:prstGeom>
          <a:solidFill>
            <a:srgbClr val="1B3F5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solidFill>
                <a:srgbClr val="FF8DC1"/>
              </a:solidFill>
            </a:endParaRPr>
          </a:p>
        </p:txBody>
      </p:sp>
      <p:sp>
        <p:nvSpPr>
          <p:cNvPr id="6" name="Title 1">
            <a:extLst>
              <a:ext uri="{FF2B5EF4-FFF2-40B4-BE49-F238E27FC236}">
                <a16:creationId xmlns:a16="http://schemas.microsoft.com/office/drawing/2014/main" id="{5FEFE981-0CDB-EB45-8BF9-9D8D5C897200}"/>
              </a:ext>
            </a:extLst>
          </p:cNvPr>
          <p:cNvSpPr txBox="1">
            <a:spLocks/>
          </p:cNvSpPr>
          <p:nvPr/>
        </p:nvSpPr>
        <p:spPr>
          <a:xfrm>
            <a:off x="407987" y="563347"/>
            <a:ext cx="11520487" cy="605171"/>
          </a:xfrm>
          <a:prstGeom prst="rect">
            <a:avLst/>
          </a:prstGeom>
        </p:spPr>
        <p:txBody>
          <a:bodyPr anchor="ct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Noto Sans" panose="020B0502040504020204" pitchFamily="34" charset="0"/>
                <a:ea typeface="Noto Sans" panose="020B0502040504020204" pitchFamily="34" charset="0"/>
                <a:cs typeface="Noto Sans" panose="020B0502040504020204" pitchFamily="34" charset="0"/>
              </a:rPr>
              <a:t>Mass Create Introduction</a:t>
            </a:r>
          </a:p>
        </p:txBody>
      </p:sp>
      <p:pic>
        <p:nvPicPr>
          <p:cNvPr id="8" name="Picture 7">
            <a:extLst>
              <a:ext uri="{FF2B5EF4-FFF2-40B4-BE49-F238E27FC236}">
                <a16:creationId xmlns:a16="http://schemas.microsoft.com/office/drawing/2014/main" id="{CBA0B281-7226-F242-AC49-0C15FA13E35E}"/>
              </a:ext>
            </a:extLst>
          </p:cNvPr>
          <p:cNvPicPr>
            <a:picLocks noChangeAspect="1"/>
          </p:cNvPicPr>
          <p:nvPr/>
        </p:nvPicPr>
        <p:blipFill>
          <a:blip r:embed="rId4"/>
          <a:stretch>
            <a:fillRect/>
          </a:stretch>
        </p:blipFill>
        <p:spPr>
          <a:xfrm>
            <a:off x="10543310" y="6453188"/>
            <a:ext cx="1399310" cy="139932"/>
          </a:xfrm>
          <a:prstGeom prst="rect">
            <a:avLst/>
          </a:prstGeom>
        </p:spPr>
      </p:pic>
      <p:grpSp>
        <p:nvGrpSpPr>
          <p:cNvPr id="31" name="Group 30">
            <a:extLst>
              <a:ext uri="{FF2B5EF4-FFF2-40B4-BE49-F238E27FC236}">
                <a16:creationId xmlns:a16="http://schemas.microsoft.com/office/drawing/2014/main" id="{806B9CF3-141C-F04E-A1C2-D3DE7B51DD47}"/>
              </a:ext>
            </a:extLst>
          </p:cNvPr>
          <p:cNvGrpSpPr/>
          <p:nvPr/>
        </p:nvGrpSpPr>
        <p:grpSpPr>
          <a:xfrm>
            <a:off x="582526" y="1968528"/>
            <a:ext cx="5332068" cy="2567309"/>
            <a:chOff x="3429966" y="2265722"/>
            <a:chExt cx="5332068" cy="2567309"/>
          </a:xfrm>
        </p:grpSpPr>
        <p:sp>
          <p:nvSpPr>
            <p:cNvPr id="14" name="Title 1">
              <a:extLst>
                <a:ext uri="{FF2B5EF4-FFF2-40B4-BE49-F238E27FC236}">
                  <a16:creationId xmlns:a16="http://schemas.microsoft.com/office/drawing/2014/main" id="{CEDD0047-7F24-E349-9DCD-905A9ACFE28C}"/>
                </a:ext>
              </a:extLst>
            </p:cNvPr>
            <p:cNvSpPr txBox="1">
              <a:spLocks/>
            </p:cNvSpPr>
            <p:nvPr/>
          </p:nvSpPr>
          <p:spPr>
            <a:xfrm>
              <a:off x="3429966" y="2265722"/>
              <a:ext cx="5332068" cy="605171"/>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Noto Sans" panose="020B0502040504020204" pitchFamily="34" charset="0"/>
                  <a:ea typeface="Noto Sans" panose="020B0502040504020204" pitchFamily="34" charset="0"/>
                  <a:cs typeface="Noto Sans" panose="020B0502040504020204" pitchFamily="34" charset="0"/>
                </a:rPr>
                <a:t>Document Sections:</a:t>
              </a:r>
            </a:p>
          </p:txBody>
        </p:sp>
        <p:sp>
          <p:nvSpPr>
            <p:cNvPr id="15" name="Rectangle 14">
              <a:extLst>
                <a:ext uri="{FF2B5EF4-FFF2-40B4-BE49-F238E27FC236}">
                  <a16:creationId xmlns:a16="http://schemas.microsoft.com/office/drawing/2014/main" id="{94090856-0743-D84E-A839-48BC9C974E68}"/>
                </a:ext>
              </a:extLst>
            </p:cNvPr>
            <p:cNvSpPr/>
            <p:nvPr/>
          </p:nvSpPr>
          <p:spPr>
            <a:xfrm>
              <a:off x="3533446" y="2654455"/>
              <a:ext cx="4522719"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1</a:t>
              </a:r>
              <a:r>
                <a:rPr lang="en-US" sz="1400"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US" sz="1400" b="1" dirty="0">
                  <a:solidFill>
                    <a:schemeClr val="tx2"/>
                  </a:solidFill>
                  <a:latin typeface="Noto Sans" panose="020B0502040504020204" pitchFamily="34" charset="0"/>
                  <a:ea typeface="Noto Sans" panose="020B0502040504020204" pitchFamily="34" charset="0"/>
                  <a:cs typeface="Noto Sans" panose="020B0502040504020204" pitchFamily="34" charset="0"/>
                </a:rPr>
                <a:t>LOGGING IN</a:t>
              </a:r>
              <a:endParaRPr lang="en-US" sz="1400"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5ED6C3D1-1D71-A749-BC93-F378185C829B}"/>
                </a:ext>
              </a:extLst>
            </p:cNvPr>
            <p:cNvSpPr/>
            <p:nvPr/>
          </p:nvSpPr>
          <p:spPr>
            <a:xfrm>
              <a:off x="3533446" y="3385366"/>
              <a:ext cx="3358576"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4 </a:t>
              </a:r>
              <a:r>
                <a:rPr lang="en-US" sz="1400" b="1" dirty="0">
                  <a:solidFill>
                    <a:srgbClr val="B1B9C8"/>
                  </a:solidFill>
                  <a:latin typeface="Noto Sans" panose="020B0502040504020204" pitchFamily="34" charset="0"/>
                  <a:ea typeface="Noto Sans" panose="020B0502040504020204" pitchFamily="34" charset="0"/>
                  <a:cs typeface="Noto Sans" panose="020B0502040504020204" pitchFamily="34" charset="0"/>
                </a:rPr>
                <a:t>FEATURE MAP</a:t>
              </a:r>
              <a:endParaRPr lang="en-US" sz="1400"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7" name="Rectangle 16">
              <a:extLst>
                <a:ext uri="{FF2B5EF4-FFF2-40B4-BE49-F238E27FC236}">
                  <a16:creationId xmlns:a16="http://schemas.microsoft.com/office/drawing/2014/main" id="{6470C6E5-DA2A-B045-89C6-479A0B983751}"/>
                </a:ext>
              </a:extLst>
            </p:cNvPr>
            <p:cNvSpPr/>
            <p:nvPr/>
          </p:nvSpPr>
          <p:spPr>
            <a:xfrm>
              <a:off x="3533446" y="3629003"/>
              <a:ext cx="3358576"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5 - 13 </a:t>
              </a:r>
              <a:r>
                <a:rPr lang="en-US" sz="14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GRID WORKING</a:t>
              </a:r>
              <a:endParaRPr lang="en-US" sz="1400"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2FECC710-5F55-3B4C-AE21-AC0E1D0CDF2F}"/>
                </a:ext>
              </a:extLst>
            </p:cNvPr>
            <p:cNvSpPr/>
            <p:nvPr/>
          </p:nvSpPr>
          <p:spPr>
            <a:xfrm>
              <a:off x="3533446" y="3872640"/>
              <a:ext cx="4414913"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14</a:t>
              </a:r>
              <a:r>
                <a:rPr lang="en-US" sz="1400"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 FAQs </a:t>
              </a:r>
            </a:p>
          </p:txBody>
        </p:sp>
        <p:sp>
          <p:nvSpPr>
            <p:cNvPr id="19" name="Rectangle 18">
              <a:extLst>
                <a:ext uri="{FF2B5EF4-FFF2-40B4-BE49-F238E27FC236}">
                  <a16:creationId xmlns:a16="http://schemas.microsoft.com/office/drawing/2014/main" id="{0E62597A-C164-7645-B021-B02E6B245CBA}"/>
                </a:ext>
              </a:extLst>
            </p:cNvPr>
            <p:cNvSpPr/>
            <p:nvPr/>
          </p:nvSpPr>
          <p:spPr>
            <a:xfrm>
              <a:off x="3533446" y="3141729"/>
              <a:ext cx="3358576"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3 </a:t>
              </a:r>
              <a:r>
                <a:rPr lang="en-US" sz="1400" b="1" dirty="0">
                  <a:solidFill>
                    <a:srgbClr val="9FCDC7"/>
                  </a:solidFill>
                  <a:latin typeface="Noto Sans" panose="020B0502040504020204" pitchFamily="34" charset="0"/>
                  <a:ea typeface="Noto Sans" panose="020B0502040504020204" pitchFamily="34" charset="0"/>
                  <a:cs typeface="Noto Sans" panose="020B0502040504020204" pitchFamily="34" charset="0"/>
                </a:rPr>
                <a:t>MASS EDIT</a:t>
              </a:r>
              <a:endParaRPr lang="en-US" sz="1400"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A53AFF71-7F0C-694A-9C03-F761226F7C98}"/>
                </a:ext>
              </a:extLst>
            </p:cNvPr>
            <p:cNvSpPr/>
            <p:nvPr/>
          </p:nvSpPr>
          <p:spPr>
            <a:xfrm>
              <a:off x="3533446" y="4116277"/>
              <a:ext cx="4414913"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15 </a:t>
              </a:r>
              <a:r>
                <a:rPr lang="en-US" sz="1400" b="1" dirty="0">
                  <a:solidFill>
                    <a:schemeClr val="tx2"/>
                  </a:solidFill>
                  <a:latin typeface="Noto Sans" panose="020B0502040504020204" pitchFamily="34" charset="0"/>
                  <a:ea typeface="Noto Sans" panose="020B0502040504020204" pitchFamily="34" charset="0"/>
                  <a:cs typeface="Noto Sans" panose="020B0502040504020204" pitchFamily="34" charset="0"/>
                </a:rPr>
                <a:t>USER RESOURCES</a:t>
              </a:r>
            </a:p>
          </p:txBody>
        </p:sp>
        <p:sp>
          <p:nvSpPr>
            <p:cNvPr id="21" name="Rectangle 20">
              <a:extLst>
                <a:ext uri="{FF2B5EF4-FFF2-40B4-BE49-F238E27FC236}">
                  <a16:creationId xmlns:a16="http://schemas.microsoft.com/office/drawing/2014/main" id="{4DD32A3F-AF4A-E04A-AAC2-76EDC9EB0105}"/>
                </a:ext>
              </a:extLst>
            </p:cNvPr>
            <p:cNvSpPr/>
            <p:nvPr/>
          </p:nvSpPr>
          <p:spPr>
            <a:xfrm>
              <a:off x="3533446" y="4359911"/>
              <a:ext cx="4414913"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16 </a:t>
              </a:r>
              <a:r>
                <a:rPr lang="en-US" sz="14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SUPPORT</a:t>
              </a:r>
            </a:p>
          </p:txBody>
        </p:sp>
        <p:sp>
          <p:nvSpPr>
            <p:cNvPr id="22" name="Rectangle 21">
              <a:extLst>
                <a:ext uri="{FF2B5EF4-FFF2-40B4-BE49-F238E27FC236}">
                  <a16:creationId xmlns:a16="http://schemas.microsoft.com/office/drawing/2014/main" id="{1057C24F-29B3-2541-AD51-1321D3653E57}"/>
                </a:ext>
              </a:extLst>
            </p:cNvPr>
            <p:cNvSpPr/>
            <p:nvPr/>
          </p:nvSpPr>
          <p:spPr>
            <a:xfrm>
              <a:off x="3533446" y="2898092"/>
              <a:ext cx="3358576" cy="473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2 </a:t>
              </a:r>
              <a:r>
                <a:rPr lang="en-US" sz="14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 MASS DUPLICATE</a:t>
              </a:r>
              <a:endParaRPr lang="en-US" sz="1400"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grpSp>
      <p:pic>
        <p:nvPicPr>
          <p:cNvPr id="10" name="Picture 9">
            <a:extLst>
              <a:ext uri="{FF2B5EF4-FFF2-40B4-BE49-F238E27FC236}">
                <a16:creationId xmlns:a16="http://schemas.microsoft.com/office/drawing/2014/main" id="{57DB25A3-065A-5347-ABD7-63F18D07A7A3}"/>
              </a:ext>
            </a:extLst>
          </p:cNvPr>
          <p:cNvPicPr>
            <a:picLocks noChangeAspect="1"/>
          </p:cNvPicPr>
          <p:nvPr/>
        </p:nvPicPr>
        <p:blipFill rotWithShape="1">
          <a:blip r:embed="rId5">
            <a:extLst>
              <a:ext uri="{28A0092B-C50C-407E-A947-70E740481C1C}">
                <a14:useLocalDpi xmlns:a14="http://schemas.microsoft.com/office/drawing/2010/main" val="0"/>
              </a:ext>
            </a:extLst>
          </a:blip>
          <a:srcRect l="8222" r="9408" b="6195"/>
          <a:stretch/>
        </p:blipFill>
        <p:spPr>
          <a:xfrm>
            <a:off x="5062946" y="1787847"/>
            <a:ext cx="7083186" cy="5040491"/>
          </a:xfrm>
          <a:prstGeom prst="rect">
            <a:avLst/>
          </a:prstGeom>
        </p:spPr>
      </p:pic>
      <p:grpSp>
        <p:nvGrpSpPr>
          <p:cNvPr id="32" name="Group 31">
            <a:extLst>
              <a:ext uri="{FF2B5EF4-FFF2-40B4-BE49-F238E27FC236}">
                <a16:creationId xmlns:a16="http://schemas.microsoft.com/office/drawing/2014/main" id="{C1B4BFA0-90B1-D047-92C1-3CF58DDBAB6E}"/>
              </a:ext>
            </a:extLst>
          </p:cNvPr>
          <p:cNvGrpSpPr/>
          <p:nvPr/>
        </p:nvGrpSpPr>
        <p:grpSpPr>
          <a:xfrm>
            <a:off x="515938" y="5038147"/>
            <a:ext cx="4425832" cy="1044417"/>
            <a:chOff x="601126" y="5296010"/>
            <a:chExt cx="5246880" cy="1261503"/>
          </a:xfrm>
        </p:grpSpPr>
        <p:pic>
          <p:nvPicPr>
            <p:cNvPr id="25" name="Picture 24">
              <a:extLst>
                <a:ext uri="{FF2B5EF4-FFF2-40B4-BE49-F238E27FC236}">
                  <a16:creationId xmlns:a16="http://schemas.microsoft.com/office/drawing/2014/main" id="{BCDFEC0E-F810-3A40-B0E3-902993F8BD7D}"/>
                </a:ext>
              </a:extLst>
            </p:cNvPr>
            <p:cNvPicPr>
              <a:picLocks noChangeAspect="1"/>
            </p:cNvPicPr>
            <p:nvPr/>
          </p:nvPicPr>
          <p:blipFill>
            <a:blip r:embed="rId6">
              <a:alphaModFix amt="69000"/>
              <a:extLst>
                <a:ext uri="{28A0092B-C50C-407E-A947-70E740481C1C}">
                  <a14:useLocalDpi xmlns:a14="http://schemas.microsoft.com/office/drawing/2010/main" val="0"/>
                </a:ext>
              </a:extLst>
            </a:blip>
            <a:stretch>
              <a:fillRect/>
            </a:stretch>
          </p:blipFill>
          <p:spPr>
            <a:xfrm>
              <a:off x="601127" y="5335503"/>
              <a:ext cx="498092" cy="498093"/>
            </a:xfrm>
            <a:prstGeom prst="rect">
              <a:avLst/>
            </a:prstGeom>
          </p:spPr>
        </p:pic>
        <p:sp>
          <p:nvSpPr>
            <p:cNvPr id="26" name="Rectangle 25">
              <a:extLst>
                <a:ext uri="{FF2B5EF4-FFF2-40B4-BE49-F238E27FC236}">
                  <a16:creationId xmlns:a16="http://schemas.microsoft.com/office/drawing/2014/main" id="{E150CFC0-E45A-144F-A72E-7977D8844859}"/>
                </a:ext>
              </a:extLst>
            </p:cNvPr>
            <p:cNvSpPr/>
            <p:nvPr/>
          </p:nvSpPr>
          <p:spPr>
            <a:xfrm>
              <a:off x="1099221" y="5296010"/>
              <a:ext cx="4748785" cy="697029"/>
            </a:xfrm>
            <a:prstGeom prst="rect">
              <a:avLst/>
            </a:prstGeom>
          </p:spPr>
          <p:txBody>
            <a:bodyPr wrap="square">
              <a:spAutoFit/>
            </a:bodyPr>
            <a:lstStyle/>
            <a:p>
              <a:pPr fontAlgn="base"/>
              <a:r>
                <a:rPr lang="en-GB" sz="1050" b="1" dirty="0">
                  <a:latin typeface="Noto Sans" panose="020B0502040504020204" pitchFamily="34" charset="0"/>
                  <a:ea typeface="Noto Sans" panose="020B0502040504020204" pitchFamily="34" charset="0"/>
                  <a:cs typeface="Noto Sans" panose="020B0502040504020204" pitchFamily="34" charset="0"/>
                </a:rPr>
                <a:t>TRAINING:</a:t>
              </a:r>
              <a:r>
                <a:rPr lang="en-GB" sz="105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 </a:t>
              </a:r>
              <a:r>
                <a:rPr lang="en-GB" sz="1050" dirty="0">
                  <a:latin typeface="Noto Sans Light" panose="020B0402040504020204" pitchFamily="34" charset="0"/>
                  <a:ea typeface="Noto Sans Light" panose="020B0402040504020204" pitchFamily="34" charset="0"/>
                  <a:cs typeface="Noto Sans Light" panose="020B0402040504020204" pitchFamily="34" charset="0"/>
                </a:rPr>
                <a:t>Where you see this icon, it indicates that there are additional training resources available for this process. Please refer to section 15 to see a full list of resources available.</a:t>
              </a:r>
            </a:p>
          </p:txBody>
        </p:sp>
        <p:pic>
          <p:nvPicPr>
            <p:cNvPr id="28" name="Picture 27">
              <a:extLst>
                <a:ext uri="{FF2B5EF4-FFF2-40B4-BE49-F238E27FC236}">
                  <a16:creationId xmlns:a16="http://schemas.microsoft.com/office/drawing/2014/main" id="{6E2CC309-1383-734D-A40F-DCE13AF6E4A3}"/>
                </a:ext>
              </a:extLst>
            </p:cNvPr>
            <p:cNvPicPr>
              <a:picLocks noChangeAspect="1"/>
            </p:cNvPicPr>
            <p:nvPr/>
          </p:nvPicPr>
          <p:blipFill>
            <a:blip r:embed="rId7">
              <a:alphaModFix amt="80000"/>
              <a:extLst>
                <a:ext uri="{28A0092B-C50C-407E-A947-70E740481C1C}">
                  <a14:useLocalDpi xmlns:a14="http://schemas.microsoft.com/office/drawing/2010/main" val="0"/>
                </a:ext>
              </a:extLst>
            </a:blip>
            <a:stretch>
              <a:fillRect/>
            </a:stretch>
          </p:blipFill>
          <p:spPr>
            <a:xfrm>
              <a:off x="601126" y="5927040"/>
              <a:ext cx="524164" cy="583282"/>
            </a:xfrm>
            <a:prstGeom prst="rect">
              <a:avLst/>
            </a:prstGeom>
          </p:spPr>
        </p:pic>
        <p:sp>
          <p:nvSpPr>
            <p:cNvPr id="29" name="Rectangle 28">
              <a:extLst>
                <a:ext uri="{FF2B5EF4-FFF2-40B4-BE49-F238E27FC236}">
                  <a16:creationId xmlns:a16="http://schemas.microsoft.com/office/drawing/2014/main" id="{5D102EA9-5D98-C34F-B571-02191A336700}"/>
                </a:ext>
              </a:extLst>
            </p:cNvPr>
            <p:cNvSpPr/>
            <p:nvPr/>
          </p:nvSpPr>
          <p:spPr>
            <a:xfrm>
              <a:off x="1099219" y="6055654"/>
              <a:ext cx="4748784" cy="501859"/>
            </a:xfrm>
            <a:prstGeom prst="rect">
              <a:avLst/>
            </a:prstGeom>
          </p:spPr>
          <p:txBody>
            <a:bodyPr wrap="square">
              <a:spAutoFit/>
            </a:bodyPr>
            <a:lstStyle/>
            <a:p>
              <a:pPr fontAlgn="base"/>
              <a:r>
                <a:rPr lang="en-GB" sz="1050" b="1" dirty="0">
                  <a:latin typeface="Noto Sans" panose="020B0502040504020204" pitchFamily="34" charset="0"/>
                  <a:ea typeface="Noto Sans" panose="020B0502040504020204" pitchFamily="34" charset="0"/>
                  <a:cs typeface="Noto Sans" panose="020B0502040504020204" pitchFamily="34" charset="0"/>
                </a:rPr>
                <a:t>TOP-TIPS:</a:t>
              </a:r>
              <a:r>
                <a:rPr lang="en-GB" sz="105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 </a:t>
              </a:r>
              <a:r>
                <a:rPr lang="en-GB" sz="1050" dirty="0">
                  <a:latin typeface="Noto Sans Light" panose="020B0402040504020204" pitchFamily="34" charset="0"/>
                  <a:ea typeface="Noto Sans Light" panose="020B0402040504020204" pitchFamily="34" charset="0"/>
                  <a:cs typeface="Noto Sans Light" panose="020B0402040504020204" pitchFamily="34" charset="0"/>
                </a:rPr>
                <a:t>Throughout the document we’ve included some useful tips, which are highlighted using this icon!</a:t>
              </a:r>
            </a:p>
          </p:txBody>
        </p:sp>
      </p:grpSp>
      <p:sp>
        <p:nvSpPr>
          <p:cNvPr id="11" name="Rectangle 10">
            <a:extLst>
              <a:ext uri="{FF2B5EF4-FFF2-40B4-BE49-F238E27FC236}">
                <a16:creationId xmlns:a16="http://schemas.microsoft.com/office/drawing/2014/main" id="{FE23AA7E-CC61-264F-876F-94C24EEEB609}"/>
              </a:ext>
            </a:extLst>
          </p:cNvPr>
          <p:cNvSpPr/>
          <p:nvPr/>
        </p:nvSpPr>
        <p:spPr>
          <a:xfrm>
            <a:off x="515939" y="1243351"/>
            <a:ext cx="11316832" cy="646331"/>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Orca, variant creation and editing has only been available one variant at a time; until now! You can now both create and edit up to 250 variants in a single session. The following document will walk you through the new features that have been released to enable this new, faster way of working and help get you up and running!</a:t>
            </a:r>
          </a:p>
        </p:txBody>
      </p:sp>
      <p:sp>
        <p:nvSpPr>
          <p:cNvPr id="34" name="Title 1">
            <a:extLst>
              <a:ext uri="{FF2B5EF4-FFF2-40B4-BE49-F238E27FC236}">
                <a16:creationId xmlns:a16="http://schemas.microsoft.com/office/drawing/2014/main" id="{1F90F69A-FA11-8D4F-8FD9-B34403DC3720}"/>
              </a:ext>
            </a:extLst>
          </p:cNvPr>
          <p:cNvSpPr txBox="1">
            <a:spLocks/>
          </p:cNvSpPr>
          <p:nvPr/>
        </p:nvSpPr>
        <p:spPr>
          <a:xfrm>
            <a:off x="565584" y="4570812"/>
            <a:ext cx="5332068" cy="605171"/>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Noto Sans" panose="020B0502040504020204" pitchFamily="34" charset="0"/>
                <a:ea typeface="Noto Sans" panose="020B0502040504020204" pitchFamily="34" charset="0"/>
                <a:cs typeface="Noto Sans" panose="020B0502040504020204" pitchFamily="34" charset="0"/>
              </a:rPr>
              <a:t>Useful Info:</a:t>
            </a:r>
          </a:p>
        </p:txBody>
      </p:sp>
      <p:grpSp>
        <p:nvGrpSpPr>
          <p:cNvPr id="7" name="Group 6">
            <a:extLst>
              <a:ext uri="{FF2B5EF4-FFF2-40B4-BE49-F238E27FC236}">
                <a16:creationId xmlns:a16="http://schemas.microsoft.com/office/drawing/2014/main" id="{8222CCC5-EA74-BE4F-8B93-5DB33D93D994}"/>
              </a:ext>
            </a:extLst>
          </p:cNvPr>
          <p:cNvGrpSpPr/>
          <p:nvPr/>
        </p:nvGrpSpPr>
        <p:grpSpPr>
          <a:xfrm>
            <a:off x="5329901" y="2522778"/>
            <a:ext cx="6635087" cy="3037808"/>
            <a:chOff x="5329901" y="2522778"/>
            <a:chExt cx="6635087" cy="3037808"/>
          </a:xfrm>
        </p:grpSpPr>
        <p:pic>
          <p:nvPicPr>
            <p:cNvPr id="27" name="Picture 26" descr="A screenshot of a cell phone&#10;&#10;Description automatically generated">
              <a:extLst>
                <a:ext uri="{FF2B5EF4-FFF2-40B4-BE49-F238E27FC236}">
                  <a16:creationId xmlns:a16="http://schemas.microsoft.com/office/drawing/2014/main" id="{F5031264-74D2-D54F-A465-588AEA182F49}"/>
                </a:ext>
              </a:extLst>
            </p:cNvPr>
            <p:cNvPicPr>
              <a:picLocks noChangeAspect="1"/>
            </p:cNvPicPr>
            <p:nvPr/>
          </p:nvPicPr>
          <p:blipFill>
            <a:blip r:embed="rId8"/>
            <a:stretch>
              <a:fillRect/>
            </a:stretch>
          </p:blipFill>
          <p:spPr>
            <a:xfrm>
              <a:off x="5329901" y="2522778"/>
              <a:ext cx="6635087" cy="3037808"/>
            </a:xfrm>
            <a:prstGeom prst="rect">
              <a:avLst/>
            </a:prstGeom>
          </p:spPr>
        </p:pic>
        <p:pic>
          <p:nvPicPr>
            <p:cNvPr id="33" name="Picture 32" descr="Graphical user interface, application&#10;&#10;Description automatically generated">
              <a:extLst>
                <a:ext uri="{FF2B5EF4-FFF2-40B4-BE49-F238E27FC236}">
                  <a16:creationId xmlns:a16="http://schemas.microsoft.com/office/drawing/2014/main" id="{B1BE621F-3E71-134C-87FC-6F56F68B7692}"/>
                </a:ext>
              </a:extLst>
            </p:cNvPr>
            <p:cNvPicPr>
              <a:picLocks noChangeAspect="1"/>
            </p:cNvPicPr>
            <p:nvPr/>
          </p:nvPicPr>
          <p:blipFill rotWithShape="1">
            <a:blip r:embed="rId9"/>
            <a:srcRect t="18462" r="70833" b="74030"/>
            <a:stretch/>
          </p:blipFill>
          <p:spPr>
            <a:xfrm>
              <a:off x="5329901" y="2808444"/>
              <a:ext cx="2220077" cy="357187"/>
            </a:xfrm>
            <a:prstGeom prst="rect">
              <a:avLst/>
            </a:prstGeom>
          </p:spPr>
        </p:pic>
      </p:grpSp>
    </p:spTree>
    <p:extLst>
      <p:ext uri="{BB962C8B-B14F-4D97-AF65-F5344CB8AC3E}">
        <p14:creationId xmlns:p14="http://schemas.microsoft.com/office/powerpoint/2010/main" val="2744793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EA80A2-5348-2E4B-92AB-AEEAC163B4C2}"/>
              </a:ext>
            </a:extLst>
          </p:cNvPr>
          <p:cNvSpPr>
            <a:spLocks noGrp="1"/>
          </p:cNvSpPr>
          <p:nvPr>
            <p:ph type="title"/>
          </p:nvPr>
        </p:nvSpPr>
        <p:spPr>
          <a:xfrm>
            <a:off x="386691" y="536611"/>
            <a:ext cx="11541784" cy="619582"/>
          </a:xfrm>
        </p:spPr>
        <p:txBody>
          <a:bodyPr/>
          <a:lstStyle/>
          <a:p>
            <a:r>
              <a:rPr lang="en-US" dirty="0"/>
              <a:t>Getting Started</a:t>
            </a:r>
            <a:endParaRPr lang="en-US" sz="2000" dirty="0"/>
          </a:p>
        </p:txBody>
      </p:sp>
      <p:sp>
        <p:nvSpPr>
          <p:cNvPr id="4" name="Rectangle 3">
            <a:extLst>
              <a:ext uri="{FF2B5EF4-FFF2-40B4-BE49-F238E27FC236}">
                <a16:creationId xmlns:a16="http://schemas.microsoft.com/office/drawing/2014/main" id="{95D7F341-D2B4-534A-A96F-BB959DF40ACD}"/>
              </a:ext>
            </a:extLst>
          </p:cNvPr>
          <p:cNvSpPr/>
          <p:nvPr/>
        </p:nvSpPr>
        <p:spPr>
          <a:xfrm>
            <a:off x="571038" y="1275947"/>
            <a:ext cx="3548282" cy="2769989"/>
          </a:xfrm>
          <a:prstGeom prst="rect">
            <a:avLst/>
          </a:prstGeom>
        </p:spPr>
        <p:txBody>
          <a:bodyPr wrap="square">
            <a:spAutoFit/>
          </a:bodyPr>
          <a:lstStyle/>
          <a:p>
            <a:pPr fontAlgn="base"/>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Logging In</a:t>
            </a:r>
            <a:endParaRPr lang="en-GB" sz="1200" dirty="0">
              <a:solidFill>
                <a:schemeClr val="accent1"/>
              </a:solidFill>
              <a:latin typeface="Noto Sans Light" panose="020B0402040504020204" pitchFamily="34" charset="0"/>
              <a:ea typeface="Noto Sans Light" panose="020B0402040504020204" pitchFamily="34" charset="0"/>
              <a:cs typeface="Noto Sans Light" panose="020B0402040504020204" pitchFamily="34" charset="0"/>
            </a:endParaRPr>
          </a:p>
          <a:p>
            <a:pPr marL="228600" indent="-228600" fontAlgn="base">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28600" indent="-228600" fontAlgn="base">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First things first, the Orca platform can be found here: </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hlinkClick r:id="rId2">
                  <a:extLst>
                    <a:ext uri="{A12FA001-AC4F-418D-AE19-62706E023703}">
                      <ahyp:hlinkClr xmlns:ahyp="http://schemas.microsoft.com/office/drawing/2018/hyperlinkcolor" val="tx"/>
                    </a:ext>
                  </a:extLst>
                </a:hlinkClick>
              </a:rPr>
              <a:t>https://orca.adylic.com/login</a:t>
            </a: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28600" indent="-228600" fontAlgn="base">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28600" indent="-228600" fontAlgn="base">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should already have logins for Orca. However, if you don’t and you think you need one*, you’ll need to speak to your </a:t>
            </a:r>
            <a:r>
              <a:rPr lang="en-GB" sz="1200"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Adylic</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Account Manager to get you set up. </a:t>
            </a:r>
          </a:p>
          <a:p>
            <a:pPr marL="228600" indent="-228600" fontAlgn="base">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28600" indent="-228600" fontAlgn="base">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you login and something doesn’t look right, make sure your AdBlock is OFF. Also, if you haven’t cleared your cache in a while, try emptying that and trying again. </a:t>
            </a:r>
          </a:p>
        </p:txBody>
      </p:sp>
      <p:grpSp>
        <p:nvGrpSpPr>
          <p:cNvPr id="5" name="Group 4">
            <a:extLst>
              <a:ext uri="{FF2B5EF4-FFF2-40B4-BE49-F238E27FC236}">
                <a16:creationId xmlns:a16="http://schemas.microsoft.com/office/drawing/2014/main" id="{7DCEEBEB-BE26-D24D-9694-0D75E24DEBE0}"/>
              </a:ext>
            </a:extLst>
          </p:cNvPr>
          <p:cNvGrpSpPr/>
          <p:nvPr/>
        </p:nvGrpSpPr>
        <p:grpSpPr>
          <a:xfrm>
            <a:off x="6096000" y="1275947"/>
            <a:ext cx="5332068" cy="4910114"/>
            <a:chOff x="3278479" y="462467"/>
            <a:chExt cx="7472420" cy="6547932"/>
          </a:xfrm>
        </p:grpSpPr>
        <p:pic>
          <p:nvPicPr>
            <p:cNvPr id="6" name="Picture 5">
              <a:extLst>
                <a:ext uri="{FF2B5EF4-FFF2-40B4-BE49-F238E27FC236}">
                  <a16:creationId xmlns:a16="http://schemas.microsoft.com/office/drawing/2014/main" id="{F0CDC017-CDA3-594C-9CA5-64CD2E313220}"/>
                </a:ext>
              </a:extLst>
            </p:cNvPr>
            <p:cNvPicPr>
              <a:picLocks noChangeAspect="1"/>
            </p:cNvPicPr>
            <p:nvPr/>
          </p:nvPicPr>
          <p:blipFill rotWithShape="1">
            <a:blip r:embed="rId3"/>
            <a:srcRect b="94768"/>
            <a:stretch/>
          </p:blipFill>
          <p:spPr>
            <a:xfrm>
              <a:off x="3278479" y="462467"/>
              <a:ext cx="7472419" cy="358815"/>
            </a:xfrm>
            <a:prstGeom prst="rect">
              <a:avLst/>
            </a:prstGeom>
          </p:spPr>
        </p:pic>
        <p:pic>
          <p:nvPicPr>
            <p:cNvPr id="7" name="Picture 6">
              <a:extLst>
                <a:ext uri="{FF2B5EF4-FFF2-40B4-BE49-F238E27FC236}">
                  <a16:creationId xmlns:a16="http://schemas.microsoft.com/office/drawing/2014/main" id="{8C3A64CE-3B41-B444-92A5-7AB68BF89A36}"/>
                </a:ext>
              </a:extLst>
            </p:cNvPr>
            <p:cNvPicPr>
              <a:picLocks noChangeAspect="1"/>
            </p:cNvPicPr>
            <p:nvPr/>
          </p:nvPicPr>
          <p:blipFill rotWithShape="1">
            <a:blip r:embed="rId3"/>
            <a:srcRect t="9599"/>
            <a:stretch/>
          </p:blipFill>
          <p:spPr>
            <a:xfrm>
              <a:off x="3278480" y="810718"/>
              <a:ext cx="7472419" cy="6199681"/>
            </a:xfrm>
            <a:prstGeom prst="rect">
              <a:avLst/>
            </a:prstGeom>
          </p:spPr>
        </p:pic>
      </p:grpSp>
      <p:sp>
        <p:nvSpPr>
          <p:cNvPr id="8" name="Rectangle 7">
            <a:extLst>
              <a:ext uri="{FF2B5EF4-FFF2-40B4-BE49-F238E27FC236}">
                <a16:creationId xmlns:a16="http://schemas.microsoft.com/office/drawing/2014/main" id="{6D1843A1-717C-A34B-85DE-53FCE33541E6}"/>
              </a:ext>
            </a:extLst>
          </p:cNvPr>
          <p:cNvSpPr/>
          <p:nvPr/>
        </p:nvSpPr>
        <p:spPr>
          <a:xfrm>
            <a:off x="6889807" y="1139116"/>
            <a:ext cx="1238491" cy="49102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97C744BB-9A40-4C49-A9B8-C73412F943CB}"/>
              </a:ext>
            </a:extLst>
          </p:cNvPr>
          <p:cNvSpPr/>
          <p:nvPr/>
        </p:nvSpPr>
        <p:spPr>
          <a:xfrm>
            <a:off x="375359" y="1567201"/>
            <a:ext cx="731329" cy="461665"/>
          </a:xfrm>
          <a:prstGeom prst="rect">
            <a:avLst/>
          </a:prstGeom>
        </p:spPr>
        <p:txBody>
          <a:bodyPr wrap="square">
            <a:spAutoFit/>
          </a:bodyPr>
          <a:lstStyle/>
          <a:p>
            <a:endParaRPr lang="en-US" sz="2400"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0" name="Rectangle 9">
            <a:extLst>
              <a:ext uri="{FF2B5EF4-FFF2-40B4-BE49-F238E27FC236}">
                <a16:creationId xmlns:a16="http://schemas.microsoft.com/office/drawing/2014/main" id="{724619C4-727C-4348-B482-07CA0F8B92AB}"/>
              </a:ext>
            </a:extLst>
          </p:cNvPr>
          <p:cNvSpPr/>
          <p:nvPr/>
        </p:nvSpPr>
        <p:spPr>
          <a:xfrm>
            <a:off x="8128298" y="1489606"/>
            <a:ext cx="731329" cy="461665"/>
          </a:xfrm>
          <a:prstGeom prst="rect">
            <a:avLst/>
          </a:prstGeom>
        </p:spPr>
        <p:txBody>
          <a:bodyPr wrap="square">
            <a:spAutoFit/>
          </a:bodyPr>
          <a:lstStyle/>
          <a:p>
            <a:r>
              <a:rPr lang="en-US" sz="2400" b="1" dirty="0">
                <a:solidFill>
                  <a:schemeClr val="tx2"/>
                </a:solidFill>
                <a:latin typeface="Noto Sans" panose="020B0502040504020204" pitchFamily="34" charset="0"/>
                <a:ea typeface="Noto Sans" panose="020B0502040504020204" pitchFamily="34" charset="0"/>
                <a:cs typeface="Noto Sans" panose="020B0502040504020204" pitchFamily="34" charset="0"/>
              </a:rPr>
              <a:t>1</a:t>
            </a:r>
            <a:endParaRPr lang="en-US" sz="2400" dirty="0">
              <a:solidFill>
                <a:schemeClr val="tx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0BDD38D3-38A4-F949-8AF4-D679BF3AB399}"/>
              </a:ext>
            </a:extLst>
          </p:cNvPr>
          <p:cNvSpPr/>
          <p:nvPr/>
        </p:nvSpPr>
        <p:spPr>
          <a:xfrm>
            <a:off x="7713538" y="3374509"/>
            <a:ext cx="2116239" cy="85993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A866EE81-8DC2-0E48-B142-CBF494AF3960}"/>
              </a:ext>
            </a:extLst>
          </p:cNvPr>
          <p:cNvSpPr/>
          <p:nvPr/>
        </p:nvSpPr>
        <p:spPr>
          <a:xfrm>
            <a:off x="7396969" y="3199082"/>
            <a:ext cx="731329" cy="461665"/>
          </a:xfrm>
          <a:prstGeom prst="rect">
            <a:avLst/>
          </a:prstGeom>
        </p:spPr>
        <p:txBody>
          <a:bodyPr wrap="square">
            <a:spAutoFit/>
          </a:bodyPr>
          <a:lstStyle/>
          <a:p>
            <a:r>
              <a:rPr lang="en-US" sz="2400" b="1" dirty="0">
                <a:solidFill>
                  <a:schemeClr val="tx2"/>
                </a:solidFill>
                <a:latin typeface="Noto Sans" panose="020B0502040504020204" pitchFamily="34" charset="0"/>
                <a:ea typeface="Noto Sans" panose="020B0502040504020204" pitchFamily="34" charset="0"/>
                <a:cs typeface="Noto Sans" panose="020B0502040504020204" pitchFamily="34" charset="0"/>
              </a:rPr>
              <a:t>2</a:t>
            </a:r>
            <a:endParaRPr lang="en-US" sz="2400" dirty="0">
              <a:solidFill>
                <a:schemeClr val="tx2"/>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16" name="Picture 15">
            <a:extLst>
              <a:ext uri="{FF2B5EF4-FFF2-40B4-BE49-F238E27FC236}">
                <a16:creationId xmlns:a16="http://schemas.microsoft.com/office/drawing/2014/main" id="{6D38400C-02F5-D14A-8FFE-5A693E153512}"/>
              </a:ext>
            </a:extLst>
          </p:cNvPr>
          <p:cNvPicPr>
            <a:picLocks noChangeAspect="1"/>
          </p:cNvPicPr>
          <p:nvPr/>
        </p:nvPicPr>
        <p:blipFill>
          <a:blip r:embed="rId4"/>
          <a:stretch>
            <a:fillRect/>
          </a:stretch>
        </p:blipFill>
        <p:spPr>
          <a:xfrm>
            <a:off x="4119320" y="3242762"/>
            <a:ext cx="263494" cy="263494"/>
          </a:xfrm>
          <a:prstGeom prst="rect">
            <a:avLst/>
          </a:prstGeom>
        </p:spPr>
      </p:pic>
      <p:grpSp>
        <p:nvGrpSpPr>
          <p:cNvPr id="24" name="Group 23">
            <a:extLst>
              <a:ext uri="{FF2B5EF4-FFF2-40B4-BE49-F238E27FC236}">
                <a16:creationId xmlns:a16="http://schemas.microsoft.com/office/drawing/2014/main" id="{6B422A44-3B52-9141-99FF-CE856A2ED21B}"/>
              </a:ext>
            </a:extLst>
          </p:cNvPr>
          <p:cNvGrpSpPr/>
          <p:nvPr/>
        </p:nvGrpSpPr>
        <p:grpSpPr>
          <a:xfrm>
            <a:off x="515938" y="5450996"/>
            <a:ext cx="5024891" cy="1110142"/>
            <a:chOff x="527140" y="5446300"/>
            <a:chExt cx="5024891" cy="1110142"/>
          </a:xfrm>
        </p:grpSpPr>
        <p:sp>
          <p:nvSpPr>
            <p:cNvPr id="26" name="Rectangle 25">
              <a:extLst>
                <a:ext uri="{FF2B5EF4-FFF2-40B4-BE49-F238E27FC236}">
                  <a16:creationId xmlns:a16="http://schemas.microsoft.com/office/drawing/2014/main" id="{3284B10A-2529-7944-9B4A-61E2C249A5E9}"/>
                </a:ext>
              </a:extLst>
            </p:cNvPr>
            <p:cNvSpPr/>
            <p:nvPr/>
          </p:nvSpPr>
          <p:spPr>
            <a:xfrm>
              <a:off x="1203095" y="5670362"/>
              <a:ext cx="4348936" cy="646331"/>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Mass Create functionality is for ‘Creator’ roles only. If you currently aren’t set up with ‘Creator’ permissions, you should also speak with your </a:t>
              </a:r>
              <a:r>
                <a:rPr lang="en-GB" sz="1200" i="1" dirty="0" err="1">
                  <a:latin typeface="Noto Sans Light" panose="020B0402040504020204" pitchFamily="34" charset="0"/>
                  <a:ea typeface="Noto Sans Light" panose="020B0402040504020204" pitchFamily="34" charset="0"/>
                  <a:cs typeface="Noto Sans Light" panose="020B0402040504020204" pitchFamily="34" charset="0"/>
                </a:rPr>
                <a:t>Adylic</a:t>
              </a:r>
              <a:r>
                <a:rPr lang="en-GB" sz="1200" i="1" dirty="0">
                  <a:latin typeface="Noto Sans Light" panose="020B0402040504020204" pitchFamily="34" charset="0"/>
                  <a:ea typeface="Noto Sans Light" panose="020B0402040504020204" pitchFamily="34" charset="0"/>
                  <a:cs typeface="Noto Sans Light" panose="020B0402040504020204" pitchFamily="34" charset="0"/>
                </a:rPr>
                <a:t> Account Manager.</a:t>
              </a:r>
            </a:p>
          </p:txBody>
        </p:sp>
        <p:pic>
          <p:nvPicPr>
            <p:cNvPr id="27" name="Picture 26">
              <a:extLst>
                <a:ext uri="{FF2B5EF4-FFF2-40B4-BE49-F238E27FC236}">
                  <a16:creationId xmlns:a16="http://schemas.microsoft.com/office/drawing/2014/main" id="{5677D8FD-7A84-2344-804C-A3EFFAF5E44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28" name="Rectangle 27">
              <a:extLst>
                <a:ext uri="{FF2B5EF4-FFF2-40B4-BE49-F238E27FC236}">
                  <a16:creationId xmlns:a16="http://schemas.microsoft.com/office/drawing/2014/main" id="{2BEFB48A-A83C-CD46-A6CA-411DB93C7EE4}"/>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spTree>
    <p:extLst>
      <p:ext uri="{BB962C8B-B14F-4D97-AF65-F5344CB8AC3E}">
        <p14:creationId xmlns:p14="http://schemas.microsoft.com/office/powerpoint/2010/main" val="3136545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sz="2000" dirty="0"/>
              <a:t>Workflows</a:t>
            </a:r>
          </a:p>
        </p:txBody>
      </p:sp>
      <p:sp>
        <p:nvSpPr>
          <p:cNvPr id="9" name="Rectangle 8">
            <a:extLst>
              <a:ext uri="{FF2B5EF4-FFF2-40B4-BE49-F238E27FC236}">
                <a16:creationId xmlns:a16="http://schemas.microsoft.com/office/drawing/2014/main" id="{EBDE54E8-9E99-0F43-8043-B8A47054412A}"/>
              </a:ext>
            </a:extLst>
          </p:cNvPr>
          <p:cNvSpPr/>
          <p:nvPr/>
        </p:nvSpPr>
        <p:spPr>
          <a:xfrm>
            <a:off x="223195" y="1692815"/>
            <a:ext cx="4737763" cy="2954655"/>
          </a:xfrm>
          <a:prstGeom prst="rect">
            <a:avLst/>
          </a:prstGeom>
        </p:spPr>
        <p:txBody>
          <a:bodyPr wrap="square">
            <a:spAutoFit/>
          </a:bodyPr>
          <a:lstStyle/>
          <a:p>
            <a:pPr fontAlgn="base">
              <a:buClr>
                <a:schemeClr val="accent3"/>
              </a:buClr>
              <a:buSzPct val="120000"/>
            </a:pPr>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Mass Create</a:t>
            </a:r>
          </a:p>
          <a:p>
            <a:pPr fontAlgn="base">
              <a:buClr>
                <a:schemeClr val="accent3"/>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3"/>
              </a:buClr>
              <a:buSzPct val="120000"/>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Within Orca, you will now have access to a new workflow, which allows you to create and edit sets of variants in the click of a button: </a:t>
            </a:r>
          </a:p>
          <a:p>
            <a:pPr marL="342900" indent="-342900" fontAlgn="base">
              <a:buClr>
                <a:schemeClr val="accent3"/>
              </a:buClr>
              <a:buSzPct val="120000"/>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Go to the Orca table page </a:t>
            </a:r>
            <a:r>
              <a:rPr lang="en-GB" sz="12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hlinkClick r:id="rId2"/>
              </a:rPr>
              <a:t>https://orca.adylic.com/table</a:t>
            </a:r>
            <a:br>
              <a:rPr lang="en-GB" sz="12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chemeClr val="accent5">
                  <a:lumMod val="75000"/>
                </a:schemeClr>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the table page, you can select multiple variants using the ‘check-box’ on each variant listing</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Within the multi-select options footer bar, you will see the ‘Mass Edit’ and ‘Mass Duplicate’ action buttons.</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Selecting either of these options, will take you into the Mass Create Grid View</a:t>
            </a:r>
          </a:p>
        </p:txBody>
      </p:sp>
      <p:grpSp>
        <p:nvGrpSpPr>
          <p:cNvPr id="24" name="Group 23">
            <a:extLst>
              <a:ext uri="{FF2B5EF4-FFF2-40B4-BE49-F238E27FC236}">
                <a16:creationId xmlns:a16="http://schemas.microsoft.com/office/drawing/2014/main" id="{12D061B9-AE6A-FA47-8B2B-C281879705A3}"/>
              </a:ext>
            </a:extLst>
          </p:cNvPr>
          <p:cNvGrpSpPr/>
          <p:nvPr/>
        </p:nvGrpSpPr>
        <p:grpSpPr>
          <a:xfrm>
            <a:off x="10231614" y="782076"/>
            <a:ext cx="1713039" cy="500716"/>
            <a:chOff x="548247" y="6096934"/>
            <a:chExt cx="1713039" cy="500716"/>
          </a:xfrm>
        </p:grpSpPr>
        <p:sp>
          <p:nvSpPr>
            <p:cNvPr id="25" name="Rectangle 24">
              <a:extLst>
                <a:ext uri="{FF2B5EF4-FFF2-40B4-BE49-F238E27FC236}">
                  <a16:creationId xmlns:a16="http://schemas.microsoft.com/office/drawing/2014/main" id="{DE7D5532-6E35-9641-B727-9150D7304FA8}"/>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183FC483-136B-1E49-B5CD-87A780405258}"/>
                </a:ext>
              </a:extLst>
            </p:cNvPr>
            <p:cNvPicPr>
              <a:picLocks noChangeAspect="1"/>
            </p:cNvPicPr>
            <p:nvPr/>
          </p:nvPicPr>
          <p:blipFill>
            <a:blip r:embed="rId3">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7" name="Rectangle 26">
              <a:extLst>
                <a:ext uri="{FF2B5EF4-FFF2-40B4-BE49-F238E27FC236}">
                  <a16:creationId xmlns:a16="http://schemas.microsoft.com/office/drawing/2014/main" id="{45D75152-8E3D-FA47-A561-4D22797693B5}"/>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grpSp>
        <p:nvGrpSpPr>
          <p:cNvPr id="28" name="Group 27">
            <a:extLst>
              <a:ext uri="{FF2B5EF4-FFF2-40B4-BE49-F238E27FC236}">
                <a16:creationId xmlns:a16="http://schemas.microsoft.com/office/drawing/2014/main" id="{54A41F5A-1D56-FA42-8573-FAF1C23201E0}"/>
              </a:ext>
            </a:extLst>
          </p:cNvPr>
          <p:cNvGrpSpPr/>
          <p:nvPr/>
        </p:nvGrpSpPr>
        <p:grpSpPr>
          <a:xfrm>
            <a:off x="563653" y="5446300"/>
            <a:ext cx="3790633" cy="1110142"/>
            <a:chOff x="527140" y="5446300"/>
            <a:chExt cx="3790633" cy="1110142"/>
          </a:xfrm>
        </p:grpSpPr>
        <p:sp>
          <p:nvSpPr>
            <p:cNvPr id="30" name="Rectangle 29">
              <a:extLst>
                <a:ext uri="{FF2B5EF4-FFF2-40B4-BE49-F238E27FC236}">
                  <a16:creationId xmlns:a16="http://schemas.microsoft.com/office/drawing/2014/main" id="{E8636747-C795-254D-A760-3D97ED60979C}"/>
                </a:ext>
              </a:extLst>
            </p:cNvPr>
            <p:cNvSpPr/>
            <p:nvPr/>
          </p:nvSpPr>
          <p:spPr>
            <a:xfrm>
              <a:off x="1203095" y="5499570"/>
              <a:ext cx="3114678" cy="830997"/>
            </a:xfrm>
            <a:prstGeom prst="rect">
              <a:avLst/>
            </a:prstGeom>
          </p:spPr>
          <p:txBody>
            <a:bodyPr wrap="square">
              <a:spAutoFit/>
            </a:bodyPr>
            <a:lstStyle/>
            <a:p>
              <a:pPr fontAlgn="base"/>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Due to the nature of grid working, Mass Duplicate workflow is only available when selecting variants with the same Template &amp; Frame structure.</a:t>
              </a:r>
              <a:endParaRPr lang="en-GB" sz="1200" i="1" dirty="0">
                <a:latin typeface="Noto Sans Light" panose="020B0402040504020204" pitchFamily="34" charset="0"/>
                <a:ea typeface="Noto Sans Light" panose="020B0402040504020204" pitchFamily="34" charset="0"/>
                <a:cs typeface="Noto Sans Light" panose="020B0402040504020204" pitchFamily="34" charset="0"/>
              </a:endParaRPr>
            </a:p>
          </p:txBody>
        </p:sp>
        <p:pic>
          <p:nvPicPr>
            <p:cNvPr id="31" name="Picture 30">
              <a:extLst>
                <a:ext uri="{FF2B5EF4-FFF2-40B4-BE49-F238E27FC236}">
                  <a16:creationId xmlns:a16="http://schemas.microsoft.com/office/drawing/2014/main" id="{7B0924B2-FCEE-E243-BCFB-ECC87B4945B6}"/>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32" name="Rectangle 31">
              <a:extLst>
                <a:ext uri="{FF2B5EF4-FFF2-40B4-BE49-F238E27FC236}">
                  <a16:creationId xmlns:a16="http://schemas.microsoft.com/office/drawing/2014/main" id="{ECBA1799-06FC-9945-BF93-3629B3BE4083}"/>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pic>
        <p:nvPicPr>
          <p:cNvPr id="6" name="Picture 5" descr="A screenshot of a cell phone&#10;&#10;Description automatically generated">
            <a:extLst>
              <a:ext uri="{FF2B5EF4-FFF2-40B4-BE49-F238E27FC236}">
                <a16:creationId xmlns:a16="http://schemas.microsoft.com/office/drawing/2014/main" id="{A5F05F91-2E09-C44C-9CC9-81F71B66E123}"/>
              </a:ext>
            </a:extLst>
          </p:cNvPr>
          <p:cNvPicPr>
            <a:picLocks noChangeAspect="1"/>
          </p:cNvPicPr>
          <p:nvPr/>
        </p:nvPicPr>
        <p:blipFill>
          <a:blip r:embed="rId5"/>
          <a:stretch>
            <a:fillRect/>
          </a:stretch>
        </p:blipFill>
        <p:spPr>
          <a:xfrm>
            <a:off x="5177856" y="1692815"/>
            <a:ext cx="6783202" cy="4637752"/>
          </a:xfrm>
          <a:prstGeom prst="rect">
            <a:avLst/>
          </a:prstGeom>
        </p:spPr>
      </p:pic>
      <p:sp>
        <p:nvSpPr>
          <p:cNvPr id="19" name="Rectangle 18">
            <a:extLst>
              <a:ext uri="{FF2B5EF4-FFF2-40B4-BE49-F238E27FC236}">
                <a16:creationId xmlns:a16="http://schemas.microsoft.com/office/drawing/2014/main" id="{5C23276A-5858-EC41-9504-8C1794E878B2}"/>
              </a:ext>
            </a:extLst>
          </p:cNvPr>
          <p:cNvSpPr/>
          <p:nvPr/>
        </p:nvSpPr>
        <p:spPr>
          <a:xfrm>
            <a:off x="5230641" y="2265713"/>
            <a:ext cx="191964" cy="1163288"/>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EC71B1B2-E13E-E343-B9E5-BED906D42651}"/>
              </a:ext>
            </a:extLst>
          </p:cNvPr>
          <p:cNvSpPr/>
          <p:nvPr/>
        </p:nvSpPr>
        <p:spPr>
          <a:xfrm>
            <a:off x="4960958" y="2231042"/>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1" name="Rectangle 20">
            <a:extLst>
              <a:ext uri="{FF2B5EF4-FFF2-40B4-BE49-F238E27FC236}">
                <a16:creationId xmlns:a16="http://schemas.microsoft.com/office/drawing/2014/main" id="{587C7FFA-CBB7-6845-BFB2-9CE86F23FC17}"/>
              </a:ext>
            </a:extLst>
          </p:cNvPr>
          <p:cNvSpPr/>
          <p:nvPr/>
        </p:nvSpPr>
        <p:spPr>
          <a:xfrm>
            <a:off x="6729045" y="5957219"/>
            <a:ext cx="1195753" cy="315363"/>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89D3AF12-ED57-9C40-B4F9-CB37A82BA409}"/>
              </a:ext>
            </a:extLst>
          </p:cNvPr>
          <p:cNvSpPr/>
          <p:nvPr/>
        </p:nvSpPr>
        <p:spPr>
          <a:xfrm>
            <a:off x="6916643" y="5599611"/>
            <a:ext cx="731329" cy="369332"/>
          </a:xfrm>
          <a:prstGeom prst="rect">
            <a:avLst/>
          </a:prstGeom>
          <a:ln>
            <a:noFill/>
          </a:ln>
        </p:spPr>
        <p:txBody>
          <a:bodyPr wrap="square">
            <a:spAutoFit/>
          </a:bodyPr>
          <a:lstStyle/>
          <a:p>
            <a:pPr algn="ctr"/>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64018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sz="2000" dirty="0"/>
              <a:t>Workflows</a:t>
            </a:r>
          </a:p>
        </p:txBody>
      </p:sp>
      <p:sp>
        <p:nvSpPr>
          <p:cNvPr id="5" name="Title 1">
            <a:extLst>
              <a:ext uri="{FF2B5EF4-FFF2-40B4-BE49-F238E27FC236}">
                <a16:creationId xmlns:a16="http://schemas.microsoft.com/office/drawing/2014/main" id="{ECC3F8BE-6377-E14B-B051-1264F9D2F7BE}"/>
              </a:ext>
            </a:extLst>
          </p:cNvPr>
          <p:cNvSpPr txBox="1">
            <a:spLocks/>
          </p:cNvSpPr>
          <p:nvPr/>
        </p:nvSpPr>
        <p:spPr>
          <a:xfrm>
            <a:off x="407988" y="1156193"/>
            <a:ext cx="5332068" cy="605171"/>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800" b="1"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6" name="Rectangle 5">
            <a:extLst>
              <a:ext uri="{FF2B5EF4-FFF2-40B4-BE49-F238E27FC236}">
                <a16:creationId xmlns:a16="http://schemas.microsoft.com/office/drawing/2014/main" id="{644803C8-93E1-7D4A-ABD2-F2839ADCF217}"/>
              </a:ext>
            </a:extLst>
          </p:cNvPr>
          <p:cNvSpPr/>
          <p:nvPr/>
        </p:nvSpPr>
        <p:spPr>
          <a:xfrm>
            <a:off x="7955696" y="1795184"/>
            <a:ext cx="3889022" cy="4093428"/>
          </a:xfrm>
          <a:prstGeom prst="rect">
            <a:avLst/>
          </a:prstGeom>
        </p:spPr>
        <p:txBody>
          <a:bodyPr wrap="square">
            <a:spAutoFit/>
          </a:bodyPr>
          <a:lstStyle/>
          <a:p>
            <a:pPr fontAlgn="base">
              <a:buClr>
                <a:schemeClr val="accent2"/>
              </a:buClr>
              <a:buSzPct val="120000"/>
            </a:pPr>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Mass Edit</a:t>
            </a:r>
          </a:p>
          <a:p>
            <a:pPr fontAlgn="base">
              <a:buClr>
                <a:schemeClr val="accent2"/>
              </a:buClr>
              <a:buSzPct val="120000"/>
            </a:pP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Mass Create can be used to edit multiple variants in bulk at the same time.</a:t>
            </a:r>
          </a:p>
          <a:p>
            <a:pPr fontAlgn="base">
              <a:buClr>
                <a:schemeClr val="accent2"/>
              </a:buClr>
              <a:buSzPct val="120000"/>
            </a:pPr>
            <a:endParaRPr lang="en-GB" sz="1200" b="1" dirty="0">
              <a:solidFill>
                <a:srgbClr val="1B3F55"/>
              </a:solidFill>
              <a:latin typeface="Noto Sans Light" panose="020B0402040504020204" pitchFamily="34" charset="0"/>
              <a:ea typeface="Noto Sans" panose="020B0502040504020204" pitchFamily="34" charset="0"/>
              <a:cs typeface="Noto Sans" panose="020B0502040504020204" pitchFamily="34" charset="0"/>
            </a:endParaRPr>
          </a:p>
          <a:p>
            <a:pPr fontAlgn="base">
              <a:buClr>
                <a:schemeClr val="accent2"/>
              </a:buClr>
              <a:buSzPct val="120000"/>
            </a:pPr>
            <a:r>
              <a:rPr lang="en-GB" sz="1200"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NOTE:</a:t>
            </a:r>
            <a:r>
              <a:rPr lang="en-GB" sz="12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Due to the nature of grid working, Mass Edit workflow is currently only available when selecting variants with the same Template &amp; Frame configuration.</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t>
            </a:r>
          </a:p>
          <a:p>
            <a:pPr fontAlgn="base">
              <a:buClr>
                <a:schemeClr val="accent2"/>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2"/>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2"/>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2"/>
              </a:buClr>
              <a:buSzPct val="120000"/>
            </a:pPr>
            <a:r>
              <a:rPr lang="en-GB" sz="1200" b="1" dirty="0">
                <a:solidFill>
                  <a:srgbClr val="8BDBCE"/>
                </a:solidFill>
                <a:latin typeface="Noto Sans Light" panose="020B0402040504020204" pitchFamily="34" charset="0"/>
                <a:ea typeface="Noto Sans Light" panose="020B0402040504020204" pitchFamily="34" charset="0"/>
                <a:cs typeface="Noto Sans Light" panose="020B0402040504020204" pitchFamily="34" charset="0"/>
              </a:rPr>
              <a:t>Workflow:</a:t>
            </a:r>
          </a:p>
          <a:p>
            <a:pPr marL="342900" indent="-342900" fontAlgn="base">
              <a:buClr>
                <a:schemeClr val="accent2"/>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Go to the Orca table page </a:t>
            </a:r>
            <a:r>
              <a:rPr lang="en-GB" sz="11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hlinkClick r:id="rId2"/>
              </a:rPr>
              <a:t>https://orca.adylic.com/table</a:t>
            </a:r>
            <a:br>
              <a:rPr lang="en-GB" sz="11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dirty="0">
              <a:solidFill>
                <a:schemeClr val="accent5">
                  <a:lumMod val="75000"/>
                </a:schemeClr>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2"/>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the table page, you can select multiple variants using the ‘check-box’ on each variant listing</a:t>
            </a:r>
            <a:br>
              <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2"/>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Within the multi-select options footer bar, you will see the ‘Mass Edit’ action button</a:t>
            </a:r>
            <a:b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2"/>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Selecting this option, will take the set of the variants you have selecting into the Mass Create Grid View to edit…</a:t>
            </a:r>
          </a:p>
        </p:txBody>
      </p:sp>
      <p:grpSp>
        <p:nvGrpSpPr>
          <p:cNvPr id="23" name="Group 22">
            <a:extLst>
              <a:ext uri="{FF2B5EF4-FFF2-40B4-BE49-F238E27FC236}">
                <a16:creationId xmlns:a16="http://schemas.microsoft.com/office/drawing/2014/main" id="{12121610-BFC0-AF41-81C1-46ED63BF22E2}"/>
              </a:ext>
            </a:extLst>
          </p:cNvPr>
          <p:cNvGrpSpPr/>
          <p:nvPr/>
        </p:nvGrpSpPr>
        <p:grpSpPr>
          <a:xfrm>
            <a:off x="10231614" y="782076"/>
            <a:ext cx="1713039" cy="500716"/>
            <a:chOff x="548247" y="6096934"/>
            <a:chExt cx="1713039" cy="500716"/>
          </a:xfrm>
        </p:grpSpPr>
        <p:sp>
          <p:nvSpPr>
            <p:cNvPr id="24" name="Rectangle 23">
              <a:extLst>
                <a:ext uri="{FF2B5EF4-FFF2-40B4-BE49-F238E27FC236}">
                  <a16:creationId xmlns:a16="http://schemas.microsoft.com/office/drawing/2014/main" id="{946DC4B3-A209-034B-BE30-3D63289F9F2A}"/>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0553F664-A59E-CF4A-AD76-89B65753A427}"/>
                </a:ext>
              </a:extLst>
            </p:cNvPr>
            <p:cNvPicPr>
              <a:picLocks noChangeAspect="1"/>
            </p:cNvPicPr>
            <p:nvPr/>
          </p:nvPicPr>
          <p:blipFill>
            <a:blip r:embed="rId3">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6" name="Rectangle 25">
              <a:extLst>
                <a:ext uri="{FF2B5EF4-FFF2-40B4-BE49-F238E27FC236}">
                  <a16:creationId xmlns:a16="http://schemas.microsoft.com/office/drawing/2014/main" id="{85384CE5-1F5C-B747-8FC0-DF08D49F9855}"/>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16" name="Rectangle 15">
            <a:extLst>
              <a:ext uri="{FF2B5EF4-FFF2-40B4-BE49-F238E27FC236}">
                <a16:creationId xmlns:a16="http://schemas.microsoft.com/office/drawing/2014/main" id="{45709C0F-F87D-8E4A-BB62-B21C5F7C766B}"/>
              </a:ext>
            </a:extLst>
          </p:cNvPr>
          <p:cNvSpPr/>
          <p:nvPr/>
        </p:nvSpPr>
        <p:spPr>
          <a:xfrm>
            <a:off x="247894" y="2364935"/>
            <a:ext cx="789817" cy="369332"/>
          </a:xfrm>
          <a:prstGeom prst="rect">
            <a:avLst/>
          </a:prstGeom>
          <a:ln>
            <a:noFill/>
          </a:ln>
        </p:spPr>
        <p:txBody>
          <a:bodyPr wrap="square">
            <a:spAutoFit/>
          </a:bodyPr>
          <a:lstStyle/>
          <a:p>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7" name="Picture 6" descr="A screenshot of a cell phone&#10;&#10;Description automatically generated">
            <a:extLst>
              <a:ext uri="{FF2B5EF4-FFF2-40B4-BE49-F238E27FC236}">
                <a16:creationId xmlns:a16="http://schemas.microsoft.com/office/drawing/2014/main" id="{EAE712E0-D1E1-B745-B7E9-E3666EBFF01E}"/>
              </a:ext>
            </a:extLst>
          </p:cNvPr>
          <p:cNvPicPr>
            <a:picLocks noChangeAspect="1"/>
          </p:cNvPicPr>
          <p:nvPr/>
        </p:nvPicPr>
        <p:blipFill>
          <a:blip r:embed="rId4"/>
          <a:stretch>
            <a:fillRect/>
          </a:stretch>
        </p:blipFill>
        <p:spPr>
          <a:xfrm>
            <a:off x="539750" y="1528257"/>
            <a:ext cx="7158222" cy="4678284"/>
          </a:xfrm>
          <a:prstGeom prst="rect">
            <a:avLst/>
          </a:prstGeom>
        </p:spPr>
      </p:pic>
      <p:sp>
        <p:nvSpPr>
          <p:cNvPr id="17" name="Rectangle 16">
            <a:extLst>
              <a:ext uri="{FF2B5EF4-FFF2-40B4-BE49-F238E27FC236}">
                <a16:creationId xmlns:a16="http://schemas.microsoft.com/office/drawing/2014/main" id="{34AC6C86-702A-CE41-AE8A-782768128557}"/>
              </a:ext>
            </a:extLst>
          </p:cNvPr>
          <p:cNvSpPr/>
          <p:nvPr/>
        </p:nvSpPr>
        <p:spPr>
          <a:xfrm>
            <a:off x="541327" y="1896765"/>
            <a:ext cx="202952" cy="1314268"/>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9" name="Rectangle 18">
            <a:extLst>
              <a:ext uri="{FF2B5EF4-FFF2-40B4-BE49-F238E27FC236}">
                <a16:creationId xmlns:a16="http://schemas.microsoft.com/office/drawing/2014/main" id="{ED3D6554-FD8C-3E4B-ABEC-EF1EE0219A3E}"/>
              </a:ext>
            </a:extLst>
          </p:cNvPr>
          <p:cNvSpPr/>
          <p:nvPr/>
        </p:nvSpPr>
        <p:spPr>
          <a:xfrm>
            <a:off x="2052332" y="5815220"/>
            <a:ext cx="789817" cy="369332"/>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62A7921B-F2A7-C449-905E-ECA46AEEF695}"/>
              </a:ext>
            </a:extLst>
          </p:cNvPr>
          <p:cNvSpPr/>
          <p:nvPr/>
        </p:nvSpPr>
        <p:spPr>
          <a:xfrm>
            <a:off x="2052333" y="5445887"/>
            <a:ext cx="789817" cy="369332"/>
          </a:xfrm>
          <a:prstGeom prst="rect">
            <a:avLst/>
          </a:prstGeom>
          <a:ln>
            <a:noFill/>
          </a:ln>
        </p:spPr>
        <p:txBody>
          <a:bodyPr wrap="square">
            <a:spAutoFit/>
          </a:bodyPr>
          <a:lstStyle/>
          <a:p>
            <a:pPr algn="ctr"/>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67191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sz="2000" dirty="0"/>
              <a:t>Workflows</a:t>
            </a:r>
          </a:p>
        </p:txBody>
      </p:sp>
      <p:sp>
        <p:nvSpPr>
          <p:cNvPr id="9" name="Rectangle 8">
            <a:extLst>
              <a:ext uri="{FF2B5EF4-FFF2-40B4-BE49-F238E27FC236}">
                <a16:creationId xmlns:a16="http://schemas.microsoft.com/office/drawing/2014/main" id="{EBDE54E8-9E99-0F43-8043-B8A47054412A}"/>
              </a:ext>
            </a:extLst>
          </p:cNvPr>
          <p:cNvSpPr/>
          <p:nvPr/>
        </p:nvSpPr>
        <p:spPr>
          <a:xfrm>
            <a:off x="492879" y="1354529"/>
            <a:ext cx="4468080" cy="3893374"/>
          </a:xfrm>
          <a:prstGeom prst="rect">
            <a:avLst/>
          </a:prstGeom>
        </p:spPr>
        <p:txBody>
          <a:bodyPr wrap="square">
            <a:spAutoFit/>
          </a:bodyPr>
          <a:lstStyle/>
          <a:p>
            <a:pPr fontAlgn="base">
              <a:buClr>
                <a:schemeClr val="accent3"/>
              </a:buClr>
              <a:buSzPct val="120000"/>
            </a:pPr>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Mass Duplicate</a:t>
            </a:r>
          </a:p>
          <a:p>
            <a:pPr fontAlgn="base">
              <a:buClr>
                <a:schemeClr val="accent3"/>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2"/>
              </a:buClr>
              <a:buSzPct val="120000"/>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Mass Duplicate can be used to duplicate multiple variants at the same time. This feature will duplicate each selected variant once.</a:t>
            </a:r>
          </a:p>
          <a:p>
            <a:pPr fontAlgn="base">
              <a:buClr>
                <a:schemeClr val="accent2"/>
              </a:buClr>
              <a:buSzPct val="120000"/>
            </a:pPr>
            <a:endParaRPr lang="en-GB" sz="1200" b="1" dirty="0">
              <a:solidFill>
                <a:srgbClr val="1B3F55"/>
              </a:solidFill>
              <a:latin typeface="Noto Sans Light" panose="020B0402040504020204" pitchFamily="34" charset="0"/>
              <a:ea typeface="Noto Sans" panose="020B0502040504020204" pitchFamily="34" charset="0"/>
              <a:cs typeface="Noto Sans" panose="020B0502040504020204" pitchFamily="34" charset="0"/>
            </a:endParaRPr>
          </a:p>
          <a:p>
            <a:pPr fontAlgn="base">
              <a:buClr>
                <a:schemeClr val="accent2"/>
              </a:buClr>
              <a:buSzPct val="120000"/>
            </a:pPr>
            <a:r>
              <a:rPr lang="en-GB" sz="12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NOTE: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Due to the nature of grid working, Mass Edit workflow is currently only available when selecting variants with the same Template &amp; Frame configuration.</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t>
            </a:r>
          </a:p>
          <a:p>
            <a:pPr fontAlgn="base">
              <a:buClr>
                <a:schemeClr val="accent3"/>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3"/>
              </a:buClr>
              <a:buSzPct val="12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3"/>
              </a:buClr>
              <a:buSzPct val="120000"/>
            </a:pPr>
            <a:r>
              <a:rPr lang="en-GB" sz="1100" b="1" dirty="0">
                <a:solidFill>
                  <a:schemeClr val="accent3"/>
                </a:solidFill>
                <a:latin typeface="Noto Sans Light" panose="020B0402040504020204" pitchFamily="34" charset="0"/>
                <a:ea typeface="Noto Sans Light" panose="020B0402040504020204" pitchFamily="34" charset="0"/>
                <a:cs typeface="Noto Sans Light" panose="020B0402040504020204" pitchFamily="34" charset="0"/>
              </a:rPr>
              <a:t>Workflow:</a:t>
            </a:r>
          </a:p>
          <a:p>
            <a:pPr marL="342900" indent="-342900" fontAlgn="base">
              <a:buClr>
                <a:schemeClr val="accent3"/>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Go to the Orca table page </a:t>
            </a:r>
            <a:r>
              <a:rPr lang="en-GB" sz="11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hlinkClick r:id="rId2"/>
              </a:rPr>
              <a:t>https://orca.adylic.com/table</a:t>
            </a:r>
            <a:br>
              <a:rPr lang="en-GB" sz="1100" dirty="0">
                <a:solidFill>
                  <a:srgbClr val="0070C0"/>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dirty="0">
              <a:solidFill>
                <a:schemeClr val="accent5">
                  <a:lumMod val="75000"/>
                </a:schemeClr>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the table page, you can select multiple variants using the ‘check-box’ on each variant listing</a:t>
            </a:r>
            <a:b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Within the multi-select options footer bar, you will see the ‘Mass Duplicate’ action button</a:t>
            </a:r>
            <a:b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Selecting this option, will create a duplicate set of the variants you have selecting and take you into the Mass Create Grid View.</a:t>
            </a:r>
          </a:p>
        </p:txBody>
      </p:sp>
      <p:grpSp>
        <p:nvGrpSpPr>
          <p:cNvPr id="24" name="Group 23">
            <a:extLst>
              <a:ext uri="{FF2B5EF4-FFF2-40B4-BE49-F238E27FC236}">
                <a16:creationId xmlns:a16="http://schemas.microsoft.com/office/drawing/2014/main" id="{12D061B9-AE6A-FA47-8B2B-C281879705A3}"/>
              </a:ext>
            </a:extLst>
          </p:cNvPr>
          <p:cNvGrpSpPr/>
          <p:nvPr/>
        </p:nvGrpSpPr>
        <p:grpSpPr>
          <a:xfrm>
            <a:off x="10231614" y="782076"/>
            <a:ext cx="1713039" cy="500716"/>
            <a:chOff x="548247" y="6096934"/>
            <a:chExt cx="1713039" cy="500716"/>
          </a:xfrm>
        </p:grpSpPr>
        <p:sp>
          <p:nvSpPr>
            <p:cNvPr id="25" name="Rectangle 24">
              <a:extLst>
                <a:ext uri="{FF2B5EF4-FFF2-40B4-BE49-F238E27FC236}">
                  <a16:creationId xmlns:a16="http://schemas.microsoft.com/office/drawing/2014/main" id="{DE7D5532-6E35-9641-B727-9150D7304FA8}"/>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183FC483-136B-1E49-B5CD-87A780405258}"/>
                </a:ext>
              </a:extLst>
            </p:cNvPr>
            <p:cNvPicPr>
              <a:picLocks noChangeAspect="1"/>
            </p:cNvPicPr>
            <p:nvPr/>
          </p:nvPicPr>
          <p:blipFill>
            <a:blip r:embed="rId3">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7" name="Rectangle 26">
              <a:extLst>
                <a:ext uri="{FF2B5EF4-FFF2-40B4-BE49-F238E27FC236}">
                  <a16:creationId xmlns:a16="http://schemas.microsoft.com/office/drawing/2014/main" id="{45D75152-8E3D-FA47-A561-4D22797693B5}"/>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grpSp>
        <p:nvGrpSpPr>
          <p:cNvPr id="28" name="Group 27">
            <a:extLst>
              <a:ext uri="{FF2B5EF4-FFF2-40B4-BE49-F238E27FC236}">
                <a16:creationId xmlns:a16="http://schemas.microsoft.com/office/drawing/2014/main" id="{54A41F5A-1D56-FA42-8573-FAF1C23201E0}"/>
              </a:ext>
            </a:extLst>
          </p:cNvPr>
          <p:cNvGrpSpPr/>
          <p:nvPr/>
        </p:nvGrpSpPr>
        <p:grpSpPr>
          <a:xfrm>
            <a:off x="563653" y="5446300"/>
            <a:ext cx="3790633" cy="1110142"/>
            <a:chOff x="527140" y="5446300"/>
            <a:chExt cx="3790633" cy="1110142"/>
          </a:xfrm>
        </p:grpSpPr>
        <p:sp>
          <p:nvSpPr>
            <p:cNvPr id="30" name="Rectangle 29">
              <a:extLst>
                <a:ext uri="{FF2B5EF4-FFF2-40B4-BE49-F238E27FC236}">
                  <a16:creationId xmlns:a16="http://schemas.microsoft.com/office/drawing/2014/main" id="{E8636747-C795-254D-A760-3D97ED60979C}"/>
                </a:ext>
              </a:extLst>
            </p:cNvPr>
            <p:cNvSpPr/>
            <p:nvPr/>
          </p:nvSpPr>
          <p:spPr>
            <a:xfrm>
              <a:off x="1203095" y="5666144"/>
              <a:ext cx="3114678" cy="646331"/>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Enter Mass Edit first and duplicate from there if you want to duplicate and edit existing variants.</a:t>
              </a:r>
            </a:p>
          </p:txBody>
        </p:sp>
        <p:pic>
          <p:nvPicPr>
            <p:cNvPr id="31" name="Picture 30">
              <a:extLst>
                <a:ext uri="{FF2B5EF4-FFF2-40B4-BE49-F238E27FC236}">
                  <a16:creationId xmlns:a16="http://schemas.microsoft.com/office/drawing/2014/main" id="{7B0924B2-FCEE-E243-BCFB-ECC87B4945B6}"/>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32" name="Rectangle 31">
              <a:extLst>
                <a:ext uri="{FF2B5EF4-FFF2-40B4-BE49-F238E27FC236}">
                  <a16:creationId xmlns:a16="http://schemas.microsoft.com/office/drawing/2014/main" id="{ECBA1799-06FC-9945-BF93-3629B3BE4083}"/>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pic>
        <p:nvPicPr>
          <p:cNvPr id="6" name="Picture 5" descr="A screenshot of a cell phone&#10;&#10;Description automatically generated">
            <a:extLst>
              <a:ext uri="{FF2B5EF4-FFF2-40B4-BE49-F238E27FC236}">
                <a16:creationId xmlns:a16="http://schemas.microsoft.com/office/drawing/2014/main" id="{A5F05F91-2E09-C44C-9CC9-81F71B66E123}"/>
              </a:ext>
            </a:extLst>
          </p:cNvPr>
          <p:cNvPicPr>
            <a:picLocks noChangeAspect="1"/>
          </p:cNvPicPr>
          <p:nvPr/>
        </p:nvPicPr>
        <p:blipFill>
          <a:blip r:embed="rId5"/>
          <a:stretch>
            <a:fillRect/>
          </a:stretch>
        </p:blipFill>
        <p:spPr>
          <a:xfrm>
            <a:off x="5177856" y="1692815"/>
            <a:ext cx="6783202" cy="4637752"/>
          </a:xfrm>
          <a:prstGeom prst="rect">
            <a:avLst/>
          </a:prstGeom>
        </p:spPr>
      </p:pic>
      <p:sp>
        <p:nvSpPr>
          <p:cNvPr id="19" name="Rectangle 18">
            <a:extLst>
              <a:ext uri="{FF2B5EF4-FFF2-40B4-BE49-F238E27FC236}">
                <a16:creationId xmlns:a16="http://schemas.microsoft.com/office/drawing/2014/main" id="{5C23276A-5858-EC41-9504-8C1794E878B2}"/>
              </a:ext>
            </a:extLst>
          </p:cNvPr>
          <p:cNvSpPr/>
          <p:nvPr/>
        </p:nvSpPr>
        <p:spPr>
          <a:xfrm>
            <a:off x="5230641" y="2265713"/>
            <a:ext cx="191964" cy="1163288"/>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EC71B1B2-E13E-E343-B9E5-BED906D42651}"/>
              </a:ext>
            </a:extLst>
          </p:cNvPr>
          <p:cNvSpPr/>
          <p:nvPr/>
        </p:nvSpPr>
        <p:spPr>
          <a:xfrm>
            <a:off x="4960958" y="2231042"/>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1" name="Rectangle 20">
            <a:extLst>
              <a:ext uri="{FF2B5EF4-FFF2-40B4-BE49-F238E27FC236}">
                <a16:creationId xmlns:a16="http://schemas.microsoft.com/office/drawing/2014/main" id="{587C7FFA-CBB7-6845-BFB2-9CE86F23FC17}"/>
              </a:ext>
            </a:extLst>
          </p:cNvPr>
          <p:cNvSpPr/>
          <p:nvPr/>
        </p:nvSpPr>
        <p:spPr>
          <a:xfrm>
            <a:off x="7222378" y="5937589"/>
            <a:ext cx="731329" cy="36933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89D3AF12-ED57-9C40-B4F9-CB37A82BA409}"/>
              </a:ext>
            </a:extLst>
          </p:cNvPr>
          <p:cNvSpPr/>
          <p:nvPr/>
        </p:nvSpPr>
        <p:spPr>
          <a:xfrm>
            <a:off x="7439276" y="5587375"/>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669545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89D62F-700F-C040-A2B0-7606760CEFB5}"/>
              </a:ext>
            </a:extLst>
          </p:cNvPr>
          <p:cNvGrpSpPr/>
          <p:nvPr/>
        </p:nvGrpSpPr>
        <p:grpSpPr>
          <a:xfrm>
            <a:off x="487954" y="1544088"/>
            <a:ext cx="8252805" cy="3964737"/>
            <a:chOff x="487954" y="1544088"/>
            <a:chExt cx="8252805" cy="3964737"/>
          </a:xfrm>
        </p:grpSpPr>
        <p:grpSp>
          <p:nvGrpSpPr>
            <p:cNvPr id="3" name="Group 2">
              <a:extLst>
                <a:ext uri="{FF2B5EF4-FFF2-40B4-BE49-F238E27FC236}">
                  <a16:creationId xmlns:a16="http://schemas.microsoft.com/office/drawing/2014/main" id="{ABC15982-B7AC-DB42-A7D9-040C322EDB75}"/>
                </a:ext>
              </a:extLst>
            </p:cNvPr>
            <p:cNvGrpSpPr/>
            <p:nvPr/>
          </p:nvGrpSpPr>
          <p:grpSpPr>
            <a:xfrm>
              <a:off x="487954" y="1544088"/>
              <a:ext cx="8252805" cy="3964737"/>
              <a:chOff x="487954" y="1544088"/>
              <a:chExt cx="8252805" cy="3964737"/>
            </a:xfrm>
          </p:grpSpPr>
          <p:pic>
            <p:nvPicPr>
              <p:cNvPr id="12" name="Picture 11" descr="A screenshot of a social media post&#10;&#10;Description automatically generated">
                <a:extLst>
                  <a:ext uri="{FF2B5EF4-FFF2-40B4-BE49-F238E27FC236}">
                    <a16:creationId xmlns:a16="http://schemas.microsoft.com/office/drawing/2014/main" id="{6BDAB74B-D86E-6C4A-AF12-E339F4B8437C}"/>
                  </a:ext>
                </a:extLst>
              </p:cNvPr>
              <p:cNvPicPr>
                <a:picLocks noChangeAspect="1"/>
              </p:cNvPicPr>
              <p:nvPr/>
            </p:nvPicPr>
            <p:blipFill>
              <a:blip r:embed="rId3"/>
              <a:stretch>
                <a:fillRect/>
              </a:stretch>
            </p:blipFill>
            <p:spPr>
              <a:xfrm>
                <a:off x="487954" y="1544088"/>
                <a:ext cx="8252805" cy="3964737"/>
              </a:xfrm>
              <a:prstGeom prst="rect">
                <a:avLst/>
              </a:prstGeom>
            </p:spPr>
          </p:pic>
          <p:pic>
            <p:nvPicPr>
              <p:cNvPr id="19" name="Picture 18" descr="Graphical user interface, application&#10;&#10;Description automatically generated">
                <a:extLst>
                  <a:ext uri="{FF2B5EF4-FFF2-40B4-BE49-F238E27FC236}">
                    <a16:creationId xmlns:a16="http://schemas.microsoft.com/office/drawing/2014/main" id="{2DFDA42E-0FFA-6D46-BE93-AED9312D22D9}"/>
                  </a:ext>
                </a:extLst>
              </p:cNvPr>
              <p:cNvPicPr>
                <a:picLocks noChangeAspect="1"/>
              </p:cNvPicPr>
              <p:nvPr/>
            </p:nvPicPr>
            <p:blipFill rotWithShape="1">
              <a:blip r:embed="rId4"/>
              <a:srcRect t="18462" r="70833" b="74030"/>
              <a:stretch/>
            </p:blipFill>
            <p:spPr>
              <a:xfrm>
                <a:off x="487954" y="1859949"/>
                <a:ext cx="2220077" cy="357187"/>
              </a:xfrm>
              <a:prstGeom prst="rect">
                <a:avLst/>
              </a:prstGeom>
            </p:spPr>
          </p:pic>
        </p:grpSp>
        <p:pic>
          <p:nvPicPr>
            <p:cNvPr id="6" name="Picture 5" descr="A picture containing icon&#10;&#10;Description automatically generated">
              <a:extLst>
                <a:ext uri="{FF2B5EF4-FFF2-40B4-BE49-F238E27FC236}">
                  <a16:creationId xmlns:a16="http://schemas.microsoft.com/office/drawing/2014/main" id="{6752BB0B-8F57-D146-9BF6-077B34E2274B}"/>
                </a:ext>
              </a:extLst>
            </p:cNvPr>
            <p:cNvPicPr>
              <a:picLocks noChangeAspect="1"/>
            </p:cNvPicPr>
            <p:nvPr/>
          </p:nvPicPr>
          <p:blipFill rotWithShape="1">
            <a:blip r:embed="rId5"/>
            <a:srcRect l="13621" t="24945" r="10724" b="20322"/>
            <a:stretch/>
          </p:blipFill>
          <p:spPr>
            <a:xfrm>
              <a:off x="711852" y="2882279"/>
              <a:ext cx="215635" cy="144000"/>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54" name="Rectangle 53">
            <a:extLst>
              <a:ext uri="{FF2B5EF4-FFF2-40B4-BE49-F238E27FC236}">
                <a16:creationId xmlns:a16="http://schemas.microsoft.com/office/drawing/2014/main" id="{A8AD6167-4572-F549-9BEC-ABDE29BD737B}"/>
              </a:ext>
            </a:extLst>
          </p:cNvPr>
          <p:cNvSpPr/>
          <p:nvPr/>
        </p:nvSpPr>
        <p:spPr>
          <a:xfrm>
            <a:off x="172603" y="3517181"/>
            <a:ext cx="281609" cy="369332"/>
          </a:xfrm>
          <a:prstGeom prst="rect">
            <a:avLst/>
          </a:prstGeom>
          <a:ln>
            <a:noFill/>
          </a:ln>
        </p:spPr>
        <p:txBody>
          <a:bodyPr wrap="square">
            <a:spAutoFit/>
          </a:bodyPr>
          <a:lstStyle/>
          <a:p>
            <a:r>
              <a:rPr lang="en-US"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1</a:t>
            </a:r>
          </a:p>
        </p:txBody>
      </p:sp>
      <p:sp>
        <p:nvSpPr>
          <p:cNvPr id="60" name="Rectangle 59">
            <a:extLst>
              <a:ext uri="{FF2B5EF4-FFF2-40B4-BE49-F238E27FC236}">
                <a16:creationId xmlns:a16="http://schemas.microsoft.com/office/drawing/2014/main" id="{5A39FB2D-9D18-BD43-B034-E2FD3C1A685D}"/>
              </a:ext>
            </a:extLst>
          </p:cNvPr>
          <p:cNvSpPr/>
          <p:nvPr/>
        </p:nvSpPr>
        <p:spPr>
          <a:xfrm>
            <a:off x="8879845" y="1604460"/>
            <a:ext cx="3316114" cy="2123658"/>
          </a:xfrm>
          <a:prstGeom prst="rect">
            <a:avLst/>
          </a:prstGeom>
        </p:spPr>
        <p:txBody>
          <a:bodyPr wrap="square">
            <a:spAutoFit/>
          </a:bodyPr>
          <a:lstStyle/>
          <a:p>
            <a:pPr fontAlgn="base"/>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the example shown:</a:t>
            </a:r>
          </a:p>
          <a:p>
            <a:pPr marL="228600" indent="-228600" fontAlgn="base">
              <a:buAutoNum type="arabicPeriod"/>
            </a:pPr>
            <a:r>
              <a:rPr lang="en-GB" sz="1200" i="1"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The row shows shows the variant names ‘Variant 4 [duplicate]’</a:t>
            </a:r>
          </a:p>
          <a:p>
            <a:pPr marL="228600" indent="-228600" fontAlgn="base">
              <a:buAutoNum type="arabicPeriod"/>
            </a:pPr>
            <a:r>
              <a:rPr lang="en-GB" sz="1200" i="1"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The Column highlighted is for the ‘Audience Type’</a:t>
            </a:r>
          </a:p>
          <a:p>
            <a:pPr marL="228600" indent="-228600" fontAlgn="base">
              <a:buAutoNum type="arabicPeriod"/>
            </a:pPr>
            <a:r>
              <a:rPr lang="en-GB" sz="1200" i="1"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Therefore, editing the cell highlighted would update the ‘Audience Type’ for ‘Variant 4’</a:t>
            </a:r>
          </a:p>
          <a:p>
            <a:pPr marL="228600" indent="-228600" fontAlgn="base">
              <a:buAutoNum type="arabicPeriod"/>
            </a:pPr>
            <a:r>
              <a:rPr lang="en-GB" sz="1200" i="1"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t>a) The example shows 160x600 is currently being edited.</a:t>
            </a:r>
            <a:br>
              <a:rPr lang="en-GB" sz="1200" i="1"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br>
            <a:r>
              <a:rPr lang="en-GB" sz="1200" i="1"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t>b) 160x600 is currently switched off for 'Variant 1’.</a:t>
            </a:r>
          </a:p>
        </p:txBody>
      </p:sp>
      <p:pic>
        <p:nvPicPr>
          <p:cNvPr id="64" name="Picture 63">
            <a:extLst>
              <a:ext uri="{FF2B5EF4-FFF2-40B4-BE49-F238E27FC236}">
                <a16:creationId xmlns:a16="http://schemas.microsoft.com/office/drawing/2014/main" id="{65F32887-F375-1349-A2A7-1625CFF869F3}"/>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11320083" y="1147002"/>
            <a:ext cx="675955" cy="675955"/>
          </a:xfrm>
          <a:prstGeom prst="rect">
            <a:avLst/>
          </a:prstGeom>
        </p:spPr>
      </p:pic>
      <p:sp>
        <p:nvSpPr>
          <p:cNvPr id="52" name="Rectangle 51">
            <a:extLst>
              <a:ext uri="{FF2B5EF4-FFF2-40B4-BE49-F238E27FC236}">
                <a16:creationId xmlns:a16="http://schemas.microsoft.com/office/drawing/2014/main" id="{4F3DBF8D-154C-EB4C-951C-8E9D06AAF981}"/>
              </a:ext>
            </a:extLst>
          </p:cNvPr>
          <p:cNvSpPr/>
          <p:nvPr/>
        </p:nvSpPr>
        <p:spPr>
          <a:xfrm>
            <a:off x="2790657" y="3329508"/>
            <a:ext cx="777966" cy="234302"/>
          </a:xfrm>
          <a:prstGeom prst="rect">
            <a:avLst/>
          </a:prstGeom>
          <a:noFill/>
          <a:ln w="19050">
            <a:solidFill>
              <a:srgbClr val="172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45" name="Left Bracket 44">
            <a:extLst>
              <a:ext uri="{FF2B5EF4-FFF2-40B4-BE49-F238E27FC236}">
                <a16:creationId xmlns:a16="http://schemas.microsoft.com/office/drawing/2014/main" id="{51F37B01-4A30-7648-B712-20352F1EEE2C}"/>
              </a:ext>
            </a:extLst>
          </p:cNvPr>
          <p:cNvSpPr/>
          <p:nvPr/>
        </p:nvSpPr>
        <p:spPr>
          <a:xfrm rot="5400000">
            <a:off x="3073998" y="2304332"/>
            <a:ext cx="211281" cy="777965"/>
          </a:xfrm>
          <a:prstGeom prst="leftBracket">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Rectangle 54">
            <a:extLst>
              <a:ext uri="{FF2B5EF4-FFF2-40B4-BE49-F238E27FC236}">
                <a16:creationId xmlns:a16="http://schemas.microsoft.com/office/drawing/2014/main" id="{178188C9-F894-9143-981B-DBC25AAD2D05}"/>
              </a:ext>
            </a:extLst>
          </p:cNvPr>
          <p:cNvSpPr/>
          <p:nvPr/>
        </p:nvSpPr>
        <p:spPr>
          <a:xfrm>
            <a:off x="3287014" y="2218342"/>
            <a:ext cx="281609" cy="369332"/>
          </a:xfrm>
          <a:prstGeom prst="rect">
            <a:avLst/>
          </a:prstGeom>
          <a:ln>
            <a:noFill/>
          </a:ln>
        </p:spPr>
        <p:txBody>
          <a:bodyPr wrap="square">
            <a:spAutoFit/>
          </a:bodyPr>
          <a:lstStyle/>
          <a:p>
            <a:r>
              <a:rPr lang="en-US"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2</a:t>
            </a:r>
          </a:p>
        </p:txBody>
      </p:sp>
      <p:sp>
        <p:nvSpPr>
          <p:cNvPr id="13" name="Left Bracket 12">
            <a:extLst>
              <a:ext uri="{FF2B5EF4-FFF2-40B4-BE49-F238E27FC236}">
                <a16:creationId xmlns:a16="http://schemas.microsoft.com/office/drawing/2014/main" id="{3620AE6F-231C-6F4B-A8A0-D381CC977EE2}"/>
              </a:ext>
            </a:extLst>
          </p:cNvPr>
          <p:cNvSpPr/>
          <p:nvPr/>
        </p:nvSpPr>
        <p:spPr>
          <a:xfrm>
            <a:off x="444081" y="3586683"/>
            <a:ext cx="87746" cy="276075"/>
          </a:xfrm>
          <a:prstGeom prst="leftBracket">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 name="Picture 15" descr="A screenshot of a computer&#10;&#10;Description automatically generated">
            <a:extLst>
              <a:ext uri="{FF2B5EF4-FFF2-40B4-BE49-F238E27FC236}">
                <a16:creationId xmlns:a16="http://schemas.microsoft.com/office/drawing/2014/main" id="{C0027D91-5218-324E-BB00-D21E3C3B4C16}"/>
              </a:ext>
            </a:extLst>
          </p:cNvPr>
          <p:cNvPicPr>
            <a:picLocks noChangeAspect="1"/>
          </p:cNvPicPr>
          <p:nvPr/>
        </p:nvPicPr>
        <p:blipFill rotWithShape="1">
          <a:blip r:embed="rId7"/>
          <a:srcRect t="95038"/>
          <a:stretch/>
        </p:blipFill>
        <p:spPr>
          <a:xfrm>
            <a:off x="454212" y="5450807"/>
            <a:ext cx="8368813" cy="224535"/>
          </a:xfrm>
          <a:prstGeom prst="rect">
            <a:avLst/>
          </a:prstGeom>
        </p:spPr>
      </p:pic>
      <p:sp>
        <p:nvSpPr>
          <p:cNvPr id="56" name="Rectangle 55">
            <a:extLst>
              <a:ext uri="{FF2B5EF4-FFF2-40B4-BE49-F238E27FC236}">
                <a16:creationId xmlns:a16="http://schemas.microsoft.com/office/drawing/2014/main" id="{26F842DA-3CFD-4542-913B-27E05321E421}"/>
              </a:ext>
            </a:extLst>
          </p:cNvPr>
          <p:cNvSpPr/>
          <p:nvPr/>
        </p:nvSpPr>
        <p:spPr>
          <a:xfrm>
            <a:off x="3146209" y="2975911"/>
            <a:ext cx="281609" cy="369332"/>
          </a:xfrm>
          <a:prstGeom prst="rect">
            <a:avLst/>
          </a:prstGeom>
          <a:ln>
            <a:noFill/>
          </a:ln>
        </p:spPr>
        <p:txBody>
          <a:bodyPr wrap="square">
            <a:spAutoFit/>
          </a:bodyPr>
          <a:lstStyle/>
          <a:p>
            <a:r>
              <a:rPr lang="en-US" b="1" dirty="0">
                <a:solidFill>
                  <a:srgbClr val="17212D"/>
                </a:solidFill>
                <a:latin typeface="Noto Sans" panose="020B0502040504020204" pitchFamily="34" charset="0"/>
                <a:ea typeface="Noto Sans" panose="020B0502040504020204" pitchFamily="34" charset="0"/>
                <a:cs typeface="Noto Sans" panose="020B0502040504020204" pitchFamily="34" charset="0"/>
              </a:rPr>
              <a:t>3</a:t>
            </a:r>
          </a:p>
        </p:txBody>
      </p:sp>
      <p:grpSp>
        <p:nvGrpSpPr>
          <p:cNvPr id="2" name="Group 1">
            <a:extLst>
              <a:ext uri="{FF2B5EF4-FFF2-40B4-BE49-F238E27FC236}">
                <a16:creationId xmlns:a16="http://schemas.microsoft.com/office/drawing/2014/main" id="{FDECEDA2-9F70-4A4D-A3E7-E51DB8F04E5E}"/>
              </a:ext>
            </a:extLst>
          </p:cNvPr>
          <p:cNvGrpSpPr/>
          <p:nvPr/>
        </p:nvGrpSpPr>
        <p:grpSpPr>
          <a:xfrm>
            <a:off x="4379039" y="3692188"/>
            <a:ext cx="6480810" cy="2682911"/>
            <a:chOff x="4386514" y="3886513"/>
            <a:chExt cx="6870439" cy="2422834"/>
          </a:xfrm>
        </p:grpSpPr>
        <p:grpSp>
          <p:nvGrpSpPr>
            <p:cNvPr id="59" name="Group 58">
              <a:extLst>
                <a:ext uri="{FF2B5EF4-FFF2-40B4-BE49-F238E27FC236}">
                  <a16:creationId xmlns:a16="http://schemas.microsoft.com/office/drawing/2014/main" id="{9933D31D-C749-A544-B7D9-FE96A2166A69}"/>
                </a:ext>
              </a:extLst>
            </p:cNvPr>
            <p:cNvGrpSpPr/>
            <p:nvPr/>
          </p:nvGrpSpPr>
          <p:grpSpPr>
            <a:xfrm>
              <a:off x="4386514" y="3886513"/>
              <a:ext cx="6870439" cy="2422834"/>
              <a:chOff x="6248399" y="1258739"/>
              <a:chExt cx="6870439" cy="2422834"/>
            </a:xfrm>
          </p:grpSpPr>
          <p:sp>
            <p:nvSpPr>
              <p:cNvPr id="44" name="Rectangle 43">
                <a:extLst>
                  <a:ext uri="{FF2B5EF4-FFF2-40B4-BE49-F238E27FC236}">
                    <a16:creationId xmlns:a16="http://schemas.microsoft.com/office/drawing/2014/main" id="{ECF42152-8B88-8640-B3D2-41159CAD2919}"/>
                  </a:ext>
                </a:extLst>
              </p:cNvPr>
              <p:cNvSpPr/>
              <p:nvPr/>
            </p:nvSpPr>
            <p:spPr>
              <a:xfrm>
                <a:off x="6353130" y="1372472"/>
                <a:ext cx="6210538" cy="2200602"/>
              </a:xfrm>
              <a:prstGeom prst="rect">
                <a:avLst/>
              </a:prstGeom>
              <a:ln>
                <a:noFill/>
              </a:ln>
            </p:spPr>
            <p:txBody>
              <a:bodyPr wrap="square">
                <a:spAutoFit/>
              </a:bodyPr>
              <a:lstStyle/>
              <a:p>
                <a:pPr fontAlgn="base"/>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Grid Layout</a:t>
                </a:r>
                <a:b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When you enter MC (Mass Create) you will see a table. We refer to this as the Mass Create Grid. The grid is structured in a standard table format, where:</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row</a:t>
                </a: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creative variant</a:t>
                </a:r>
              </a:p>
              <a:p>
                <a:pPr fontAlgn="base">
                  <a:buSzPct val="15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column</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an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editable field</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or a dynamic element within your template</a:t>
                </a:r>
              </a:p>
              <a:p>
                <a:pPr fontAlgn="base">
                  <a:buSzPct val="150000"/>
                </a:pPr>
                <a:endParaRPr lang="en-GB" sz="1200" dirty="0">
                  <a:solidFill>
                    <a:schemeClr val="accent2"/>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cell</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contains the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value</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for that field (column) and the  corresponding variant (row).</a:t>
                </a:r>
              </a:p>
            </p:txBody>
          </p:sp>
          <p:sp>
            <p:nvSpPr>
              <p:cNvPr id="58" name="Rectangle 57">
                <a:extLst>
                  <a:ext uri="{FF2B5EF4-FFF2-40B4-BE49-F238E27FC236}">
                    <a16:creationId xmlns:a16="http://schemas.microsoft.com/office/drawing/2014/main" id="{23E3E4FC-A07A-7549-AF62-90460448F823}"/>
                  </a:ext>
                </a:extLst>
              </p:cNvPr>
              <p:cNvSpPr/>
              <p:nvPr/>
            </p:nvSpPr>
            <p:spPr>
              <a:xfrm>
                <a:off x="6248399" y="1258739"/>
                <a:ext cx="6870439" cy="2422834"/>
              </a:xfrm>
              <a:prstGeom prst="rect">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3DAC21F-8F2A-1346-B0EB-7435AE6EB8F5}"/>
                </a:ext>
              </a:extLst>
            </p:cNvPr>
            <p:cNvSpPr/>
            <p:nvPr/>
          </p:nvSpPr>
          <p:spPr>
            <a:xfrm>
              <a:off x="4491245" y="3966613"/>
              <a:ext cx="6210538" cy="2320809"/>
            </a:xfrm>
            <a:prstGeom prst="rect">
              <a:avLst/>
            </a:prstGeom>
            <a:ln>
              <a:noFill/>
            </a:ln>
          </p:spPr>
          <p:txBody>
            <a:bodyPr wrap="square">
              <a:spAutoFit/>
            </a:bodyPr>
            <a:lstStyle/>
            <a:p>
              <a:pPr fontAlgn="base"/>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Grid Layout</a:t>
              </a:r>
              <a:b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When you enter Mass Create (MC) you will see a table. We refer to this as the Mass Create Grid. The grid is structured in a standard table format, where:</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row</a:t>
              </a: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creative variant</a:t>
              </a:r>
            </a:p>
            <a:p>
              <a:pPr fontAlgn="base">
                <a:buSzPct val="15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column</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an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editable field</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or a dynamic element within your template</a:t>
              </a:r>
            </a:p>
            <a:p>
              <a:pPr fontAlgn="base">
                <a:buSzPct val="150000"/>
              </a:pPr>
              <a:endParaRPr lang="en-GB" sz="1200" dirty="0">
                <a:solidFill>
                  <a:schemeClr val="accent2"/>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cell</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contains the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value</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for that field (column) and the corresponding variant (row).</a:t>
              </a:r>
            </a:p>
            <a:p>
              <a:pPr fontAlgn="base">
                <a:buSzPct val="150000"/>
              </a:pPr>
              <a:endParaRPr lang="en-GB" sz="1200"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t>All available </a:t>
              </a:r>
              <a:r>
                <a:rPr lang="en-GB" sz="1200" b="1"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t>sizes </a:t>
              </a:r>
              <a:r>
                <a:rPr lang="en-GB" sz="1200"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rPr>
                <a:t>are shown above the mass create grid, with the ability to turn them on and off per variant.</a:t>
              </a:r>
              <a:endParaRPr lang="en-GB" sz="1200" b="1" dirty="0">
                <a:solidFill>
                  <a:schemeClr val="accent4">
                    <a:lumMod val="50000"/>
                    <a:lumOff val="50000"/>
                  </a:schemeClr>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sp>
        <p:nvSpPr>
          <p:cNvPr id="21" name="Left Bracket 20">
            <a:extLst>
              <a:ext uri="{FF2B5EF4-FFF2-40B4-BE49-F238E27FC236}">
                <a16:creationId xmlns:a16="http://schemas.microsoft.com/office/drawing/2014/main" id="{B7570532-DE22-7249-84D3-EA43E2B325F3}"/>
              </a:ext>
            </a:extLst>
          </p:cNvPr>
          <p:cNvSpPr/>
          <p:nvPr/>
        </p:nvSpPr>
        <p:spPr>
          <a:xfrm rot="5400000">
            <a:off x="1521932" y="780624"/>
            <a:ext cx="211281" cy="2160915"/>
          </a:xfrm>
          <a:prstGeom prst="leftBracket">
            <a:avLst/>
          </a:prstGeom>
          <a:ln w="19050">
            <a:solidFill>
              <a:schemeClr val="accent4">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4">
                  <a:lumMod val="25000"/>
                  <a:lumOff val="75000"/>
                </a:schemeClr>
              </a:solidFill>
            </a:endParaRPr>
          </a:p>
        </p:txBody>
      </p:sp>
      <p:sp>
        <p:nvSpPr>
          <p:cNvPr id="22" name="Rectangle 21">
            <a:extLst>
              <a:ext uri="{FF2B5EF4-FFF2-40B4-BE49-F238E27FC236}">
                <a16:creationId xmlns:a16="http://schemas.microsoft.com/office/drawing/2014/main" id="{35092F71-BEA4-7B40-960F-BF11409BC659}"/>
              </a:ext>
            </a:extLst>
          </p:cNvPr>
          <p:cNvSpPr/>
          <p:nvPr/>
        </p:nvSpPr>
        <p:spPr>
          <a:xfrm>
            <a:off x="1599555" y="1465156"/>
            <a:ext cx="412125" cy="369332"/>
          </a:xfrm>
          <a:prstGeom prst="rect">
            <a:avLst/>
          </a:prstGeom>
          <a:ln>
            <a:noFill/>
          </a:ln>
        </p:spPr>
        <p:txBody>
          <a:bodyPr wrap="square">
            <a:spAutoFit/>
          </a:bodyPr>
          <a:lstStyle/>
          <a:p>
            <a:r>
              <a:rPr lang="en-US" b="1" dirty="0">
                <a:solidFill>
                  <a:schemeClr val="accent4">
                    <a:lumMod val="50000"/>
                    <a:lumOff val="50000"/>
                  </a:schemeClr>
                </a:solidFill>
                <a:latin typeface="Noto Sans" panose="020B0502040504020204" pitchFamily="34" charset="0"/>
                <a:ea typeface="Noto Sans" panose="020B0502040504020204" pitchFamily="34" charset="0"/>
                <a:cs typeface="Noto Sans" panose="020B0502040504020204" pitchFamily="34" charset="0"/>
              </a:rPr>
              <a:t>4a</a:t>
            </a:r>
          </a:p>
        </p:txBody>
      </p:sp>
      <p:sp>
        <p:nvSpPr>
          <p:cNvPr id="23" name="Rectangle 22">
            <a:extLst>
              <a:ext uri="{FF2B5EF4-FFF2-40B4-BE49-F238E27FC236}">
                <a16:creationId xmlns:a16="http://schemas.microsoft.com/office/drawing/2014/main" id="{55D2509A-B1D8-2E49-A7C9-662FB7A26D0B}"/>
              </a:ext>
            </a:extLst>
          </p:cNvPr>
          <p:cNvSpPr/>
          <p:nvPr/>
        </p:nvSpPr>
        <p:spPr>
          <a:xfrm>
            <a:off x="139775" y="2762745"/>
            <a:ext cx="471975" cy="369332"/>
          </a:xfrm>
          <a:prstGeom prst="rect">
            <a:avLst/>
          </a:prstGeom>
          <a:ln>
            <a:noFill/>
          </a:ln>
        </p:spPr>
        <p:txBody>
          <a:bodyPr wrap="square">
            <a:spAutoFit/>
          </a:bodyPr>
          <a:lstStyle/>
          <a:p>
            <a:r>
              <a:rPr lang="en-US" b="1" dirty="0">
                <a:solidFill>
                  <a:schemeClr val="accent4">
                    <a:lumMod val="50000"/>
                    <a:lumOff val="50000"/>
                  </a:schemeClr>
                </a:solidFill>
                <a:latin typeface="Noto Sans" panose="020B0502040504020204" pitchFamily="34" charset="0"/>
                <a:ea typeface="Noto Sans" panose="020B0502040504020204" pitchFamily="34" charset="0"/>
                <a:cs typeface="Noto Sans" panose="020B0502040504020204" pitchFamily="34" charset="0"/>
              </a:rPr>
              <a:t>4b</a:t>
            </a:r>
          </a:p>
        </p:txBody>
      </p:sp>
      <p:sp>
        <p:nvSpPr>
          <p:cNvPr id="24" name="Left Bracket 23">
            <a:extLst>
              <a:ext uri="{FF2B5EF4-FFF2-40B4-BE49-F238E27FC236}">
                <a16:creationId xmlns:a16="http://schemas.microsoft.com/office/drawing/2014/main" id="{22AFD02E-3157-8442-B051-27374A2177EB}"/>
              </a:ext>
            </a:extLst>
          </p:cNvPr>
          <p:cNvSpPr/>
          <p:nvPr/>
        </p:nvSpPr>
        <p:spPr>
          <a:xfrm>
            <a:off x="645492" y="2812457"/>
            <a:ext cx="102099" cy="246918"/>
          </a:xfrm>
          <a:prstGeom prst="leftBracket">
            <a:avLst/>
          </a:prstGeom>
          <a:ln w="19050">
            <a:solidFill>
              <a:schemeClr val="accent4">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24130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0EAF32-3E4E-5E47-93EC-511E66FBF9BF}"/>
              </a:ext>
            </a:extLst>
          </p:cNvPr>
          <p:cNvGrpSpPr/>
          <p:nvPr/>
        </p:nvGrpSpPr>
        <p:grpSpPr>
          <a:xfrm>
            <a:off x="487954" y="1544088"/>
            <a:ext cx="8252805" cy="3964737"/>
            <a:chOff x="487954" y="1544088"/>
            <a:chExt cx="8252805" cy="3964737"/>
          </a:xfrm>
        </p:grpSpPr>
        <p:pic>
          <p:nvPicPr>
            <p:cNvPr id="12" name="Picture 11" descr="A screenshot of a social media post&#10;&#10;Description automatically generated">
              <a:extLst>
                <a:ext uri="{FF2B5EF4-FFF2-40B4-BE49-F238E27FC236}">
                  <a16:creationId xmlns:a16="http://schemas.microsoft.com/office/drawing/2014/main" id="{6BDAB74B-D86E-6C4A-AF12-E339F4B8437C}"/>
                </a:ext>
              </a:extLst>
            </p:cNvPr>
            <p:cNvPicPr>
              <a:picLocks noChangeAspect="1"/>
            </p:cNvPicPr>
            <p:nvPr/>
          </p:nvPicPr>
          <p:blipFill>
            <a:blip r:embed="rId3"/>
            <a:stretch>
              <a:fillRect/>
            </a:stretch>
          </p:blipFill>
          <p:spPr>
            <a:xfrm>
              <a:off x="487954" y="1544088"/>
              <a:ext cx="8252805" cy="3964737"/>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A5FEEFF2-A802-9E4F-94A7-D49D791833B6}"/>
                </a:ext>
              </a:extLst>
            </p:cNvPr>
            <p:cNvPicPr>
              <a:picLocks noChangeAspect="1"/>
            </p:cNvPicPr>
            <p:nvPr/>
          </p:nvPicPr>
          <p:blipFill rotWithShape="1">
            <a:blip r:embed="rId4"/>
            <a:srcRect t="18462" r="70833" b="74030"/>
            <a:stretch/>
          </p:blipFill>
          <p:spPr>
            <a:xfrm>
              <a:off x="487954" y="1859949"/>
              <a:ext cx="2220077" cy="357187"/>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60" name="Rectangle 59">
            <a:extLst>
              <a:ext uri="{FF2B5EF4-FFF2-40B4-BE49-F238E27FC236}">
                <a16:creationId xmlns:a16="http://schemas.microsoft.com/office/drawing/2014/main" id="{5A39FB2D-9D18-BD43-B034-E2FD3C1A685D}"/>
              </a:ext>
            </a:extLst>
          </p:cNvPr>
          <p:cNvSpPr/>
          <p:nvPr/>
        </p:nvSpPr>
        <p:spPr>
          <a:xfrm>
            <a:off x="8818503" y="1716564"/>
            <a:ext cx="3373497" cy="1384995"/>
          </a:xfrm>
          <a:prstGeom prst="rect">
            <a:avLst/>
          </a:prstGeom>
        </p:spPr>
        <p:txBody>
          <a:bodyPr wrap="square">
            <a:spAutoFit/>
          </a:bodyPr>
          <a:lstStyle/>
          <a:p>
            <a:pPr fontAlgn="base"/>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In the example shown:</a:t>
            </a:r>
          </a:p>
          <a:p>
            <a:pPr marL="228600" indent="-228600" fontAlgn="base">
              <a:buAutoNum type="arabicPeriod"/>
            </a:pP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Metadata fields will always sit on the left side of the grid.</a:t>
            </a:r>
          </a:p>
          <a:p>
            <a:pPr marL="228600" indent="-228600" fontAlgn="base">
              <a:buAutoNum type="arabicPeriod"/>
            </a:pPr>
            <a:r>
              <a:rPr lang="en-GB" sz="1200" i="1"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Template feature fields will always sit on the right side of the grid with global features first.</a:t>
            </a:r>
          </a:p>
          <a:p>
            <a:pPr marL="228600" indent="-228600" fontAlgn="base">
              <a:buAutoNum type="arabicPeriod"/>
            </a:pPr>
            <a:r>
              <a:rPr lang="en-GB" sz="1200" i="1"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The example shows a text field with size specific URLs and a numeric field for copy x positioning.</a:t>
            </a:r>
          </a:p>
        </p:txBody>
      </p:sp>
      <p:sp>
        <p:nvSpPr>
          <p:cNvPr id="52" name="Rectangle 51">
            <a:extLst>
              <a:ext uri="{FF2B5EF4-FFF2-40B4-BE49-F238E27FC236}">
                <a16:creationId xmlns:a16="http://schemas.microsoft.com/office/drawing/2014/main" id="{4F3DBF8D-154C-EB4C-951C-8E9D06AAF981}"/>
              </a:ext>
            </a:extLst>
          </p:cNvPr>
          <p:cNvSpPr/>
          <p:nvPr/>
        </p:nvSpPr>
        <p:spPr>
          <a:xfrm>
            <a:off x="5999276" y="3078480"/>
            <a:ext cx="1601674" cy="254128"/>
          </a:xfrm>
          <a:prstGeom prst="rect">
            <a:avLst/>
          </a:prstGeom>
          <a:noFill/>
          <a:ln w="19050">
            <a:solidFill>
              <a:srgbClr val="172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45" name="Left Bracket 44">
            <a:extLst>
              <a:ext uri="{FF2B5EF4-FFF2-40B4-BE49-F238E27FC236}">
                <a16:creationId xmlns:a16="http://schemas.microsoft.com/office/drawing/2014/main" id="{51F37B01-4A30-7648-B712-20352F1EEE2C}"/>
              </a:ext>
            </a:extLst>
          </p:cNvPr>
          <p:cNvSpPr/>
          <p:nvPr/>
        </p:nvSpPr>
        <p:spPr>
          <a:xfrm rot="5400000">
            <a:off x="6879847" y="779477"/>
            <a:ext cx="238070" cy="3483753"/>
          </a:xfrm>
          <a:prstGeom prst="leftBracket">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Rectangle 54">
            <a:extLst>
              <a:ext uri="{FF2B5EF4-FFF2-40B4-BE49-F238E27FC236}">
                <a16:creationId xmlns:a16="http://schemas.microsoft.com/office/drawing/2014/main" id="{178188C9-F894-9143-981B-DBC25AAD2D05}"/>
              </a:ext>
            </a:extLst>
          </p:cNvPr>
          <p:cNvSpPr/>
          <p:nvPr/>
        </p:nvSpPr>
        <p:spPr>
          <a:xfrm>
            <a:off x="7022195" y="2079722"/>
            <a:ext cx="281609" cy="369332"/>
          </a:xfrm>
          <a:prstGeom prst="rect">
            <a:avLst/>
          </a:prstGeom>
          <a:ln>
            <a:noFill/>
          </a:ln>
        </p:spPr>
        <p:txBody>
          <a:bodyPr wrap="square">
            <a:spAutoFit/>
          </a:bodyPr>
          <a:lstStyle/>
          <a:p>
            <a:r>
              <a:rPr lang="en-US"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2</a:t>
            </a:r>
          </a:p>
        </p:txBody>
      </p:sp>
      <p:pic>
        <p:nvPicPr>
          <p:cNvPr id="16" name="Picture 15" descr="A screenshot of a computer&#10;&#10;Description automatically generated">
            <a:extLst>
              <a:ext uri="{FF2B5EF4-FFF2-40B4-BE49-F238E27FC236}">
                <a16:creationId xmlns:a16="http://schemas.microsoft.com/office/drawing/2014/main" id="{C0027D91-5218-324E-BB00-D21E3C3B4C16}"/>
              </a:ext>
            </a:extLst>
          </p:cNvPr>
          <p:cNvPicPr>
            <a:picLocks noChangeAspect="1"/>
          </p:cNvPicPr>
          <p:nvPr/>
        </p:nvPicPr>
        <p:blipFill rotWithShape="1">
          <a:blip r:embed="rId5"/>
          <a:srcRect t="95038"/>
          <a:stretch/>
        </p:blipFill>
        <p:spPr>
          <a:xfrm>
            <a:off x="454212" y="5450807"/>
            <a:ext cx="8368813" cy="224535"/>
          </a:xfrm>
          <a:prstGeom prst="rect">
            <a:avLst/>
          </a:prstGeom>
        </p:spPr>
      </p:pic>
      <p:sp>
        <p:nvSpPr>
          <p:cNvPr id="56" name="Rectangle 55">
            <a:extLst>
              <a:ext uri="{FF2B5EF4-FFF2-40B4-BE49-F238E27FC236}">
                <a16:creationId xmlns:a16="http://schemas.microsoft.com/office/drawing/2014/main" id="{26F842DA-3CFD-4542-913B-27E05321E421}"/>
              </a:ext>
            </a:extLst>
          </p:cNvPr>
          <p:cNvSpPr/>
          <p:nvPr/>
        </p:nvSpPr>
        <p:spPr>
          <a:xfrm>
            <a:off x="5635401" y="3028284"/>
            <a:ext cx="281609" cy="369332"/>
          </a:xfrm>
          <a:prstGeom prst="rect">
            <a:avLst/>
          </a:prstGeom>
          <a:ln>
            <a:noFill/>
          </a:ln>
        </p:spPr>
        <p:txBody>
          <a:bodyPr wrap="square">
            <a:spAutoFit/>
          </a:bodyPr>
          <a:lstStyle/>
          <a:p>
            <a:r>
              <a:rPr lang="en-US" b="1" dirty="0">
                <a:solidFill>
                  <a:srgbClr val="17212D"/>
                </a:solidFill>
                <a:latin typeface="Noto Sans" panose="020B0502040504020204" pitchFamily="34" charset="0"/>
                <a:ea typeface="Noto Sans" panose="020B0502040504020204" pitchFamily="34" charset="0"/>
                <a:cs typeface="Noto Sans" panose="020B0502040504020204" pitchFamily="34" charset="0"/>
              </a:rPr>
              <a:t>3</a:t>
            </a:r>
          </a:p>
        </p:txBody>
      </p:sp>
      <p:grpSp>
        <p:nvGrpSpPr>
          <p:cNvPr id="2" name="Group 1">
            <a:extLst>
              <a:ext uri="{FF2B5EF4-FFF2-40B4-BE49-F238E27FC236}">
                <a16:creationId xmlns:a16="http://schemas.microsoft.com/office/drawing/2014/main" id="{FDECEDA2-9F70-4A4D-A3E7-E51DB8F04E5E}"/>
              </a:ext>
            </a:extLst>
          </p:cNvPr>
          <p:cNvGrpSpPr/>
          <p:nvPr/>
        </p:nvGrpSpPr>
        <p:grpSpPr>
          <a:xfrm>
            <a:off x="4386514" y="3886513"/>
            <a:ext cx="6870439" cy="2422834"/>
            <a:chOff x="4386514" y="3886513"/>
            <a:chExt cx="6870439" cy="2422834"/>
          </a:xfrm>
        </p:grpSpPr>
        <p:grpSp>
          <p:nvGrpSpPr>
            <p:cNvPr id="59" name="Group 58">
              <a:extLst>
                <a:ext uri="{FF2B5EF4-FFF2-40B4-BE49-F238E27FC236}">
                  <a16:creationId xmlns:a16="http://schemas.microsoft.com/office/drawing/2014/main" id="{9933D31D-C749-A544-B7D9-FE96A2166A69}"/>
                </a:ext>
              </a:extLst>
            </p:cNvPr>
            <p:cNvGrpSpPr/>
            <p:nvPr/>
          </p:nvGrpSpPr>
          <p:grpSpPr>
            <a:xfrm>
              <a:off x="4386514" y="3886513"/>
              <a:ext cx="6870439" cy="2422834"/>
              <a:chOff x="6248399" y="1258739"/>
              <a:chExt cx="6870439" cy="2422834"/>
            </a:xfrm>
          </p:grpSpPr>
          <p:sp>
            <p:nvSpPr>
              <p:cNvPr id="44" name="Rectangle 43">
                <a:extLst>
                  <a:ext uri="{FF2B5EF4-FFF2-40B4-BE49-F238E27FC236}">
                    <a16:creationId xmlns:a16="http://schemas.microsoft.com/office/drawing/2014/main" id="{ECF42152-8B88-8640-B3D2-41159CAD2919}"/>
                  </a:ext>
                </a:extLst>
              </p:cNvPr>
              <p:cNvSpPr/>
              <p:nvPr/>
            </p:nvSpPr>
            <p:spPr>
              <a:xfrm>
                <a:off x="6353130" y="1372472"/>
                <a:ext cx="6210538" cy="2200602"/>
              </a:xfrm>
              <a:prstGeom prst="rect">
                <a:avLst/>
              </a:prstGeom>
              <a:ln>
                <a:noFill/>
              </a:ln>
            </p:spPr>
            <p:txBody>
              <a:bodyPr wrap="square">
                <a:spAutoFit/>
              </a:bodyPr>
              <a:lstStyle/>
              <a:p>
                <a:pPr fontAlgn="base"/>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Grid Layout</a:t>
                </a:r>
                <a:b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When you enter MC (Mass Create) you will see a table. We refer to this as the Mass Create Grid. The grid is structured in a standard table format, where:</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row</a:t>
                </a: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 </a:t>
                </a:r>
                <a:r>
                  <a:rPr lang="en-GB" sz="1200"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creative variant</a:t>
                </a:r>
              </a:p>
              <a:p>
                <a:pPr fontAlgn="base">
                  <a:buSzPct val="15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column</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represents an </a:t>
                </a:r>
                <a:r>
                  <a:rPr lang="en-GB" sz="1200" b="1" dirty="0">
                    <a:solidFill>
                      <a:schemeClr val="accent2">
                        <a:lumMod val="75000"/>
                      </a:schemeClr>
                    </a:solidFill>
                    <a:latin typeface="Noto Sans" panose="020B0502040504020204" pitchFamily="34" charset="0"/>
                    <a:ea typeface="Noto Sans" panose="020B0502040504020204" pitchFamily="34" charset="0"/>
                    <a:cs typeface="Noto Sans" panose="020B0502040504020204" pitchFamily="34" charset="0"/>
                  </a:rPr>
                  <a:t>editable field</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 or a dynamic element within your template</a:t>
                </a:r>
              </a:p>
              <a:p>
                <a:pPr fontAlgn="base">
                  <a:buSzPct val="150000"/>
                </a:pPr>
                <a:endParaRPr lang="en-GB" sz="1200" dirty="0">
                  <a:solidFill>
                    <a:schemeClr val="accent2"/>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cell</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contains the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value</a:t>
                </a: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 for that field (column) and the  corresponding variant (row).</a:t>
                </a:r>
              </a:p>
            </p:txBody>
          </p:sp>
          <p:sp>
            <p:nvSpPr>
              <p:cNvPr id="58" name="Rectangle 57">
                <a:extLst>
                  <a:ext uri="{FF2B5EF4-FFF2-40B4-BE49-F238E27FC236}">
                    <a16:creationId xmlns:a16="http://schemas.microsoft.com/office/drawing/2014/main" id="{23E3E4FC-A07A-7549-AF62-90460448F823}"/>
                  </a:ext>
                </a:extLst>
              </p:cNvPr>
              <p:cNvSpPr/>
              <p:nvPr/>
            </p:nvSpPr>
            <p:spPr>
              <a:xfrm>
                <a:off x="6248399" y="1258739"/>
                <a:ext cx="6870439" cy="2422834"/>
              </a:xfrm>
              <a:prstGeom prst="rect">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3DAC21F-8F2A-1346-B0EB-7435AE6EB8F5}"/>
                </a:ext>
              </a:extLst>
            </p:cNvPr>
            <p:cNvSpPr/>
            <p:nvPr/>
          </p:nvSpPr>
          <p:spPr>
            <a:xfrm>
              <a:off x="4491244" y="3966613"/>
              <a:ext cx="6666907" cy="2215991"/>
            </a:xfrm>
            <a:prstGeom prst="rect">
              <a:avLst/>
            </a:prstGeom>
            <a:ln>
              <a:noFill/>
            </a:ln>
          </p:spPr>
          <p:txBody>
            <a:bodyPr wrap="square">
              <a:spAutoFit/>
            </a:bodyPr>
            <a:lstStyle/>
            <a:p>
              <a:pPr fontAlgn="base"/>
              <a: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t>Grid Layout</a:t>
              </a:r>
              <a:br>
                <a:rPr lang="en-US" b="1" dirty="0">
                  <a:solidFill>
                    <a:schemeClr val="accent2"/>
                  </a:solidFill>
                  <a:latin typeface="Noto Sans" panose="020B0502040504020204" pitchFamily="34" charset="0"/>
                  <a:ea typeface="Noto Sans" panose="020B0502040504020204" pitchFamily="34" charset="0"/>
                  <a:cs typeface="Noto Sans" panose="020B0502040504020204" pitchFamily="34" charset="0"/>
                </a:rPr>
              </a:br>
              <a:endPar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Mass Create grid is also split out in variant settings (Metadata) and template features. </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b="1"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Metadata </a:t>
              </a:r>
              <a:r>
                <a:rPr lang="en-GB" sz="1200" dirty="0">
                  <a:solidFill>
                    <a:schemeClr val="accent3">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fields are variant settings such as the variant name, the audience it’s assigned to etc.</a:t>
              </a:r>
            </a:p>
            <a:p>
              <a:pPr fontAlgn="base">
                <a:buSzPct val="150000"/>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b="1"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Template feature </a:t>
              </a:r>
              <a:r>
                <a:rPr lang="en-GB" sz="1200" dirty="0">
                  <a:solidFill>
                    <a:schemeClr val="accent2">
                      <a:lumMod val="75000"/>
                    </a:schemeClr>
                  </a:solidFill>
                  <a:latin typeface="Noto Sans Light" panose="020B0402040504020204" pitchFamily="34" charset="0"/>
                  <a:ea typeface="Noto Sans Light" panose="020B0402040504020204" pitchFamily="34" charset="0"/>
                  <a:cs typeface="Noto Sans Light" panose="020B0402040504020204" pitchFamily="34" charset="0"/>
                </a:rPr>
                <a:t>fields represent the features you would find in the template menu when editing a single variant. These will be split into Global and frame specific features.</a:t>
              </a:r>
            </a:p>
            <a:p>
              <a:pPr fontAlgn="base">
                <a:buSzPct val="150000"/>
              </a:pPr>
              <a:endParaRPr lang="en-GB" sz="1200" dirty="0">
                <a:solidFill>
                  <a:schemeClr val="accent2"/>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SzPct val="150000"/>
              </a:pPr>
              <a:r>
                <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rPr>
                <a:t>Each </a:t>
              </a:r>
              <a:r>
                <a:rPr lang="en-GB" sz="1200" b="1" dirty="0">
                  <a:solidFill>
                    <a:srgbClr val="17212D"/>
                  </a:solidFill>
                  <a:latin typeface="Noto Sans" panose="020B0502040504020204" pitchFamily="34" charset="0"/>
                  <a:ea typeface="Noto Sans" panose="020B0502040504020204" pitchFamily="34" charset="0"/>
                  <a:cs typeface="Noto Sans" panose="020B0502040504020204" pitchFamily="34" charset="0"/>
                </a:rPr>
                <a:t>cell </a:t>
              </a:r>
              <a:r>
                <a:rPr lang="en-GB" sz="1200" dirty="0">
                  <a:solidFill>
                    <a:srgbClr val="17212D"/>
                  </a:solidFill>
                  <a:latin typeface="Noto Sans" panose="020B0502040504020204" pitchFamily="34" charset="0"/>
                  <a:ea typeface="Noto Sans" panose="020B0502040504020204" pitchFamily="34" charset="0"/>
                  <a:cs typeface="Noto Sans" panose="020B0502040504020204" pitchFamily="34" charset="0"/>
                </a:rPr>
                <a:t>will be edited either be a numeric field referencing x/y positioning and sizing or a text field referencing copy.</a:t>
              </a:r>
              <a:endParaRPr lang="en-GB" sz="1200" dirty="0">
                <a:solidFill>
                  <a:srgbClr val="17212D"/>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sp>
        <p:nvSpPr>
          <p:cNvPr id="13" name="Left Bracket 12">
            <a:extLst>
              <a:ext uri="{FF2B5EF4-FFF2-40B4-BE49-F238E27FC236}">
                <a16:creationId xmlns:a16="http://schemas.microsoft.com/office/drawing/2014/main" id="{3620AE6F-231C-6F4B-A8A0-D381CC977EE2}"/>
              </a:ext>
            </a:extLst>
          </p:cNvPr>
          <p:cNvSpPr/>
          <p:nvPr/>
        </p:nvSpPr>
        <p:spPr>
          <a:xfrm rot="5400000">
            <a:off x="3074764" y="545345"/>
            <a:ext cx="258165" cy="3931920"/>
          </a:xfrm>
          <a:prstGeom prst="leftBracket">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Rectangle 53">
            <a:extLst>
              <a:ext uri="{FF2B5EF4-FFF2-40B4-BE49-F238E27FC236}">
                <a16:creationId xmlns:a16="http://schemas.microsoft.com/office/drawing/2014/main" id="{A8AD6167-4572-F549-9BEC-ABDE29BD737B}"/>
              </a:ext>
            </a:extLst>
          </p:cNvPr>
          <p:cNvSpPr/>
          <p:nvPr/>
        </p:nvSpPr>
        <p:spPr>
          <a:xfrm>
            <a:off x="3038835" y="2080412"/>
            <a:ext cx="281609" cy="369332"/>
          </a:xfrm>
          <a:prstGeom prst="rect">
            <a:avLst/>
          </a:prstGeom>
          <a:ln>
            <a:noFill/>
          </a:ln>
        </p:spPr>
        <p:txBody>
          <a:bodyPr wrap="square">
            <a:spAutoFit/>
          </a:bodyPr>
          <a:lstStyle/>
          <a:p>
            <a:r>
              <a:rPr lang="en-US" b="1" dirty="0">
                <a:solidFill>
                  <a:schemeClr val="accent3">
                    <a:lumMod val="75000"/>
                  </a:schemeClr>
                </a:solidFill>
                <a:latin typeface="Noto Sans" panose="020B0502040504020204" pitchFamily="34" charset="0"/>
                <a:ea typeface="Noto Sans" panose="020B0502040504020204" pitchFamily="34" charset="0"/>
                <a:cs typeface="Noto Sans" panose="020B0502040504020204" pitchFamily="34" charset="0"/>
              </a:rPr>
              <a:t>1</a:t>
            </a:r>
          </a:p>
        </p:txBody>
      </p:sp>
      <p:pic>
        <p:nvPicPr>
          <p:cNvPr id="22" name="Picture 21">
            <a:extLst>
              <a:ext uri="{FF2B5EF4-FFF2-40B4-BE49-F238E27FC236}">
                <a16:creationId xmlns:a16="http://schemas.microsoft.com/office/drawing/2014/main" id="{B7234C64-7779-7E4C-90F7-74E70F784FBD}"/>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11320083" y="1147002"/>
            <a:ext cx="675955" cy="675955"/>
          </a:xfrm>
          <a:prstGeom prst="rect">
            <a:avLst/>
          </a:prstGeom>
        </p:spPr>
      </p:pic>
    </p:spTree>
    <p:extLst>
      <p:ext uri="{BB962C8B-B14F-4D97-AF65-F5344CB8AC3E}">
        <p14:creationId xmlns:p14="http://schemas.microsoft.com/office/powerpoint/2010/main" val="1064228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96E1B71-6B46-5D45-A25D-92A26E417C4F}"/>
              </a:ext>
            </a:extLst>
          </p:cNvPr>
          <p:cNvGrpSpPr/>
          <p:nvPr/>
        </p:nvGrpSpPr>
        <p:grpSpPr>
          <a:xfrm>
            <a:off x="3609444" y="1809592"/>
            <a:ext cx="8368813" cy="4524798"/>
            <a:chOff x="3609444" y="1809592"/>
            <a:chExt cx="8368813" cy="4524798"/>
          </a:xfrm>
        </p:grpSpPr>
        <p:grpSp>
          <p:nvGrpSpPr>
            <p:cNvPr id="2" name="Group 1">
              <a:extLst>
                <a:ext uri="{FF2B5EF4-FFF2-40B4-BE49-F238E27FC236}">
                  <a16:creationId xmlns:a16="http://schemas.microsoft.com/office/drawing/2014/main" id="{AED9658D-3C0D-AC4D-A85D-A7BA2577129B}"/>
                </a:ext>
              </a:extLst>
            </p:cNvPr>
            <p:cNvGrpSpPr/>
            <p:nvPr/>
          </p:nvGrpSpPr>
          <p:grpSpPr>
            <a:xfrm>
              <a:off x="3609444" y="1809592"/>
              <a:ext cx="8368813" cy="4524798"/>
              <a:chOff x="3609444" y="1809592"/>
              <a:chExt cx="8368813" cy="4524798"/>
            </a:xfrm>
          </p:grpSpPr>
          <p:pic>
            <p:nvPicPr>
              <p:cNvPr id="5" name="Picture 4" descr="A screenshot of a computer&#10;&#10;Description automatically generated">
                <a:extLst>
                  <a:ext uri="{FF2B5EF4-FFF2-40B4-BE49-F238E27FC236}">
                    <a16:creationId xmlns:a16="http://schemas.microsoft.com/office/drawing/2014/main" id="{79E33831-F6A5-3F4E-93F8-F5488FA5092B}"/>
                  </a:ext>
                </a:extLst>
              </p:cNvPr>
              <p:cNvPicPr>
                <a:picLocks noChangeAspect="1"/>
              </p:cNvPicPr>
              <p:nvPr/>
            </p:nvPicPr>
            <p:blipFill>
              <a:blip r:embed="rId3"/>
              <a:stretch>
                <a:fillRect/>
              </a:stretch>
            </p:blipFill>
            <p:spPr>
              <a:xfrm>
                <a:off x="3609444" y="1809592"/>
                <a:ext cx="8368813" cy="4524798"/>
              </a:xfrm>
              <a:prstGeom prst="rect">
                <a:avLst/>
              </a:prstGeom>
            </p:spPr>
          </p:pic>
          <p:pic>
            <p:nvPicPr>
              <p:cNvPr id="46" name="Picture 45" descr="Graphical user interface, application&#10;&#10;Description automatically generated">
                <a:extLst>
                  <a:ext uri="{FF2B5EF4-FFF2-40B4-BE49-F238E27FC236}">
                    <a16:creationId xmlns:a16="http://schemas.microsoft.com/office/drawing/2014/main" id="{F3BC4CA4-E2E2-D149-BDF6-377B38309833}"/>
                  </a:ext>
                </a:extLst>
              </p:cNvPr>
              <p:cNvPicPr>
                <a:picLocks noChangeAspect="1"/>
              </p:cNvPicPr>
              <p:nvPr/>
            </p:nvPicPr>
            <p:blipFill rotWithShape="1">
              <a:blip r:embed="rId4"/>
              <a:srcRect t="18462" r="70833" b="74030"/>
              <a:stretch/>
            </p:blipFill>
            <p:spPr>
              <a:xfrm>
                <a:off x="3618079" y="2101306"/>
                <a:ext cx="2220077" cy="357187"/>
              </a:xfrm>
              <a:prstGeom prst="rect">
                <a:avLst/>
              </a:prstGeom>
            </p:spPr>
          </p:pic>
        </p:grpSp>
        <p:sp>
          <p:nvSpPr>
            <p:cNvPr id="3" name="Rectangle 2">
              <a:extLst>
                <a:ext uri="{FF2B5EF4-FFF2-40B4-BE49-F238E27FC236}">
                  <a16:creationId xmlns:a16="http://schemas.microsoft.com/office/drawing/2014/main" id="{1DD4E556-BE18-B249-8D53-ACAEA98911AB}"/>
                </a:ext>
              </a:extLst>
            </p:cNvPr>
            <p:cNvSpPr/>
            <p:nvPr/>
          </p:nvSpPr>
          <p:spPr>
            <a:xfrm>
              <a:off x="4778555" y="2111804"/>
              <a:ext cx="1059601" cy="326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31" name="Rectangle 30">
            <a:extLst>
              <a:ext uri="{FF2B5EF4-FFF2-40B4-BE49-F238E27FC236}">
                <a16:creationId xmlns:a16="http://schemas.microsoft.com/office/drawing/2014/main" id="{05B4D895-7C4F-0042-84BF-89EE656BDDB7}"/>
              </a:ext>
            </a:extLst>
          </p:cNvPr>
          <p:cNvSpPr/>
          <p:nvPr/>
        </p:nvSpPr>
        <p:spPr>
          <a:xfrm>
            <a:off x="704415" y="2324967"/>
            <a:ext cx="2796038" cy="3663823"/>
          </a:xfrm>
          <a:prstGeom prst="rect">
            <a:avLst/>
          </a:prstGeom>
          <a:ln>
            <a:noFill/>
          </a:ln>
        </p:spPr>
        <p:txBody>
          <a:bodyPr wrap="square">
            <a:spAutoFit/>
          </a:bodyPr>
          <a:lstStyle/>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Select box</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Variant Sizes</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Hide Columns</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Filter</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Sort </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Variant Count</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Size ON/OFF</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Status Indicator</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Exit link</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Save button</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Export button</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Import button</a:t>
            </a:r>
          </a:p>
          <a:p>
            <a:pPr marL="342900" indent="-342900" fontAlgn="base">
              <a:lnSpc>
                <a:spcPct val="150000"/>
              </a:lnSpc>
              <a:buClr>
                <a:schemeClr val="accent1"/>
              </a:buClr>
              <a:buSzPct val="120000"/>
              <a:buFont typeface="+mj-lt"/>
              <a:buAutoNum type="arabicPeriod"/>
            </a:pPr>
            <a:r>
              <a:rPr lang="en-GB" sz="1200" b="1" dirty="0">
                <a:latin typeface="Noto Sans" panose="020B0502040504020204" pitchFamily="34" charset="0"/>
                <a:ea typeface="Noto Sans" panose="020B0502040504020204" pitchFamily="34" charset="0"/>
                <a:cs typeface="Noto Sans" panose="020B0502040504020204" pitchFamily="34" charset="0"/>
              </a:rPr>
              <a:t>Collapse Columns</a:t>
            </a:r>
          </a:p>
        </p:txBody>
      </p:sp>
      <p:sp>
        <p:nvSpPr>
          <p:cNvPr id="43" name="Rectangle 42">
            <a:extLst>
              <a:ext uri="{FF2B5EF4-FFF2-40B4-BE49-F238E27FC236}">
                <a16:creationId xmlns:a16="http://schemas.microsoft.com/office/drawing/2014/main" id="{F590BC5F-228A-0341-A1CF-5F575DADD80B}"/>
              </a:ext>
            </a:extLst>
          </p:cNvPr>
          <p:cNvSpPr/>
          <p:nvPr/>
        </p:nvSpPr>
        <p:spPr>
          <a:xfrm>
            <a:off x="10438841" y="1303129"/>
            <a:ext cx="666895" cy="369332"/>
          </a:xfrm>
          <a:prstGeom prst="rect">
            <a:avLst/>
          </a:prstGeom>
          <a:ln>
            <a:noFill/>
          </a:ln>
        </p:spPr>
        <p:txBody>
          <a:bodyPr wrap="square">
            <a:spAutoFit/>
          </a:bodyPr>
          <a:lstStyle/>
          <a:p>
            <a:pPr algn="ct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11</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5" name="Rectangle 44">
            <a:extLst>
              <a:ext uri="{FF2B5EF4-FFF2-40B4-BE49-F238E27FC236}">
                <a16:creationId xmlns:a16="http://schemas.microsoft.com/office/drawing/2014/main" id="{BFDC3C8B-DABF-DB45-8555-8BC054F539CF}"/>
              </a:ext>
            </a:extLst>
          </p:cNvPr>
          <p:cNvSpPr/>
          <p:nvPr/>
        </p:nvSpPr>
        <p:spPr>
          <a:xfrm>
            <a:off x="396217" y="1766376"/>
            <a:ext cx="3073725" cy="461665"/>
          </a:xfrm>
          <a:prstGeom prst="rect">
            <a:avLst/>
          </a:prstGeom>
          <a:ln>
            <a:noFill/>
          </a:ln>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Within the MC grid, you will find the following features:</a:t>
            </a:r>
            <a:endParaRPr lang="en-GB" sz="1200"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endParaRPr>
          </a:p>
        </p:txBody>
      </p:sp>
      <p:sp>
        <p:nvSpPr>
          <p:cNvPr id="47" name="Title 1">
            <a:extLst>
              <a:ext uri="{FF2B5EF4-FFF2-40B4-BE49-F238E27FC236}">
                <a16:creationId xmlns:a16="http://schemas.microsoft.com/office/drawing/2014/main" id="{E9632458-5586-3644-BF02-5E7C59B3111B}"/>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Mass Create Feature Map</a:t>
            </a:r>
          </a:p>
        </p:txBody>
      </p:sp>
      <p:cxnSp>
        <p:nvCxnSpPr>
          <p:cNvPr id="69" name="Straight Connector 68">
            <a:extLst>
              <a:ext uri="{FF2B5EF4-FFF2-40B4-BE49-F238E27FC236}">
                <a16:creationId xmlns:a16="http://schemas.microsoft.com/office/drawing/2014/main" id="{E0DAC658-C9DE-8C4B-85DF-6DAA68AED958}"/>
              </a:ext>
            </a:extLst>
          </p:cNvPr>
          <p:cNvCxnSpPr>
            <a:cxnSpLocks/>
            <a:stCxn id="37" idx="2"/>
            <a:endCxn id="36" idx="0"/>
          </p:cNvCxnSpPr>
          <p:nvPr/>
        </p:nvCxnSpPr>
        <p:spPr>
          <a:xfrm flipH="1">
            <a:off x="4187957" y="1672461"/>
            <a:ext cx="9980" cy="19235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2A23CAE-085E-2E40-A339-D78156BBD97A}"/>
              </a:ext>
            </a:extLst>
          </p:cNvPr>
          <p:cNvCxnSpPr>
            <a:cxnSpLocks/>
            <a:stCxn id="39" idx="2"/>
            <a:endCxn id="38" idx="0"/>
          </p:cNvCxnSpPr>
          <p:nvPr/>
        </p:nvCxnSpPr>
        <p:spPr>
          <a:xfrm flipH="1">
            <a:off x="11418602" y="1672461"/>
            <a:ext cx="89915" cy="12575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EA10CF4-9F13-2942-BBF9-65654CD50D5F}"/>
              </a:ext>
            </a:extLst>
          </p:cNvPr>
          <p:cNvSpPr/>
          <p:nvPr/>
        </p:nvSpPr>
        <p:spPr>
          <a:xfrm>
            <a:off x="3150046" y="5190673"/>
            <a:ext cx="339116"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8</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54" name="Straight Connector 53">
            <a:extLst>
              <a:ext uri="{FF2B5EF4-FFF2-40B4-BE49-F238E27FC236}">
                <a16:creationId xmlns:a16="http://schemas.microsoft.com/office/drawing/2014/main" id="{92F63270-2AF0-8C46-9142-24D644A4B0C2}"/>
              </a:ext>
            </a:extLst>
          </p:cNvPr>
          <p:cNvCxnSpPr>
            <a:cxnSpLocks/>
            <a:stCxn id="25" idx="3"/>
            <a:endCxn id="24" idx="1"/>
          </p:cNvCxnSpPr>
          <p:nvPr/>
        </p:nvCxnSpPr>
        <p:spPr>
          <a:xfrm>
            <a:off x="3486329" y="6177332"/>
            <a:ext cx="84184" cy="60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0531537B-88B3-944C-868C-A987801DA31F}"/>
              </a:ext>
            </a:extLst>
          </p:cNvPr>
          <p:cNvSpPr/>
          <p:nvPr/>
        </p:nvSpPr>
        <p:spPr>
          <a:xfrm>
            <a:off x="3152880" y="5992666"/>
            <a:ext cx="333449"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6</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0" name="Rectangle 29">
            <a:extLst>
              <a:ext uri="{FF2B5EF4-FFF2-40B4-BE49-F238E27FC236}">
                <a16:creationId xmlns:a16="http://schemas.microsoft.com/office/drawing/2014/main" id="{DCFE7A49-2032-AD40-90A5-0C719B43E662}"/>
              </a:ext>
            </a:extLst>
          </p:cNvPr>
          <p:cNvSpPr/>
          <p:nvPr/>
        </p:nvSpPr>
        <p:spPr>
          <a:xfrm>
            <a:off x="3651580" y="2812592"/>
            <a:ext cx="218892" cy="1628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0" name="Rectangle 9">
            <a:extLst>
              <a:ext uri="{FF2B5EF4-FFF2-40B4-BE49-F238E27FC236}">
                <a16:creationId xmlns:a16="http://schemas.microsoft.com/office/drawing/2014/main" id="{27AF5F96-1EC4-1F42-A7E8-BE9EAEC2A650}"/>
              </a:ext>
            </a:extLst>
          </p:cNvPr>
          <p:cNvSpPr/>
          <p:nvPr/>
        </p:nvSpPr>
        <p:spPr>
          <a:xfrm>
            <a:off x="2803979" y="2813459"/>
            <a:ext cx="301929"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7" name="Rectangle 16">
            <a:extLst>
              <a:ext uri="{FF2B5EF4-FFF2-40B4-BE49-F238E27FC236}">
                <a16:creationId xmlns:a16="http://schemas.microsoft.com/office/drawing/2014/main" id="{F906DDCD-EBD6-9C43-ACB6-DAE73B001ED1}"/>
              </a:ext>
            </a:extLst>
          </p:cNvPr>
          <p:cNvSpPr/>
          <p:nvPr/>
        </p:nvSpPr>
        <p:spPr>
          <a:xfrm>
            <a:off x="3678480" y="2457512"/>
            <a:ext cx="779799" cy="1628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FFC90B08-B0EC-9A40-9F9B-1EA971678C47}"/>
              </a:ext>
            </a:extLst>
          </p:cNvPr>
          <p:cNvSpPr/>
          <p:nvPr/>
        </p:nvSpPr>
        <p:spPr>
          <a:xfrm>
            <a:off x="3086512" y="2519224"/>
            <a:ext cx="301930"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5" name="Rectangle 34">
            <a:extLst>
              <a:ext uri="{FF2B5EF4-FFF2-40B4-BE49-F238E27FC236}">
                <a16:creationId xmlns:a16="http://schemas.microsoft.com/office/drawing/2014/main" id="{7BDFEEC0-DA04-0C46-857B-215E1CFE4075}"/>
              </a:ext>
            </a:extLst>
          </p:cNvPr>
          <p:cNvSpPr/>
          <p:nvPr/>
        </p:nvSpPr>
        <p:spPr>
          <a:xfrm>
            <a:off x="8134692" y="2632591"/>
            <a:ext cx="364225" cy="19424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4" name="Rectangle 33">
            <a:extLst>
              <a:ext uri="{FF2B5EF4-FFF2-40B4-BE49-F238E27FC236}">
                <a16:creationId xmlns:a16="http://schemas.microsoft.com/office/drawing/2014/main" id="{8ACA3CF2-56D0-1541-A637-A28E1C1EA274}"/>
              </a:ext>
            </a:extLst>
          </p:cNvPr>
          <p:cNvSpPr/>
          <p:nvPr/>
        </p:nvSpPr>
        <p:spPr>
          <a:xfrm>
            <a:off x="3687545" y="2087916"/>
            <a:ext cx="1081656" cy="35569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7" name="Straight Connector 6">
            <a:extLst>
              <a:ext uri="{FF2B5EF4-FFF2-40B4-BE49-F238E27FC236}">
                <a16:creationId xmlns:a16="http://schemas.microsoft.com/office/drawing/2014/main" id="{EA89DA85-8148-A347-B91A-CA023DEAD594}"/>
              </a:ext>
            </a:extLst>
          </p:cNvPr>
          <p:cNvCxnSpPr>
            <a:cxnSpLocks/>
          </p:cNvCxnSpPr>
          <p:nvPr/>
        </p:nvCxnSpPr>
        <p:spPr>
          <a:xfrm flipV="1">
            <a:off x="3389501" y="2211821"/>
            <a:ext cx="288979" cy="7419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390E3E54-A753-694C-8B01-053950EC86E3}"/>
              </a:ext>
            </a:extLst>
          </p:cNvPr>
          <p:cNvSpPr/>
          <p:nvPr/>
        </p:nvSpPr>
        <p:spPr>
          <a:xfrm>
            <a:off x="3099247" y="2111804"/>
            <a:ext cx="247059"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6" name="Rectangle 35">
            <a:extLst>
              <a:ext uri="{FF2B5EF4-FFF2-40B4-BE49-F238E27FC236}">
                <a16:creationId xmlns:a16="http://schemas.microsoft.com/office/drawing/2014/main" id="{8BC7677E-9970-FF4C-9A4C-AFD3E9CF3EE0}"/>
              </a:ext>
            </a:extLst>
          </p:cNvPr>
          <p:cNvSpPr/>
          <p:nvPr/>
        </p:nvSpPr>
        <p:spPr>
          <a:xfrm>
            <a:off x="3854509" y="1864820"/>
            <a:ext cx="666895" cy="19537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7" name="Rectangle 36">
            <a:extLst>
              <a:ext uri="{FF2B5EF4-FFF2-40B4-BE49-F238E27FC236}">
                <a16:creationId xmlns:a16="http://schemas.microsoft.com/office/drawing/2014/main" id="{70BAF016-62F7-BD46-A14B-D8A77E1AB04C}"/>
              </a:ext>
            </a:extLst>
          </p:cNvPr>
          <p:cNvSpPr/>
          <p:nvPr/>
        </p:nvSpPr>
        <p:spPr>
          <a:xfrm>
            <a:off x="4051050" y="1303129"/>
            <a:ext cx="293774" cy="369332"/>
          </a:xfrm>
          <a:prstGeom prst="rect">
            <a:avLst/>
          </a:prstGeom>
          <a:ln>
            <a:noFill/>
          </a:ln>
        </p:spPr>
        <p:txBody>
          <a:bodyPr wrap="square">
            <a:spAutoFit/>
          </a:bodyPr>
          <a:lstStyle/>
          <a:p>
            <a:pPr algn="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9</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2" name="Rectangle 31">
            <a:extLst>
              <a:ext uri="{FF2B5EF4-FFF2-40B4-BE49-F238E27FC236}">
                <a16:creationId xmlns:a16="http://schemas.microsoft.com/office/drawing/2014/main" id="{EFB24460-FBE1-0F4E-BC86-4D5AE5BB7F06}"/>
              </a:ext>
            </a:extLst>
          </p:cNvPr>
          <p:cNvSpPr/>
          <p:nvPr/>
        </p:nvSpPr>
        <p:spPr>
          <a:xfrm>
            <a:off x="4514593" y="2444910"/>
            <a:ext cx="527924" cy="18768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50" name="Straight Connector 49">
            <a:extLst>
              <a:ext uri="{FF2B5EF4-FFF2-40B4-BE49-F238E27FC236}">
                <a16:creationId xmlns:a16="http://schemas.microsoft.com/office/drawing/2014/main" id="{6A229611-153B-FD4D-B0A0-01933A2D10B3}"/>
              </a:ext>
            </a:extLst>
          </p:cNvPr>
          <p:cNvCxnSpPr>
            <a:cxnSpLocks/>
            <a:stCxn id="21" idx="2"/>
            <a:endCxn id="32" idx="0"/>
          </p:cNvCxnSpPr>
          <p:nvPr/>
        </p:nvCxnSpPr>
        <p:spPr>
          <a:xfrm flipH="1">
            <a:off x="4778555" y="1672461"/>
            <a:ext cx="430685" cy="77244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37C0AAF-29E6-7741-943E-AA9A9B478D37}"/>
              </a:ext>
            </a:extLst>
          </p:cNvPr>
          <p:cNvSpPr/>
          <p:nvPr/>
        </p:nvSpPr>
        <p:spPr>
          <a:xfrm>
            <a:off x="5042516" y="1303129"/>
            <a:ext cx="333448" cy="369332"/>
          </a:xfrm>
          <a:prstGeom prst="rect">
            <a:avLst/>
          </a:prstGeom>
          <a:ln>
            <a:noFill/>
          </a:ln>
        </p:spPr>
        <p:txBody>
          <a:bodyPr wrap="square">
            <a:spAutoFit/>
          </a:bodyPr>
          <a:lstStyle/>
          <a:p>
            <a:pPr algn="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4</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2" name="Rectangle 21">
            <a:extLst>
              <a:ext uri="{FF2B5EF4-FFF2-40B4-BE49-F238E27FC236}">
                <a16:creationId xmlns:a16="http://schemas.microsoft.com/office/drawing/2014/main" id="{67E9B038-0184-0443-A52A-8BD4C7A859E0}"/>
              </a:ext>
            </a:extLst>
          </p:cNvPr>
          <p:cNvSpPr/>
          <p:nvPr/>
        </p:nvSpPr>
        <p:spPr>
          <a:xfrm>
            <a:off x="5663919" y="1303129"/>
            <a:ext cx="333448" cy="369332"/>
          </a:xfrm>
          <a:prstGeom prst="rect">
            <a:avLst/>
          </a:prstGeom>
          <a:ln>
            <a:noFill/>
          </a:ln>
        </p:spPr>
        <p:txBody>
          <a:bodyPr wrap="square">
            <a:spAutoFit/>
          </a:bodyPr>
          <a:lstStyle/>
          <a:p>
            <a:pPr algn="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5</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3" name="Rectangle 32">
            <a:extLst>
              <a:ext uri="{FF2B5EF4-FFF2-40B4-BE49-F238E27FC236}">
                <a16:creationId xmlns:a16="http://schemas.microsoft.com/office/drawing/2014/main" id="{9407293C-2F23-5C42-AF40-5F0357211CF7}"/>
              </a:ext>
            </a:extLst>
          </p:cNvPr>
          <p:cNvSpPr/>
          <p:nvPr/>
        </p:nvSpPr>
        <p:spPr>
          <a:xfrm>
            <a:off x="5144519" y="2438348"/>
            <a:ext cx="430683" cy="19424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51" name="Straight Connector 50">
            <a:extLst>
              <a:ext uri="{FF2B5EF4-FFF2-40B4-BE49-F238E27FC236}">
                <a16:creationId xmlns:a16="http://schemas.microsoft.com/office/drawing/2014/main" id="{84D31152-3DCF-DB41-B09F-856D1D709A3B}"/>
              </a:ext>
            </a:extLst>
          </p:cNvPr>
          <p:cNvCxnSpPr>
            <a:cxnSpLocks/>
            <a:stCxn id="22" idx="2"/>
            <a:endCxn id="33" idx="0"/>
          </p:cNvCxnSpPr>
          <p:nvPr/>
        </p:nvCxnSpPr>
        <p:spPr>
          <a:xfrm flipH="1">
            <a:off x="5359861" y="1672461"/>
            <a:ext cx="470782" cy="76588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9572D8C-FE42-AC48-9753-08A7028B4C23}"/>
              </a:ext>
            </a:extLst>
          </p:cNvPr>
          <p:cNvCxnSpPr>
            <a:cxnSpLocks/>
          </p:cNvCxnSpPr>
          <p:nvPr/>
        </p:nvCxnSpPr>
        <p:spPr>
          <a:xfrm>
            <a:off x="8355061" y="1557138"/>
            <a:ext cx="1" cy="108201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86820AFA-C4E5-A242-B361-B30ABFD92874}"/>
              </a:ext>
            </a:extLst>
          </p:cNvPr>
          <p:cNvSpPr/>
          <p:nvPr/>
        </p:nvSpPr>
        <p:spPr>
          <a:xfrm>
            <a:off x="8021613" y="1303129"/>
            <a:ext cx="666896" cy="369332"/>
          </a:xfrm>
          <a:prstGeom prst="rect">
            <a:avLst/>
          </a:prstGeom>
          <a:ln>
            <a:noFill/>
          </a:ln>
        </p:spPr>
        <p:txBody>
          <a:bodyPr wrap="square">
            <a:spAutoFit/>
          </a:bodyPr>
          <a:lstStyle/>
          <a:p>
            <a:pPr algn="ct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13</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2" name="Rectangle 41">
            <a:extLst>
              <a:ext uri="{FF2B5EF4-FFF2-40B4-BE49-F238E27FC236}">
                <a16:creationId xmlns:a16="http://schemas.microsoft.com/office/drawing/2014/main" id="{53F14F7A-7098-CA4F-90B8-A23109C57744}"/>
              </a:ext>
            </a:extLst>
          </p:cNvPr>
          <p:cNvSpPr/>
          <p:nvPr/>
        </p:nvSpPr>
        <p:spPr>
          <a:xfrm>
            <a:off x="9654319" y="1303129"/>
            <a:ext cx="666896" cy="369332"/>
          </a:xfrm>
          <a:prstGeom prst="rect">
            <a:avLst/>
          </a:prstGeom>
          <a:ln>
            <a:noFill/>
          </a:ln>
        </p:spPr>
        <p:txBody>
          <a:bodyPr wrap="square">
            <a:spAutoFit/>
          </a:bodyPr>
          <a:lstStyle/>
          <a:p>
            <a:pPr algn="ct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12</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0" name="Rectangle 39">
            <a:extLst>
              <a:ext uri="{FF2B5EF4-FFF2-40B4-BE49-F238E27FC236}">
                <a16:creationId xmlns:a16="http://schemas.microsoft.com/office/drawing/2014/main" id="{D6A20DB7-FF3E-1E41-9511-CF88295628A1}"/>
              </a:ext>
            </a:extLst>
          </p:cNvPr>
          <p:cNvSpPr/>
          <p:nvPr/>
        </p:nvSpPr>
        <p:spPr>
          <a:xfrm>
            <a:off x="11118686" y="2443614"/>
            <a:ext cx="381849" cy="18370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1" name="Rectangle 40">
            <a:extLst>
              <a:ext uri="{FF2B5EF4-FFF2-40B4-BE49-F238E27FC236}">
                <a16:creationId xmlns:a16="http://schemas.microsoft.com/office/drawing/2014/main" id="{C1A4E043-EFF4-3840-82C0-25A0F0F1C4D8}"/>
              </a:ext>
            </a:extLst>
          </p:cNvPr>
          <p:cNvSpPr/>
          <p:nvPr/>
        </p:nvSpPr>
        <p:spPr>
          <a:xfrm>
            <a:off x="11477739" y="2455443"/>
            <a:ext cx="364225" cy="17714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76" name="Straight Connector 75">
            <a:extLst>
              <a:ext uri="{FF2B5EF4-FFF2-40B4-BE49-F238E27FC236}">
                <a16:creationId xmlns:a16="http://schemas.microsoft.com/office/drawing/2014/main" id="{290CDBF6-EE2A-1E4D-846D-4D3A3F4CB5F3}"/>
              </a:ext>
            </a:extLst>
          </p:cNvPr>
          <p:cNvCxnSpPr>
            <a:cxnSpLocks/>
            <a:stCxn id="42" idx="2"/>
            <a:endCxn id="40" idx="0"/>
          </p:cNvCxnSpPr>
          <p:nvPr/>
        </p:nvCxnSpPr>
        <p:spPr>
          <a:xfrm>
            <a:off x="9987767" y="1672461"/>
            <a:ext cx="1321844" cy="77115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0537F43-A922-BB40-A351-A9723127C1E6}"/>
              </a:ext>
            </a:extLst>
          </p:cNvPr>
          <p:cNvCxnSpPr>
            <a:cxnSpLocks/>
            <a:stCxn id="43" idx="2"/>
            <a:endCxn id="41" idx="0"/>
          </p:cNvCxnSpPr>
          <p:nvPr/>
        </p:nvCxnSpPr>
        <p:spPr>
          <a:xfrm>
            <a:off x="10772289" y="1672461"/>
            <a:ext cx="887563" cy="78298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12D33843-5ECC-D54D-8713-2D226DBDE7B6}"/>
              </a:ext>
            </a:extLst>
          </p:cNvPr>
          <p:cNvSpPr/>
          <p:nvPr/>
        </p:nvSpPr>
        <p:spPr>
          <a:xfrm>
            <a:off x="11174141" y="1798220"/>
            <a:ext cx="488922" cy="28846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9" name="Rectangle 38">
            <a:extLst>
              <a:ext uri="{FF2B5EF4-FFF2-40B4-BE49-F238E27FC236}">
                <a16:creationId xmlns:a16="http://schemas.microsoft.com/office/drawing/2014/main" id="{CF9EE1B9-3E2B-AF4A-8906-5A0207963E02}"/>
              </a:ext>
            </a:extLst>
          </p:cNvPr>
          <p:cNvSpPr/>
          <p:nvPr/>
        </p:nvSpPr>
        <p:spPr>
          <a:xfrm>
            <a:off x="11175069" y="1303129"/>
            <a:ext cx="666895" cy="369332"/>
          </a:xfrm>
          <a:prstGeom prst="rect">
            <a:avLst/>
          </a:prstGeom>
          <a:ln>
            <a:noFill/>
          </a:ln>
        </p:spPr>
        <p:txBody>
          <a:bodyPr wrap="square">
            <a:spAutoFit/>
          </a:bodyPr>
          <a:lstStyle/>
          <a:p>
            <a:pPr algn="ctr"/>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10</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4" name="Rectangle 23">
            <a:extLst>
              <a:ext uri="{FF2B5EF4-FFF2-40B4-BE49-F238E27FC236}">
                <a16:creationId xmlns:a16="http://schemas.microsoft.com/office/drawing/2014/main" id="{7868BCB8-776B-514A-A25B-07638CE631EC}"/>
              </a:ext>
            </a:extLst>
          </p:cNvPr>
          <p:cNvSpPr/>
          <p:nvPr/>
        </p:nvSpPr>
        <p:spPr>
          <a:xfrm>
            <a:off x="3570513" y="5967444"/>
            <a:ext cx="1167717" cy="42099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7" name="Rectangle 26">
            <a:extLst>
              <a:ext uri="{FF2B5EF4-FFF2-40B4-BE49-F238E27FC236}">
                <a16:creationId xmlns:a16="http://schemas.microsoft.com/office/drawing/2014/main" id="{4F3B83FD-3B98-A64A-B717-F62DBAE61B84}"/>
              </a:ext>
            </a:extLst>
          </p:cNvPr>
          <p:cNvSpPr/>
          <p:nvPr/>
        </p:nvSpPr>
        <p:spPr>
          <a:xfrm>
            <a:off x="4171720" y="4766354"/>
            <a:ext cx="190452" cy="1628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66" name="Straight Connector 65">
            <a:extLst>
              <a:ext uri="{FF2B5EF4-FFF2-40B4-BE49-F238E27FC236}">
                <a16:creationId xmlns:a16="http://schemas.microsoft.com/office/drawing/2014/main" id="{40DABEC0-4082-ED42-9ECC-4ED8A38217AE}"/>
              </a:ext>
            </a:extLst>
          </p:cNvPr>
          <p:cNvCxnSpPr>
            <a:cxnSpLocks/>
            <a:stCxn id="29" idx="3"/>
            <a:endCxn id="27" idx="2"/>
          </p:cNvCxnSpPr>
          <p:nvPr/>
        </p:nvCxnSpPr>
        <p:spPr>
          <a:xfrm flipV="1">
            <a:off x="3489162" y="4929204"/>
            <a:ext cx="777784" cy="44613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2EB511D-A95B-6649-8666-4CB313374AC0}"/>
              </a:ext>
            </a:extLst>
          </p:cNvPr>
          <p:cNvCxnSpPr>
            <a:cxnSpLocks/>
            <a:stCxn id="28" idx="3"/>
            <a:endCxn id="26" idx="1"/>
          </p:cNvCxnSpPr>
          <p:nvPr/>
        </p:nvCxnSpPr>
        <p:spPr>
          <a:xfrm flipV="1">
            <a:off x="3480758" y="4841500"/>
            <a:ext cx="385430" cy="15694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8687FE3-1BD0-4D49-BF8D-0A1DE9ED209A}"/>
              </a:ext>
            </a:extLst>
          </p:cNvPr>
          <p:cNvSpPr/>
          <p:nvPr/>
        </p:nvSpPr>
        <p:spPr>
          <a:xfrm>
            <a:off x="3866188" y="4753796"/>
            <a:ext cx="218892" cy="17540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8" name="Rectangle 27">
            <a:extLst>
              <a:ext uri="{FF2B5EF4-FFF2-40B4-BE49-F238E27FC236}">
                <a16:creationId xmlns:a16="http://schemas.microsoft.com/office/drawing/2014/main" id="{AD69DB99-22B7-B145-B94A-2231C4E43F1D}"/>
              </a:ext>
            </a:extLst>
          </p:cNvPr>
          <p:cNvSpPr/>
          <p:nvPr/>
        </p:nvSpPr>
        <p:spPr>
          <a:xfrm>
            <a:off x="3158451" y="4813776"/>
            <a:ext cx="322307" cy="369332"/>
          </a:xfrm>
          <a:prstGeom prst="rect">
            <a:avLst/>
          </a:prstGeom>
          <a:ln>
            <a:noFill/>
          </a:ln>
        </p:spPr>
        <p:txBody>
          <a:bodyPr wrap="square">
            <a:spAutoFit/>
          </a:bodyPr>
          <a:lstStyle/>
          <a:p>
            <a:r>
              <a:rPr lang="en-US"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7</a:t>
            </a:r>
            <a:endParaRPr lang="en-US" dirty="0">
              <a:solidFill>
                <a:schemeClr val="accent1"/>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8" name="Straight Connector 47">
            <a:extLst>
              <a:ext uri="{FF2B5EF4-FFF2-40B4-BE49-F238E27FC236}">
                <a16:creationId xmlns:a16="http://schemas.microsoft.com/office/drawing/2014/main" id="{80B64392-1150-A740-A9E5-5A2D5DF709FC}"/>
              </a:ext>
            </a:extLst>
          </p:cNvPr>
          <p:cNvCxnSpPr>
            <a:cxnSpLocks/>
            <a:stCxn id="10" idx="3"/>
            <a:endCxn id="30" idx="1"/>
          </p:cNvCxnSpPr>
          <p:nvPr/>
        </p:nvCxnSpPr>
        <p:spPr>
          <a:xfrm flipV="1">
            <a:off x="3105908" y="2894017"/>
            <a:ext cx="545672" cy="10410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D28B59C-FA53-E84B-AC9B-2580D9AC6DA0}"/>
              </a:ext>
            </a:extLst>
          </p:cNvPr>
          <p:cNvCxnSpPr>
            <a:cxnSpLocks/>
          </p:cNvCxnSpPr>
          <p:nvPr/>
        </p:nvCxnSpPr>
        <p:spPr>
          <a:xfrm flipV="1">
            <a:off x="3359281" y="2552565"/>
            <a:ext cx="253755" cy="11449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41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AFCFF4-3C73-1C4A-8675-14E6F8A60EF3}"/>
              </a:ext>
            </a:extLst>
          </p:cNvPr>
          <p:cNvGrpSpPr/>
          <p:nvPr/>
        </p:nvGrpSpPr>
        <p:grpSpPr>
          <a:xfrm>
            <a:off x="4169594" y="1908824"/>
            <a:ext cx="7795394" cy="4397458"/>
            <a:chOff x="4169594" y="1908824"/>
            <a:chExt cx="7795394" cy="4397458"/>
          </a:xfrm>
        </p:grpSpPr>
        <p:pic>
          <p:nvPicPr>
            <p:cNvPr id="9" name="Picture 8" descr="A screenshot of a computer&#10;&#10;Description automatically generated">
              <a:extLst>
                <a:ext uri="{FF2B5EF4-FFF2-40B4-BE49-F238E27FC236}">
                  <a16:creationId xmlns:a16="http://schemas.microsoft.com/office/drawing/2014/main" id="{A0857190-5300-ED42-92C0-3C1EFE449F3A}"/>
                </a:ext>
              </a:extLst>
            </p:cNvPr>
            <p:cNvPicPr>
              <a:picLocks noChangeAspect="1"/>
            </p:cNvPicPr>
            <p:nvPr/>
          </p:nvPicPr>
          <p:blipFill>
            <a:blip r:embed="rId2"/>
            <a:stretch>
              <a:fillRect/>
            </a:stretch>
          </p:blipFill>
          <p:spPr>
            <a:xfrm>
              <a:off x="4169594" y="1908824"/>
              <a:ext cx="7795394" cy="4397458"/>
            </a:xfrm>
            <a:prstGeom prst="rect">
              <a:avLst/>
            </a:prstGeom>
          </p:spPr>
        </p:pic>
        <p:pic>
          <p:nvPicPr>
            <p:cNvPr id="21" name="Picture 20" descr="Graphical user interface, application&#10;&#10;Description automatically generated">
              <a:extLst>
                <a:ext uri="{FF2B5EF4-FFF2-40B4-BE49-F238E27FC236}">
                  <a16:creationId xmlns:a16="http://schemas.microsoft.com/office/drawing/2014/main" id="{19F3F6FE-7D0E-1D48-BF6C-CFE59F855AAA}"/>
                </a:ext>
              </a:extLst>
            </p:cNvPr>
            <p:cNvPicPr>
              <a:picLocks noChangeAspect="1"/>
            </p:cNvPicPr>
            <p:nvPr/>
          </p:nvPicPr>
          <p:blipFill rotWithShape="1">
            <a:blip r:embed="rId3"/>
            <a:srcRect t="18462" r="70833" b="74030"/>
            <a:stretch/>
          </p:blipFill>
          <p:spPr>
            <a:xfrm>
              <a:off x="4169594" y="2194264"/>
              <a:ext cx="2147123" cy="345449"/>
            </a:xfrm>
            <a:prstGeom prst="rect">
              <a:avLst/>
            </a:prstGeom>
          </p:spPr>
        </p:pic>
      </p:grpSp>
      <p:sp>
        <p:nvSpPr>
          <p:cNvPr id="8" name="Title 3">
            <a:extLst>
              <a:ext uri="{FF2B5EF4-FFF2-40B4-BE49-F238E27FC236}">
                <a16:creationId xmlns:a16="http://schemas.microsoft.com/office/drawing/2014/main" id="{D60F62A1-7D50-9144-A02D-A90729F43183}"/>
              </a:ext>
            </a:extLst>
          </p:cNvPr>
          <p:cNvSpPr>
            <a:spLocks noGrp="1"/>
          </p:cNvSpPr>
          <p:nvPr>
            <p:ph type="title"/>
          </p:nvPr>
        </p:nvSpPr>
        <p:spPr/>
        <p:txBody>
          <a:bodyPr/>
          <a:lstStyle/>
          <a:p>
            <a:r>
              <a:rPr lang="en-US" dirty="0"/>
              <a:t>Mass Create Grid View</a:t>
            </a:r>
            <a:endParaRPr lang="en-US" sz="2000" dirty="0"/>
          </a:p>
        </p:txBody>
      </p:sp>
      <p:sp>
        <p:nvSpPr>
          <p:cNvPr id="11" name="Rectangle 10">
            <a:extLst>
              <a:ext uri="{FF2B5EF4-FFF2-40B4-BE49-F238E27FC236}">
                <a16:creationId xmlns:a16="http://schemas.microsoft.com/office/drawing/2014/main" id="{15DF8CDB-046C-1F40-AFC9-F8A4EBC7720F}"/>
              </a:ext>
            </a:extLst>
          </p:cNvPr>
          <p:cNvSpPr/>
          <p:nvPr/>
        </p:nvSpPr>
        <p:spPr>
          <a:xfrm>
            <a:off x="467172" y="1843854"/>
            <a:ext cx="3702422" cy="2123658"/>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Creating new variants in the MC grid is easy! You can take a direct copy of any variant, or multiple variants, using the ‘Duplicate’ action:</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variants you want to copy, using the ‘select’ check-box button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Right-click on the variant action area on the far left of the grid</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‘Duplicate’ action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See your rows duplicated in the table, as new variants</a:t>
            </a:r>
          </a:p>
        </p:txBody>
      </p:sp>
      <p:grpSp>
        <p:nvGrpSpPr>
          <p:cNvPr id="22" name="Group 21">
            <a:extLst>
              <a:ext uri="{FF2B5EF4-FFF2-40B4-BE49-F238E27FC236}">
                <a16:creationId xmlns:a16="http://schemas.microsoft.com/office/drawing/2014/main" id="{C9194D27-A0BF-2A40-A800-F02FB376FCDF}"/>
              </a:ext>
            </a:extLst>
          </p:cNvPr>
          <p:cNvGrpSpPr/>
          <p:nvPr/>
        </p:nvGrpSpPr>
        <p:grpSpPr>
          <a:xfrm>
            <a:off x="10231614" y="782076"/>
            <a:ext cx="1713039" cy="500716"/>
            <a:chOff x="548247" y="6096934"/>
            <a:chExt cx="1713039" cy="500716"/>
          </a:xfrm>
        </p:grpSpPr>
        <p:sp>
          <p:nvSpPr>
            <p:cNvPr id="23" name="Rectangle 22">
              <a:extLst>
                <a:ext uri="{FF2B5EF4-FFF2-40B4-BE49-F238E27FC236}">
                  <a16:creationId xmlns:a16="http://schemas.microsoft.com/office/drawing/2014/main" id="{214364DD-42AE-DC4B-8181-1A81B80DD964}"/>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790AAB8C-03A8-3141-AAEF-4B10A330EBEB}"/>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5" name="Rectangle 24">
              <a:extLst>
                <a:ext uri="{FF2B5EF4-FFF2-40B4-BE49-F238E27FC236}">
                  <a16:creationId xmlns:a16="http://schemas.microsoft.com/office/drawing/2014/main" id="{14E88415-65DC-F44E-96F0-7064C5112464}"/>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grpSp>
        <p:nvGrpSpPr>
          <p:cNvPr id="26" name="Group 25">
            <a:extLst>
              <a:ext uri="{FF2B5EF4-FFF2-40B4-BE49-F238E27FC236}">
                <a16:creationId xmlns:a16="http://schemas.microsoft.com/office/drawing/2014/main" id="{24785093-8F7D-F240-8B1A-B9201C5F35D9}"/>
              </a:ext>
            </a:extLst>
          </p:cNvPr>
          <p:cNvGrpSpPr/>
          <p:nvPr/>
        </p:nvGrpSpPr>
        <p:grpSpPr>
          <a:xfrm>
            <a:off x="386690" y="5319909"/>
            <a:ext cx="3508220" cy="1253599"/>
            <a:chOff x="527140" y="5446300"/>
            <a:chExt cx="3508220" cy="1253599"/>
          </a:xfrm>
        </p:grpSpPr>
        <p:sp>
          <p:nvSpPr>
            <p:cNvPr id="28" name="Rectangle 27">
              <a:extLst>
                <a:ext uri="{FF2B5EF4-FFF2-40B4-BE49-F238E27FC236}">
                  <a16:creationId xmlns:a16="http://schemas.microsoft.com/office/drawing/2014/main" id="{25450366-AAAD-6B47-943A-D56616122801}"/>
                </a:ext>
              </a:extLst>
            </p:cNvPr>
            <p:cNvSpPr/>
            <p:nvPr/>
          </p:nvSpPr>
          <p:spPr>
            <a:xfrm>
              <a:off x="1203095" y="5499570"/>
              <a:ext cx="2832265" cy="1200329"/>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When duplicating a row, you are copying the saved version of your variant. If you have unsaved changes in the grid, you should save before duplicating. Please see the </a:t>
              </a:r>
              <a:r>
                <a:rPr lang="en-GB" sz="1200" b="1" i="1" dirty="0">
                  <a:latin typeface="Noto Sans" panose="020B0502040504020204" pitchFamily="34" charset="0"/>
                  <a:ea typeface="Noto Sans" panose="020B0502040504020204" pitchFamily="34" charset="0"/>
                  <a:cs typeface="Noto Sans" panose="020B0502040504020204" pitchFamily="34" charset="0"/>
                </a:rPr>
                <a:t>‘Saving’ FAQ </a:t>
              </a:r>
              <a:r>
                <a:rPr lang="en-GB" sz="1200" i="1" dirty="0">
                  <a:latin typeface="Noto Sans Light" panose="020B0402040504020204" pitchFamily="34" charset="0"/>
                  <a:ea typeface="Noto Sans Light" panose="020B0402040504020204" pitchFamily="34" charset="0"/>
                  <a:cs typeface="Noto Sans Light" panose="020B0402040504020204" pitchFamily="34" charset="0"/>
                </a:rPr>
                <a:t>for more info.</a:t>
              </a:r>
            </a:p>
          </p:txBody>
        </p:sp>
        <p:pic>
          <p:nvPicPr>
            <p:cNvPr id="29" name="Picture 28">
              <a:extLst>
                <a:ext uri="{FF2B5EF4-FFF2-40B4-BE49-F238E27FC236}">
                  <a16:creationId xmlns:a16="http://schemas.microsoft.com/office/drawing/2014/main" id="{B43DAE39-B414-054B-ADF1-AE12FA8D596E}"/>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30" name="Rectangle 29">
              <a:extLst>
                <a:ext uri="{FF2B5EF4-FFF2-40B4-BE49-F238E27FC236}">
                  <a16:creationId xmlns:a16="http://schemas.microsoft.com/office/drawing/2014/main" id="{E04868CE-C254-D64A-8484-B3916B19B2C4}"/>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sp>
        <p:nvSpPr>
          <p:cNvPr id="31" name="Title 1">
            <a:extLst>
              <a:ext uri="{FF2B5EF4-FFF2-40B4-BE49-F238E27FC236}">
                <a16:creationId xmlns:a16="http://schemas.microsoft.com/office/drawing/2014/main" id="{D0445777-051A-5E45-A454-4E4933CB07C2}"/>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Adding Variants</a:t>
            </a:r>
          </a:p>
        </p:txBody>
      </p:sp>
      <p:sp>
        <p:nvSpPr>
          <p:cNvPr id="15" name="Rectangle 14">
            <a:extLst>
              <a:ext uri="{FF2B5EF4-FFF2-40B4-BE49-F238E27FC236}">
                <a16:creationId xmlns:a16="http://schemas.microsoft.com/office/drawing/2014/main" id="{7E614993-3778-904D-BD9A-CC3429510DD9}"/>
              </a:ext>
            </a:extLst>
          </p:cNvPr>
          <p:cNvSpPr/>
          <p:nvPr/>
        </p:nvSpPr>
        <p:spPr>
          <a:xfrm>
            <a:off x="4108825" y="2693841"/>
            <a:ext cx="286997"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A7051E85-8369-C840-A0CE-6A9B8521F1AD}"/>
              </a:ext>
            </a:extLst>
          </p:cNvPr>
          <p:cNvSpPr/>
          <p:nvPr/>
        </p:nvSpPr>
        <p:spPr>
          <a:xfrm>
            <a:off x="4120906" y="3013333"/>
            <a:ext cx="262836" cy="31324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5792AC8D-E8DF-8C47-8E86-4A775FE52741}"/>
              </a:ext>
            </a:extLst>
          </p:cNvPr>
          <p:cNvSpPr/>
          <p:nvPr/>
        </p:nvSpPr>
        <p:spPr>
          <a:xfrm>
            <a:off x="4456591" y="3188561"/>
            <a:ext cx="938622" cy="240439"/>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1BDCCAFB-ADED-D149-B039-DCFFF1A20DD1}"/>
              </a:ext>
            </a:extLst>
          </p:cNvPr>
          <p:cNvSpPr/>
          <p:nvPr/>
        </p:nvSpPr>
        <p:spPr>
          <a:xfrm>
            <a:off x="4096264" y="5172286"/>
            <a:ext cx="7868724" cy="295246"/>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0A848E24-FCDA-A447-BD8F-C45876D6EFD3}"/>
              </a:ext>
            </a:extLst>
          </p:cNvPr>
          <p:cNvSpPr/>
          <p:nvPr/>
        </p:nvSpPr>
        <p:spPr>
          <a:xfrm>
            <a:off x="11240218" y="4846648"/>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4</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DCF09B17-A308-F04A-8BEC-9C90932C08AA}"/>
              </a:ext>
            </a:extLst>
          </p:cNvPr>
          <p:cNvSpPr/>
          <p:nvPr/>
        </p:nvSpPr>
        <p:spPr>
          <a:xfrm>
            <a:off x="4847802" y="2843855"/>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7" name="Rectangle 16">
            <a:extLst>
              <a:ext uri="{FF2B5EF4-FFF2-40B4-BE49-F238E27FC236}">
                <a16:creationId xmlns:a16="http://schemas.microsoft.com/office/drawing/2014/main" id="{479715CE-DFE8-3B43-B913-F41DC5D8A7EE}"/>
              </a:ext>
            </a:extLst>
          </p:cNvPr>
          <p:cNvSpPr/>
          <p:nvPr/>
        </p:nvSpPr>
        <p:spPr>
          <a:xfrm>
            <a:off x="5395213" y="3124928"/>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584874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817C927-495C-7942-8915-34A88469B928}"/>
              </a:ext>
            </a:extLst>
          </p:cNvPr>
          <p:cNvGrpSpPr/>
          <p:nvPr/>
        </p:nvGrpSpPr>
        <p:grpSpPr>
          <a:xfrm>
            <a:off x="5172878" y="1448770"/>
            <a:ext cx="6539696" cy="4721548"/>
            <a:chOff x="5172878" y="1448770"/>
            <a:chExt cx="6539696" cy="4721548"/>
          </a:xfrm>
        </p:grpSpPr>
        <p:pic>
          <p:nvPicPr>
            <p:cNvPr id="6" name="Picture 5" descr="A screenshot of a computer&#10;&#10;Description automatically generated">
              <a:extLst>
                <a:ext uri="{FF2B5EF4-FFF2-40B4-BE49-F238E27FC236}">
                  <a16:creationId xmlns:a16="http://schemas.microsoft.com/office/drawing/2014/main" id="{0D7C050E-DDF8-184D-8EAE-ECA7D7A63968}"/>
                </a:ext>
              </a:extLst>
            </p:cNvPr>
            <p:cNvPicPr>
              <a:picLocks noChangeAspect="1"/>
            </p:cNvPicPr>
            <p:nvPr/>
          </p:nvPicPr>
          <p:blipFill rotWithShape="1">
            <a:blip r:embed="rId2"/>
            <a:srcRect r="26309"/>
            <a:stretch/>
          </p:blipFill>
          <p:spPr>
            <a:xfrm>
              <a:off x="5172878" y="1448770"/>
              <a:ext cx="6539696" cy="4721548"/>
            </a:xfrm>
            <a:prstGeom prst="rect">
              <a:avLst/>
            </a:prstGeom>
          </p:spPr>
        </p:pic>
        <p:pic>
          <p:nvPicPr>
            <p:cNvPr id="20" name="Picture 19" descr="Graphical user interface, application&#10;&#10;Description automatically generated">
              <a:extLst>
                <a:ext uri="{FF2B5EF4-FFF2-40B4-BE49-F238E27FC236}">
                  <a16:creationId xmlns:a16="http://schemas.microsoft.com/office/drawing/2014/main" id="{0C997A2C-243D-944D-9C1E-4B1566E9B7E3}"/>
                </a:ext>
              </a:extLst>
            </p:cNvPr>
            <p:cNvPicPr>
              <a:picLocks noChangeAspect="1"/>
            </p:cNvPicPr>
            <p:nvPr/>
          </p:nvPicPr>
          <p:blipFill rotWithShape="1">
            <a:blip r:embed="rId3"/>
            <a:srcRect t="18462" r="70833" b="74030"/>
            <a:stretch/>
          </p:blipFill>
          <p:spPr>
            <a:xfrm>
              <a:off x="5172878" y="1781367"/>
              <a:ext cx="2147123" cy="345449"/>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8" name="Rectangle 7">
            <a:extLst>
              <a:ext uri="{FF2B5EF4-FFF2-40B4-BE49-F238E27FC236}">
                <a16:creationId xmlns:a16="http://schemas.microsoft.com/office/drawing/2014/main" id="{B29943F6-8F4F-3F4E-A267-3A259B4CFDCD}"/>
              </a:ext>
            </a:extLst>
          </p:cNvPr>
          <p:cNvSpPr/>
          <p:nvPr/>
        </p:nvSpPr>
        <p:spPr>
          <a:xfrm>
            <a:off x="479426" y="1925516"/>
            <a:ext cx="4134452" cy="2739211"/>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To edit your variants, you simply need to change the value in the cell to a new one! You can do this in one of the following ways:</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Direct Cell Input: </a:t>
            </a: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cell containing the value you want to change. Depending on the type of data you are inputting, you can either select or type in the new value</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Copy/Paste: </a:t>
            </a:r>
          </a:p>
          <a:p>
            <a:pPr marL="800100" lvl="1" indent="-342900" fontAlgn="base">
              <a:buClr>
                <a:schemeClr val="accent3"/>
              </a:buClr>
              <a:buSzPct val="120000"/>
              <a:buFont typeface="Arial" panose="020B0604020202020204" pitchFamily="34" charset="0"/>
              <a:buChar char="•"/>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cell containing the value you want to copy and right click (or CTRL/CMD+C) to see the cell has been copied </a:t>
            </a:r>
            <a:r>
              <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(dotted outline surround the cell)</a:t>
            </a:r>
          </a:p>
          <a:p>
            <a:pPr marL="800100" lvl="1" indent="-342900" fontAlgn="base">
              <a:buClr>
                <a:schemeClr val="accent3"/>
              </a:buClr>
              <a:buSzPct val="120000"/>
              <a:buFont typeface="Arial" panose="020B0604020202020204" pitchFamily="34" charset="0"/>
              <a:buChar char="•"/>
            </a:pP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Now select the cell you want to paste your value into and either right click (or CTRL/CMD+V) to paste the new value into the cell</a:t>
            </a:r>
          </a:p>
        </p:txBody>
      </p:sp>
      <p:sp>
        <p:nvSpPr>
          <p:cNvPr id="14" name="Title 1">
            <a:extLst>
              <a:ext uri="{FF2B5EF4-FFF2-40B4-BE49-F238E27FC236}">
                <a16:creationId xmlns:a16="http://schemas.microsoft.com/office/drawing/2014/main" id="{AAA8D367-BB0E-9746-AE0A-799425C32D5F}"/>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Editing Values</a:t>
            </a:r>
          </a:p>
        </p:txBody>
      </p:sp>
      <p:pic>
        <p:nvPicPr>
          <p:cNvPr id="16" name="Picture 15" descr="A screenshot of a cell phone&#10;&#10;Description automatically generated">
            <a:extLst>
              <a:ext uri="{FF2B5EF4-FFF2-40B4-BE49-F238E27FC236}">
                <a16:creationId xmlns:a16="http://schemas.microsoft.com/office/drawing/2014/main" id="{A81BD57D-BC1B-6D48-9FE1-878BC9EF66BB}"/>
              </a:ext>
            </a:extLst>
          </p:cNvPr>
          <p:cNvPicPr>
            <a:picLocks noChangeAspect="1"/>
          </p:cNvPicPr>
          <p:nvPr/>
        </p:nvPicPr>
        <p:blipFill>
          <a:blip r:embed="rId4"/>
          <a:stretch>
            <a:fillRect/>
          </a:stretch>
        </p:blipFill>
        <p:spPr>
          <a:xfrm>
            <a:off x="8496747" y="2459299"/>
            <a:ext cx="805950" cy="2804959"/>
          </a:xfrm>
          <a:prstGeom prst="rect">
            <a:avLst/>
          </a:prstGeom>
        </p:spPr>
      </p:pic>
      <p:sp>
        <p:nvSpPr>
          <p:cNvPr id="11" name="Rectangle 10">
            <a:extLst>
              <a:ext uri="{FF2B5EF4-FFF2-40B4-BE49-F238E27FC236}">
                <a16:creationId xmlns:a16="http://schemas.microsoft.com/office/drawing/2014/main" id="{971B169A-05CF-FB4C-AEE0-99DE976E7913}"/>
              </a:ext>
            </a:extLst>
          </p:cNvPr>
          <p:cNvSpPr/>
          <p:nvPr/>
        </p:nvSpPr>
        <p:spPr>
          <a:xfrm>
            <a:off x="8386684" y="3280540"/>
            <a:ext cx="999286" cy="581238"/>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98606971-20C4-EF40-9F43-BCE4C68BA00D}"/>
              </a:ext>
            </a:extLst>
          </p:cNvPr>
          <p:cNvSpPr/>
          <p:nvPr/>
        </p:nvSpPr>
        <p:spPr>
          <a:xfrm>
            <a:off x="9130368" y="2911208"/>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D899C012-14C8-9C44-8E8A-3659927C8992}"/>
              </a:ext>
            </a:extLst>
          </p:cNvPr>
          <p:cNvSpPr/>
          <p:nvPr/>
        </p:nvSpPr>
        <p:spPr>
          <a:xfrm>
            <a:off x="7274343" y="2726542"/>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0" name="Rectangle 9">
            <a:extLst>
              <a:ext uri="{FF2B5EF4-FFF2-40B4-BE49-F238E27FC236}">
                <a16:creationId xmlns:a16="http://schemas.microsoft.com/office/drawing/2014/main" id="{98B628A8-0FA2-024D-A321-6C1273F01362}"/>
              </a:ext>
            </a:extLst>
          </p:cNvPr>
          <p:cNvSpPr/>
          <p:nvPr/>
        </p:nvSpPr>
        <p:spPr>
          <a:xfrm>
            <a:off x="6724749" y="3095875"/>
            <a:ext cx="999286" cy="117579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grpSp>
        <p:nvGrpSpPr>
          <p:cNvPr id="15" name="Group 14">
            <a:extLst>
              <a:ext uri="{FF2B5EF4-FFF2-40B4-BE49-F238E27FC236}">
                <a16:creationId xmlns:a16="http://schemas.microsoft.com/office/drawing/2014/main" id="{639DBACC-54BD-9B4D-BA08-65A3F4266AA9}"/>
              </a:ext>
            </a:extLst>
          </p:cNvPr>
          <p:cNvGrpSpPr/>
          <p:nvPr/>
        </p:nvGrpSpPr>
        <p:grpSpPr>
          <a:xfrm>
            <a:off x="386690" y="5319909"/>
            <a:ext cx="3508220" cy="1110142"/>
            <a:chOff x="527140" y="5446300"/>
            <a:chExt cx="3508220" cy="1110142"/>
          </a:xfrm>
        </p:grpSpPr>
        <p:sp>
          <p:nvSpPr>
            <p:cNvPr id="17" name="Rectangle 16">
              <a:extLst>
                <a:ext uri="{FF2B5EF4-FFF2-40B4-BE49-F238E27FC236}">
                  <a16:creationId xmlns:a16="http://schemas.microsoft.com/office/drawing/2014/main" id="{945927BA-A8D7-DE4D-8EAF-E834EBEDC800}"/>
                </a:ext>
              </a:extLst>
            </p:cNvPr>
            <p:cNvSpPr/>
            <p:nvPr/>
          </p:nvSpPr>
          <p:spPr>
            <a:xfrm>
              <a:off x="1203095" y="5499570"/>
              <a:ext cx="2832265" cy="646331"/>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When using the copy feature,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can also multi-select cells to paste into by dragging your selection down the column.</a:t>
              </a:r>
              <a:endParaRPr lang="en-GB" sz="1200" i="1" dirty="0">
                <a:latin typeface="Noto Sans Light" panose="020B0402040504020204" pitchFamily="34" charset="0"/>
                <a:ea typeface="Noto Sans Light" panose="020B0402040504020204" pitchFamily="34" charset="0"/>
                <a:cs typeface="Noto Sans Light" panose="020B0402040504020204" pitchFamily="34" charset="0"/>
              </a:endParaRPr>
            </a:p>
          </p:txBody>
        </p:sp>
        <p:pic>
          <p:nvPicPr>
            <p:cNvPr id="18" name="Picture 17">
              <a:extLst>
                <a:ext uri="{FF2B5EF4-FFF2-40B4-BE49-F238E27FC236}">
                  <a16:creationId xmlns:a16="http://schemas.microsoft.com/office/drawing/2014/main" id="{933D8ED2-CFF7-324F-84D6-C294A9A1962F}"/>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19" name="Rectangle 18">
              <a:extLst>
                <a:ext uri="{FF2B5EF4-FFF2-40B4-BE49-F238E27FC236}">
                  <a16:creationId xmlns:a16="http://schemas.microsoft.com/office/drawing/2014/main" id="{C0D0B9A0-7A31-2F4C-9E5D-25DE2D95724D}"/>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spTree>
    <p:extLst>
      <p:ext uri="{BB962C8B-B14F-4D97-AF65-F5344CB8AC3E}">
        <p14:creationId xmlns:p14="http://schemas.microsoft.com/office/powerpoint/2010/main" val="149998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02EBD6-D2E1-B948-B641-89F9DC7411DD}"/>
              </a:ext>
            </a:extLst>
          </p:cNvPr>
          <p:cNvGrpSpPr/>
          <p:nvPr/>
        </p:nvGrpSpPr>
        <p:grpSpPr>
          <a:xfrm>
            <a:off x="4859325" y="1826704"/>
            <a:ext cx="7105664" cy="4494686"/>
            <a:chOff x="4859325" y="1826704"/>
            <a:chExt cx="7105664" cy="4494686"/>
          </a:xfrm>
        </p:grpSpPr>
        <p:grpSp>
          <p:nvGrpSpPr>
            <p:cNvPr id="2" name="Group 1">
              <a:extLst>
                <a:ext uri="{FF2B5EF4-FFF2-40B4-BE49-F238E27FC236}">
                  <a16:creationId xmlns:a16="http://schemas.microsoft.com/office/drawing/2014/main" id="{0A9FD0B1-47AF-4048-98C9-211E10A56B73}"/>
                </a:ext>
              </a:extLst>
            </p:cNvPr>
            <p:cNvGrpSpPr/>
            <p:nvPr/>
          </p:nvGrpSpPr>
          <p:grpSpPr>
            <a:xfrm>
              <a:off x="4859325" y="1826704"/>
              <a:ext cx="7105664" cy="4494686"/>
              <a:chOff x="5209992" y="1826704"/>
              <a:chExt cx="6754996" cy="4494686"/>
            </a:xfrm>
          </p:grpSpPr>
          <p:pic>
            <p:nvPicPr>
              <p:cNvPr id="5" name="Picture 4" descr="A screenshot of a social media post&#10;&#10;Description automatically generated">
                <a:extLst>
                  <a:ext uri="{FF2B5EF4-FFF2-40B4-BE49-F238E27FC236}">
                    <a16:creationId xmlns:a16="http://schemas.microsoft.com/office/drawing/2014/main" id="{AC8DC45C-004E-0343-9625-43D50F8A056D}"/>
                  </a:ext>
                </a:extLst>
              </p:cNvPr>
              <p:cNvPicPr>
                <a:picLocks noChangeAspect="1"/>
              </p:cNvPicPr>
              <p:nvPr/>
            </p:nvPicPr>
            <p:blipFill rotWithShape="1">
              <a:blip r:embed="rId2"/>
              <a:srcRect l="1026"/>
              <a:stretch/>
            </p:blipFill>
            <p:spPr>
              <a:xfrm>
                <a:off x="5416062" y="1826704"/>
                <a:ext cx="6548926" cy="4494686"/>
              </a:xfrm>
              <a:prstGeom prst="rect">
                <a:avLst/>
              </a:prstGeom>
            </p:spPr>
          </p:pic>
          <p:sp>
            <p:nvSpPr>
              <p:cNvPr id="12" name="Rectangle 11">
                <a:extLst>
                  <a:ext uri="{FF2B5EF4-FFF2-40B4-BE49-F238E27FC236}">
                    <a16:creationId xmlns:a16="http://schemas.microsoft.com/office/drawing/2014/main" id="{AC6AE1F3-883D-9340-8764-9282F854E0D8}"/>
                  </a:ext>
                </a:extLst>
              </p:cNvPr>
              <p:cNvSpPr/>
              <p:nvPr/>
            </p:nvSpPr>
            <p:spPr>
              <a:xfrm>
                <a:off x="5696458" y="3079683"/>
                <a:ext cx="185195" cy="99073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3E6E7E1B-0A94-BC48-B2B2-CCCDE601FF7A}"/>
                  </a:ext>
                </a:extLst>
              </p:cNvPr>
              <p:cNvSpPr/>
              <p:nvPr/>
            </p:nvSpPr>
            <p:spPr>
              <a:xfrm>
                <a:off x="5528940" y="2632949"/>
                <a:ext cx="820759" cy="154637"/>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DB134522-3683-4D4A-A790-78B57F0A64C6}"/>
                  </a:ext>
                </a:extLst>
              </p:cNvPr>
              <p:cNvSpPr/>
              <p:nvPr/>
            </p:nvSpPr>
            <p:spPr>
              <a:xfrm>
                <a:off x="5791918" y="4000990"/>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68F3C331-146E-1248-BDE3-35C386A5E26B}"/>
                  </a:ext>
                </a:extLst>
              </p:cNvPr>
              <p:cNvSpPr/>
              <p:nvPr/>
            </p:nvSpPr>
            <p:spPr>
              <a:xfrm>
                <a:off x="5627650" y="4705577"/>
                <a:ext cx="1040200" cy="278074"/>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0" name="Rectangle 9">
                <a:extLst>
                  <a:ext uri="{FF2B5EF4-FFF2-40B4-BE49-F238E27FC236}">
                    <a16:creationId xmlns:a16="http://schemas.microsoft.com/office/drawing/2014/main" id="{A5012E62-0185-CC4A-A463-EB1CB186FAE0}"/>
                  </a:ext>
                </a:extLst>
              </p:cNvPr>
              <p:cNvSpPr/>
              <p:nvPr/>
            </p:nvSpPr>
            <p:spPr>
              <a:xfrm>
                <a:off x="6170346" y="2343083"/>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09CD9AFD-B6BD-044C-B000-7345592FCACA}"/>
                  </a:ext>
                </a:extLst>
              </p:cNvPr>
              <p:cNvSpPr/>
              <p:nvPr/>
            </p:nvSpPr>
            <p:spPr>
              <a:xfrm>
                <a:off x="6615406" y="4614319"/>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5" name="Rectangle 24">
                <a:extLst>
                  <a:ext uri="{FF2B5EF4-FFF2-40B4-BE49-F238E27FC236}">
                    <a16:creationId xmlns:a16="http://schemas.microsoft.com/office/drawing/2014/main" id="{107048A8-58F3-1447-ABE9-7CE5C08B2578}"/>
                  </a:ext>
                </a:extLst>
              </p:cNvPr>
              <p:cNvSpPr/>
              <p:nvPr/>
            </p:nvSpPr>
            <p:spPr>
              <a:xfrm>
                <a:off x="5209992" y="2525601"/>
                <a:ext cx="31894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grpSp>
        <p:pic>
          <p:nvPicPr>
            <p:cNvPr id="19" name="Picture 18" descr="Graphical user interface, application&#10;&#10;Description automatically generated">
              <a:extLst>
                <a:ext uri="{FF2B5EF4-FFF2-40B4-BE49-F238E27FC236}">
                  <a16:creationId xmlns:a16="http://schemas.microsoft.com/office/drawing/2014/main" id="{5DBBBA6D-AB45-4D47-8C80-B2BF05B28951}"/>
                </a:ext>
              </a:extLst>
            </p:cNvPr>
            <p:cNvPicPr>
              <a:picLocks noChangeAspect="1"/>
            </p:cNvPicPr>
            <p:nvPr/>
          </p:nvPicPr>
          <p:blipFill rotWithShape="1">
            <a:blip r:embed="rId3"/>
            <a:srcRect t="18462" r="70833" b="74030"/>
            <a:stretch/>
          </p:blipFill>
          <p:spPr>
            <a:xfrm>
              <a:off x="5076092" y="2251039"/>
              <a:ext cx="2147123" cy="345449"/>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7" name="Rectangle 6">
            <a:extLst>
              <a:ext uri="{FF2B5EF4-FFF2-40B4-BE49-F238E27FC236}">
                <a16:creationId xmlns:a16="http://schemas.microsoft.com/office/drawing/2014/main" id="{E49F8584-14B1-074A-9428-6C9BD7031B37}"/>
              </a:ext>
            </a:extLst>
          </p:cNvPr>
          <p:cNvSpPr/>
          <p:nvPr/>
        </p:nvSpPr>
        <p:spPr>
          <a:xfrm>
            <a:off x="515939" y="2057154"/>
            <a:ext cx="4461026" cy="1015663"/>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For many templates, the MC grid is quite big and in reality, you are likely only going to be editing a selection of dynamic variables. Therefore, it can be useful to manage your columns so you can only see the ones you are interested in. There are two MC features that will allow you to do this:</a:t>
            </a:r>
          </a:p>
        </p:txBody>
      </p:sp>
      <p:sp>
        <p:nvSpPr>
          <p:cNvPr id="8" name="Rectangle 7">
            <a:extLst>
              <a:ext uri="{FF2B5EF4-FFF2-40B4-BE49-F238E27FC236}">
                <a16:creationId xmlns:a16="http://schemas.microsoft.com/office/drawing/2014/main" id="{76652029-F74F-DB4E-92D1-C4A1087CC981}"/>
              </a:ext>
            </a:extLst>
          </p:cNvPr>
          <p:cNvSpPr/>
          <p:nvPr/>
        </p:nvSpPr>
        <p:spPr>
          <a:xfrm>
            <a:off x="675810" y="3256066"/>
            <a:ext cx="3638282" cy="2308324"/>
          </a:xfrm>
          <a:prstGeom prst="rect">
            <a:avLst/>
          </a:prstGeom>
        </p:spPr>
        <p:txBody>
          <a:bodyPr wrap="square">
            <a:spAutoFit/>
          </a:bodyPr>
          <a:lstStyle/>
          <a:p>
            <a:pPr fontAlgn="base"/>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Option 1: Hiding Columns</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‘Hide Columns’ button in the header bar</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Toggle ON/OFF column boxes to show/hide columns respectively</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can also use the ‘Show all’ or ‘Hide all’ buttons to speed this up</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See that your OFF columns are now hidden from view and just return to the ‘Hide Columns’ button when you want to un-hide these columns again!</a:t>
            </a:r>
          </a:p>
        </p:txBody>
      </p:sp>
      <p:grpSp>
        <p:nvGrpSpPr>
          <p:cNvPr id="20" name="Group 19">
            <a:extLst>
              <a:ext uri="{FF2B5EF4-FFF2-40B4-BE49-F238E27FC236}">
                <a16:creationId xmlns:a16="http://schemas.microsoft.com/office/drawing/2014/main" id="{EFB5F8C5-FB64-A147-8367-E352601A800F}"/>
              </a:ext>
            </a:extLst>
          </p:cNvPr>
          <p:cNvGrpSpPr/>
          <p:nvPr/>
        </p:nvGrpSpPr>
        <p:grpSpPr>
          <a:xfrm>
            <a:off x="10231614" y="782076"/>
            <a:ext cx="1713039" cy="500716"/>
            <a:chOff x="548247" y="6096934"/>
            <a:chExt cx="1713039" cy="500716"/>
          </a:xfrm>
        </p:grpSpPr>
        <p:sp>
          <p:nvSpPr>
            <p:cNvPr id="21" name="Rectangle 20">
              <a:extLst>
                <a:ext uri="{FF2B5EF4-FFF2-40B4-BE49-F238E27FC236}">
                  <a16:creationId xmlns:a16="http://schemas.microsoft.com/office/drawing/2014/main" id="{D1EAA3E9-4F51-FF4D-BB6C-D7C6CE42AB1D}"/>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775EEC2-E65A-8247-831D-5C0AF4D2050F}"/>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3" name="Rectangle 22">
              <a:extLst>
                <a:ext uri="{FF2B5EF4-FFF2-40B4-BE49-F238E27FC236}">
                  <a16:creationId xmlns:a16="http://schemas.microsoft.com/office/drawing/2014/main" id="{911087CB-B07A-F344-B506-E0055140F9F8}"/>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4" name="Title 1">
            <a:extLst>
              <a:ext uri="{FF2B5EF4-FFF2-40B4-BE49-F238E27FC236}">
                <a16:creationId xmlns:a16="http://schemas.microsoft.com/office/drawing/2014/main" id="{41541B7F-FE74-C246-9906-26FD5B1A7510}"/>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Managing Columns</a:t>
            </a:r>
          </a:p>
        </p:txBody>
      </p:sp>
    </p:spTree>
    <p:extLst>
      <p:ext uri="{BB962C8B-B14F-4D97-AF65-F5344CB8AC3E}">
        <p14:creationId xmlns:p14="http://schemas.microsoft.com/office/powerpoint/2010/main" val="205580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BB2A95-CA19-3C49-885B-C9303C9826D8}"/>
              </a:ext>
            </a:extLst>
          </p:cNvPr>
          <p:cNvGrpSpPr/>
          <p:nvPr/>
        </p:nvGrpSpPr>
        <p:grpSpPr>
          <a:xfrm>
            <a:off x="4702935" y="1647008"/>
            <a:ext cx="7262053" cy="4683975"/>
            <a:chOff x="4702935" y="1647008"/>
            <a:chExt cx="7262053" cy="4683975"/>
          </a:xfrm>
        </p:grpSpPr>
        <p:pic>
          <p:nvPicPr>
            <p:cNvPr id="5" name="Picture 4" descr="A screenshot of a computer&#10;&#10;Description automatically generated">
              <a:extLst>
                <a:ext uri="{FF2B5EF4-FFF2-40B4-BE49-F238E27FC236}">
                  <a16:creationId xmlns:a16="http://schemas.microsoft.com/office/drawing/2014/main" id="{76A502A6-73DB-0C4B-9638-13CC47A31E82}"/>
                </a:ext>
              </a:extLst>
            </p:cNvPr>
            <p:cNvPicPr>
              <a:picLocks noChangeAspect="1"/>
            </p:cNvPicPr>
            <p:nvPr/>
          </p:nvPicPr>
          <p:blipFill>
            <a:blip r:embed="rId2"/>
            <a:stretch>
              <a:fillRect/>
            </a:stretch>
          </p:blipFill>
          <p:spPr>
            <a:xfrm>
              <a:off x="4702935" y="1647008"/>
              <a:ext cx="7262053" cy="4683975"/>
            </a:xfrm>
            <a:prstGeom prst="rect">
              <a:avLst/>
            </a:prstGeom>
          </p:spPr>
        </p:pic>
        <p:pic>
          <p:nvPicPr>
            <p:cNvPr id="14" name="Picture 13" descr="Graphical user interface, application&#10;&#10;Description automatically generated">
              <a:extLst>
                <a:ext uri="{FF2B5EF4-FFF2-40B4-BE49-F238E27FC236}">
                  <a16:creationId xmlns:a16="http://schemas.microsoft.com/office/drawing/2014/main" id="{75E67280-2359-6F47-8FAE-5DDD07BDDC70}"/>
                </a:ext>
              </a:extLst>
            </p:cNvPr>
            <p:cNvPicPr>
              <a:picLocks noChangeAspect="1"/>
            </p:cNvPicPr>
            <p:nvPr/>
          </p:nvPicPr>
          <p:blipFill rotWithShape="1">
            <a:blip r:embed="rId3"/>
            <a:srcRect t="18462" r="70833" b="74030"/>
            <a:stretch/>
          </p:blipFill>
          <p:spPr>
            <a:xfrm>
              <a:off x="4702935" y="2082138"/>
              <a:ext cx="2295561" cy="369331"/>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7" name="Rectangle 6">
            <a:extLst>
              <a:ext uri="{FF2B5EF4-FFF2-40B4-BE49-F238E27FC236}">
                <a16:creationId xmlns:a16="http://schemas.microsoft.com/office/drawing/2014/main" id="{E49F8584-14B1-074A-9428-6C9BD7031B37}"/>
              </a:ext>
            </a:extLst>
          </p:cNvPr>
          <p:cNvSpPr/>
          <p:nvPr/>
        </p:nvSpPr>
        <p:spPr>
          <a:xfrm>
            <a:off x="479425" y="1979944"/>
            <a:ext cx="3853089" cy="1200329"/>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For many templates, the MC grid is quite big and in reality, you are likely only going to be personalising a selection of dynamic variables. Therefore, it can be useful to manage your columns so you can only see the ones you are interested in. there are two MC features that will allow you to do this:</a:t>
            </a:r>
          </a:p>
        </p:txBody>
      </p:sp>
      <p:sp>
        <p:nvSpPr>
          <p:cNvPr id="8" name="Rectangle 7">
            <a:extLst>
              <a:ext uri="{FF2B5EF4-FFF2-40B4-BE49-F238E27FC236}">
                <a16:creationId xmlns:a16="http://schemas.microsoft.com/office/drawing/2014/main" id="{76652029-F74F-DB4E-92D1-C4A1087CC981}"/>
              </a:ext>
            </a:extLst>
          </p:cNvPr>
          <p:cNvSpPr/>
          <p:nvPr/>
        </p:nvSpPr>
        <p:spPr>
          <a:xfrm>
            <a:off x="555702" y="3358433"/>
            <a:ext cx="3776812" cy="1754326"/>
          </a:xfrm>
          <a:prstGeom prst="rect">
            <a:avLst/>
          </a:prstGeom>
        </p:spPr>
        <p:txBody>
          <a:bodyPr wrap="square">
            <a:spAutoFit/>
          </a:bodyPr>
          <a:lstStyle/>
          <a:p>
            <a:pPr fontAlgn="base"/>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Option 2: Collapsing Column Groups</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Scroll to the far right of a column group header bar</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See a small carat icon and select this button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See that all columns within this column group are now hidden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carat icon again when you want to un-hide these columns again</a:t>
            </a:r>
          </a:p>
        </p:txBody>
      </p:sp>
      <p:grpSp>
        <p:nvGrpSpPr>
          <p:cNvPr id="23" name="Group 22">
            <a:extLst>
              <a:ext uri="{FF2B5EF4-FFF2-40B4-BE49-F238E27FC236}">
                <a16:creationId xmlns:a16="http://schemas.microsoft.com/office/drawing/2014/main" id="{2B159F7D-31B1-874A-A08F-AD75C2C3B88B}"/>
              </a:ext>
            </a:extLst>
          </p:cNvPr>
          <p:cNvGrpSpPr/>
          <p:nvPr/>
        </p:nvGrpSpPr>
        <p:grpSpPr>
          <a:xfrm>
            <a:off x="10231614" y="782076"/>
            <a:ext cx="1713039" cy="500716"/>
            <a:chOff x="548247" y="6096934"/>
            <a:chExt cx="1713039" cy="500716"/>
          </a:xfrm>
        </p:grpSpPr>
        <p:sp>
          <p:nvSpPr>
            <p:cNvPr id="24" name="Rectangle 23">
              <a:extLst>
                <a:ext uri="{FF2B5EF4-FFF2-40B4-BE49-F238E27FC236}">
                  <a16:creationId xmlns:a16="http://schemas.microsoft.com/office/drawing/2014/main" id="{E919F601-7DD2-084A-AE3A-AB2605B2CAC2}"/>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F784A540-753B-7843-A531-EB0F3DEFDD4F}"/>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6" name="Rectangle 25">
              <a:extLst>
                <a:ext uri="{FF2B5EF4-FFF2-40B4-BE49-F238E27FC236}">
                  <a16:creationId xmlns:a16="http://schemas.microsoft.com/office/drawing/2014/main" id="{2A5DBF27-29E6-1846-A0D4-C36679E14601}"/>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7" name="Title 1">
            <a:extLst>
              <a:ext uri="{FF2B5EF4-FFF2-40B4-BE49-F238E27FC236}">
                <a16:creationId xmlns:a16="http://schemas.microsoft.com/office/drawing/2014/main" id="{D6864A5A-234E-4C43-8C8D-C3738A4ED8B2}"/>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Managing Columns</a:t>
            </a:r>
          </a:p>
        </p:txBody>
      </p:sp>
      <p:sp>
        <p:nvSpPr>
          <p:cNvPr id="13" name="Rectangle 12">
            <a:extLst>
              <a:ext uri="{FF2B5EF4-FFF2-40B4-BE49-F238E27FC236}">
                <a16:creationId xmlns:a16="http://schemas.microsoft.com/office/drawing/2014/main" id="{DB134522-3683-4D4A-A790-78B57F0A64C6}"/>
              </a:ext>
            </a:extLst>
          </p:cNvPr>
          <p:cNvSpPr/>
          <p:nvPr/>
        </p:nvSpPr>
        <p:spPr>
          <a:xfrm>
            <a:off x="10518224" y="2395442"/>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3E6E7E1B-0A94-BC48-B2B2-CCCDE601FF7A}"/>
              </a:ext>
            </a:extLst>
          </p:cNvPr>
          <p:cNvSpPr/>
          <p:nvPr/>
        </p:nvSpPr>
        <p:spPr>
          <a:xfrm flipV="1">
            <a:off x="10778077" y="2580108"/>
            <a:ext cx="324092" cy="36933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15695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14130AA-9780-DC44-81D6-16107C423CFD}"/>
              </a:ext>
            </a:extLst>
          </p:cNvPr>
          <p:cNvGrpSpPr/>
          <p:nvPr/>
        </p:nvGrpSpPr>
        <p:grpSpPr>
          <a:xfrm>
            <a:off x="4568383" y="1401658"/>
            <a:ext cx="7399985" cy="4919731"/>
            <a:chOff x="4568383" y="1401658"/>
            <a:chExt cx="7399985" cy="4919731"/>
          </a:xfrm>
        </p:grpSpPr>
        <p:grpSp>
          <p:nvGrpSpPr>
            <p:cNvPr id="2" name="Group 1">
              <a:extLst>
                <a:ext uri="{FF2B5EF4-FFF2-40B4-BE49-F238E27FC236}">
                  <a16:creationId xmlns:a16="http://schemas.microsoft.com/office/drawing/2014/main" id="{117F1A1F-A9FF-054B-ADEC-23EBADC8BEEE}"/>
                </a:ext>
              </a:extLst>
            </p:cNvPr>
            <p:cNvGrpSpPr/>
            <p:nvPr/>
          </p:nvGrpSpPr>
          <p:grpSpPr>
            <a:xfrm>
              <a:off x="4583430" y="1401658"/>
              <a:ext cx="7384938" cy="4919731"/>
              <a:chOff x="4968240" y="1401658"/>
              <a:chExt cx="7000128" cy="4919731"/>
            </a:xfrm>
          </p:grpSpPr>
          <p:pic>
            <p:nvPicPr>
              <p:cNvPr id="3" name="Picture 2" descr="A screenshot of a computer screen&#10;&#10;Description automatically generated">
                <a:extLst>
                  <a:ext uri="{FF2B5EF4-FFF2-40B4-BE49-F238E27FC236}">
                    <a16:creationId xmlns:a16="http://schemas.microsoft.com/office/drawing/2014/main" id="{4EC2249D-7021-4B4E-BEE4-19BBE27FC83E}"/>
                  </a:ext>
                </a:extLst>
              </p:cNvPr>
              <p:cNvPicPr>
                <a:picLocks noChangeAspect="1"/>
              </p:cNvPicPr>
              <p:nvPr/>
            </p:nvPicPr>
            <p:blipFill rotWithShape="1">
              <a:blip r:embed="rId2"/>
              <a:srcRect l="343"/>
              <a:stretch/>
            </p:blipFill>
            <p:spPr>
              <a:xfrm>
                <a:off x="4968240" y="1401658"/>
                <a:ext cx="7000128" cy="4919731"/>
              </a:xfrm>
              <a:prstGeom prst="rect">
                <a:avLst/>
              </a:prstGeom>
            </p:spPr>
          </p:pic>
          <p:sp>
            <p:nvSpPr>
              <p:cNvPr id="11" name="Rectangle 10">
                <a:extLst>
                  <a:ext uri="{FF2B5EF4-FFF2-40B4-BE49-F238E27FC236}">
                    <a16:creationId xmlns:a16="http://schemas.microsoft.com/office/drawing/2014/main" id="{D2288FA1-3DC1-554A-AF8D-7F73114B932B}"/>
                  </a:ext>
                </a:extLst>
              </p:cNvPr>
              <p:cNvSpPr/>
              <p:nvPr/>
            </p:nvSpPr>
            <p:spPr>
              <a:xfrm>
                <a:off x="6918851" y="2270555"/>
                <a:ext cx="1452807" cy="184666"/>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45776C18-346A-AA45-8785-1FDCA4A2DD07}"/>
                  </a:ext>
                </a:extLst>
              </p:cNvPr>
              <p:cNvSpPr/>
              <p:nvPr/>
            </p:nvSpPr>
            <p:spPr>
              <a:xfrm>
                <a:off x="9786458" y="2685040"/>
                <a:ext cx="1076944" cy="309104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FFEED713-3CC9-094E-979A-516FB0084167}"/>
                  </a:ext>
                </a:extLst>
              </p:cNvPr>
              <p:cNvSpPr/>
              <p:nvPr/>
            </p:nvSpPr>
            <p:spPr>
              <a:xfrm>
                <a:off x="7518945" y="2577954"/>
                <a:ext cx="1210235" cy="24438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8AD98A5F-EE76-6B4E-AE11-0035ED6BBA48}"/>
                  </a:ext>
                </a:extLst>
              </p:cNvPr>
              <p:cNvSpPr/>
              <p:nvPr/>
            </p:nvSpPr>
            <p:spPr>
              <a:xfrm>
                <a:off x="8421038" y="2224720"/>
                <a:ext cx="261738"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D6C2C430-F857-C343-A48C-AB3A6F344973}"/>
                  </a:ext>
                </a:extLst>
              </p:cNvPr>
              <p:cNvSpPr/>
              <p:nvPr/>
            </p:nvSpPr>
            <p:spPr>
              <a:xfrm>
                <a:off x="9082780" y="2250194"/>
                <a:ext cx="261738"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AC567467-0C9D-324A-8470-2AE371BFA49C}"/>
                  </a:ext>
                </a:extLst>
              </p:cNvPr>
              <p:cNvSpPr/>
              <p:nvPr/>
            </p:nvSpPr>
            <p:spPr>
              <a:xfrm>
                <a:off x="10192264" y="2362888"/>
                <a:ext cx="269723"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4</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2" name="Rectangle 21">
                <a:extLst>
                  <a:ext uri="{FF2B5EF4-FFF2-40B4-BE49-F238E27FC236}">
                    <a16:creationId xmlns:a16="http://schemas.microsoft.com/office/drawing/2014/main" id="{2F13EF4A-B159-0540-AAB5-38F8A52D9894}"/>
                  </a:ext>
                </a:extLst>
              </p:cNvPr>
              <p:cNvSpPr/>
              <p:nvPr/>
            </p:nvSpPr>
            <p:spPr>
              <a:xfrm>
                <a:off x="8809770" y="2577953"/>
                <a:ext cx="807759" cy="240739"/>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grpSp>
        <p:pic>
          <p:nvPicPr>
            <p:cNvPr id="23" name="Picture 22" descr="Graphical user interface, application&#10;&#10;Description automatically generated">
              <a:extLst>
                <a:ext uri="{FF2B5EF4-FFF2-40B4-BE49-F238E27FC236}">
                  <a16:creationId xmlns:a16="http://schemas.microsoft.com/office/drawing/2014/main" id="{0B972681-A095-1F4C-B26B-052A93A240A9}"/>
                </a:ext>
              </a:extLst>
            </p:cNvPr>
            <p:cNvPicPr>
              <a:picLocks noChangeAspect="1"/>
            </p:cNvPicPr>
            <p:nvPr/>
          </p:nvPicPr>
          <p:blipFill rotWithShape="1">
            <a:blip r:embed="rId3"/>
            <a:srcRect t="18462" r="70833" b="74030"/>
            <a:stretch/>
          </p:blipFill>
          <p:spPr>
            <a:xfrm>
              <a:off x="4568383" y="1856399"/>
              <a:ext cx="2421070" cy="389524"/>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8" name="Rectangle 7">
            <a:extLst>
              <a:ext uri="{FF2B5EF4-FFF2-40B4-BE49-F238E27FC236}">
                <a16:creationId xmlns:a16="http://schemas.microsoft.com/office/drawing/2014/main" id="{29E6D8B6-4796-E647-AF2B-4DD9A47EF230}"/>
              </a:ext>
            </a:extLst>
          </p:cNvPr>
          <p:cNvSpPr/>
          <p:nvPr/>
        </p:nvSpPr>
        <p:spPr>
          <a:xfrm>
            <a:off x="477606" y="1898095"/>
            <a:ext cx="4017805" cy="3093154"/>
          </a:xfrm>
          <a:prstGeom prst="rect">
            <a:avLst/>
          </a:prstGeom>
        </p:spPr>
        <p:txBody>
          <a:bodyPr wrap="square">
            <a:spAutoFit/>
          </a:bodyPr>
          <a:lstStyle/>
          <a:p>
            <a:pPr fontAlgn="base"/>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Sorting:</a:t>
            </a:r>
            <a:b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b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Go to the ‘Sort’ button in the headline actions bar to open the Sort panel</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Open the ‘Select Field’ option and scroll through the list of column headings to find the field containing the values you would like to sort by</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this field and see two order options* appear:</a:t>
            </a:r>
          </a:p>
          <a:p>
            <a:pPr marL="800100" lvl="1" indent="-342900" fontAlgn="base">
              <a:buClr>
                <a:schemeClr val="accent3"/>
              </a:buClr>
              <a:buSzPct val="120000"/>
              <a:buFont typeface="+mj-lt"/>
              <a:buAutoNum type="arabicPeriod"/>
            </a:pPr>
            <a:r>
              <a:rPr lang="en-GB" sz="1200" b="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 &gt; Z</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(alphabetical)</a:t>
            </a:r>
          </a:p>
          <a:p>
            <a:pPr marL="800100" lvl="1" indent="-342900" fontAlgn="base">
              <a:buClr>
                <a:schemeClr val="accent3"/>
              </a:buClr>
              <a:buSzPct val="120000"/>
              <a:buFont typeface="+mj-lt"/>
              <a:buAutoNum type="arabicPeriod"/>
            </a:pPr>
            <a:r>
              <a:rPr lang="en-GB" sz="1200" b="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Z &gt; A</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(Reverse alphabetical)</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order option that suits your needs and the rows in the grid will rearrange to match your selection from top to bottom.</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buClr>
                <a:schemeClr val="accent3"/>
              </a:buClr>
              <a:buSzPct val="120000"/>
            </a:pPr>
            <a:r>
              <a:rPr lang="en-GB" sz="1200" b="1" i="1" dirty="0">
                <a:solidFill>
                  <a:schemeClr val="accent3"/>
                </a:solidFill>
                <a:latin typeface="Noto Sans Light" panose="020B0402040504020204" pitchFamily="34" charset="0"/>
                <a:ea typeface="Noto Sans Light" panose="020B0402040504020204" pitchFamily="34" charset="0"/>
                <a:cs typeface="Noto Sans Light" panose="020B0402040504020204" pitchFamily="34" charset="0"/>
              </a:rPr>
              <a:t>NOTE: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you select a numerical field, you will instead see ‘1&gt;9’ or ‘9&gt;1’ order options.</a:t>
            </a:r>
          </a:p>
        </p:txBody>
      </p:sp>
      <p:grpSp>
        <p:nvGrpSpPr>
          <p:cNvPr id="17" name="Group 16">
            <a:extLst>
              <a:ext uri="{FF2B5EF4-FFF2-40B4-BE49-F238E27FC236}">
                <a16:creationId xmlns:a16="http://schemas.microsoft.com/office/drawing/2014/main" id="{C20D8051-33BC-E649-85D8-6A960FBF69B6}"/>
              </a:ext>
            </a:extLst>
          </p:cNvPr>
          <p:cNvGrpSpPr/>
          <p:nvPr/>
        </p:nvGrpSpPr>
        <p:grpSpPr>
          <a:xfrm>
            <a:off x="10231614" y="782076"/>
            <a:ext cx="1713039" cy="500716"/>
            <a:chOff x="548247" y="6096934"/>
            <a:chExt cx="1713039" cy="500716"/>
          </a:xfrm>
        </p:grpSpPr>
        <p:sp>
          <p:nvSpPr>
            <p:cNvPr id="18" name="Rectangle 17">
              <a:extLst>
                <a:ext uri="{FF2B5EF4-FFF2-40B4-BE49-F238E27FC236}">
                  <a16:creationId xmlns:a16="http://schemas.microsoft.com/office/drawing/2014/main" id="{A1A3B3CC-FC08-8B47-A863-393FB3FD259E}"/>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A9CB6D0-A7D7-524B-981F-316E491FE181}"/>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0" name="Rectangle 19">
              <a:extLst>
                <a:ext uri="{FF2B5EF4-FFF2-40B4-BE49-F238E27FC236}">
                  <a16:creationId xmlns:a16="http://schemas.microsoft.com/office/drawing/2014/main" id="{63722359-244B-024E-9692-39CEE2942E5E}"/>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1" name="Title 1">
            <a:extLst>
              <a:ext uri="{FF2B5EF4-FFF2-40B4-BE49-F238E27FC236}">
                <a16:creationId xmlns:a16="http://schemas.microsoft.com/office/drawing/2014/main" id="{0493F57D-E2C4-F34C-AD4B-F4C0ED6E5555}"/>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Filtering &amp; Sorting</a:t>
            </a:r>
          </a:p>
        </p:txBody>
      </p:sp>
      <p:sp>
        <p:nvSpPr>
          <p:cNvPr id="24" name="Rectangle 23">
            <a:extLst>
              <a:ext uri="{FF2B5EF4-FFF2-40B4-BE49-F238E27FC236}">
                <a16:creationId xmlns:a16="http://schemas.microsoft.com/office/drawing/2014/main" id="{F9D87742-3524-F146-B07E-7AC083847DA4}"/>
              </a:ext>
            </a:extLst>
          </p:cNvPr>
          <p:cNvSpPr/>
          <p:nvPr/>
        </p:nvSpPr>
        <p:spPr>
          <a:xfrm>
            <a:off x="7291623" y="1917206"/>
            <a:ext cx="290008"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221387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1A2A05B-6741-6048-905F-AAB240E170E9}"/>
              </a:ext>
            </a:extLst>
          </p:cNvPr>
          <p:cNvGrpSpPr/>
          <p:nvPr/>
        </p:nvGrpSpPr>
        <p:grpSpPr>
          <a:xfrm>
            <a:off x="4380215" y="1401658"/>
            <a:ext cx="7564438" cy="4981449"/>
            <a:chOff x="4380215" y="1401658"/>
            <a:chExt cx="7564438" cy="4981449"/>
          </a:xfrm>
        </p:grpSpPr>
        <p:grpSp>
          <p:nvGrpSpPr>
            <p:cNvPr id="2" name="Group 1">
              <a:extLst>
                <a:ext uri="{FF2B5EF4-FFF2-40B4-BE49-F238E27FC236}">
                  <a16:creationId xmlns:a16="http://schemas.microsoft.com/office/drawing/2014/main" id="{05CB73B5-1649-574C-8AE6-A8F5B20ECC06}"/>
                </a:ext>
              </a:extLst>
            </p:cNvPr>
            <p:cNvGrpSpPr/>
            <p:nvPr/>
          </p:nvGrpSpPr>
          <p:grpSpPr>
            <a:xfrm>
              <a:off x="4380215" y="1401658"/>
              <a:ext cx="7564438" cy="4981449"/>
              <a:chOff x="4724400" y="1339940"/>
              <a:chExt cx="7240588" cy="4981449"/>
            </a:xfrm>
          </p:grpSpPr>
          <p:pic>
            <p:nvPicPr>
              <p:cNvPr id="5" name="Picture 4" descr="A screenshot of a computer screen&#10;&#10;Description automatically generated">
                <a:extLst>
                  <a:ext uri="{FF2B5EF4-FFF2-40B4-BE49-F238E27FC236}">
                    <a16:creationId xmlns:a16="http://schemas.microsoft.com/office/drawing/2014/main" id="{D754853F-BDC7-0A4A-9A1A-72A5FEFCDE7F}"/>
                  </a:ext>
                </a:extLst>
              </p:cNvPr>
              <p:cNvPicPr>
                <a:picLocks noChangeAspect="1"/>
              </p:cNvPicPr>
              <p:nvPr/>
            </p:nvPicPr>
            <p:blipFill rotWithShape="1">
              <a:blip r:embed="rId2"/>
              <a:srcRect l="632"/>
              <a:stretch/>
            </p:blipFill>
            <p:spPr>
              <a:xfrm>
                <a:off x="4724400" y="1339940"/>
                <a:ext cx="7240588" cy="4981449"/>
              </a:xfrm>
              <a:prstGeom prst="rect">
                <a:avLst/>
              </a:prstGeom>
            </p:spPr>
          </p:pic>
          <p:sp>
            <p:nvSpPr>
              <p:cNvPr id="11" name="Rectangle 10">
                <a:extLst>
                  <a:ext uri="{FF2B5EF4-FFF2-40B4-BE49-F238E27FC236}">
                    <a16:creationId xmlns:a16="http://schemas.microsoft.com/office/drawing/2014/main" id="{D2288FA1-3DC1-554A-AF8D-7F73114B932B}"/>
                  </a:ext>
                </a:extLst>
              </p:cNvPr>
              <p:cNvSpPr/>
              <p:nvPr/>
            </p:nvSpPr>
            <p:spPr>
              <a:xfrm>
                <a:off x="5869155" y="2216451"/>
                <a:ext cx="576856" cy="252955"/>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FFEED713-3CC9-094E-979A-516FB0084167}"/>
                  </a:ext>
                </a:extLst>
              </p:cNvPr>
              <p:cNvSpPr/>
              <p:nvPr/>
            </p:nvSpPr>
            <p:spPr>
              <a:xfrm>
                <a:off x="6524687" y="2541870"/>
                <a:ext cx="1336224" cy="241874"/>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45776C18-346A-AA45-8785-1FDCA4A2DD07}"/>
                  </a:ext>
                </a:extLst>
              </p:cNvPr>
              <p:cNvSpPr/>
              <p:nvPr/>
            </p:nvSpPr>
            <p:spPr>
              <a:xfrm>
                <a:off x="8403199" y="2541870"/>
                <a:ext cx="1336224" cy="241874"/>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2E199B71-ABF3-D846-95DE-5250768E4EC8}"/>
                  </a:ext>
                </a:extLst>
              </p:cNvPr>
              <p:cNvSpPr/>
              <p:nvPr/>
            </p:nvSpPr>
            <p:spPr>
              <a:xfrm>
                <a:off x="9788203" y="2615847"/>
                <a:ext cx="1006416" cy="3233377"/>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8AD98A5F-EE76-6B4E-AE11-0035ED6BBA48}"/>
                  </a:ext>
                </a:extLst>
              </p:cNvPr>
              <p:cNvSpPr/>
              <p:nvPr/>
            </p:nvSpPr>
            <p:spPr>
              <a:xfrm>
                <a:off x="7103852" y="2205127"/>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D6C2C430-F857-C343-A48C-AB3A6F344973}"/>
                  </a:ext>
                </a:extLst>
              </p:cNvPr>
              <p:cNvSpPr/>
              <p:nvPr/>
            </p:nvSpPr>
            <p:spPr>
              <a:xfrm>
                <a:off x="8952542" y="2236267"/>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AC567467-0C9D-324A-8470-2AE371BFA49C}"/>
                  </a:ext>
                </a:extLst>
              </p:cNvPr>
              <p:cNvSpPr/>
              <p:nvPr/>
            </p:nvSpPr>
            <p:spPr>
              <a:xfrm>
                <a:off x="9990607" y="2296220"/>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4</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grpSp>
        <p:pic>
          <p:nvPicPr>
            <p:cNvPr id="24" name="Picture 23" descr="Graphical user interface, application&#10;&#10;Description automatically generated">
              <a:extLst>
                <a:ext uri="{FF2B5EF4-FFF2-40B4-BE49-F238E27FC236}">
                  <a16:creationId xmlns:a16="http://schemas.microsoft.com/office/drawing/2014/main" id="{E523D044-977F-164F-9E44-AD582873B44F}"/>
                </a:ext>
              </a:extLst>
            </p:cNvPr>
            <p:cNvPicPr>
              <a:picLocks noChangeAspect="1"/>
            </p:cNvPicPr>
            <p:nvPr/>
          </p:nvPicPr>
          <p:blipFill rotWithShape="1">
            <a:blip r:embed="rId3"/>
            <a:srcRect t="18462" r="70833" b="74030"/>
            <a:stretch/>
          </p:blipFill>
          <p:spPr>
            <a:xfrm>
              <a:off x="4380215" y="1860670"/>
              <a:ext cx="2421070" cy="389524"/>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8" name="Rectangle 7">
            <a:extLst>
              <a:ext uri="{FF2B5EF4-FFF2-40B4-BE49-F238E27FC236}">
                <a16:creationId xmlns:a16="http://schemas.microsoft.com/office/drawing/2014/main" id="{29E6D8B6-4796-E647-AF2B-4DD9A47EF230}"/>
              </a:ext>
            </a:extLst>
          </p:cNvPr>
          <p:cNvSpPr/>
          <p:nvPr/>
        </p:nvSpPr>
        <p:spPr>
          <a:xfrm>
            <a:off x="477606" y="1898095"/>
            <a:ext cx="3796013" cy="3108543"/>
          </a:xfrm>
          <a:prstGeom prst="rect">
            <a:avLst/>
          </a:prstGeom>
        </p:spPr>
        <p:txBody>
          <a:bodyPr wrap="square">
            <a:spAutoFit/>
          </a:bodyPr>
          <a:lstStyle/>
          <a:p>
            <a:pPr fontAlgn="base"/>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Filtering:</a:t>
            </a:r>
            <a:b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b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Go to the ‘Filter’ button in the headline actions bar to open the Filter panel</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Open the ‘Select Field’ option and scroll through the list of column headings to find the field containing the values you would like to filter by</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this field and see an ‘equals to’ option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equals to option to then scroll through the values contained within the column field you selected</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the value in the list against which you want to filter by and see your rows in the grid have been reduced down to only show those contained </a:t>
            </a:r>
            <a:endPar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nvGrpSpPr>
          <p:cNvPr id="22" name="Group 21">
            <a:extLst>
              <a:ext uri="{FF2B5EF4-FFF2-40B4-BE49-F238E27FC236}">
                <a16:creationId xmlns:a16="http://schemas.microsoft.com/office/drawing/2014/main" id="{804E3B2F-BFF4-0E4A-9328-F7CAFBA60044}"/>
              </a:ext>
            </a:extLst>
          </p:cNvPr>
          <p:cNvGrpSpPr/>
          <p:nvPr/>
        </p:nvGrpSpPr>
        <p:grpSpPr>
          <a:xfrm>
            <a:off x="10231614" y="782076"/>
            <a:ext cx="1713039" cy="500716"/>
            <a:chOff x="548247" y="6096934"/>
            <a:chExt cx="1713039" cy="500716"/>
          </a:xfrm>
        </p:grpSpPr>
        <p:sp>
          <p:nvSpPr>
            <p:cNvPr id="21" name="Rectangle 20">
              <a:extLst>
                <a:ext uri="{FF2B5EF4-FFF2-40B4-BE49-F238E27FC236}">
                  <a16:creationId xmlns:a16="http://schemas.microsoft.com/office/drawing/2014/main" id="{62B4C86F-0907-914C-8FD0-28A6DF0FF9A1}"/>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46264DE-79BA-D442-A921-A739F022E544}"/>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0" name="Rectangle 19">
              <a:extLst>
                <a:ext uri="{FF2B5EF4-FFF2-40B4-BE49-F238E27FC236}">
                  <a16:creationId xmlns:a16="http://schemas.microsoft.com/office/drawing/2014/main" id="{10E7226E-1375-8C4F-B83E-2BF34FEA4D5E}"/>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3" name="Title 1">
            <a:extLst>
              <a:ext uri="{FF2B5EF4-FFF2-40B4-BE49-F238E27FC236}">
                <a16:creationId xmlns:a16="http://schemas.microsoft.com/office/drawing/2014/main" id="{BE6DA1E5-9625-364D-AEDC-1376E05C0547}"/>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Filtering &amp; Sorting</a:t>
            </a:r>
          </a:p>
        </p:txBody>
      </p:sp>
      <p:sp>
        <p:nvSpPr>
          <p:cNvPr id="25" name="Rectangle 24">
            <a:extLst>
              <a:ext uri="{FF2B5EF4-FFF2-40B4-BE49-F238E27FC236}">
                <a16:creationId xmlns:a16="http://schemas.microsoft.com/office/drawing/2014/main" id="{717C52B2-92BB-C945-B010-241B9F7691A2}"/>
              </a:ext>
            </a:extLst>
          </p:cNvPr>
          <p:cNvSpPr/>
          <p:nvPr/>
        </p:nvSpPr>
        <p:spPr>
          <a:xfrm>
            <a:off x="5685249" y="1987269"/>
            <a:ext cx="384499" cy="369332"/>
          </a:xfrm>
          <a:prstGeom prst="rect">
            <a:avLst/>
          </a:prstGeom>
          <a:ln>
            <a:noFill/>
          </a:ln>
        </p:spPr>
        <p:txBody>
          <a:bodyPr wrap="square">
            <a:spAutoFit/>
          </a:bodyPr>
          <a:lstStyle/>
          <a:p>
            <a:pPr algn="ctr"/>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395137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3062E3D-07D8-A94E-BB48-F5F005EC0FDB}"/>
              </a:ext>
            </a:extLst>
          </p:cNvPr>
          <p:cNvGrpSpPr/>
          <p:nvPr/>
        </p:nvGrpSpPr>
        <p:grpSpPr>
          <a:xfrm>
            <a:off x="5374391" y="1528257"/>
            <a:ext cx="6502809" cy="4807034"/>
            <a:chOff x="5374391" y="1528257"/>
            <a:chExt cx="6502809" cy="4807034"/>
          </a:xfrm>
        </p:grpSpPr>
        <p:pic>
          <p:nvPicPr>
            <p:cNvPr id="2" name="Picture 1">
              <a:extLst>
                <a:ext uri="{FF2B5EF4-FFF2-40B4-BE49-F238E27FC236}">
                  <a16:creationId xmlns:a16="http://schemas.microsoft.com/office/drawing/2014/main" id="{9C723876-77CE-314F-A496-941E2C375DF1}"/>
                </a:ext>
              </a:extLst>
            </p:cNvPr>
            <p:cNvPicPr>
              <a:picLocks noChangeAspect="1"/>
            </p:cNvPicPr>
            <p:nvPr/>
          </p:nvPicPr>
          <p:blipFill>
            <a:blip r:embed="rId2"/>
            <a:stretch>
              <a:fillRect/>
            </a:stretch>
          </p:blipFill>
          <p:spPr>
            <a:xfrm>
              <a:off x="5374391" y="1528257"/>
              <a:ext cx="6502809" cy="4807034"/>
            </a:xfrm>
            <a:prstGeom prst="rect">
              <a:avLst/>
            </a:prstGeom>
          </p:spPr>
        </p:pic>
        <p:pic>
          <p:nvPicPr>
            <p:cNvPr id="24" name="Picture 23" descr="Graphical user interface, application&#10;&#10;Description automatically generated">
              <a:extLst>
                <a:ext uri="{FF2B5EF4-FFF2-40B4-BE49-F238E27FC236}">
                  <a16:creationId xmlns:a16="http://schemas.microsoft.com/office/drawing/2014/main" id="{B4BCEBCC-3ABF-8241-8BF1-AF1D1183EDFB}"/>
                </a:ext>
              </a:extLst>
            </p:cNvPr>
            <p:cNvPicPr>
              <a:picLocks noChangeAspect="1"/>
            </p:cNvPicPr>
            <p:nvPr/>
          </p:nvPicPr>
          <p:blipFill rotWithShape="1">
            <a:blip r:embed="rId3"/>
            <a:srcRect t="18462" r="70833" b="74030"/>
            <a:stretch/>
          </p:blipFill>
          <p:spPr>
            <a:xfrm>
              <a:off x="5374391" y="1889936"/>
              <a:ext cx="2421070" cy="389524"/>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9" name="Rectangle 8">
            <a:extLst>
              <a:ext uri="{FF2B5EF4-FFF2-40B4-BE49-F238E27FC236}">
                <a16:creationId xmlns:a16="http://schemas.microsoft.com/office/drawing/2014/main" id="{E94A7518-DAD6-2846-A182-A404632D9570}"/>
              </a:ext>
            </a:extLst>
          </p:cNvPr>
          <p:cNvSpPr/>
          <p:nvPr/>
        </p:nvSpPr>
        <p:spPr>
          <a:xfrm>
            <a:off x="479425" y="1775775"/>
            <a:ext cx="4660986" cy="2062103"/>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Variants are collections of sizes, as you will be now used to from working in the Orca Editor. So it’s important to note that the tables are split by size* to make your editing mode more manageable. </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Switching Sizes: </a:t>
            </a: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The variant sizes feature above the grid shows you which creative size you are working on. To change to a new size, click on a different size and then continue working in the grid.</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Enabling/Disabling Sizes:</a:t>
            </a:r>
            <a:r>
              <a:rPr lang="en-GB" sz="11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The Size ON/OFF feature on the left of the grid, allows you to enable/disable certain sizes for your variants. Pink state shows the size is ON and Grey shows the size is OFF.</a:t>
            </a:r>
          </a:p>
        </p:txBody>
      </p:sp>
      <p:grpSp>
        <p:nvGrpSpPr>
          <p:cNvPr id="17" name="Group 16">
            <a:extLst>
              <a:ext uri="{FF2B5EF4-FFF2-40B4-BE49-F238E27FC236}">
                <a16:creationId xmlns:a16="http://schemas.microsoft.com/office/drawing/2014/main" id="{DE158E12-251F-5049-BB90-C1D41F9000A0}"/>
              </a:ext>
            </a:extLst>
          </p:cNvPr>
          <p:cNvGrpSpPr/>
          <p:nvPr/>
        </p:nvGrpSpPr>
        <p:grpSpPr>
          <a:xfrm>
            <a:off x="633662" y="5319447"/>
            <a:ext cx="4552924" cy="1110142"/>
            <a:chOff x="527140" y="5446300"/>
            <a:chExt cx="4552924" cy="1110142"/>
          </a:xfrm>
        </p:grpSpPr>
        <p:sp>
          <p:nvSpPr>
            <p:cNvPr id="10" name="Rectangle 9">
              <a:extLst>
                <a:ext uri="{FF2B5EF4-FFF2-40B4-BE49-F238E27FC236}">
                  <a16:creationId xmlns:a16="http://schemas.microsoft.com/office/drawing/2014/main" id="{5D04C62F-137D-CF4A-A32D-443C0BF298F3}"/>
                </a:ext>
              </a:extLst>
            </p:cNvPr>
            <p:cNvSpPr/>
            <p:nvPr/>
          </p:nvSpPr>
          <p:spPr>
            <a:xfrm>
              <a:off x="1203095" y="5499570"/>
              <a:ext cx="3876969" cy="830997"/>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*Only the creative, size specific, data is split into different tables. Metadata applies to the whole variant and so is actually shared across all size tables. Please see the </a:t>
              </a:r>
              <a:r>
                <a:rPr lang="en-GB" sz="1200" b="1" i="1" dirty="0">
                  <a:latin typeface="Noto Sans" panose="020B0502040504020204" pitchFamily="34" charset="0"/>
                  <a:ea typeface="Noto Sans" panose="020B0502040504020204" pitchFamily="34" charset="0"/>
                  <a:cs typeface="Noto Sans" panose="020B0502040504020204" pitchFamily="34" charset="0"/>
                </a:rPr>
                <a:t>‘Metadata vs. Creative Data’ FAQ </a:t>
              </a:r>
              <a:r>
                <a:rPr lang="en-GB" sz="1200" i="1" dirty="0">
                  <a:latin typeface="Noto Sans Light" panose="020B0402040504020204" pitchFamily="34" charset="0"/>
                  <a:ea typeface="Noto Sans Light" panose="020B0402040504020204" pitchFamily="34" charset="0"/>
                  <a:cs typeface="Noto Sans Light" panose="020B0402040504020204" pitchFamily="34" charset="0"/>
                </a:rPr>
                <a:t>for more info.</a:t>
              </a:r>
            </a:p>
          </p:txBody>
        </p:sp>
        <p:pic>
          <p:nvPicPr>
            <p:cNvPr id="11" name="Picture 10">
              <a:extLst>
                <a:ext uri="{FF2B5EF4-FFF2-40B4-BE49-F238E27FC236}">
                  <a16:creationId xmlns:a16="http://schemas.microsoft.com/office/drawing/2014/main" id="{1745E177-0412-C043-8B34-6783B1D60CD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16" name="Rectangle 15">
              <a:extLst>
                <a:ext uri="{FF2B5EF4-FFF2-40B4-BE49-F238E27FC236}">
                  <a16:creationId xmlns:a16="http://schemas.microsoft.com/office/drawing/2014/main" id="{65897C05-EE09-DD42-B626-167CC9550FD3}"/>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grpSp>
        <p:nvGrpSpPr>
          <p:cNvPr id="18" name="Group 17">
            <a:extLst>
              <a:ext uri="{FF2B5EF4-FFF2-40B4-BE49-F238E27FC236}">
                <a16:creationId xmlns:a16="http://schemas.microsoft.com/office/drawing/2014/main" id="{B6C5AE6B-729B-024C-B62F-44B06C91EEE6}"/>
              </a:ext>
            </a:extLst>
          </p:cNvPr>
          <p:cNvGrpSpPr/>
          <p:nvPr/>
        </p:nvGrpSpPr>
        <p:grpSpPr>
          <a:xfrm>
            <a:off x="10231614" y="782076"/>
            <a:ext cx="1713039" cy="500716"/>
            <a:chOff x="548247" y="6096934"/>
            <a:chExt cx="1713039" cy="500716"/>
          </a:xfrm>
        </p:grpSpPr>
        <p:sp>
          <p:nvSpPr>
            <p:cNvPr id="19" name="Rectangle 18">
              <a:extLst>
                <a:ext uri="{FF2B5EF4-FFF2-40B4-BE49-F238E27FC236}">
                  <a16:creationId xmlns:a16="http://schemas.microsoft.com/office/drawing/2014/main" id="{C3F44E70-2BE0-8944-A2D6-62AB4FF04D74}"/>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9227219C-5AD9-C942-8D32-C4C9CB1AA6D3}"/>
                </a:ext>
              </a:extLst>
            </p:cNvPr>
            <p:cNvPicPr>
              <a:picLocks noChangeAspect="1"/>
            </p:cNvPicPr>
            <p:nvPr/>
          </p:nvPicPr>
          <p:blipFill>
            <a:blip r:embed="rId5">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1" name="Rectangle 20">
              <a:extLst>
                <a:ext uri="{FF2B5EF4-FFF2-40B4-BE49-F238E27FC236}">
                  <a16:creationId xmlns:a16="http://schemas.microsoft.com/office/drawing/2014/main" id="{31065521-C1D9-2B46-BC5B-7D7B0CCDE2F9}"/>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2" name="Title 1">
            <a:extLst>
              <a:ext uri="{FF2B5EF4-FFF2-40B4-BE49-F238E27FC236}">
                <a16:creationId xmlns:a16="http://schemas.microsoft.com/office/drawing/2014/main" id="{83109E42-DEC0-2D4A-A3F7-AC4E4FB6E99C}"/>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Variant Sizes</a:t>
            </a:r>
          </a:p>
        </p:txBody>
      </p:sp>
      <p:sp>
        <p:nvSpPr>
          <p:cNvPr id="12" name="Rectangle 11">
            <a:extLst>
              <a:ext uri="{FF2B5EF4-FFF2-40B4-BE49-F238E27FC236}">
                <a16:creationId xmlns:a16="http://schemas.microsoft.com/office/drawing/2014/main" id="{DA9D7ADB-8C37-AF4D-83F7-B4158EAB06F4}"/>
              </a:ext>
            </a:extLst>
          </p:cNvPr>
          <p:cNvSpPr/>
          <p:nvPr/>
        </p:nvSpPr>
        <p:spPr>
          <a:xfrm>
            <a:off x="5507700" y="1870776"/>
            <a:ext cx="2284569" cy="408683"/>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390F5B5C-05A0-974F-B940-9395B15B3ABA}"/>
              </a:ext>
            </a:extLst>
          </p:cNvPr>
          <p:cNvSpPr/>
          <p:nvPr/>
        </p:nvSpPr>
        <p:spPr>
          <a:xfrm>
            <a:off x="5664082" y="3480462"/>
            <a:ext cx="279518" cy="610587"/>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3" name="Rectangle 12">
            <a:extLst>
              <a:ext uri="{FF2B5EF4-FFF2-40B4-BE49-F238E27FC236}">
                <a16:creationId xmlns:a16="http://schemas.microsoft.com/office/drawing/2014/main" id="{20DF2377-F92C-744E-A730-69D5AF41FE13}"/>
              </a:ext>
            </a:extLst>
          </p:cNvPr>
          <p:cNvSpPr/>
          <p:nvPr/>
        </p:nvSpPr>
        <p:spPr>
          <a:xfrm>
            <a:off x="7797390" y="1890451"/>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4D8B1D3F-54A9-FE45-B536-4E854EC7152F}"/>
              </a:ext>
            </a:extLst>
          </p:cNvPr>
          <p:cNvSpPr/>
          <p:nvPr/>
        </p:nvSpPr>
        <p:spPr>
          <a:xfrm>
            <a:off x="5204515" y="3609435"/>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785278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A0A2F68-9B58-1844-85B1-AFDC1A844229}"/>
              </a:ext>
            </a:extLst>
          </p:cNvPr>
          <p:cNvGrpSpPr/>
          <p:nvPr/>
        </p:nvGrpSpPr>
        <p:grpSpPr>
          <a:xfrm>
            <a:off x="6100984" y="1557138"/>
            <a:ext cx="5781200" cy="4273603"/>
            <a:chOff x="6100984" y="1557138"/>
            <a:chExt cx="5781200" cy="4273603"/>
          </a:xfrm>
        </p:grpSpPr>
        <p:pic>
          <p:nvPicPr>
            <p:cNvPr id="19" name="Picture 18">
              <a:extLst>
                <a:ext uri="{FF2B5EF4-FFF2-40B4-BE49-F238E27FC236}">
                  <a16:creationId xmlns:a16="http://schemas.microsoft.com/office/drawing/2014/main" id="{7D31ABFE-CC28-7B48-9A48-CD6D6382A984}"/>
                </a:ext>
              </a:extLst>
            </p:cNvPr>
            <p:cNvPicPr>
              <a:picLocks noChangeAspect="1"/>
            </p:cNvPicPr>
            <p:nvPr/>
          </p:nvPicPr>
          <p:blipFill>
            <a:blip r:embed="rId2"/>
            <a:stretch>
              <a:fillRect/>
            </a:stretch>
          </p:blipFill>
          <p:spPr>
            <a:xfrm>
              <a:off x="6100984" y="1557138"/>
              <a:ext cx="5781200" cy="4273603"/>
            </a:xfrm>
            <a:prstGeom prst="rect">
              <a:avLst/>
            </a:prstGeom>
          </p:spPr>
        </p:pic>
        <p:pic>
          <p:nvPicPr>
            <p:cNvPr id="20" name="Picture 19" descr="Graphical user interface, application&#10;&#10;Description automatically generated">
              <a:extLst>
                <a:ext uri="{FF2B5EF4-FFF2-40B4-BE49-F238E27FC236}">
                  <a16:creationId xmlns:a16="http://schemas.microsoft.com/office/drawing/2014/main" id="{DB9FDC07-B3F5-8F44-A989-8AF723F437FC}"/>
                </a:ext>
              </a:extLst>
            </p:cNvPr>
            <p:cNvPicPr>
              <a:picLocks noChangeAspect="1"/>
            </p:cNvPicPr>
            <p:nvPr/>
          </p:nvPicPr>
          <p:blipFill rotWithShape="1">
            <a:blip r:embed="rId3"/>
            <a:srcRect t="18462" r="70833" b="74030"/>
            <a:stretch/>
          </p:blipFill>
          <p:spPr>
            <a:xfrm>
              <a:off x="6100984" y="1857498"/>
              <a:ext cx="2374557" cy="382041"/>
            </a:xfrm>
            <a:prstGeom prst="rect">
              <a:avLst/>
            </a:prstGeom>
          </p:spPr>
        </p:pic>
      </p:gr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6" name="Title 1">
            <a:extLst>
              <a:ext uri="{FF2B5EF4-FFF2-40B4-BE49-F238E27FC236}">
                <a16:creationId xmlns:a16="http://schemas.microsoft.com/office/drawing/2014/main" id="{9CDA8020-7D01-5549-BA95-935838978599}"/>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CSV Working Offline</a:t>
            </a:r>
          </a:p>
        </p:txBody>
      </p:sp>
      <p:grpSp>
        <p:nvGrpSpPr>
          <p:cNvPr id="9" name="Group 8">
            <a:extLst>
              <a:ext uri="{FF2B5EF4-FFF2-40B4-BE49-F238E27FC236}">
                <a16:creationId xmlns:a16="http://schemas.microsoft.com/office/drawing/2014/main" id="{99B52808-7CC9-F041-82F8-FA11EB39FC78}"/>
              </a:ext>
            </a:extLst>
          </p:cNvPr>
          <p:cNvGrpSpPr/>
          <p:nvPr/>
        </p:nvGrpSpPr>
        <p:grpSpPr>
          <a:xfrm>
            <a:off x="10231614" y="782076"/>
            <a:ext cx="1713039" cy="500716"/>
            <a:chOff x="548247" y="6096934"/>
            <a:chExt cx="1713039" cy="500716"/>
          </a:xfrm>
        </p:grpSpPr>
        <p:sp>
          <p:nvSpPr>
            <p:cNvPr id="10" name="Rectangle 9">
              <a:extLst>
                <a:ext uri="{FF2B5EF4-FFF2-40B4-BE49-F238E27FC236}">
                  <a16:creationId xmlns:a16="http://schemas.microsoft.com/office/drawing/2014/main" id="{8B9BCD79-5806-3E4E-9DF9-1F28F3535B58}"/>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127575D-9245-2F42-ADCF-79EC66507F49}"/>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12" name="Rectangle 11">
              <a:extLst>
                <a:ext uri="{FF2B5EF4-FFF2-40B4-BE49-F238E27FC236}">
                  <a16:creationId xmlns:a16="http://schemas.microsoft.com/office/drawing/2014/main" id="{A169828F-1924-E04F-ADB4-514DCD66F6A2}"/>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5" name="Rectangle 24">
            <a:extLst>
              <a:ext uri="{FF2B5EF4-FFF2-40B4-BE49-F238E27FC236}">
                <a16:creationId xmlns:a16="http://schemas.microsoft.com/office/drawing/2014/main" id="{FFD7B8E6-96FC-6C42-AF75-F477DB40FEEA}"/>
              </a:ext>
            </a:extLst>
          </p:cNvPr>
          <p:cNvSpPr/>
          <p:nvPr/>
        </p:nvSpPr>
        <p:spPr>
          <a:xfrm>
            <a:off x="479424" y="1775775"/>
            <a:ext cx="5260632" cy="2154436"/>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For users that prefer working in Excel, the grid has an offline working mode where you can export the table into a CSV, make the desired changes to the variants and then import the changes into the grid. The first step is exporting the files:</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Part 1: Exporting</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Click the ‘Export’ button on the right hand side of the headlines action bar</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This should have triggered an automatic* download of two files you will need for editing variant offline:</a:t>
            </a:r>
          </a:p>
          <a:p>
            <a:pPr marL="800100" lvl="1" indent="-342900" fontAlgn="base">
              <a:buClr>
                <a:schemeClr val="accent3"/>
              </a:buClr>
              <a:buSzPct val="120000"/>
              <a:buFont typeface="+mj-lt"/>
              <a:buAutoNum type="alphaL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Variant File: </a:t>
            </a:r>
            <a:r>
              <a:rPr lang="en-GB" sz="1200" b="1" i="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mycreative.csv</a:t>
            </a:r>
            <a:endParaRPr lang="en-GB" sz="1200" b="1" i="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a:p>
            <a:pPr marL="800100" lvl="1" indent="-342900" fontAlgn="base">
              <a:buClr>
                <a:schemeClr val="accent3"/>
              </a:buClr>
              <a:buSzPct val="120000"/>
              <a:buFont typeface="+mj-lt"/>
              <a:buAutoNum type="alphaL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Audience Dictionary File: </a:t>
            </a:r>
            <a:r>
              <a:rPr lang="en-GB" sz="1200" b="1" i="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mycreative_dictionary.csv</a:t>
            </a:r>
            <a:endParaRPr lang="en-GB" sz="1200" b="1" i="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p:txBody>
      </p:sp>
      <p:grpSp>
        <p:nvGrpSpPr>
          <p:cNvPr id="26" name="Group 25">
            <a:extLst>
              <a:ext uri="{FF2B5EF4-FFF2-40B4-BE49-F238E27FC236}">
                <a16:creationId xmlns:a16="http://schemas.microsoft.com/office/drawing/2014/main" id="{2773CE47-BE12-8546-9738-C5B7D59E70EF}"/>
              </a:ext>
            </a:extLst>
          </p:cNvPr>
          <p:cNvGrpSpPr/>
          <p:nvPr/>
        </p:nvGrpSpPr>
        <p:grpSpPr>
          <a:xfrm>
            <a:off x="481517" y="5409526"/>
            <a:ext cx="5018737" cy="1115099"/>
            <a:chOff x="527140" y="5446300"/>
            <a:chExt cx="5018737" cy="1115099"/>
          </a:xfrm>
        </p:grpSpPr>
        <p:sp>
          <p:nvSpPr>
            <p:cNvPr id="27" name="Rectangle 26">
              <a:extLst>
                <a:ext uri="{FF2B5EF4-FFF2-40B4-BE49-F238E27FC236}">
                  <a16:creationId xmlns:a16="http://schemas.microsoft.com/office/drawing/2014/main" id="{B99E5D55-B5CA-4146-BC49-87D6B406F3CA}"/>
                </a:ext>
              </a:extLst>
            </p:cNvPr>
            <p:cNvSpPr/>
            <p:nvPr/>
          </p:nvSpPr>
          <p:spPr>
            <a:xfrm>
              <a:off x="1203094" y="5499570"/>
              <a:ext cx="4342783" cy="1061829"/>
            </a:xfrm>
            <a:prstGeom prst="rect">
              <a:avLst/>
            </a:prstGeom>
          </p:spPr>
          <p:txBody>
            <a:bodyPr wrap="square">
              <a:spAutoFit/>
            </a:bodyPr>
            <a:lstStyle/>
            <a:p>
              <a:pPr fontAlgn="base"/>
              <a:r>
                <a:rPr lang="en-GB" sz="1050" i="1" dirty="0">
                  <a:latin typeface="Noto Sans Light" panose="020B0402040504020204" pitchFamily="34" charset="0"/>
                  <a:ea typeface="Noto Sans Light" panose="020B0402040504020204" pitchFamily="34" charset="0"/>
                  <a:cs typeface="Noto Sans Light" panose="020B0402040504020204" pitchFamily="34" charset="0"/>
                </a:rPr>
                <a:t>*Some browsers automatically block pop-ups or multiple downloads, so if you don’t see both files download automatically you should check whether your settings are blocking this. (Most browsers will make this obvious to you in the UI; for example, Chrome will show you a big message asking if you want to allow multiple downloads. You should say ‘Yes’!)</a:t>
              </a:r>
            </a:p>
          </p:txBody>
        </p:sp>
        <p:pic>
          <p:nvPicPr>
            <p:cNvPr id="28" name="Picture 27">
              <a:extLst>
                <a:ext uri="{FF2B5EF4-FFF2-40B4-BE49-F238E27FC236}">
                  <a16:creationId xmlns:a16="http://schemas.microsoft.com/office/drawing/2014/main" id="{77E6E829-B44C-F94A-973C-D4F95DE7FB67}"/>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29" name="Rectangle 28">
              <a:extLst>
                <a:ext uri="{FF2B5EF4-FFF2-40B4-BE49-F238E27FC236}">
                  <a16:creationId xmlns:a16="http://schemas.microsoft.com/office/drawing/2014/main" id="{A2F2A8B3-CD08-CD43-85C0-F607E8C0A698}"/>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pic>
        <p:nvPicPr>
          <p:cNvPr id="3" name="Picture 2">
            <a:extLst>
              <a:ext uri="{FF2B5EF4-FFF2-40B4-BE49-F238E27FC236}">
                <a16:creationId xmlns:a16="http://schemas.microsoft.com/office/drawing/2014/main" id="{DF5E383F-EBD1-CF42-B91C-367103142A93}"/>
              </a:ext>
            </a:extLst>
          </p:cNvPr>
          <p:cNvPicPr>
            <a:picLocks noChangeAspect="1"/>
          </p:cNvPicPr>
          <p:nvPr/>
        </p:nvPicPr>
        <p:blipFill>
          <a:blip r:embed="rId6"/>
          <a:stretch>
            <a:fillRect/>
          </a:stretch>
        </p:blipFill>
        <p:spPr>
          <a:xfrm>
            <a:off x="6091017" y="5818062"/>
            <a:ext cx="5853636" cy="297801"/>
          </a:xfrm>
          <a:prstGeom prst="rect">
            <a:avLst/>
          </a:prstGeom>
        </p:spPr>
      </p:pic>
      <p:sp>
        <p:nvSpPr>
          <p:cNvPr id="14" name="Rectangle 13">
            <a:extLst>
              <a:ext uri="{FF2B5EF4-FFF2-40B4-BE49-F238E27FC236}">
                <a16:creationId xmlns:a16="http://schemas.microsoft.com/office/drawing/2014/main" id="{37030D01-AD38-DF46-9817-734CF9FA1F1A}"/>
              </a:ext>
            </a:extLst>
          </p:cNvPr>
          <p:cNvSpPr/>
          <p:nvPr/>
        </p:nvSpPr>
        <p:spPr>
          <a:xfrm>
            <a:off x="11308632" y="2199195"/>
            <a:ext cx="471193" cy="21111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6B2CEF44-8FF7-AC43-921D-AB13D8C8E5AD}"/>
              </a:ext>
            </a:extLst>
          </p:cNvPr>
          <p:cNvSpPr/>
          <p:nvPr/>
        </p:nvSpPr>
        <p:spPr>
          <a:xfrm>
            <a:off x="11578988" y="1841721"/>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3" name="Rectangle 22">
            <a:extLst>
              <a:ext uri="{FF2B5EF4-FFF2-40B4-BE49-F238E27FC236}">
                <a16:creationId xmlns:a16="http://schemas.microsoft.com/office/drawing/2014/main" id="{3DF20D15-6A7F-9249-A2AC-EE0ACD25FD24}"/>
              </a:ext>
            </a:extLst>
          </p:cNvPr>
          <p:cNvSpPr/>
          <p:nvPr/>
        </p:nvSpPr>
        <p:spPr>
          <a:xfrm>
            <a:off x="6038515" y="5747503"/>
            <a:ext cx="2544239" cy="476091"/>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24" name="Rectangle 23">
            <a:extLst>
              <a:ext uri="{FF2B5EF4-FFF2-40B4-BE49-F238E27FC236}">
                <a16:creationId xmlns:a16="http://schemas.microsoft.com/office/drawing/2014/main" id="{687A43CE-CE07-654F-AFAF-943921A4CBA0}"/>
              </a:ext>
            </a:extLst>
          </p:cNvPr>
          <p:cNvSpPr/>
          <p:nvPr/>
        </p:nvSpPr>
        <p:spPr>
          <a:xfrm>
            <a:off x="8582754" y="6104005"/>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047492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6" name="Title 1">
            <a:extLst>
              <a:ext uri="{FF2B5EF4-FFF2-40B4-BE49-F238E27FC236}">
                <a16:creationId xmlns:a16="http://schemas.microsoft.com/office/drawing/2014/main" id="{9CDA8020-7D01-5549-BA95-935838978599}"/>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CSV Working Offline</a:t>
            </a:r>
          </a:p>
        </p:txBody>
      </p:sp>
      <p:grpSp>
        <p:nvGrpSpPr>
          <p:cNvPr id="9" name="Group 8">
            <a:extLst>
              <a:ext uri="{FF2B5EF4-FFF2-40B4-BE49-F238E27FC236}">
                <a16:creationId xmlns:a16="http://schemas.microsoft.com/office/drawing/2014/main" id="{99B52808-7CC9-F041-82F8-FA11EB39FC78}"/>
              </a:ext>
            </a:extLst>
          </p:cNvPr>
          <p:cNvGrpSpPr/>
          <p:nvPr/>
        </p:nvGrpSpPr>
        <p:grpSpPr>
          <a:xfrm>
            <a:off x="10231614" y="782076"/>
            <a:ext cx="1713039" cy="500716"/>
            <a:chOff x="548247" y="6096934"/>
            <a:chExt cx="1713039" cy="500716"/>
          </a:xfrm>
        </p:grpSpPr>
        <p:sp>
          <p:nvSpPr>
            <p:cNvPr id="10" name="Rectangle 9">
              <a:extLst>
                <a:ext uri="{FF2B5EF4-FFF2-40B4-BE49-F238E27FC236}">
                  <a16:creationId xmlns:a16="http://schemas.microsoft.com/office/drawing/2014/main" id="{8B9BCD79-5806-3E4E-9DF9-1F28F3535B58}"/>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127575D-9245-2F42-ADCF-79EC66507F49}"/>
                </a:ext>
              </a:extLst>
            </p:cNvPr>
            <p:cNvPicPr>
              <a:picLocks noChangeAspect="1"/>
            </p:cNvPicPr>
            <p:nvPr/>
          </p:nvPicPr>
          <p:blipFill>
            <a:blip r:embed="rId2">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12" name="Rectangle 11">
              <a:extLst>
                <a:ext uri="{FF2B5EF4-FFF2-40B4-BE49-F238E27FC236}">
                  <a16:creationId xmlns:a16="http://schemas.microsoft.com/office/drawing/2014/main" id="{A169828F-1924-E04F-ADB4-514DCD66F6A2}"/>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5" name="Rectangle 24">
            <a:extLst>
              <a:ext uri="{FF2B5EF4-FFF2-40B4-BE49-F238E27FC236}">
                <a16:creationId xmlns:a16="http://schemas.microsoft.com/office/drawing/2014/main" id="{FFD7B8E6-96FC-6C42-AF75-F477DB40FEEA}"/>
              </a:ext>
            </a:extLst>
          </p:cNvPr>
          <p:cNvSpPr/>
          <p:nvPr/>
        </p:nvSpPr>
        <p:spPr>
          <a:xfrm>
            <a:off x="479425" y="1775775"/>
            <a:ext cx="4660986" cy="3816429"/>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The next step is editing the CSV file with the updates you want to make to your variant:</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Part 2: Editing</a:t>
            </a:r>
            <a:b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Open the </a:t>
            </a: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Variant File </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r>
              <a:rPr lang="en-GB" sz="1200"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mycreative.csv</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in Excel</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should see a table that looks very familiar, with the same structure as the grid:</a:t>
            </a:r>
          </a:p>
          <a:p>
            <a:pPr marL="800100" lvl="1" indent="-342900" fontAlgn="base">
              <a:buClr>
                <a:schemeClr val="accent3"/>
              </a:buClr>
              <a:buSzPct val="120000"/>
              <a:buFont typeface="+mj-lt"/>
              <a:buAutoNum type="alphaL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Columns = Editable Data Fields</a:t>
            </a:r>
          </a:p>
          <a:p>
            <a:pPr marL="800100" lvl="1" indent="-342900" fontAlgn="base">
              <a:buClr>
                <a:schemeClr val="accent3"/>
              </a:buClr>
              <a:buSzPct val="120000"/>
              <a:buFont typeface="+mj-lt"/>
              <a:buAutoNum type="alphaL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Rows = Variants</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The main differences you will need to be aware of when working in CSV:</a:t>
            </a:r>
          </a:p>
          <a:p>
            <a:pPr marL="800100" lvl="1" indent="-342900" fontAlgn="base">
              <a:buClr>
                <a:schemeClr val="accent3"/>
              </a:buClr>
              <a:buSzPct val="120000"/>
              <a:buFont typeface="+mj-lt"/>
              <a:buAutoNum type="alphaL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Products, Audience Type and Audiences are inputted as IDs, which can all be found in the </a:t>
            </a: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Audience Dictionary File </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r>
              <a:rPr lang="en-GB" sz="1200"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mycreative_dictionary.csv</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p>
          <a:p>
            <a:pPr marL="800100" lvl="1" indent="-342900" fontAlgn="base">
              <a:buClr>
                <a:schemeClr val="accent3"/>
              </a:buClr>
              <a:buSzPct val="120000"/>
              <a:buFont typeface="+mj-lt"/>
              <a:buAutoNum type="alphaL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All sizes are represented in one file (not split into separate tables) with each size’s editable fields labelled in the column headings</a:t>
            </a:r>
          </a:p>
          <a:p>
            <a:pPr marL="800100" lvl="1" indent="-342900" fontAlgn="base">
              <a:buClr>
                <a:schemeClr val="accent3"/>
              </a:buClr>
              <a:buSzPct val="120000"/>
              <a:buFont typeface="+mj-lt"/>
              <a:buAutoNum type="alphaLcPeriod"/>
            </a:pPr>
            <a:endPar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a:p>
            <a:pPr marL="800100" lvl="1" indent="-342900" fontAlgn="base">
              <a:buClr>
                <a:schemeClr val="accent3"/>
              </a:buClr>
              <a:buSzPct val="120000"/>
              <a:buFont typeface="+mj-lt"/>
              <a:buAutoNum type="alphaLcPeriod"/>
            </a:pPr>
            <a:endPar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nvGrpSpPr>
          <p:cNvPr id="26" name="Group 25">
            <a:extLst>
              <a:ext uri="{FF2B5EF4-FFF2-40B4-BE49-F238E27FC236}">
                <a16:creationId xmlns:a16="http://schemas.microsoft.com/office/drawing/2014/main" id="{2773CE47-BE12-8546-9738-C5B7D59E70EF}"/>
              </a:ext>
            </a:extLst>
          </p:cNvPr>
          <p:cNvGrpSpPr/>
          <p:nvPr/>
        </p:nvGrpSpPr>
        <p:grpSpPr>
          <a:xfrm>
            <a:off x="481517" y="5409526"/>
            <a:ext cx="4662271" cy="1110142"/>
            <a:chOff x="527140" y="5446300"/>
            <a:chExt cx="4662271" cy="1110142"/>
          </a:xfrm>
        </p:grpSpPr>
        <p:sp>
          <p:nvSpPr>
            <p:cNvPr id="27" name="Rectangle 26">
              <a:extLst>
                <a:ext uri="{FF2B5EF4-FFF2-40B4-BE49-F238E27FC236}">
                  <a16:creationId xmlns:a16="http://schemas.microsoft.com/office/drawing/2014/main" id="{B99E5D55-B5CA-4146-BC49-87D6B406F3CA}"/>
                </a:ext>
              </a:extLst>
            </p:cNvPr>
            <p:cNvSpPr/>
            <p:nvPr/>
          </p:nvSpPr>
          <p:spPr>
            <a:xfrm>
              <a:off x="1203095" y="5499570"/>
              <a:ext cx="3986316" cy="738664"/>
            </a:xfrm>
            <a:prstGeom prst="rect">
              <a:avLst/>
            </a:prstGeom>
          </p:spPr>
          <p:txBody>
            <a:bodyPr wrap="square">
              <a:spAutoFit/>
            </a:bodyPr>
            <a:lstStyle/>
            <a:p>
              <a:pPr fontAlgn="base"/>
              <a:r>
                <a:rPr lang="en-GB" sz="1050" i="1" dirty="0">
                  <a:latin typeface="Noto Sans Light" panose="020B0402040504020204" pitchFamily="34" charset="0"/>
                  <a:ea typeface="Noto Sans Light" panose="020B0402040504020204" pitchFamily="34" charset="0"/>
                  <a:cs typeface="Noto Sans Light" panose="020B0402040504020204" pitchFamily="34" charset="0"/>
                </a:rPr>
                <a:t>Offline working is currently only supported for editing </a:t>
              </a:r>
              <a:r>
                <a:rPr lang="en-GB" sz="1050" b="1" i="1" dirty="0">
                  <a:latin typeface="Noto Sans Light" panose="020B0402040504020204" pitchFamily="34" charset="0"/>
                  <a:ea typeface="Noto Sans Light" panose="020B0402040504020204" pitchFamily="34" charset="0"/>
                  <a:cs typeface="Noto Sans Light" panose="020B0402040504020204" pitchFamily="34" charset="0"/>
                </a:rPr>
                <a:t>existing</a:t>
              </a:r>
              <a:r>
                <a:rPr lang="en-GB" sz="1050" i="1" dirty="0">
                  <a:latin typeface="Noto Sans Light" panose="020B0402040504020204" pitchFamily="34" charset="0"/>
                  <a:ea typeface="Noto Sans Light" panose="020B0402040504020204" pitchFamily="34" charset="0"/>
                  <a:cs typeface="Noto Sans Light" panose="020B0402040504020204" pitchFamily="34" charset="0"/>
                </a:rPr>
                <a:t> variants (</a:t>
              </a:r>
              <a:r>
                <a:rPr lang="en-GB" sz="1050" i="1" dirty="0" err="1">
                  <a:latin typeface="Noto Sans Light" panose="020B0402040504020204" pitchFamily="34" charset="0"/>
                  <a:ea typeface="Noto Sans Light" panose="020B0402040504020204" pitchFamily="34" charset="0"/>
                  <a:cs typeface="Noto Sans Light" panose="020B0402040504020204" pitchFamily="34" charset="0"/>
                </a:rPr>
                <a:t>i.e</a:t>
              </a:r>
              <a:r>
                <a:rPr lang="en-GB" sz="1050" i="1" dirty="0">
                  <a:latin typeface="Noto Sans Light" panose="020B0402040504020204" pitchFamily="34" charset="0"/>
                  <a:ea typeface="Noto Sans Light" panose="020B0402040504020204" pitchFamily="34" charset="0"/>
                  <a:cs typeface="Noto Sans Light" panose="020B0402040504020204" pitchFamily="34" charset="0"/>
                </a:rPr>
                <a:t> each row will need a valid ‘Variant ID’) for a successful import. Therefore, you should create and duplicate (if needed) your set of variants in the grid first then export the file to work in Excel!</a:t>
              </a:r>
            </a:p>
          </p:txBody>
        </p:sp>
        <p:pic>
          <p:nvPicPr>
            <p:cNvPr id="28" name="Picture 27">
              <a:extLst>
                <a:ext uri="{FF2B5EF4-FFF2-40B4-BE49-F238E27FC236}">
                  <a16:creationId xmlns:a16="http://schemas.microsoft.com/office/drawing/2014/main" id="{77E6E829-B44C-F94A-973C-D4F95DE7FB67}"/>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29" name="Rectangle 28">
              <a:extLst>
                <a:ext uri="{FF2B5EF4-FFF2-40B4-BE49-F238E27FC236}">
                  <a16:creationId xmlns:a16="http://schemas.microsoft.com/office/drawing/2014/main" id="{A2F2A8B3-CD08-CD43-85C0-F607E8C0A698}"/>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pic>
        <p:nvPicPr>
          <p:cNvPr id="8" name="Picture 7" descr="A screen shot of a computer&#10;&#10;Description automatically generated">
            <a:extLst>
              <a:ext uri="{FF2B5EF4-FFF2-40B4-BE49-F238E27FC236}">
                <a16:creationId xmlns:a16="http://schemas.microsoft.com/office/drawing/2014/main" id="{2050DAA9-0597-5049-A585-1F972B3E04CE}"/>
              </a:ext>
            </a:extLst>
          </p:cNvPr>
          <p:cNvPicPr>
            <a:picLocks noChangeAspect="1"/>
          </p:cNvPicPr>
          <p:nvPr/>
        </p:nvPicPr>
        <p:blipFill>
          <a:blip r:embed="rId4"/>
          <a:stretch>
            <a:fillRect/>
          </a:stretch>
        </p:blipFill>
        <p:spPr>
          <a:xfrm>
            <a:off x="5263115" y="1617462"/>
            <a:ext cx="6712173" cy="4614985"/>
          </a:xfrm>
          <a:prstGeom prst="rect">
            <a:avLst/>
          </a:prstGeom>
        </p:spPr>
      </p:pic>
      <p:sp>
        <p:nvSpPr>
          <p:cNvPr id="23" name="Rectangle 22">
            <a:extLst>
              <a:ext uri="{FF2B5EF4-FFF2-40B4-BE49-F238E27FC236}">
                <a16:creationId xmlns:a16="http://schemas.microsoft.com/office/drawing/2014/main" id="{3DF20D15-6A7F-9249-A2AC-EE0ACD25FD24}"/>
              </a:ext>
            </a:extLst>
          </p:cNvPr>
          <p:cNvSpPr/>
          <p:nvPr/>
        </p:nvSpPr>
        <p:spPr>
          <a:xfrm>
            <a:off x="5423386" y="2519455"/>
            <a:ext cx="6391629" cy="1247665"/>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E4E54EC7-7E7A-9E45-BC2E-95F477BA0ADB}"/>
              </a:ext>
            </a:extLst>
          </p:cNvPr>
          <p:cNvSpPr/>
          <p:nvPr/>
        </p:nvSpPr>
        <p:spPr>
          <a:xfrm>
            <a:off x="5946950" y="2609984"/>
            <a:ext cx="1064870" cy="1066606"/>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37030D01-AD38-DF46-9817-734CF9FA1F1A}"/>
              </a:ext>
            </a:extLst>
          </p:cNvPr>
          <p:cNvSpPr/>
          <p:nvPr/>
        </p:nvSpPr>
        <p:spPr>
          <a:xfrm>
            <a:off x="7846827" y="1572218"/>
            <a:ext cx="1314875" cy="265897"/>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21" name="Rectangle 20">
            <a:extLst>
              <a:ext uri="{FF2B5EF4-FFF2-40B4-BE49-F238E27FC236}">
                <a16:creationId xmlns:a16="http://schemas.microsoft.com/office/drawing/2014/main" id="{06723239-A758-294C-8668-42CC4E56E8D4}"/>
              </a:ext>
            </a:extLst>
          </p:cNvPr>
          <p:cNvSpPr/>
          <p:nvPr/>
        </p:nvSpPr>
        <p:spPr>
          <a:xfrm>
            <a:off x="6228346" y="3368750"/>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0" name="Rectangle 29">
            <a:extLst>
              <a:ext uri="{FF2B5EF4-FFF2-40B4-BE49-F238E27FC236}">
                <a16:creationId xmlns:a16="http://schemas.microsoft.com/office/drawing/2014/main" id="{EECDC2BA-9985-B84D-9BDA-75CB29745C63}"/>
              </a:ext>
            </a:extLst>
          </p:cNvPr>
          <p:cNvSpPr/>
          <p:nvPr/>
        </p:nvSpPr>
        <p:spPr>
          <a:xfrm>
            <a:off x="7791982" y="2701446"/>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3b</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4" name="Rectangle 23">
            <a:extLst>
              <a:ext uri="{FF2B5EF4-FFF2-40B4-BE49-F238E27FC236}">
                <a16:creationId xmlns:a16="http://schemas.microsoft.com/office/drawing/2014/main" id="{687A43CE-CE07-654F-AFAF-943921A4CBA0}"/>
              </a:ext>
            </a:extLst>
          </p:cNvPr>
          <p:cNvSpPr/>
          <p:nvPr/>
        </p:nvSpPr>
        <p:spPr>
          <a:xfrm>
            <a:off x="5024720" y="2477959"/>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5" name="Rectangle 14">
            <a:extLst>
              <a:ext uri="{FF2B5EF4-FFF2-40B4-BE49-F238E27FC236}">
                <a16:creationId xmlns:a16="http://schemas.microsoft.com/office/drawing/2014/main" id="{6B2CEF44-8FF7-AC43-921D-AB13D8C8E5AD}"/>
              </a:ext>
            </a:extLst>
          </p:cNvPr>
          <p:cNvSpPr/>
          <p:nvPr/>
        </p:nvSpPr>
        <p:spPr>
          <a:xfrm>
            <a:off x="7592439" y="1207578"/>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2" name="Rectangle 21">
            <a:extLst>
              <a:ext uri="{FF2B5EF4-FFF2-40B4-BE49-F238E27FC236}">
                <a16:creationId xmlns:a16="http://schemas.microsoft.com/office/drawing/2014/main" id="{430F6AA0-CFBB-844C-8333-CF65D9A3EA6D}"/>
              </a:ext>
            </a:extLst>
          </p:cNvPr>
          <p:cNvSpPr/>
          <p:nvPr/>
        </p:nvSpPr>
        <p:spPr>
          <a:xfrm>
            <a:off x="7666329" y="2583275"/>
            <a:ext cx="657439" cy="156833"/>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736899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8B8D9CD-8B7A-9547-A884-4ECAF0BAF70D}"/>
              </a:ext>
            </a:extLst>
          </p:cNvPr>
          <p:cNvPicPr>
            <a:picLocks noChangeAspect="1"/>
          </p:cNvPicPr>
          <p:nvPr/>
        </p:nvPicPr>
        <p:blipFill>
          <a:blip r:embed="rId2"/>
          <a:stretch>
            <a:fillRect/>
          </a:stretch>
        </p:blipFill>
        <p:spPr>
          <a:xfrm>
            <a:off x="6100984" y="1557138"/>
            <a:ext cx="5781200" cy="4273603"/>
          </a:xfrm>
          <a:prstGeom prst="rect">
            <a:avLst/>
          </a:prstGeom>
        </p:spPr>
      </p:pic>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6" name="Title 1">
            <a:extLst>
              <a:ext uri="{FF2B5EF4-FFF2-40B4-BE49-F238E27FC236}">
                <a16:creationId xmlns:a16="http://schemas.microsoft.com/office/drawing/2014/main" id="{9CDA8020-7D01-5549-BA95-935838978599}"/>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CSV Working Offline</a:t>
            </a:r>
          </a:p>
        </p:txBody>
      </p:sp>
      <p:grpSp>
        <p:nvGrpSpPr>
          <p:cNvPr id="9" name="Group 8">
            <a:extLst>
              <a:ext uri="{FF2B5EF4-FFF2-40B4-BE49-F238E27FC236}">
                <a16:creationId xmlns:a16="http://schemas.microsoft.com/office/drawing/2014/main" id="{99B52808-7CC9-F041-82F8-FA11EB39FC78}"/>
              </a:ext>
            </a:extLst>
          </p:cNvPr>
          <p:cNvGrpSpPr/>
          <p:nvPr/>
        </p:nvGrpSpPr>
        <p:grpSpPr>
          <a:xfrm>
            <a:off x="10231614" y="782076"/>
            <a:ext cx="1713039" cy="500716"/>
            <a:chOff x="548247" y="6096934"/>
            <a:chExt cx="1713039" cy="500716"/>
          </a:xfrm>
        </p:grpSpPr>
        <p:sp>
          <p:nvSpPr>
            <p:cNvPr id="10" name="Rectangle 9">
              <a:extLst>
                <a:ext uri="{FF2B5EF4-FFF2-40B4-BE49-F238E27FC236}">
                  <a16:creationId xmlns:a16="http://schemas.microsoft.com/office/drawing/2014/main" id="{8B9BCD79-5806-3E4E-9DF9-1F28F3535B58}"/>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127575D-9245-2F42-ADCF-79EC66507F49}"/>
                </a:ext>
              </a:extLst>
            </p:cNvPr>
            <p:cNvPicPr>
              <a:picLocks noChangeAspect="1"/>
            </p:cNvPicPr>
            <p:nvPr/>
          </p:nvPicPr>
          <p:blipFill>
            <a:blip r:embed="rId3">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12" name="Rectangle 11">
              <a:extLst>
                <a:ext uri="{FF2B5EF4-FFF2-40B4-BE49-F238E27FC236}">
                  <a16:creationId xmlns:a16="http://schemas.microsoft.com/office/drawing/2014/main" id="{A169828F-1924-E04F-ADB4-514DCD66F6A2}"/>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5" name="Rectangle 24">
            <a:extLst>
              <a:ext uri="{FF2B5EF4-FFF2-40B4-BE49-F238E27FC236}">
                <a16:creationId xmlns:a16="http://schemas.microsoft.com/office/drawing/2014/main" id="{FFD7B8E6-96FC-6C42-AF75-F477DB40FEEA}"/>
              </a:ext>
            </a:extLst>
          </p:cNvPr>
          <p:cNvSpPr/>
          <p:nvPr/>
        </p:nvSpPr>
        <p:spPr>
          <a:xfrm>
            <a:off x="479425" y="1775775"/>
            <a:ext cx="5451952" cy="3754874"/>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Final step; importing your updates to the grid!</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Part 3: Importing</a:t>
            </a:r>
            <a:b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Once you’ve finished your work in Excel, you should save your file in a Tab Delimited Text (.txt ) format*</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Then, go back to your MC session and select ‘Import’</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From here, you should pick your saved </a:t>
            </a: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Variant File </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r>
              <a:rPr lang="en-GB" sz="1200"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mycreative.txt</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from your documents and select ‘Open’</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all changes made in the Excel sheet are valid you will see a message to confirm your changes were successful and you should see your updates reflected in the grid!</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you made some changes that were un-successful, you will be presented with a list of errors to address</a:t>
            </a:r>
          </a:p>
          <a:p>
            <a:pPr lvl="1" fontAlgn="base">
              <a:buClr>
                <a:schemeClr val="accent3"/>
              </a:buClr>
              <a:buSzPct val="120000"/>
            </a:pPr>
            <a:r>
              <a:rPr lang="en-GB" sz="1100" b="1" i="1" dirty="0">
                <a:solidFill>
                  <a:schemeClr val="accent3"/>
                </a:solidFill>
                <a:latin typeface="Noto Sans Light" panose="020B0402040504020204" pitchFamily="34" charset="0"/>
                <a:ea typeface="Noto Sans Light" panose="020B0402040504020204" pitchFamily="34" charset="0"/>
                <a:cs typeface="Noto Sans Light" panose="020B0402040504020204" pitchFamily="34" charset="0"/>
              </a:rPr>
              <a:t>NOTE: </a:t>
            </a:r>
            <a:r>
              <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All updates imported without an error/invalid value should still be updated in the grid</a:t>
            </a:r>
          </a:p>
          <a:p>
            <a:pPr lvl="1" fontAlgn="base">
              <a:buClr>
                <a:schemeClr val="accent3"/>
              </a:buClr>
              <a:buSzPct val="120000"/>
            </a:pPr>
            <a:r>
              <a:rPr lang="en-GB" sz="11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only need to readdress the variants with errors listed. This can be done directly in the grid or through offline working; whichever you prefer!</a:t>
            </a:r>
          </a:p>
          <a:p>
            <a:pPr marL="342900" indent="-342900" fontAlgn="base">
              <a:buClr>
                <a:schemeClr val="accent3"/>
              </a:buClr>
              <a:buSzPct val="120000"/>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800100" lvl="1" indent="-342900" fontAlgn="base">
              <a:buClr>
                <a:schemeClr val="accent3"/>
              </a:buClr>
              <a:buSzPct val="120000"/>
              <a:buFont typeface="+mj-lt"/>
              <a:buAutoNum type="arabicPeriod"/>
            </a:pPr>
            <a:endPar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nvGrpSpPr>
          <p:cNvPr id="26" name="Group 25">
            <a:extLst>
              <a:ext uri="{FF2B5EF4-FFF2-40B4-BE49-F238E27FC236}">
                <a16:creationId xmlns:a16="http://schemas.microsoft.com/office/drawing/2014/main" id="{2773CE47-BE12-8546-9738-C5B7D59E70EF}"/>
              </a:ext>
            </a:extLst>
          </p:cNvPr>
          <p:cNvGrpSpPr/>
          <p:nvPr/>
        </p:nvGrpSpPr>
        <p:grpSpPr>
          <a:xfrm>
            <a:off x="481517" y="5409526"/>
            <a:ext cx="5512883" cy="1110142"/>
            <a:chOff x="527140" y="5446300"/>
            <a:chExt cx="5512883" cy="1110142"/>
          </a:xfrm>
        </p:grpSpPr>
        <p:sp>
          <p:nvSpPr>
            <p:cNvPr id="27" name="Rectangle 26">
              <a:extLst>
                <a:ext uri="{FF2B5EF4-FFF2-40B4-BE49-F238E27FC236}">
                  <a16:creationId xmlns:a16="http://schemas.microsoft.com/office/drawing/2014/main" id="{B99E5D55-B5CA-4146-BC49-87D6B406F3CA}"/>
                </a:ext>
              </a:extLst>
            </p:cNvPr>
            <p:cNvSpPr/>
            <p:nvPr/>
          </p:nvSpPr>
          <p:spPr>
            <a:xfrm>
              <a:off x="1203095" y="5643372"/>
              <a:ext cx="4836928" cy="415498"/>
            </a:xfrm>
            <a:prstGeom prst="rect">
              <a:avLst/>
            </a:prstGeom>
          </p:spPr>
          <p:txBody>
            <a:bodyPr wrap="square">
              <a:spAutoFit/>
            </a:bodyPr>
            <a:lstStyle/>
            <a:p>
              <a:pPr fontAlgn="base"/>
              <a:r>
                <a:rPr lang="en-GB" sz="1050" i="1" dirty="0">
                  <a:latin typeface="Noto Sans Light" panose="020B0402040504020204" pitchFamily="34" charset="0"/>
                  <a:ea typeface="Noto Sans Light" panose="020B0402040504020204" pitchFamily="34" charset="0"/>
                  <a:cs typeface="Noto Sans Light" panose="020B0402040504020204" pitchFamily="34" charset="0"/>
                </a:rPr>
                <a:t>*To save your file in a new format in Excel, you will need to go to: </a:t>
              </a:r>
            </a:p>
            <a:p>
              <a:pPr fontAlgn="base"/>
              <a:r>
                <a:rPr lang="en-GB" sz="1050" b="1" dirty="0">
                  <a:latin typeface="Noto Sans" panose="020B0502040504020204" pitchFamily="34" charset="0"/>
                  <a:ea typeface="Noto Sans" panose="020B0502040504020204" pitchFamily="34" charset="0"/>
                  <a:cs typeface="Noto Sans" panose="020B0502040504020204" pitchFamily="34" charset="0"/>
                </a:rPr>
                <a:t>File &gt; Save As &gt; File Format &gt; Speciality Formats &gt; Tab </a:t>
              </a:r>
              <a:r>
                <a:rPr lang="en-GB" sz="1050" b="1" dirty="0">
                  <a:solidFill>
                    <a:srgbClr val="1B3F55"/>
                  </a:solidFill>
                  <a:latin typeface="Noto Sans" panose="020B0502040504020204" pitchFamily="34" charset="0"/>
                  <a:ea typeface="Noto Sans" panose="020B0502040504020204" pitchFamily="34" charset="0"/>
                  <a:cs typeface="Noto Sans" panose="020B0502040504020204" pitchFamily="34" charset="0"/>
                </a:rPr>
                <a:t>Delimited</a:t>
              </a:r>
              <a:r>
                <a:rPr lang="en-GB" sz="1050" b="1" dirty="0">
                  <a:latin typeface="Noto Sans" panose="020B0502040504020204" pitchFamily="34" charset="0"/>
                  <a:ea typeface="Noto Sans" panose="020B0502040504020204" pitchFamily="34" charset="0"/>
                  <a:cs typeface="Noto Sans" panose="020B0502040504020204" pitchFamily="34" charset="0"/>
                </a:rPr>
                <a:t> Text</a:t>
              </a:r>
              <a:r>
                <a:rPr lang="en-GB" sz="1050" i="1" dirty="0">
                  <a:latin typeface="Noto Sans Light" panose="020B0402040504020204" pitchFamily="34" charset="0"/>
                  <a:ea typeface="Noto Sans Light" panose="020B0402040504020204" pitchFamily="34" charset="0"/>
                  <a:cs typeface="Noto Sans Light" panose="020B0402040504020204" pitchFamily="34" charset="0"/>
                </a:rPr>
                <a:t> </a:t>
              </a:r>
            </a:p>
          </p:txBody>
        </p:sp>
        <p:pic>
          <p:nvPicPr>
            <p:cNvPr id="28" name="Picture 27">
              <a:extLst>
                <a:ext uri="{FF2B5EF4-FFF2-40B4-BE49-F238E27FC236}">
                  <a16:creationId xmlns:a16="http://schemas.microsoft.com/office/drawing/2014/main" id="{77E6E829-B44C-F94A-973C-D4F95DE7FB67}"/>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29" name="Rectangle 28">
              <a:extLst>
                <a:ext uri="{FF2B5EF4-FFF2-40B4-BE49-F238E27FC236}">
                  <a16:creationId xmlns:a16="http://schemas.microsoft.com/office/drawing/2014/main" id="{A2F2A8B3-CD08-CD43-85C0-F607E8C0A698}"/>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pic>
        <p:nvPicPr>
          <p:cNvPr id="17" name="Picture 16">
            <a:extLst>
              <a:ext uri="{FF2B5EF4-FFF2-40B4-BE49-F238E27FC236}">
                <a16:creationId xmlns:a16="http://schemas.microsoft.com/office/drawing/2014/main" id="{D6894AE4-E240-6747-AEF8-BCD72CCE2408}"/>
              </a:ext>
            </a:extLst>
          </p:cNvPr>
          <p:cNvPicPr>
            <a:picLocks noChangeAspect="1"/>
          </p:cNvPicPr>
          <p:nvPr/>
        </p:nvPicPr>
        <p:blipFill>
          <a:blip r:embed="rId5"/>
          <a:stretch>
            <a:fillRect/>
          </a:stretch>
        </p:blipFill>
        <p:spPr>
          <a:xfrm>
            <a:off x="1246186" y="6022096"/>
            <a:ext cx="4083050" cy="502529"/>
          </a:xfrm>
          <a:prstGeom prst="rect">
            <a:avLst/>
          </a:prstGeom>
        </p:spPr>
      </p:pic>
      <p:sp>
        <p:nvSpPr>
          <p:cNvPr id="15" name="Rectangle 14">
            <a:extLst>
              <a:ext uri="{FF2B5EF4-FFF2-40B4-BE49-F238E27FC236}">
                <a16:creationId xmlns:a16="http://schemas.microsoft.com/office/drawing/2014/main" id="{6B2CEF44-8FF7-AC43-921D-AB13D8C8E5AD}"/>
              </a:ext>
            </a:extLst>
          </p:cNvPr>
          <p:cNvSpPr/>
          <p:nvPr/>
        </p:nvSpPr>
        <p:spPr>
          <a:xfrm>
            <a:off x="11048981" y="1900749"/>
            <a:ext cx="313286"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37030D01-AD38-DF46-9817-734CF9FA1F1A}"/>
              </a:ext>
            </a:extLst>
          </p:cNvPr>
          <p:cNvSpPr/>
          <p:nvPr/>
        </p:nvSpPr>
        <p:spPr>
          <a:xfrm>
            <a:off x="10956122" y="2222588"/>
            <a:ext cx="406145" cy="181946"/>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pic>
        <p:nvPicPr>
          <p:cNvPr id="19" name="Picture 18" descr="Graphical user interface, application&#10;&#10;Description automatically generated">
            <a:extLst>
              <a:ext uri="{FF2B5EF4-FFF2-40B4-BE49-F238E27FC236}">
                <a16:creationId xmlns:a16="http://schemas.microsoft.com/office/drawing/2014/main" id="{2FF794C7-4D42-FD42-90C6-8DE1827B406D}"/>
              </a:ext>
            </a:extLst>
          </p:cNvPr>
          <p:cNvPicPr>
            <a:picLocks noChangeAspect="1"/>
          </p:cNvPicPr>
          <p:nvPr/>
        </p:nvPicPr>
        <p:blipFill rotWithShape="1">
          <a:blip r:embed="rId6"/>
          <a:srcRect t="18462" r="70833" b="74030"/>
          <a:stretch/>
        </p:blipFill>
        <p:spPr>
          <a:xfrm>
            <a:off x="6100984" y="1857498"/>
            <a:ext cx="2374557" cy="382041"/>
          </a:xfrm>
          <a:prstGeom prst="rect">
            <a:avLst/>
          </a:prstGeom>
        </p:spPr>
      </p:pic>
    </p:spTree>
    <p:extLst>
      <p:ext uri="{BB962C8B-B14F-4D97-AF65-F5344CB8AC3E}">
        <p14:creationId xmlns:p14="http://schemas.microsoft.com/office/powerpoint/2010/main" val="2669573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social media post&#10;&#10;Description automatically generated">
            <a:extLst>
              <a:ext uri="{FF2B5EF4-FFF2-40B4-BE49-F238E27FC236}">
                <a16:creationId xmlns:a16="http://schemas.microsoft.com/office/drawing/2014/main" id="{65D455B9-1041-C04F-8094-ABD23ECFEF8F}"/>
              </a:ext>
            </a:extLst>
          </p:cNvPr>
          <p:cNvPicPr>
            <a:picLocks noChangeAspect="1"/>
          </p:cNvPicPr>
          <p:nvPr/>
        </p:nvPicPr>
        <p:blipFill>
          <a:blip r:embed="rId2"/>
          <a:stretch>
            <a:fillRect/>
          </a:stretch>
        </p:blipFill>
        <p:spPr>
          <a:xfrm>
            <a:off x="5023779" y="1555818"/>
            <a:ext cx="6904696" cy="4756239"/>
          </a:xfrm>
          <a:prstGeom prst="rect">
            <a:avLst/>
          </a:prstGeom>
        </p:spPr>
      </p:pic>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9" name="Rectangle 8">
            <a:extLst>
              <a:ext uri="{FF2B5EF4-FFF2-40B4-BE49-F238E27FC236}">
                <a16:creationId xmlns:a16="http://schemas.microsoft.com/office/drawing/2014/main" id="{D1B483C9-1D8B-4D4F-B930-570A2911C2E1}"/>
              </a:ext>
            </a:extLst>
          </p:cNvPr>
          <p:cNvSpPr/>
          <p:nvPr/>
        </p:nvSpPr>
        <p:spPr>
          <a:xfrm>
            <a:off x="419525" y="1744407"/>
            <a:ext cx="4520977" cy="2862322"/>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Whilst working in the grid, there will be times when you want to see what the changes you have made actually look like! For this, you can open the Preview Panel:</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Whilst anywhere in the application, hit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r>
              <a:rPr lang="en-GB" sz="1200" b="1" i="1"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Alt’+’P</a:t>
            </a:r>
            <a:r>
              <a:rPr lang="en-GB" sz="1200" b="1"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t>
            </a: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or </a:t>
            </a:r>
            <a:r>
              <a:rPr lang="en-GB" sz="1200" b="1"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r>
              <a:rPr lang="en-GB" sz="1200" b="1" i="1"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Option’+’P</a:t>
            </a:r>
            <a:r>
              <a:rPr lang="en-GB" sz="1200" b="1"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This will open a window over your grid, showing you the first variant in your table</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Press the ‘Play’ button to play the variant from start to finish</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Select a frame icon to view a frame individually</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Use your ‘left’ and ‘right’ arrow keys to view the different sizes for your variant</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Use the ‘up’ and ‘down’ arrow keys to move through the table to a different variant</a:t>
            </a:r>
          </a:p>
          <a:p>
            <a:pPr marL="342900" indent="-342900" fontAlgn="base">
              <a:buClr>
                <a:schemeClr val="accent3"/>
              </a:buClr>
              <a:buSzPct val="120000"/>
              <a:buFont typeface="+mj-lt"/>
              <a:buAutoNum type="arabicPeriod"/>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To close the Preview, hit the “Esc” key or use the close button</a:t>
            </a:r>
          </a:p>
          <a:p>
            <a:pPr marL="342900" indent="-342900" fontAlgn="base">
              <a:buClr>
                <a:schemeClr val="accent3"/>
              </a:buClr>
              <a:buSzPct val="120000"/>
              <a:buFont typeface="+mj-lt"/>
              <a:buAutoNum type="arabicPeriod"/>
            </a:pP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p:txBody>
      </p:sp>
      <p:grpSp>
        <p:nvGrpSpPr>
          <p:cNvPr id="20" name="Group 19">
            <a:extLst>
              <a:ext uri="{FF2B5EF4-FFF2-40B4-BE49-F238E27FC236}">
                <a16:creationId xmlns:a16="http://schemas.microsoft.com/office/drawing/2014/main" id="{37EA8097-3DF9-194D-BBB2-ACAB5CF1AC0B}"/>
              </a:ext>
            </a:extLst>
          </p:cNvPr>
          <p:cNvGrpSpPr/>
          <p:nvPr/>
        </p:nvGrpSpPr>
        <p:grpSpPr>
          <a:xfrm>
            <a:off x="532693" y="5450996"/>
            <a:ext cx="4552924" cy="1110142"/>
            <a:chOff x="527140" y="5446300"/>
            <a:chExt cx="4552924" cy="1110142"/>
          </a:xfrm>
        </p:grpSpPr>
        <p:sp>
          <p:nvSpPr>
            <p:cNvPr id="22" name="Rectangle 21">
              <a:extLst>
                <a:ext uri="{FF2B5EF4-FFF2-40B4-BE49-F238E27FC236}">
                  <a16:creationId xmlns:a16="http://schemas.microsoft.com/office/drawing/2014/main" id="{C4BE9AC3-7B0B-0F44-BA32-2B89B927AE02}"/>
                </a:ext>
              </a:extLst>
            </p:cNvPr>
            <p:cNvSpPr/>
            <p:nvPr/>
          </p:nvSpPr>
          <p:spPr>
            <a:xfrm>
              <a:off x="1203095" y="5499570"/>
              <a:ext cx="3876969" cy="830997"/>
            </a:xfrm>
            <a:prstGeom prst="rect">
              <a:avLst/>
            </a:prstGeom>
          </p:spPr>
          <p:txBody>
            <a:bodyPr wrap="square">
              <a:spAutoFit/>
            </a:bodyPr>
            <a:lstStyle/>
            <a:p>
              <a:pPr fontAlgn="base"/>
              <a:r>
                <a:rPr lang="en-GB" sz="1200" i="1" dirty="0">
                  <a:latin typeface="Noto Sans Light" panose="020B0402040504020204" pitchFamily="34" charset="0"/>
                  <a:ea typeface="Noto Sans Light" panose="020B0402040504020204" pitchFamily="34" charset="0"/>
                  <a:cs typeface="Noto Sans Light" panose="020B0402040504020204" pitchFamily="34" charset="0"/>
                </a:rPr>
                <a:t>In Preview mode, you are viewing the saved version of your variant. If you have unsaved changes in the grid, you should save before opening the preview window. Please see the </a:t>
              </a:r>
              <a:r>
                <a:rPr lang="en-GB" sz="1200" b="1" i="1" dirty="0">
                  <a:latin typeface="Noto Sans" panose="020B0502040504020204" pitchFamily="34" charset="0"/>
                  <a:ea typeface="Noto Sans" panose="020B0502040504020204" pitchFamily="34" charset="0"/>
                  <a:cs typeface="Noto Sans" panose="020B0502040504020204" pitchFamily="34" charset="0"/>
                </a:rPr>
                <a:t>‘Saving’ FAQ </a:t>
              </a:r>
              <a:r>
                <a:rPr lang="en-GB" sz="1200" i="1" dirty="0">
                  <a:latin typeface="Noto Sans Light" panose="020B0402040504020204" pitchFamily="34" charset="0"/>
                  <a:ea typeface="Noto Sans Light" panose="020B0402040504020204" pitchFamily="34" charset="0"/>
                  <a:cs typeface="Noto Sans Light" panose="020B0402040504020204" pitchFamily="34" charset="0"/>
                </a:rPr>
                <a:t>for more info.</a:t>
              </a:r>
            </a:p>
          </p:txBody>
        </p:sp>
        <p:pic>
          <p:nvPicPr>
            <p:cNvPr id="23" name="Picture 22">
              <a:extLst>
                <a:ext uri="{FF2B5EF4-FFF2-40B4-BE49-F238E27FC236}">
                  <a16:creationId xmlns:a16="http://schemas.microsoft.com/office/drawing/2014/main" id="{35A17241-509D-3E4D-A5FD-50789409699C}"/>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527140" y="5446300"/>
              <a:ext cx="675955" cy="675955"/>
            </a:xfrm>
            <a:prstGeom prst="rect">
              <a:avLst/>
            </a:prstGeom>
          </p:spPr>
        </p:pic>
        <p:sp>
          <p:nvSpPr>
            <p:cNvPr id="24" name="Rectangle 23">
              <a:extLst>
                <a:ext uri="{FF2B5EF4-FFF2-40B4-BE49-F238E27FC236}">
                  <a16:creationId xmlns:a16="http://schemas.microsoft.com/office/drawing/2014/main" id="{09BDA397-B46A-704A-B20F-B7A53CBF2769}"/>
                </a:ext>
              </a:extLst>
            </p:cNvPr>
            <p:cNvSpPr/>
            <p:nvPr/>
          </p:nvSpPr>
          <p:spPr>
            <a:xfrm>
              <a:off x="592030" y="6187110"/>
              <a:ext cx="611065" cy="369332"/>
            </a:xfrm>
            <a:prstGeom prst="rect">
              <a:avLst/>
            </a:prstGeom>
          </p:spPr>
          <p:txBody>
            <a:bodyPr wrap="none">
              <a:spAutoFit/>
            </a:bodyPr>
            <a:lstStyle/>
            <a:p>
              <a:pPr algn="ctr"/>
              <a:r>
                <a:rPr lang="en-GB"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TIP </a:t>
              </a:r>
              <a:endParaRPr lang="en-US" dirty="0"/>
            </a:p>
          </p:txBody>
        </p:sp>
      </p:grpSp>
      <p:grpSp>
        <p:nvGrpSpPr>
          <p:cNvPr id="25" name="Group 24">
            <a:extLst>
              <a:ext uri="{FF2B5EF4-FFF2-40B4-BE49-F238E27FC236}">
                <a16:creationId xmlns:a16="http://schemas.microsoft.com/office/drawing/2014/main" id="{F163CB7F-3843-0A4A-BA2F-BD55BF1DB27C}"/>
              </a:ext>
            </a:extLst>
          </p:cNvPr>
          <p:cNvGrpSpPr/>
          <p:nvPr/>
        </p:nvGrpSpPr>
        <p:grpSpPr>
          <a:xfrm>
            <a:off x="10231614" y="782076"/>
            <a:ext cx="1713039" cy="500716"/>
            <a:chOff x="548247" y="6096934"/>
            <a:chExt cx="1713039" cy="500716"/>
          </a:xfrm>
        </p:grpSpPr>
        <p:sp>
          <p:nvSpPr>
            <p:cNvPr id="26" name="Rectangle 25">
              <a:extLst>
                <a:ext uri="{FF2B5EF4-FFF2-40B4-BE49-F238E27FC236}">
                  <a16:creationId xmlns:a16="http://schemas.microsoft.com/office/drawing/2014/main" id="{8006A25B-88F3-2948-BE61-12B1AD0C0F22}"/>
                </a:ext>
              </a:extLst>
            </p:cNvPr>
            <p:cNvSpPr/>
            <p:nvPr/>
          </p:nvSpPr>
          <p:spPr>
            <a:xfrm>
              <a:off x="548247" y="6096934"/>
              <a:ext cx="1713039" cy="50071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0CA8B15-1A34-A94B-8790-A0A8033E454C}"/>
                </a:ext>
              </a:extLst>
            </p:cNvPr>
            <p:cNvPicPr>
              <a:picLocks noChangeAspect="1"/>
            </p:cNvPicPr>
            <p:nvPr/>
          </p:nvPicPr>
          <p:blipFill>
            <a:blip r:embed="rId4">
              <a:alphaModFix amt="69000"/>
              <a:extLst>
                <a:ext uri="{28A0092B-C50C-407E-A947-70E740481C1C}">
                  <a14:useLocalDpi xmlns:a14="http://schemas.microsoft.com/office/drawing/2010/main" val="0"/>
                </a:ext>
              </a:extLst>
            </a:blip>
            <a:stretch>
              <a:fillRect/>
            </a:stretch>
          </p:blipFill>
          <p:spPr>
            <a:xfrm>
              <a:off x="590172" y="6124639"/>
              <a:ext cx="448398" cy="448398"/>
            </a:xfrm>
            <a:prstGeom prst="rect">
              <a:avLst/>
            </a:prstGeom>
          </p:spPr>
        </p:pic>
        <p:sp>
          <p:nvSpPr>
            <p:cNvPr id="28" name="Rectangle 27">
              <a:extLst>
                <a:ext uri="{FF2B5EF4-FFF2-40B4-BE49-F238E27FC236}">
                  <a16:creationId xmlns:a16="http://schemas.microsoft.com/office/drawing/2014/main" id="{014B429A-890E-0043-9DD0-3C776740F6D0}"/>
                </a:ext>
              </a:extLst>
            </p:cNvPr>
            <p:cNvSpPr/>
            <p:nvPr/>
          </p:nvSpPr>
          <p:spPr>
            <a:xfrm>
              <a:off x="627243" y="6154082"/>
              <a:ext cx="1571574" cy="415498"/>
            </a:xfrm>
            <a:prstGeom prst="rect">
              <a:avLst/>
            </a:prstGeom>
          </p:spPr>
          <p:txBody>
            <a:bodyPr wrap="square">
              <a:spAutoFit/>
            </a:bodyPr>
            <a:lstStyle/>
            <a:p>
              <a:pPr algn="r" fontAlgn="base"/>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Full user guide &amp; </a:t>
              </a:r>
              <a:b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br>
              <a:r>
                <a:rPr lang="en-GB" sz="1050" i="1" dirty="0">
                  <a:solidFill>
                    <a:schemeClr val="tx2"/>
                  </a:solidFill>
                  <a:latin typeface="Noto Sans Light" panose="020B0402040504020204" pitchFamily="34" charset="0"/>
                  <a:ea typeface="Noto Sans Light" panose="020B0402040504020204" pitchFamily="34" charset="0"/>
                  <a:cs typeface="Noto Sans Light" panose="020B0402040504020204" pitchFamily="34" charset="0"/>
                </a:rPr>
                <a:t>video available!</a:t>
              </a:r>
            </a:p>
          </p:txBody>
        </p:sp>
      </p:grpSp>
      <p:sp>
        <p:nvSpPr>
          <p:cNvPr id="29" name="Title 1">
            <a:extLst>
              <a:ext uri="{FF2B5EF4-FFF2-40B4-BE49-F238E27FC236}">
                <a16:creationId xmlns:a16="http://schemas.microsoft.com/office/drawing/2014/main" id="{9C6BE1F5-303C-034F-94D8-439864D40396}"/>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Previewing </a:t>
            </a:r>
          </a:p>
        </p:txBody>
      </p:sp>
      <p:sp>
        <p:nvSpPr>
          <p:cNvPr id="15" name="Rectangle 14">
            <a:extLst>
              <a:ext uri="{FF2B5EF4-FFF2-40B4-BE49-F238E27FC236}">
                <a16:creationId xmlns:a16="http://schemas.microsoft.com/office/drawing/2014/main" id="{5758A1F2-E42E-DD43-9E66-BF0379F23099}"/>
              </a:ext>
            </a:extLst>
          </p:cNvPr>
          <p:cNvSpPr/>
          <p:nvPr/>
        </p:nvSpPr>
        <p:spPr>
          <a:xfrm>
            <a:off x="9872414" y="3004685"/>
            <a:ext cx="209144" cy="205175"/>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15">
            <a:extLst>
              <a:ext uri="{FF2B5EF4-FFF2-40B4-BE49-F238E27FC236}">
                <a16:creationId xmlns:a16="http://schemas.microsoft.com/office/drawing/2014/main" id="{50809AF8-4E68-0343-AF31-D5EE17FD4199}"/>
              </a:ext>
            </a:extLst>
          </p:cNvPr>
          <p:cNvSpPr/>
          <p:nvPr/>
        </p:nvSpPr>
        <p:spPr>
          <a:xfrm>
            <a:off x="6862179" y="3100640"/>
            <a:ext cx="209144" cy="205175"/>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Rectangle 13">
            <a:extLst>
              <a:ext uri="{FF2B5EF4-FFF2-40B4-BE49-F238E27FC236}">
                <a16:creationId xmlns:a16="http://schemas.microsoft.com/office/drawing/2014/main" id="{75EC687D-2621-F541-9246-7F75DEA8CC86}"/>
              </a:ext>
            </a:extLst>
          </p:cNvPr>
          <p:cNvSpPr/>
          <p:nvPr/>
        </p:nvSpPr>
        <p:spPr>
          <a:xfrm>
            <a:off x="6831456" y="3424747"/>
            <a:ext cx="560173" cy="308187"/>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7" name="Rectangle 16">
            <a:extLst>
              <a:ext uri="{FF2B5EF4-FFF2-40B4-BE49-F238E27FC236}">
                <a16:creationId xmlns:a16="http://schemas.microsoft.com/office/drawing/2014/main" id="{D79135FA-FC1F-2040-A0F2-44B13D19F0D2}"/>
              </a:ext>
            </a:extLst>
          </p:cNvPr>
          <p:cNvSpPr/>
          <p:nvPr/>
        </p:nvSpPr>
        <p:spPr>
          <a:xfrm>
            <a:off x="6902298" y="3731614"/>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3</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8" name="Rectangle 17">
            <a:extLst>
              <a:ext uri="{FF2B5EF4-FFF2-40B4-BE49-F238E27FC236}">
                <a16:creationId xmlns:a16="http://schemas.microsoft.com/office/drawing/2014/main" id="{362CD088-4877-7847-9E25-D6D2D7D1321E}"/>
              </a:ext>
            </a:extLst>
          </p:cNvPr>
          <p:cNvSpPr/>
          <p:nvPr/>
        </p:nvSpPr>
        <p:spPr>
          <a:xfrm>
            <a:off x="6916303" y="2779461"/>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4</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9" name="Rectangle 18">
            <a:extLst>
              <a:ext uri="{FF2B5EF4-FFF2-40B4-BE49-F238E27FC236}">
                <a16:creationId xmlns:a16="http://schemas.microsoft.com/office/drawing/2014/main" id="{149DE5F6-A17A-9746-99A8-E50AF5979A8C}"/>
              </a:ext>
            </a:extLst>
          </p:cNvPr>
          <p:cNvSpPr/>
          <p:nvPr/>
        </p:nvSpPr>
        <p:spPr>
          <a:xfrm>
            <a:off x="9907874" y="2641160"/>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7</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21" name="Picture 20" descr="Graphical user interface, application&#10;&#10;Description automatically generated">
            <a:extLst>
              <a:ext uri="{FF2B5EF4-FFF2-40B4-BE49-F238E27FC236}">
                <a16:creationId xmlns:a16="http://schemas.microsoft.com/office/drawing/2014/main" id="{D1CBAC44-D008-2C4C-985F-0310149635BF}"/>
              </a:ext>
            </a:extLst>
          </p:cNvPr>
          <p:cNvPicPr>
            <a:picLocks noChangeAspect="1"/>
          </p:cNvPicPr>
          <p:nvPr/>
        </p:nvPicPr>
        <p:blipFill rotWithShape="1">
          <a:blip r:embed="rId5"/>
          <a:srcRect t="18462" r="70833" b="74030"/>
          <a:stretch/>
        </p:blipFill>
        <p:spPr>
          <a:xfrm>
            <a:off x="5023779" y="1871962"/>
            <a:ext cx="2374557" cy="382041"/>
          </a:xfrm>
          <a:prstGeom prst="rect">
            <a:avLst/>
          </a:prstGeom>
        </p:spPr>
      </p:pic>
    </p:spTree>
    <p:extLst>
      <p:ext uri="{BB962C8B-B14F-4D97-AF65-F5344CB8AC3E}">
        <p14:creationId xmlns:p14="http://schemas.microsoft.com/office/powerpoint/2010/main" val="93198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624621-9F92-D246-9053-CA30BA71ABEE}"/>
              </a:ext>
            </a:extLst>
          </p:cNvPr>
          <p:cNvPicPr>
            <a:picLocks noChangeAspect="1"/>
          </p:cNvPicPr>
          <p:nvPr/>
        </p:nvPicPr>
        <p:blipFill>
          <a:blip r:embed="rId2"/>
          <a:stretch>
            <a:fillRect/>
          </a:stretch>
        </p:blipFill>
        <p:spPr>
          <a:xfrm>
            <a:off x="5193214" y="1347881"/>
            <a:ext cx="6735262" cy="4973508"/>
          </a:xfrm>
          <a:prstGeom prst="rect">
            <a:avLst/>
          </a:prstGeom>
        </p:spPr>
      </p:pic>
      <p:sp>
        <p:nvSpPr>
          <p:cNvPr id="6" name="Rectangle 5">
            <a:extLst>
              <a:ext uri="{FF2B5EF4-FFF2-40B4-BE49-F238E27FC236}">
                <a16:creationId xmlns:a16="http://schemas.microsoft.com/office/drawing/2014/main" id="{519A21D3-CB5D-394C-B12C-755F21792AE1}"/>
              </a:ext>
            </a:extLst>
          </p:cNvPr>
          <p:cNvSpPr/>
          <p:nvPr/>
        </p:nvSpPr>
        <p:spPr>
          <a:xfrm>
            <a:off x="479425" y="1775775"/>
            <a:ext cx="4386489" cy="4339650"/>
          </a:xfrm>
          <a:prstGeom prst="rect">
            <a:avLst/>
          </a:prstGeom>
        </p:spPr>
        <p:txBody>
          <a:bodyPr wrap="square">
            <a:spAutoFit/>
          </a:bodyPr>
          <a:lstStyle/>
          <a:p>
            <a:pPr fontAlgn="base"/>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So, once you’ve done all your editing in the grid, you’ll want to make sure everything is managed correctly. There’s a number of variant actions to focus on here:</a:t>
            </a:r>
          </a:p>
          <a:p>
            <a:pPr fontAlgn="base"/>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Saving: </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To save your work, there is a ‘Save’ button in the navigation bar</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Pressing ‘Save’ will save all unsaved changes across the whole table of variants </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You will know you need to save if the button is in the pink active state</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It is important you save your work as you go, to avoid losing anything! </a:t>
            </a:r>
            <a:b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Clr>
                <a:schemeClr val="accent3"/>
              </a:buClr>
              <a:buSzPct val="120000"/>
              <a:buFont typeface="+mj-lt"/>
              <a:buAutoNum type="arabicPeriod"/>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Variant Actions: </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On the left of the grid, there is a ‘Variant Action’ panel</a:t>
            </a:r>
          </a:p>
          <a:p>
            <a:pPr marL="800100" lvl="1"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Here you can right click on a single or multiple variants to perform your usual actions:</a:t>
            </a:r>
          </a:p>
          <a:p>
            <a:pPr marL="1257300" lvl="2"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Request Approval</a:t>
            </a:r>
          </a:p>
          <a:p>
            <a:pPr marL="1257300" lvl="2"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Cancel Approval Request</a:t>
            </a:r>
          </a:p>
          <a:p>
            <a:pPr marL="1257300" lvl="2"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Set Live</a:t>
            </a:r>
          </a:p>
          <a:p>
            <a:pPr marL="1257300" lvl="2"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Set Offline</a:t>
            </a:r>
          </a:p>
          <a:p>
            <a:pPr marL="1257300" lvl="2" indent="-342900" fontAlgn="base">
              <a:buClr>
                <a:schemeClr val="accent3"/>
              </a:buClr>
              <a:buSzPct val="120000"/>
              <a:buFont typeface="Arial" panose="020B0604020202020204" pitchFamily="34" charset="0"/>
              <a:buChar char="•"/>
            </a:pPr>
            <a:r>
              <a:rPr lang="en-GB" sz="12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Archive</a:t>
            </a:r>
          </a:p>
        </p:txBody>
      </p:sp>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Mass Create Grid View</a:t>
            </a:r>
            <a:endParaRPr lang="en-US" sz="2000" dirty="0"/>
          </a:p>
        </p:txBody>
      </p:sp>
      <p:sp>
        <p:nvSpPr>
          <p:cNvPr id="5" name="Title 1">
            <a:extLst>
              <a:ext uri="{FF2B5EF4-FFF2-40B4-BE49-F238E27FC236}">
                <a16:creationId xmlns:a16="http://schemas.microsoft.com/office/drawing/2014/main" id="{ECC3F8BE-6377-E14B-B051-1264F9D2F7BE}"/>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Saving &amp; Managing Variants</a:t>
            </a:r>
          </a:p>
        </p:txBody>
      </p:sp>
      <p:sp>
        <p:nvSpPr>
          <p:cNvPr id="10" name="Rectangle 9">
            <a:extLst>
              <a:ext uri="{FF2B5EF4-FFF2-40B4-BE49-F238E27FC236}">
                <a16:creationId xmlns:a16="http://schemas.microsoft.com/office/drawing/2014/main" id="{15308C8B-6995-1C45-9015-595D178C01A5}"/>
              </a:ext>
            </a:extLst>
          </p:cNvPr>
          <p:cNvSpPr/>
          <p:nvPr/>
        </p:nvSpPr>
        <p:spPr>
          <a:xfrm>
            <a:off x="5448135" y="2934384"/>
            <a:ext cx="1355435" cy="131302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9" name="Rectangle 8">
            <a:extLst>
              <a:ext uri="{FF2B5EF4-FFF2-40B4-BE49-F238E27FC236}">
                <a16:creationId xmlns:a16="http://schemas.microsoft.com/office/drawing/2014/main" id="{7E28541D-B66E-044E-A7BF-5FD16218AF07}"/>
              </a:ext>
            </a:extLst>
          </p:cNvPr>
          <p:cNvSpPr/>
          <p:nvPr/>
        </p:nvSpPr>
        <p:spPr>
          <a:xfrm>
            <a:off x="10755103" y="1347881"/>
            <a:ext cx="731329"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1</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1" name="Rectangle 10">
            <a:extLst>
              <a:ext uri="{FF2B5EF4-FFF2-40B4-BE49-F238E27FC236}">
                <a16:creationId xmlns:a16="http://schemas.microsoft.com/office/drawing/2014/main" id="{31D6B528-8A66-2A4D-BACE-923CB3E1DF5D}"/>
              </a:ext>
            </a:extLst>
          </p:cNvPr>
          <p:cNvSpPr/>
          <p:nvPr/>
        </p:nvSpPr>
        <p:spPr>
          <a:xfrm>
            <a:off x="6157583" y="2606839"/>
            <a:ext cx="498856"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2b</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8" name="Rectangle 7">
            <a:extLst>
              <a:ext uri="{FF2B5EF4-FFF2-40B4-BE49-F238E27FC236}">
                <a16:creationId xmlns:a16="http://schemas.microsoft.com/office/drawing/2014/main" id="{44FBC068-11A9-474E-9F37-33F5F0E08895}"/>
              </a:ext>
            </a:extLst>
          </p:cNvPr>
          <p:cNvSpPr/>
          <p:nvPr/>
        </p:nvSpPr>
        <p:spPr>
          <a:xfrm>
            <a:off x="11115801" y="1318523"/>
            <a:ext cx="596774" cy="423281"/>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oto Sans" panose="020B0502040504020204" pitchFamily="34" charset="0"/>
              <a:ea typeface="Noto Sans" panose="020B0502040504020204" pitchFamily="34" charset="0"/>
              <a:cs typeface="Noto Sans" panose="020B0502040504020204" pitchFamily="34" charset="0"/>
            </a:endParaRPr>
          </a:p>
        </p:txBody>
      </p:sp>
      <p:pic>
        <p:nvPicPr>
          <p:cNvPr id="13" name="Picture 12" descr="Graphical user interface, application&#10;&#10;Description automatically generated">
            <a:extLst>
              <a:ext uri="{FF2B5EF4-FFF2-40B4-BE49-F238E27FC236}">
                <a16:creationId xmlns:a16="http://schemas.microsoft.com/office/drawing/2014/main" id="{45F0B37F-1012-B248-ABBB-5541DCA22DBF}"/>
              </a:ext>
            </a:extLst>
          </p:cNvPr>
          <p:cNvPicPr>
            <a:picLocks noChangeAspect="1"/>
          </p:cNvPicPr>
          <p:nvPr/>
        </p:nvPicPr>
        <p:blipFill rotWithShape="1">
          <a:blip r:embed="rId3"/>
          <a:srcRect t="18462" r="70833" b="74030"/>
          <a:stretch/>
        </p:blipFill>
        <p:spPr>
          <a:xfrm>
            <a:off x="5226612" y="1741804"/>
            <a:ext cx="2374557" cy="382041"/>
          </a:xfrm>
          <a:prstGeom prst="rect">
            <a:avLst/>
          </a:prstGeom>
        </p:spPr>
      </p:pic>
      <p:sp>
        <p:nvSpPr>
          <p:cNvPr id="14" name="Rectangle 13">
            <a:extLst>
              <a:ext uri="{FF2B5EF4-FFF2-40B4-BE49-F238E27FC236}">
                <a16:creationId xmlns:a16="http://schemas.microsoft.com/office/drawing/2014/main" id="{830BC8C2-87EC-004B-9042-AEF0C386369F}"/>
              </a:ext>
            </a:extLst>
          </p:cNvPr>
          <p:cNvSpPr/>
          <p:nvPr/>
        </p:nvSpPr>
        <p:spPr>
          <a:xfrm>
            <a:off x="4670322" y="2539304"/>
            <a:ext cx="430925" cy="369332"/>
          </a:xfrm>
          <a:prstGeom prst="rect">
            <a:avLst/>
          </a:prstGeom>
          <a:ln>
            <a:noFill/>
          </a:ln>
        </p:spPr>
        <p:txBody>
          <a:bodyPr wrap="square">
            <a:spAutoFit/>
          </a:bodyPr>
          <a:lstStyle/>
          <a:p>
            <a:r>
              <a:rPr lang="en-US" b="1" dirty="0">
                <a:solidFill>
                  <a:schemeClr val="accent3"/>
                </a:solidFill>
                <a:latin typeface="Noto Sans" panose="020B0502040504020204" pitchFamily="34" charset="0"/>
                <a:ea typeface="Noto Sans" panose="020B0502040504020204" pitchFamily="34" charset="0"/>
                <a:cs typeface="Noto Sans" panose="020B0502040504020204" pitchFamily="34" charset="0"/>
              </a:rPr>
              <a:t>2a</a:t>
            </a:r>
            <a:endParaRPr lang="en-US" dirty="0">
              <a:solidFill>
                <a:schemeClr val="accent3"/>
              </a:solidFill>
              <a:latin typeface="Noto Sans" panose="020B0502040504020204" pitchFamily="34" charset="0"/>
              <a:ea typeface="Noto Sans" panose="020B0502040504020204" pitchFamily="34" charset="0"/>
              <a:cs typeface="Noto Sans" panose="020B0502040504020204" pitchFamily="34" charset="0"/>
            </a:endParaRPr>
          </a:p>
        </p:txBody>
      </p:sp>
      <p:sp>
        <p:nvSpPr>
          <p:cNvPr id="16" name="Left Bracket 15">
            <a:extLst>
              <a:ext uri="{FF2B5EF4-FFF2-40B4-BE49-F238E27FC236}">
                <a16:creationId xmlns:a16="http://schemas.microsoft.com/office/drawing/2014/main" id="{004D2F3D-F796-134E-A508-2AEC33F25191}"/>
              </a:ext>
            </a:extLst>
          </p:cNvPr>
          <p:cNvSpPr/>
          <p:nvPr/>
        </p:nvSpPr>
        <p:spPr>
          <a:xfrm>
            <a:off x="5101248" y="2315533"/>
            <a:ext cx="838531" cy="2620261"/>
          </a:xfrm>
          <a:prstGeom prst="leftBracket">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6809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User Resources &amp; Support</a:t>
            </a:r>
            <a:endParaRPr lang="en-US" sz="2000" dirty="0"/>
          </a:p>
        </p:txBody>
      </p:sp>
      <p:sp>
        <p:nvSpPr>
          <p:cNvPr id="8" name="Rectangle 7">
            <a:extLst>
              <a:ext uri="{FF2B5EF4-FFF2-40B4-BE49-F238E27FC236}">
                <a16:creationId xmlns:a16="http://schemas.microsoft.com/office/drawing/2014/main" id="{6F233876-D437-144D-893F-1787729C35DC}"/>
              </a:ext>
            </a:extLst>
          </p:cNvPr>
          <p:cNvSpPr/>
          <p:nvPr/>
        </p:nvSpPr>
        <p:spPr>
          <a:xfrm>
            <a:off x="1404384" y="1972687"/>
            <a:ext cx="6937375" cy="2031325"/>
          </a:xfrm>
          <a:prstGeom prst="rect">
            <a:avLst/>
          </a:prstGeom>
        </p:spPr>
        <p:txBody>
          <a:bodyPr wrap="square">
            <a:spAutoFit/>
          </a:bodyPr>
          <a:lstStyle/>
          <a:p>
            <a:pPr fontAlgn="base"/>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As mentioned at the beginning of the document, we have also created more detailed ‘How To’ guides and videos for the different parts of the process! </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The suite of available resources is as follows:</a:t>
            </a:r>
          </a:p>
          <a:p>
            <a:pPr marL="342900" indent="-342900" fontAlgn="base">
              <a:buFontTx/>
              <a:buAutoNum type="arabicPeriod"/>
            </a:pP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FontTx/>
              <a:buAutoNum type="arabicPeriod"/>
            </a:pP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FontTx/>
              <a:buAutoNum type="arabicPeriod"/>
            </a:pP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342900" indent="-342900" fontAlgn="base">
              <a:buAutoNum type="arabicPeriod"/>
            </a:pPr>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p:txBody>
      </p:sp>
      <p:sp>
        <p:nvSpPr>
          <p:cNvPr id="9" name="Title 1">
            <a:extLst>
              <a:ext uri="{FF2B5EF4-FFF2-40B4-BE49-F238E27FC236}">
                <a16:creationId xmlns:a16="http://schemas.microsoft.com/office/drawing/2014/main" id="{1D6C7287-9B9D-B443-B56D-94E6536ED52F}"/>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Additional Resources</a:t>
            </a:r>
          </a:p>
        </p:txBody>
      </p:sp>
      <p:pic>
        <p:nvPicPr>
          <p:cNvPr id="15" name="Picture 14">
            <a:extLst>
              <a:ext uri="{FF2B5EF4-FFF2-40B4-BE49-F238E27FC236}">
                <a16:creationId xmlns:a16="http://schemas.microsoft.com/office/drawing/2014/main" id="{A8C6ADD9-746D-9B4D-86F5-64F5272CAF03}"/>
              </a:ext>
            </a:extLst>
          </p:cNvPr>
          <p:cNvPicPr>
            <a:picLocks noChangeAspect="1"/>
          </p:cNvPicPr>
          <p:nvPr/>
        </p:nvPicPr>
        <p:blipFill>
          <a:blip r:embed="rId2">
            <a:alphaModFix amt="69000"/>
            <a:extLst>
              <a:ext uri="{28A0092B-C50C-407E-A947-70E740481C1C}">
                <a14:useLocalDpi xmlns:a14="http://schemas.microsoft.com/office/drawing/2010/main" val="0"/>
              </a:ext>
            </a:extLst>
          </a:blip>
          <a:stretch>
            <a:fillRect/>
          </a:stretch>
        </p:blipFill>
        <p:spPr>
          <a:xfrm>
            <a:off x="278663" y="1808936"/>
            <a:ext cx="1125721" cy="1104900"/>
          </a:xfrm>
          <a:prstGeom prst="rect">
            <a:avLst/>
          </a:prstGeom>
        </p:spPr>
      </p:pic>
      <p:sp>
        <p:nvSpPr>
          <p:cNvPr id="2" name="Rectangle 1">
            <a:extLst>
              <a:ext uri="{FF2B5EF4-FFF2-40B4-BE49-F238E27FC236}">
                <a16:creationId xmlns:a16="http://schemas.microsoft.com/office/drawing/2014/main" id="{DAED031F-A21F-364C-ADED-487DD86EA4C0}"/>
              </a:ext>
            </a:extLst>
          </p:cNvPr>
          <p:cNvSpPr/>
          <p:nvPr/>
        </p:nvSpPr>
        <p:spPr>
          <a:xfrm>
            <a:off x="562945" y="2976727"/>
            <a:ext cx="6096000" cy="2679580"/>
          </a:xfrm>
          <a:prstGeom prst="rect">
            <a:avLst/>
          </a:prstGeom>
        </p:spPr>
        <p:txBody>
          <a:bodyPr>
            <a:spAutoFit/>
          </a:bodyPr>
          <a:lstStyle/>
          <a:p>
            <a:pPr marL="342900" indent="-342900" fontAlgn="base">
              <a:lnSpc>
                <a:spcPct val="150000"/>
              </a:lnSpc>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Mass Duplicate</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Mass Edit</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Manage Columns</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Manage Sizes</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Preview</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Sort and Filter</a:t>
            </a:r>
          </a:p>
          <a:p>
            <a:pPr marL="342900" indent="-342900" fontAlgn="base">
              <a:lnSpc>
                <a:spcPct val="150000"/>
              </a:lnSpc>
              <a:buFontTx/>
              <a:buAutoNum type="arabicPeriod"/>
            </a:pP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ORCA_Mass</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t>
            </a:r>
            <a:r>
              <a:rPr lang="en-GB" sz="16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Create_How</a:t>
            </a:r>
            <a:r>
              <a:rPr lang="en-GB" sz="16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to work in CSV</a:t>
            </a:r>
          </a:p>
        </p:txBody>
      </p:sp>
      <p:sp>
        <p:nvSpPr>
          <p:cNvPr id="3" name="Rectangle 2">
            <a:extLst>
              <a:ext uri="{FF2B5EF4-FFF2-40B4-BE49-F238E27FC236}">
                <a16:creationId xmlns:a16="http://schemas.microsoft.com/office/drawing/2014/main" id="{C6C2B931-52FF-0D48-B7B4-7920FFB2D2BF}"/>
              </a:ext>
            </a:extLst>
          </p:cNvPr>
          <p:cNvSpPr/>
          <p:nvPr/>
        </p:nvSpPr>
        <p:spPr>
          <a:xfrm>
            <a:off x="515938" y="5798169"/>
            <a:ext cx="6096000" cy="523220"/>
          </a:xfrm>
          <a:prstGeom prst="rect">
            <a:avLst/>
          </a:prstGeom>
        </p:spPr>
        <p:txBody>
          <a:bodyPr>
            <a:spAutoFit/>
          </a:bodyPr>
          <a:lstStyle/>
          <a:p>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you don’t already have any of these documents, </a:t>
            </a:r>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please let your </a:t>
            </a:r>
            <a:r>
              <a:rPr lang="en-GB" sz="14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Adylic</a:t>
            </a:r>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Account Manager</a:t>
            </a:r>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know and they will share everything with you!</a:t>
            </a:r>
            <a:endParaRPr lang="en-US" sz="1400" dirty="0"/>
          </a:p>
        </p:txBody>
      </p:sp>
      <p:grpSp>
        <p:nvGrpSpPr>
          <p:cNvPr id="6" name="Group 5">
            <a:extLst>
              <a:ext uri="{FF2B5EF4-FFF2-40B4-BE49-F238E27FC236}">
                <a16:creationId xmlns:a16="http://schemas.microsoft.com/office/drawing/2014/main" id="{0DEB2C22-8807-D547-9EA1-9B78503624FF}"/>
              </a:ext>
            </a:extLst>
          </p:cNvPr>
          <p:cNvGrpSpPr/>
          <p:nvPr/>
        </p:nvGrpSpPr>
        <p:grpSpPr>
          <a:xfrm>
            <a:off x="8204485" y="1557138"/>
            <a:ext cx="3291771" cy="4557853"/>
            <a:chOff x="7690404" y="1588410"/>
            <a:chExt cx="4254340" cy="5890644"/>
          </a:xfrm>
        </p:grpSpPr>
        <p:pic>
          <p:nvPicPr>
            <p:cNvPr id="5" name="Picture 4">
              <a:extLst>
                <a:ext uri="{FF2B5EF4-FFF2-40B4-BE49-F238E27FC236}">
                  <a16:creationId xmlns:a16="http://schemas.microsoft.com/office/drawing/2014/main" id="{30FC2BFD-70A3-A849-AB8A-84F77D507621}"/>
                </a:ext>
              </a:extLst>
            </p:cNvPr>
            <p:cNvPicPr>
              <a:picLocks noChangeAspect="1"/>
            </p:cNvPicPr>
            <p:nvPr/>
          </p:nvPicPr>
          <p:blipFill rotWithShape="1">
            <a:blip r:embed="rId3"/>
            <a:srcRect l="737"/>
            <a:stretch/>
          </p:blipFill>
          <p:spPr>
            <a:xfrm>
              <a:off x="8263010" y="1588410"/>
              <a:ext cx="3681734" cy="5359467"/>
            </a:xfrm>
            <a:prstGeom prst="rect">
              <a:avLst/>
            </a:prstGeom>
          </p:spPr>
        </p:pic>
        <p:pic>
          <p:nvPicPr>
            <p:cNvPr id="10" name="Picture 9">
              <a:extLst>
                <a:ext uri="{FF2B5EF4-FFF2-40B4-BE49-F238E27FC236}">
                  <a16:creationId xmlns:a16="http://schemas.microsoft.com/office/drawing/2014/main" id="{71A19579-8029-A547-81B6-92A06ACD7868}"/>
                </a:ext>
              </a:extLst>
            </p:cNvPr>
            <p:cNvPicPr>
              <a:picLocks noChangeAspect="1"/>
            </p:cNvPicPr>
            <p:nvPr/>
          </p:nvPicPr>
          <p:blipFill rotWithShape="1">
            <a:blip r:embed="rId3"/>
            <a:srcRect l="737"/>
            <a:stretch/>
          </p:blipFill>
          <p:spPr>
            <a:xfrm>
              <a:off x="8076368" y="1740811"/>
              <a:ext cx="3681735" cy="5359467"/>
            </a:xfrm>
            <a:prstGeom prst="rect">
              <a:avLst/>
            </a:prstGeom>
          </p:spPr>
        </p:pic>
        <p:pic>
          <p:nvPicPr>
            <p:cNvPr id="11" name="Picture 10">
              <a:extLst>
                <a:ext uri="{FF2B5EF4-FFF2-40B4-BE49-F238E27FC236}">
                  <a16:creationId xmlns:a16="http://schemas.microsoft.com/office/drawing/2014/main" id="{9D2BF7B1-41E0-4040-93EE-199694D0426B}"/>
                </a:ext>
              </a:extLst>
            </p:cNvPr>
            <p:cNvPicPr>
              <a:picLocks noChangeAspect="1"/>
            </p:cNvPicPr>
            <p:nvPr/>
          </p:nvPicPr>
          <p:blipFill rotWithShape="1">
            <a:blip r:embed="rId3"/>
            <a:srcRect l="737"/>
            <a:stretch/>
          </p:blipFill>
          <p:spPr>
            <a:xfrm>
              <a:off x="7889728" y="1967187"/>
              <a:ext cx="3681734" cy="5359467"/>
            </a:xfrm>
            <a:prstGeom prst="rect">
              <a:avLst/>
            </a:prstGeom>
          </p:spPr>
        </p:pic>
        <p:pic>
          <p:nvPicPr>
            <p:cNvPr id="12" name="Picture 11">
              <a:extLst>
                <a:ext uri="{FF2B5EF4-FFF2-40B4-BE49-F238E27FC236}">
                  <a16:creationId xmlns:a16="http://schemas.microsoft.com/office/drawing/2014/main" id="{BAA3230A-A933-E84A-ACAA-4C27031A54A4}"/>
                </a:ext>
              </a:extLst>
            </p:cNvPr>
            <p:cNvPicPr>
              <a:picLocks noChangeAspect="1"/>
            </p:cNvPicPr>
            <p:nvPr/>
          </p:nvPicPr>
          <p:blipFill rotWithShape="1">
            <a:blip r:embed="rId3"/>
            <a:srcRect l="737"/>
            <a:stretch/>
          </p:blipFill>
          <p:spPr>
            <a:xfrm>
              <a:off x="7690404" y="2119587"/>
              <a:ext cx="3681734" cy="5359467"/>
            </a:xfrm>
            <a:prstGeom prst="rect">
              <a:avLst/>
            </a:prstGeom>
          </p:spPr>
        </p:pic>
      </p:grpSp>
    </p:spTree>
    <p:extLst>
      <p:ext uri="{BB962C8B-B14F-4D97-AF65-F5344CB8AC3E}">
        <p14:creationId xmlns:p14="http://schemas.microsoft.com/office/powerpoint/2010/main" val="2231325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460052-68B0-B940-9C09-DF89DE553EDE}"/>
              </a:ext>
            </a:extLst>
          </p:cNvPr>
          <p:cNvPicPr>
            <a:picLocks noChangeAspect="1"/>
          </p:cNvPicPr>
          <p:nvPr/>
        </p:nvPicPr>
        <p:blipFill rotWithShape="1">
          <a:blip r:embed="rId2">
            <a:alphaModFix amt="80000"/>
            <a:extLst>
              <a:ext uri="{28A0092B-C50C-407E-A947-70E740481C1C}">
                <a14:useLocalDpi xmlns:a14="http://schemas.microsoft.com/office/drawing/2010/main" val="0"/>
              </a:ext>
            </a:extLst>
          </a:blip>
          <a:srcRect l="7449"/>
          <a:stretch/>
        </p:blipFill>
        <p:spPr>
          <a:xfrm flipH="1">
            <a:off x="7850442" y="3073400"/>
            <a:ext cx="4341557" cy="3346224"/>
          </a:xfrm>
          <a:prstGeom prst="rect">
            <a:avLst/>
          </a:prstGeom>
        </p:spPr>
      </p:pic>
      <p:sp>
        <p:nvSpPr>
          <p:cNvPr id="4" name="Title 3">
            <a:extLst>
              <a:ext uri="{FF2B5EF4-FFF2-40B4-BE49-F238E27FC236}">
                <a16:creationId xmlns:a16="http://schemas.microsoft.com/office/drawing/2014/main" id="{DA3E9DE9-4649-F748-B0C8-5C5F10CC5B81}"/>
              </a:ext>
            </a:extLst>
          </p:cNvPr>
          <p:cNvSpPr>
            <a:spLocks noGrp="1"/>
          </p:cNvSpPr>
          <p:nvPr>
            <p:ph type="title"/>
          </p:nvPr>
        </p:nvSpPr>
        <p:spPr>
          <a:xfrm>
            <a:off x="386691" y="536611"/>
            <a:ext cx="11541784" cy="619582"/>
          </a:xfrm>
        </p:spPr>
        <p:txBody>
          <a:bodyPr/>
          <a:lstStyle/>
          <a:p>
            <a:r>
              <a:rPr lang="en-US" dirty="0"/>
              <a:t>User Resources &amp; Support</a:t>
            </a:r>
            <a:endParaRPr lang="en-US" sz="2000" dirty="0"/>
          </a:p>
        </p:txBody>
      </p:sp>
      <p:sp>
        <p:nvSpPr>
          <p:cNvPr id="8" name="Rectangle 7">
            <a:extLst>
              <a:ext uri="{FF2B5EF4-FFF2-40B4-BE49-F238E27FC236}">
                <a16:creationId xmlns:a16="http://schemas.microsoft.com/office/drawing/2014/main" id="{6F233876-D437-144D-893F-1787729C35DC}"/>
              </a:ext>
            </a:extLst>
          </p:cNvPr>
          <p:cNvSpPr/>
          <p:nvPr/>
        </p:nvSpPr>
        <p:spPr>
          <a:xfrm>
            <a:off x="479425" y="1775775"/>
            <a:ext cx="6937375" cy="4462760"/>
          </a:xfrm>
          <a:prstGeom prst="rect">
            <a:avLst/>
          </a:prstGeom>
        </p:spPr>
        <p:txBody>
          <a:bodyPr wrap="square">
            <a:spAutoFit/>
          </a:bodyPr>
          <a:lstStyle/>
          <a:p>
            <a:pPr fontAlgn="base"/>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With any technology, there is always a possibility we run into bugs and so we want to make sure you know where to go, and what to do, for us to resolve things quickly!</a:t>
            </a: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If something doesn’t look right, </a:t>
            </a:r>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please email your </a:t>
            </a:r>
            <a:r>
              <a:rPr lang="en-GB" sz="1400" b="1" dirty="0" err="1">
                <a:solidFill>
                  <a:srgbClr val="1B3F55"/>
                </a:solidFill>
                <a:latin typeface="Noto Sans" panose="020B0502040504020204" pitchFamily="34" charset="0"/>
                <a:ea typeface="Noto Sans" panose="020B0502040504020204" pitchFamily="34" charset="0"/>
                <a:cs typeface="Noto Sans" panose="020B0502040504020204" pitchFamily="34" charset="0"/>
              </a:rPr>
              <a:t>Adylic</a:t>
            </a:r>
            <a:r>
              <a:rPr lang="en-GB" sz="14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 Account Manager</a:t>
            </a:r>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with the following information:</a:t>
            </a:r>
            <a:br>
              <a:rPr lang="en-GB" sz="14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4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85750" indent="-285750" fontAlgn="base">
              <a:buFont typeface="Arial" panose="020B0604020202020204" pitchFamily="34" charset="0"/>
              <a:buChar char="•"/>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ORCA URL link of the page affected </a:t>
            </a:r>
            <a:r>
              <a:rPr lang="en-GB" sz="1200" i="1"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e.g</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t>
            </a:r>
            <a:r>
              <a:rPr lang="en-GB" sz="1200" i="1" dirty="0">
                <a:latin typeface="Noto Sans Light" panose="020B0402040504020204" pitchFamily="34" charset="0"/>
                <a:ea typeface="Noto Sans Light" panose="020B0402040504020204" pitchFamily="34" charset="0"/>
                <a:cs typeface="Noto Sans Light" panose="020B0402040504020204" pitchFamily="34" charset="0"/>
                <a:hlinkClick r:id="rId3"/>
              </a:rPr>
              <a:t>https://orca.adylic.com/masscreate?ids=115668827&amp;action=DUPLICATE</a:t>
            </a:r>
            <a:br>
              <a:rPr lang="en-GB" sz="1200" i="1" dirty="0">
                <a:latin typeface="Noto Sans Light" panose="020B0402040504020204" pitchFamily="34" charset="0"/>
                <a:ea typeface="Noto Sans Light" panose="020B0402040504020204" pitchFamily="34" charset="0"/>
                <a:cs typeface="Noto Sans Light" panose="020B0402040504020204" pitchFamily="34" charset="0"/>
              </a:rPr>
            </a:br>
            <a:endPar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85750" indent="-285750" fontAlgn="base">
              <a:buFont typeface="Arial" panose="020B0604020202020204" pitchFamily="34" charset="0"/>
              <a:buChar char="•"/>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Description of the observed behaviour </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e.g. “Mass Create grid is not showing my previews correctly. I update the ‘Copy’ field on ’Variant 1’ but my changes are not reflected in the player…”</a:t>
            </a:r>
            <a:b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br>
            <a:endPar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marL="285750" indent="-285750" fontAlgn="base">
              <a:buFont typeface="Arial" panose="020B0604020202020204" pitchFamily="34" charset="0"/>
              <a:buChar char="•"/>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Screenshots </a:t>
            </a:r>
            <a:r>
              <a:rPr lang="en-GB" sz="1200" i="1"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e.g</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[Screenshot of Chrome browser showing mass create grid with the updated Copy cell value in view] and [Screenshot showing the grid with the preview player open, where the wrong copy value is shown in the player]</a:t>
            </a:r>
          </a:p>
          <a:p>
            <a:pPr marL="285750" indent="-285750" fontAlgn="base">
              <a:buFont typeface="Arial" panose="020B0604020202020204" pitchFamily="34" charset="0"/>
              <a:buChar char="•"/>
            </a:pPr>
            <a:endPar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a:p>
            <a:pPr marL="285750" indent="-285750" fontAlgn="base">
              <a:buFont typeface="Arial" panose="020B0604020202020204" pitchFamily="34" charset="0"/>
              <a:buChar char="•"/>
            </a:pPr>
            <a:r>
              <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rPr>
              <a:t>Device and Browser details </a:t>
            </a:r>
            <a:r>
              <a:rPr lang="en-GB" sz="1200" i="1"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e.g</a:t>
            </a:r>
            <a:r>
              <a:rPr lang="en-GB" sz="1200" i="1"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MacBook Pro 10.14.5 (18F132), Chrome Version 74.0.3729.169 (Official Build) (64-bit)</a:t>
            </a:r>
            <a:endParaRPr lang="en-GB" sz="1200" b="1" dirty="0">
              <a:solidFill>
                <a:srgbClr val="1B3F55"/>
              </a:solidFill>
              <a:latin typeface="Noto Sans" panose="020B0502040504020204" pitchFamily="34" charset="0"/>
              <a:ea typeface="Noto Sans" panose="020B0502040504020204" pitchFamily="34" charset="0"/>
              <a:cs typeface="Noto Sans" panose="020B0502040504020204" pitchFamily="34" charset="0"/>
            </a:endParaRPr>
          </a:p>
          <a:p>
            <a:pPr fontAlgn="base"/>
            <a:endPar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endParaRPr>
          </a:p>
          <a:p>
            <a:pPr fontAlgn="base"/>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From here, your </a:t>
            </a:r>
            <a:r>
              <a:rPr lang="en-GB" sz="1400" dirty="0" err="1">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Adylic</a:t>
            </a:r>
            <a:r>
              <a:rPr lang="en-GB" sz="1400" dirty="0">
                <a:solidFill>
                  <a:srgbClr val="1B3F55"/>
                </a:solidFill>
                <a:latin typeface="Noto Sans Light" panose="020B0402040504020204" pitchFamily="34" charset="0"/>
                <a:ea typeface="Noto Sans Light" panose="020B0402040504020204" pitchFamily="34" charset="0"/>
                <a:cs typeface="Noto Sans Light" panose="020B0402040504020204" pitchFamily="34" charset="0"/>
              </a:rPr>
              <a:t> Account Manager will raise it with our technical team to quickly identify, replicate and resolve the issue for you!</a:t>
            </a:r>
          </a:p>
        </p:txBody>
      </p:sp>
      <p:sp>
        <p:nvSpPr>
          <p:cNvPr id="9" name="Title 1">
            <a:extLst>
              <a:ext uri="{FF2B5EF4-FFF2-40B4-BE49-F238E27FC236}">
                <a16:creationId xmlns:a16="http://schemas.microsoft.com/office/drawing/2014/main" id="{1D6C7287-9B9D-B443-B56D-94E6536ED52F}"/>
              </a:ext>
            </a:extLst>
          </p:cNvPr>
          <p:cNvSpPr txBox="1">
            <a:spLocks/>
          </p:cNvSpPr>
          <p:nvPr/>
        </p:nvSpPr>
        <p:spPr>
          <a:xfrm>
            <a:off x="407988" y="1372472"/>
            <a:ext cx="5332068" cy="369332"/>
          </a:xfrm>
          <a:prstGeom prst="rect">
            <a:avLst/>
          </a:prstGeom>
        </p:spPr>
        <p:txBody>
          <a:bodyPr/>
          <a:lstStyle>
            <a:lvl1pPr algn="l" defTabSz="914445"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accent1"/>
                </a:solidFill>
                <a:latin typeface="Noto Sans" panose="020B0502040504020204" pitchFamily="34" charset="0"/>
                <a:ea typeface="Noto Sans" panose="020B0502040504020204" pitchFamily="34" charset="0"/>
                <a:cs typeface="Noto Sans" panose="020B0502040504020204" pitchFamily="34" charset="0"/>
              </a:rPr>
              <a:t>Reporting a Problem</a:t>
            </a:r>
          </a:p>
        </p:txBody>
      </p:sp>
    </p:spTree>
    <p:extLst>
      <p:ext uri="{BB962C8B-B14F-4D97-AF65-F5344CB8AC3E}">
        <p14:creationId xmlns:p14="http://schemas.microsoft.com/office/powerpoint/2010/main" val="2528857343"/>
      </p:ext>
    </p:extLst>
  </p:cSld>
  <p:clrMapOvr>
    <a:masterClrMapping/>
  </p:clrMapOvr>
</p:sld>
</file>

<file path=ppt/theme/theme1.xml><?xml version="1.0" encoding="utf-8"?>
<a:theme xmlns:a="http://schemas.openxmlformats.org/drawingml/2006/main" name="Office Theme">
  <a:themeElements>
    <a:clrScheme name="ADYLIC">
      <a:dk1>
        <a:srgbClr val="0B3E57"/>
      </a:dk1>
      <a:lt1>
        <a:srgbClr val="FFFFFF"/>
      </a:lt1>
      <a:dk2>
        <a:srgbClr val="B0B9CA"/>
      </a:dk2>
      <a:lt2>
        <a:srgbClr val="FEFFFF"/>
      </a:lt2>
      <a:accent1>
        <a:srgbClr val="B0B9CA"/>
      </a:accent1>
      <a:accent2>
        <a:srgbClr val="8BDBCE"/>
      </a:accent2>
      <a:accent3>
        <a:srgbClr val="FF8DC1"/>
      </a:accent3>
      <a:accent4>
        <a:srgbClr val="0B3E57"/>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lumMod val="25000"/>
              <a:lumOff val="7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Custom Design">
  <a:themeElements>
    <a:clrScheme name="Final Adylic">
      <a:dk1>
        <a:srgbClr val="0B3E57"/>
      </a:dk1>
      <a:lt1>
        <a:srgbClr val="FFFFFF"/>
      </a:lt1>
      <a:dk2>
        <a:srgbClr val="B0B9CA"/>
      </a:dk2>
      <a:lt2>
        <a:srgbClr val="FEFFFF"/>
      </a:lt2>
      <a:accent1>
        <a:srgbClr val="B0B9CA"/>
      </a:accent1>
      <a:accent2>
        <a:srgbClr val="8BDBCE"/>
      </a:accent2>
      <a:accent3>
        <a:srgbClr val="FF8DC1"/>
      </a:accent3>
      <a:accent4>
        <a:srgbClr val="0B3E57"/>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279225</TotalTime>
  <Words>3717</Words>
  <Application>Microsoft Macintosh PowerPoint</Application>
  <PresentationFormat>Widescreen</PresentationFormat>
  <Paragraphs>385</Paragraphs>
  <Slides>23</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23</vt:i4>
      </vt:variant>
    </vt:vector>
  </HeadingPairs>
  <TitlesOfParts>
    <vt:vector size="33" baseType="lpstr">
      <vt:lpstr>Arial</vt:lpstr>
      <vt:lpstr>Calibri</vt:lpstr>
      <vt:lpstr>Calibri Light</vt:lpstr>
      <vt:lpstr>Gotham Narrow Bold</vt:lpstr>
      <vt:lpstr>Noto Sans</vt:lpstr>
      <vt:lpstr>Noto Sans Light</vt:lpstr>
      <vt:lpstr>Noto Sans Thin</vt:lpstr>
      <vt:lpstr>Office Theme</vt:lpstr>
      <vt:lpstr>Custom Design</vt:lpstr>
      <vt:lpstr>1_Custom Design</vt:lpstr>
      <vt:lpstr>PowerPoint Presentation</vt:lpstr>
      <vt:lpstr>PowerPoint Presentation</vt:lpstr>
      <vt:lpstr>Getting Started</vt:lpstr>
      <vt:lpstr>Workflows</vt:lpstr>
      <vt:lpstr>Workflows</vt:lpstr>
      <vt:lpstr>Workflows</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Mass Create Grid View</vt:lpstr>
      <vt:lpstr>User Resources &amp; Support</vt:lpstr>
      <vt:lpstr>User Resources &amp;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Oli Roxburgh</dc:creator>
  <cp:lastModifiedBy>Chloe Rea (Adylic)</cp:lastModifiedBy>
  <cp:revision>2063</cp:revision>
  <cp:lastPrinted>2019-12-09T19:46:15Z</cp:lastPrinted>
  <dcterms:created xsi:type="dcterms:W3CDTF">2017-03-09T20:51:02Z</dcterms:created>
  <dcterms:modified xsi:type="dcterms:W3CDTF">2020-10-15T15:29:40Z</dcterms:modified>
</cp:coreProperties>
</file>