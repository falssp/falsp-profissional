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themeOverride+xml" PartName="/ppt/theme/themeOverride2.xml"/>
  <Override ContentType="application/vnd.openxmlformats-officedocument.themeOverride+xml" PartName="/ppt/theme/themeOverr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13716000" cx="24387175"/>
  <p:notesSz cx="6858000" cy="9144000"/>
  <p:embeddedFontLst>
    <p:embeddedFont>
      <p:font typeface="Lobster"/>
      <p:regular r:id="rId22"/>
    </p:embeddedFont>
    <p:embeddedFont>
      <p:font typeface="Montserrat"/>
      <p:bold r:id="rId23"/>
      <p:boldItalic r:id="rId24"/>
    </p:embeddedFont>
    <p:embeddedFont>
      <p:font typeface="Montserrat Medium"/>
      <p:regular r:id="rId25"/>
      <p:bold r:id="rId26"/>
      <p:italic r:id="rId27"/>
      <p:boldItalic r:id="rId28"/>
    </p:embeddedFont>
    <p:embeddedFont>
      <p:font typeface="Varela Round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685">
          <p15:clr>
            <a:srgbClr val="A4A3A4"/>
          </p15:clr>
        </p15:guide>
        <p15:guide id="2" orient="horz" pos="6543">
          <p15:clr>
            <a:srgbClr val="A4A3A4"/>
          </p15:clr>
        </p15:guide>
        <p15:guide id="3" orient="horz" pos="468">
          <p15:clr>
            <a:srgbClr val="A4A3A4"/>
          </p15:clr>
        </p15:guide>
        <p15:guide id="4" orient="horz" pos="8203">
          <p15:clr>
            <a:srgbClr val="A4A3A4"/>
          </p15:clr>
        </p15:guide>
        <p15:guide id="5" pos="4755">
          <p15:clr>
            <a:srgbClr val="A4A3A4"/>
          </p15:clr>
        </p15:guide>
        <p15:guide id="6" pos="7770">
          <p15:clr>
            <a:srgbClr val="A4A3A4"/>
          </p15:clr>
        </p15:guide>
        <p15:guide id="7" pos="13545">
          <p15:clr>
            <a:srgbClr val="A4A3A4"/>
          </p15:clr>
        </p15:guide>
        <p15:guide id="8" pos="2102">
          <p15:clr>
            <a:srgbClr val="A4A3A4"/>
          </p15:clr>
        </p15:guide>
        <p15:guide id="9" pos="148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AC13DE56-4CA3-4EE8-8356-59048889EC3C}">
  <a:tblStyle styleId="{AC13DE56-4CA3-4EE8-8356-59048889EC3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85" orient="horz"/>
        <p:guide pos="6543" orient="horz"/>
        <p:guide pos="468" orient="horz"/>
        <p:guide pos="8203" orient="horz"/>
        <p:guide pos="4755"/>
        <p:guide pos="7770"/>
        <p:guide pos="13545"/>
        <p:guide pos="2102"/>
        <p:guide pos="1489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Lobster-regular.fntdata"/><Relationship Id="rId21" Type="http://schemas.openxmlformats.org/officeDocument/2006/relationships/slide" Target="slides/slide15.xml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Medium-bold.fntdata"/><Relationship Id="rId25" Type="http://schemas.openxmlformats.org/officeDocument/2006/relationships/font" Target="fonts/MontserratMedium-regular.fntdata"/><Relationship Id="rId28" Type="http://schemas.openxmlformats.org/officeDocument/2006/relationships/font" Target="fonts/MontserratMedium-boldItalic.fntdata"/><Relationship Id="rId27" Type="http://schemas.openxmlformats.org/officeDocument/2006/relationships/font" Target="fonts/Montserrat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VarelaRoun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spcBef>
                <a:spcPts val="96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96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96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96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96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788211277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7" name="Google Shape;67;g578821127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5788211277_0_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4c840a1f7f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4c840a1f7f_0_5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578821127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5788211277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78821127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5788211277_0_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5788211277_0_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3" name="Google Shape;123;g5788211277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5788211277_0_9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5788211277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5788211277_0_1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5788211277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5788211277_0_2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5788211277_0_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0" name="Google Shape;170;g5788211277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5788211277_0_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5788211277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5788211277_0_1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5788211277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5788211277_0_2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5788211277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5788211277_0_2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5788211277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5788211277_0_3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499f178202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0" name="Google Shape;280;g499f17820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499f178202_0_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829038" y="4260855"/>
            <a:ext cx="20729098" cy="2940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658076" y="7772400"/>
            <a:ext cx="17071023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/>
          <a:lstStyle>
            <a:lvl1pPr lvl="0" marR="0" rtl="0" algn="ctr"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6000"/>
              <a:buFont typeface="Arial"/>
              <a:buNone/>
              <a:defRPr b="1" i="0" sz="60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ctr">
              <a:spcBef>
                <a:spcPts val="760"/>
              </a:spcBef>
              <a:spcAft>
                <a:spcPts val="0"/>
              </a:spcAft>
              <a:buClr>
                <a:srgbClr val="888888"/>
              </a:buClr>
              <a:buSzPts val="3800"/>
              <a:buFont typeface="Arial"/>
              <a:buNone/>
              <a:defRPr b="0" i="0" sz="3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760"/>
              </a:spcBef>
              <a:spcAft>
                <a:spcPts val="0"/>
              </a:spcAft>
              <a:buClr>
                <a:srgbClr val="888888"/>
              </a:buClr>
              <a:buSzPts val="3800"/>
              <a:buFont typeface="Arial"/>
              <a:buNone/>
              <a:defRPr b="0" i="0" sz="3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760"/>
              </a:spcBef>
              <a:spcAft>
                <a:spcPts val="0"/>
              </a:spcAft>
              <a:buClr>
                <a:srgbClr val="888888"/>
              </a:buClr>
              <a:buSzPts val="3800"/>
              <a:buFont typeface="Arial"/>
              <a:buNone/>
              <a:defRPr b="0" i="0" sz="3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760"/>
              </a:spcBef>
              <a:spcAft>
                <a:spcPts val="0"/>
              </a:spcAft>
              <a:buClr>
                <a:srgbClr val="888888"/>
              </a:buClr>
              <a:buSzPts val="3800"/>
              <a:buFont typeface="Arial"/>
              <a:buNone/>
              <a:defRPr b="0" i="0" sz="3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1060"/>
              </a:spcBef>
              <a:spcAft>
                <a:spcPts val="0"/>
              </a:spcAft>
              <a:buClr>
                <a:srgbClr val="888888"/>
              </a:buClr>
              <a:buSzPts val="5300"/>
              <a:buFont typeface="Arial"/>
              <a:buNone/>
              <a:defRPr b="0" i="0" sz="5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1060"/>
              </a:spcBef>
              <a:spcAft>
                <a:spcPts val="0"/>
              </a:spcAft>
              <a:buClr>
                <a:srgbClr val="888888"/>
              </a:buClr>
              <a:buSzPts val="5300"/>
              <a:buFont typeface="Arial"/>
              <a:buNone/>
              <a:defRPr b="0" i="0" sz="5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1060"/>
              </a:spcBef>
              <a:spcAft>
                <a:spcPts val="0"/>
              </a:spcAft>
              <a:buClr>
                <a:srgbClr val="888888"/>
              </a:buClr>
              <a:buSzPts val="5300"/>
              <a:buFont typeface="Arial"/>
              <a:buNone/>
              <a:defRPr b="0" i="0" sz="5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1060"/>
              </a:spcBef>
              <a:spcAft>
                <a:spcPts val="0"/>
              </a:spcAft>
              <a:buClr>
                <a:srgbClr val="888888"/>
              </a:buClr>
              <a:buSzPts val="5300"/>
              <a:buFont typeface="Arial"/>
              <a:buNone/>
              <a:defRPr b="0" i="0" sz="5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1219200" y="12712700"/>
            <a:ext cx="569118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8332788" y="12712700"/>
            <a:ext cx="7721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17476788" y="12712700"/>
            <a:ext cx="5691187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1219200" y="549275"/>
            <a:ext cx="2194877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12193588" y="5954713"/>
            <a:ext cx="10974387" cy="629761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/>
          <a:lstStyle>
            <a:lvl1pPr indent="-228600" lvl="0" marL="457200" marR="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65150" lvl="6" marL="32004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65150" lvl="7" marL="36576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65150" lvl="8" marL="41148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1219200" y="12712700"/>
            <a:ext cx="569118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8332788" y="12712700"/>
            <a:ext cx="7721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17476788" y="12712700"/>
            <a:ext cx="5691187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0" type="dt"/>
          </p:nvPr>
        </p:nvSpPr>
        <p:spPr>
          <a:xfrm>
            <a:off x="1219200" y="12712700"/>
            <a:ext cx="569118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8332788" y="12712700"/>
            <a:ext cx="7721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7476788" y="12712700"/>
            <a:ext cx="5691187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">
  <p:cSld name="Custom Layou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idx="1" type="body"/>
          </p:nvPr>
        </p:nvSpPr>
        <p:spPr>
          <a:xfrm>
            <a:off x="496995" y="13071176"/>
            <a:ext cx="23426808" cy="644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/>
          <a:lstStyle>
            <a:lvl1pPr indent="-228600" lvl="0" marL="457200" marR="0" rtl="0" algn="l">
              <a:spcBef>
                <a:spcPts val="420"/>
              </a:spcBef>
              <a:spcAft>
                <a:spcPts val="0"/>
              </a:spcAft>
              <a:buSzPts val="1400"/>
              <a:buNone/>
              <a:defRPr b="0" i="0" sz="2100" u="none" cap="none" strike="noStrik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65150" lvl="6" marL="32004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65150" lvl="7" marL="36576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65150" lvl="8" marL="41148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5"/>
          <p:cNvSpPr/>
          <p:nvPr>
            <p:ph idx="2" type="media"/>
          </p:nvPr>
        </p:nvSpPr>
        <p:spPr>
          <a:xfrm>
            <a:off x="720725" y="719139"/>
            <a:ext cx="22940964" cy="1225073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/>
          <a:lstStyle>
            <a:lvl1pPr lvl="0" marR="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1_Custom Layout">
  <p:cSld name="1_Custom Layou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idx="1" type="body"/>
          </p:nvPr>
        </p:nvSpPr>
        <p:spPr>
          <a:xfrm>
            <a:off x="12193588" y="5954889"/>
            <a:ext cx="11468101" cy="704832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/>
          <a:lstStyle>
            <a:lvl1pPr indent="-228600" lvl="0" marL="457200" marR="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65150" lvl="6" marL="32004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65150" lvl="7" marL="36576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65150" lvl="8" marL="41148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2_Custom Layout">
  <p:cSld name="2_Custom Layou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720725" cy="13716000"/>
          </a:xfrm>
          <a:prstGeom prst="rect">
            <a:avLst/>
          </a:prstGeom>
          <a:solidFill>
            <a:srgbClr val="C0C1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7"/>
          <p:cNvSpPr/>
          <p:nvPr/>
        </p:nvSpPr>
        <p:spPr>
          <a:xfrm>
            <a:off x="23661688" y="0"/>
            <a:ext cx="720725" cy="13716000"/>
          </a:xfrm>
          <a:prstGeom prst="rect">
            <a:avLst/>
          </a:prstGeom>
          <a:solidFill>
            <a:srgbClr val="C0C1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7"/>
          <p:cNvSpPr/>
          <p:nvPr/>
        </p:nvSpPr>
        <p:spPr>
          <a:xfrm rot="-5400000">
            <a:off x="11474450" y="1528762"/>
            <a:ext cx="712787" cy="23661688"/>
          </a:xfrm>
          <a:prstGeom prst="rect">
            <a:avLst/>
          </a:prstGeom>
          <a:solidFill>
            <a:srgbClr val="C0C1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7"/>
          <p:cNvSpPr/>
          <p:nvPr/>
        </p:nvSpPr>
        <p:spPr>
          <a:xfrm rot="-5400000">
            <a:off x="11839575" y="-11834812"/>
            <a:ext cx="712788" cy="24382413"/>
          </a:xfrm>
          <a:prstGeom prst="rect">
            <a:avLst/>
          </a:prstGeom>
          <a:solidFill>
            <a:srgbClr val="C0C1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/>
          <p:nvPr>
            <p:ph idx="2" type="media"/>
          </p:nvPr>
        </p:nvSpPr>
        <p:spPr>
          <a:xfrm>
            <a:off x="720725" y="719139"/>
            <a:ext cx="22940964" cy="1225073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/>
          <a:lstStyle>
            <a:lvl1pPr lvl="0" marR="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3_Custom Layout">
  <p:cSld name="3_Custom Layou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46133" y="5406102"/>
            <a:ext cx="23215556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4_Custom Layout">
  <p:cSld name="4_Custom Layou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722313" y="719138"/>
            <a:ext cx="22942550" cy="122507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11987644" y="5972376"/>
            <a:ext cx="11470482" cy="109799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/>
          <a:lstStyle>
            <a:lvl1pPr indent="-228600" lvl="0" marL="457200" marR="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rgbClr val="FFFFF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marR="0" rtl="0" algn="l">
              <a:spcBef>
                <a:spcPts val="64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65150" lvl="6" marL="32004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65150" lvl="7" marL="36576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65150" lvl="8" marL="41148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11987644" y="7070689"/>
            <a:ext cx="11470482" cy="75477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/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64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65150" lvl="6" marL="32004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65150" lvl="7" marL="36576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65150" lvl="8" marL="41148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5_Custom Layout">
  <p:cSld name="5_Custom Layou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193588" y="12201525"/>
            <a:ext cx="685800" cy="7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11933802" y="6575871"/>
            <a:ext cx="11168064" cy="907821"/>
          </a:xfrm>
          <a:prstGeom prst="rect">
            <a:avLst/>
          </a:prstGeom>
          <a:solidFill>
            <a:srgbClr val="D01E20"/>
          </a:solidFill>
          <a:ln>
            <a:noFill/>
          </a:ln>
        </p:spPr>
        <p:txBody>
          <a:bodyPr anchorCtr="0" anchor="t" bIns="121925" lIns="243850" spcFirstLastPara="1" rIns="243850" wrap="square" tIns="121925"/>
          <a:lstStyle>
            <a:lvl1pPr indent="-228600" lvl="0" marL="457200" marR="0" rtl="0" algn="l">
              <a:spcBef>
                <a:spcPts val="84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FFFFFE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65150" lvl="6" marL="32004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65150" lvl="7" marL="36576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65150" lvl="8" marL="41148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11920281" y="7562138"/>
            <a:ext cx="11181586" cy="80924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/>
          <a:lstStyle>
            <a:lvl1pPr indent="-228600" lvl="0" marL="457200" marR="0" rtl="0" algn="l">
              <a:spcBef>
                <a:spcPts val="84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rgbClr val="FFFFF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65150" lvl="6" marL="32004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65150" lvl="7" marL="36576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65150" lvl="8" marL="4114800" marR="0" rtl="0" algn="l">
              <a:spcBef>
                <a:spcPts val="106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219200" y="549275"/>
            <a:ext cx="2194877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2193588" y="5954713"/>
            <a:ext cx="10974387" cy="629761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243850" spcFirstLastPara="1" rIns="243850" wrap="square" tIns="121925"/>
          <a:lstStyle>
            <a:lvl1pPr indent="-228600" lvl="0" marL="457200" marR="0" rtl="0" algn="l">
              <a:spcBef>
                <a:spcPts val="120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rgbClr val="3C3C3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76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65150" lvl="5" marL="27432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65150" lvl="6" marL="32004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65150" lvl="7" marL="36576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65150" lvl="8" marL="4114800" marR="0" rtl="0" algn="l">
              <a:spcBef>
                <a:spcPts val="106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Char char="•"/>
              <a:defRPr b="0" i="0" sz="5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1219200" y="12712700"/>
            <a:ext cx="569118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8332788" y="12712700"/>
            <a:ext cx="7721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7476788" y="12712700"/>
            <a:ext cx="5691187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243850" spcFirstLastPara="1" rIns="243850" wrap="square" tIns="12192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3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0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9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32.png"/><Relationship Id="rId8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28.png"/><Relationship Id="rId6" Type="http://schemas.openxmlformats.org/officeDocument/2006/relationships/image" Target="../media/image19.png"/><Relationship Id="rId7" Type="http://schemas.openxmlformats.org/officeDocument/2006/relationships/image" Target="../media/image17.png"/><Relationship Id="rId8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Relationship Id="rId6" Type="http://schemas.openxmlformats.org/officeDocument/2006/relationships/image" Target="../media/image4.png"/><Relationship Id="rId7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9125" y="6542350"/>
            <a:ext cx="5368924" cy="63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1"/>
          <p:cNvSpPr/>
          <p:nvPr/>
        </p:nvSpPr>
        <p:spPr>
          <a:xfrm>
            <a:off x="13716000" y="4645450"/>
            <a:ext cx="2666100" cy="1204500"/>
          </a:xfrm>
          <a:prstGeom prst="wedgeRoundRectCallout">
            <a:avLst>
              <a:gd fmla="val -36747" name="adj1"/>
              <a:gd fmla="val 79020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800">
                <a:solidFill>
                  <a:srgbClr val="434343"/>
                </a:solidFill>
                <a:latin typeface="Lobster"/>
                <a:ea typeface="Lobster"/>
                <a:cs typeface="Lobster"/>
                <a:sym typeface="Lobster"/>
              </a:rPr>
              <a:t>ad.ops</a:t>
            </a:r>
            <a:endParaRPr b="1" sz="4800">
              <a:solidFill>
                <a:srgbClr val="434343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DF402E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/>
        </p:nvSpPr>
        <p:spPr>
          <a:xfrm>
            <a:off x="2448713" y="5778000"/>
            <a:ext cx="1800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pt-BR" sz="60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Processos e estrutura</a:t>
            </a:r>
            <a:endParaRPr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pt-BR" sz="4000">
                <a:solidFill>
                  <a:schemeClr val="dk1"/>
                </a:solidFill>
                <a:latin typeface="Varela Round"/>
                <a:ea typeface="Varela Round"/>
                <a:cs typeface="Varela Round"/>
                <a:sym typeface="Varela Round"/>
              </a:rPr>
              <a:t>de Ad.Ops na Almap BBDO</a:t>
            </a:r>
            <a:endParaRPr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D9D9D9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/>
        </p:nvSpPr>
        <p:spPr>
          <a:xfrm>
            <a:off x="2448713" y="5778000"/>
            <a:ext cx="1800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i="1" lang="pt-BR" sz="600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Sobre o funcionamento</a:t>
            </a:r>
            <a:endParaRPr i="1" sz="6000">
              <a:solidFill>
                <a:srgbClr val="434343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i="1" lang="pt-BR" sz="600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de um Ad.Server</a:t>
            </a:r>
            <a:endParaRPr i="1">
              <a:solidFill>
                <a:srgbClr val="434343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RAZÕES PARA UTILIZAR UM ADSERVER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</a:t>
            </a:r>
            <a:r>
              <a:rPr lang="pt-BR" sz="6000">
                <a:solidFill>
                  <a:srgbClr val="EFEFEF"/>
                </a:solidFill>
                <a:latin typeface="Varela Round"/>
                <a:ea typeface="Varela Round"/>
                <a:cs typeface="Varela Round"/>
                <a:sym typeface="Varela Round"/>
              </a:rPr>
              <a:t> + ad.ops</a:t>
            </a:r>
            <a:endParaRPr sz="6000">
              <a:solidFill>
                <a:srgbClr val="EFEFE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1705513" y="3161362"/>
            <a:ext cx="7575000" cy="83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DF402E"/>
              </a:buClr>
              <a:buSzPts val="2400"/>
              <a:buFont typeface="Varela Round"/>
              <a:buChar char="▪"/>
            </a:pPr>
            <a:r>
              <a:rPr lang="pt-BR" sz="24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Métricas: </a:t>
            </a: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impressões, cliques, interações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444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4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DF402E"/>
              </a:buClr>
              <a:buSzPts val="2400"/>
              <a:buFont typeface="Varela Round"/>
              <a:buChar char="▪"/>
            </a:pPr>
            <a:r>
              <a:rPr lang="pt-BR" sz="24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Controle de entrega do criativo: </a:t>
            </a: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horário, período, quantidade, prioridade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444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4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DF402E"/>
              </a:buClr>
              <a:buSzPts val="2400"/>
              <a:buFont typeface="Varela Round"/>
              <a:buChar char="▪"/>
            </a:pPr>
            <a:r>
              <a:rPr lang="pt-BR" sz="24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Segmentação: </a:t>
            </a: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geográfica, browsing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444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4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DF402E"/>
              </a:buClr>
              <a:buSzPts val="2400"/>
              <a:buFont typeface="Varela Round"/>
              <a:buChar char="▪"/>
            </a:pPr>
            <a:r>
              <a:rPr lang="pt-BR" sz="24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Unificação: </a:t>
            </a: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métricas consolidadas da campanha em relação a todos os veículos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444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4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DF402E"/>
              </a:buClr>
              <a:buSzPts val="2400"/>
              <a:buFont typeface="Varela Round"/>
              <a:buChar char="▪"/>
            </a:pPr>
            <a:r>
              <a:rPr lang="pt-BR" sz="24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Sobreposição: </a:t>
            </a: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cruzar usuários únicos em diferentes veículos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444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4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DF402E"/>
              </a:buClr>
              <a:buSzPts val="2400"/>
              <a:buFont typeface="Varela Round"/>
              <a:buChar char="▪"/>
            </a:pPr>
            <a:r>
              <a:rPr lang="pt-BR" sz="24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Acompanhamento: </a:t>
            </a: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permite que você acompanhe em tempo real a entrega da sua campanha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444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4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DF402E"/>
              </a:buClr>
              <a:buSzPts val="2400"/>
              <a:buFont typeface="Varela Round"/>
              <a:buChar char="▪"/>
            </a:pPr>
            <a:r>
              <a:rPr lang="pt-BR" sz="24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Conversão: </a:t>
            </a: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cruzamento com tags de conversão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444500" lvl="0" marL="5715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4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-520700" lvl="0" marL="571500" marR="0" rtl="0" algn="l">
              <a:spcBef>
                <a:spcPts val="0"/>
              </a:spcBef>
              <a:spcAft>
                <a:spcPts val="0"/>
              </a:spcAft>
              <a:buClr>
                <a:srgbClr val="DF402E"/>
              </a:buClr>
              <a:buSzPts val="2400"/>
              <a:buFont typeface="Varela Round"/>
              <a:buChar char="▪"/>
            </a:pPr>
            <a:r>
              <a:rPr lang="pt-BR" sz="24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Auditoria: </a:t>
            </a: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comparar seus resultados com os resultados de veículos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grpSp>
        <p:nvGrpSpPr>
          <p:cNvPr id="78" name="Google Shape;78;p14"/>
          <p:cNvGrpSpPr/>
          <p:nvPr/>
        </p:nvGrpSpPr>
        <p:grpSpPr>
          <a:xfrm>
            <a:off x="10496129" y="1229342"/>
            <a:ext cx="12185562" cy="11257298"/>
            <a:chOff x="10439041" y="1202192"/>
            <a:chExt cx="12185562" cy="11257298"/>
          </a:xfrm>
        </p:grpSpPr>
        <p:pic>
          <p:nvPicPr>
            <p:cNvPr id="79" name="Google Shape;79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10790392" y="1462748"/>
              <a:ext cx="11834211" cy="10996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14"/>
            <p:cNvSpPr/>
            <p:nvPr/>
          </p:nvSpPr>
          <p:spPr>
            <a:xfrm>
              <a:off x="10439041" y="7380182"/>
              <a:ext cx="1354200" cy="13542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anchorCtr="0" anchor="ctr" bIns="91400" lIns="182875" spcFirstLastPara="1" rIns="182875" wrap="square" tIns="9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1" name="Google Shape;81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828148" y="7752074"/>
              <a:ext cx="648000" cy="64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" name="Google Shape;82;p14"/>
            <p:cNvSpPr/>
            <p:nvPr/>
          </p:nvSpPr>
          <p:spPr>
            <a:xfrm>
              <a:off x="11799194" y="5353582"/>
              <a:ext cx="1354200" cy="13542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anchorCtr="0" anchor="ctr" bIns="91400" lIns="182875" spcFirstLastPara="1" rIns="182875" wrap="square" tIns="9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13237747" y="3155556"/>
              <a:ext cx="1354200" cy="13542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anchorCtr="0" anchor="ctr" bIns="91400" lIns="182875" spcFirstLastPara="1" rIns="182875" wrap="square" tIns="9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14520370" y="1202192"/>
              <a:ext cx="1354200" cy="13542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anchorCtr="0" anchor="ctr" bIns="91400" lIns="182875" spcFirstLastPara="1" rIns="182875" wrap="square" tIns="9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5" name="Google Shape;85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081335" y="5617672"/>
              <a:ext cx="867224" cy="867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440284" y="3338688"/>
              <a:ext cx="963274" cy="9632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4847902" y="1513344"/>
              <a:ext cx="769944" cy="7699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14"/>
            <p:cNvSpPr/>
            <p:nvPr/>
          </p:nvSpPr>
          <p:spPr>
            <a:xfrm rot="3007761">
              <a:off x="17401347" y="5207090"/>
              <a:ext cx="3618401" cy="1539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00" lIns="182875" spcFirstLastPara="1" rIns="182875" wrap="square" tIns="9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Site</a:t>
              </a:r>
              <a:endParaRPr sz="40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 rot="3007679">
              <a:off x="13568299" y="6802468"/>
              <a:ext cx="6524354" cy="1539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00" lIns="182875" spcFirstLastPara="1" rIns="182875" wrap="square" tIns="9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Requisição / Banner</a:t>
              </a:r>
              <a:endParaRPr sz="40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 rot="3007634">
              <a:off x="12242192" y="8279144"/>
              <a:ext cx="4683311" cy="1539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00" lIns="182875" spcFirstLastPara="1" rIns="182875" wrap="square" tIns="9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AdServer</a:t>
              </a:r>
              <a:endParaRPr sz="40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 rot="3007576">
              <a:off x="10467103" y="9477765"/>
              <a:ext cx="4197487" cy="1539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00" lIns="182875" spcFirstLastPara="1" rIns="182875" wrap="square" tIns="914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Cadastro</a:t>
              </a:r>
              <a:endParaRPr sz="40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000">
                  <a:solidFill>
                    <a:srgbClr val="FFFFFF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de banners</a:t>
              </a:r>
              <a:endParaRPr sz="40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FORMATOS SUPORTADOS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grpSp>
        <p:nvGrpSpPr>
          <p:cNvPr id="97" name="Google Shape;97;p15"/>
          <p:cNvGrpSpPr/>
          <p:nvPr/>
        </p:nvGrpSpPr>
        <p:grpSpPr>
          <a:xfrm>
            <a:off x="2204681" y="3811036"/>
            <a:ext cx="3554239" cy="4081484"/>
            <a:chOff x="1448990" y="4007438"/>
            <a:chExt cx="1776853" cy="2040742"/>
          </a:xfrm>
        </p:grpSpPr>
        <p:pic>
          <p:nvPicPr>
            <p:cNvPr id="98" name="Google Shape;9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48990" y="4007438"/>
              <a:ext cx="1776853" cy="2040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15"/>
            <p:cNvSpPr/>
            <p:nvPr/>
          </p:nvSpPr>
          <p:spPr>
            <a:xfrm>
              <a:off x="1572592" y="4135272"/>
              <a:ext cx="1529700" cy="15291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STANDARD</a:t>
              </a:r>
              <a:endParaRPr sz="2400">
                <a:latin typeface="Varela Round"/>
                <a:ea typeface="Varela Round"/>
                <a:cs typeface="Varela Round"/>
                <a:sym typeface="Varela Rou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DISPLAY</a:t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5"/>
          <p:cNvGrpSpPr/>
          <p:nvPr/>
        </p:nvGrpSpPr>
        <p:grpSpPr>
          <a:xfrm>
            <a:off x="7679256" y="3811036"/>
            <a:ext cx="3554239" cy="4081484"/>
            <a:chOff x="1448990" y="4007438"/>
            <a:chExt cx="1776853" cy="2040742"/>
          </a:xfrm>
        </p:grpSpPr>
        <p:pic>
          <p:nvPicPr>
            <p:cNvPr id="101" name="Google Shape;101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48990" y="4007438"/>
              <a:ext cx="1776853" cy="2040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15"/>
            <p:cNvSpPr/>
            <p:nvPr/>
          </p:nvSpPr>
          <p:spPr>
            <a:xfrm>
              <a:off x="1572592" y="4135272"/>
              <a:ext cx="1529700" cy="15291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CRIATIVOS</a:t>
              </a:r>
              <a:endParaRPr sz="2400">
                <a:latin typeface="Varela Round"/>
                <a:ea typeface="Varela Round"/>
                <a:cs typeface="Varela Round"/>
                <a:sym typeface="Varela Rou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DINÂMICOS</a:t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5"/>
          <p:cNvGrpSpPr/>
          <p:nvPr/>
        </p:nvGrpSpPr>
        <p:grpSpPr>
          <a:xfrm>
            <a:off x="13153831" y="3811036"/>
            <a:ext cx="3554239" cy="4081484"/>
            <a:chOff x="1448990" y="4007438"/>
            <a:chExt cx="1776853" cy="2040742"/>
          </a:xfrm>
        </p:grpSpPr>
        <p:pic>
          <p:nvPicPr>
            <p:cNvPr id="104" name="Google Shape;10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48990" y="4007438"/>
              <a:ext cx="1776853" cy="2040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5"/>
            <p:cNvSpPr/>
            <p:nvPr/>
          </p:nvSpPr>
          <p:spPr>
            <a:xfrm>
              <a:off x="1572592" y="4135272"/>
              <a:ext cx="1529700" cy="15291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RICH</a:t>
              </a:r>
              <a:endParaRPr sz="2400">
                <a:latin typeface="Varela Round"/>
                <a:ea typeface="Varela Round"/>
                <a:cs typeface="Varela Round"/>
                <a:sym typeface="Varela Rou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MEDIA</a:t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5"/>
          <p:cNvGrpSpPr/>
          <p:nvPr/>
        </p:nvGrpSpPr>
        <p:grpSpPr>
          <a:xfrm>
            <a:off x="18628403" y="3811036"/>
            <a:ext cx="3554239" cy="4081484"/>
            <a:chOff x="1448990" y="4007438"/>
            <a:chExt cx="1776853" cy="2040742"/>
          </a:xfrm>
        </p:grpSpPr>
        <p:pic>
          <p:nvPicPr>
            <p:cNvPr id="107" name="Google Shape;10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48990" y="4007438"/>
              <a:ext cx="1776853" cy="20407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" name="Google Shape;108;p15"/>
            <p:cNvSpPr/>
            <p:nvPr/>
          </p:nvSpPr>
          <p:spPr>
            <a:xfrm>
              <a:off x="1572592" y="4135272"/>
              <a:ext cx="1529700" cy="1529100"/>
            </a:xfrm>
            <a:prstGeom prst="ellipse">
              <a:avLst/>
            </a:prstGeom>
            <a:solidFill>
              <a:srgbClr val="DF40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TRACKING PIXEL </a:t>
              </a:r>
              <a:endParaRPr sz="2400">
                <a:latin typeface="Varela Round"/>
                <a:ea typeface="Varela Round"/>
                <a:cs typeface="Varela Round"/>
                <a:sym typeface="Varela Round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F2F2F2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&amp; CLICK</a:t>
              </a:r>
              <a:endPara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5"/>
          <p:cNvSpPr/>
          <p:nvPr/>
        </p:nvSpPr>
        <p:spPr>
          <a:xfrm>
            <a:off x="1821425" y="8827213"/>
            <a:ext cx="4320600" cy="16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Utiliza imagem </a:t>
            </a:r>
            <a:endParaRPr b="1"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para vender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7296001" y="8827212"/>
            <a:ext cx="4320600" cy="16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A partir de um mesmo template, permite trocar as informações de forma dinâmica.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12770576" y="8833368"/>
            <a:ext cx="4320600" cy="16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Permite uma maior interação.</a:t>
            </a:r>
            <a:br>
              <a:rPr b="1"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</a:br>
            <a:r>
              <a:rPr b="1"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Formatos Expansíveis ou Flutuantes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8245150" y="8827212"/>
            <a:ext cx="4320600" cy="16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Linhas de código que permitem a contabilização de impressões e clicks. Acompanha o criativo.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</a:t>
            </a:r>
            <a:r>
              <a:rPr lang="pt-BR" sz="6000">
                <a:solidFill>
                  <a:srgbClr val="EFEFEF"/>
                </a:solidFill>
                <a:latin typeface="Varela Round"/>
                <a:ea typeface="Varela Round"/>
                <a:cs typeface="Varela Round"/>
                <a:sym typeface="Varela Round"/>
              </a:rPr>
              <a:t> + ad.ops</a:t>
            </a:r>
            <a:endParaRPr sz="6000">
              <a:solidFill>
                <a:srgbClr val="EFEFE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REPORTS POR FORMATO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graphicFrame>
        <p:nvGraphicFramePr>
          <p:cNvPr id="119" name="Google Shape;119;p16"/>
          <p:cNvGraphicFramePr/>
          <p:nvPr/>
        </p:nvGraphicFramePr>
        <p:xfrm>
          <a:off x="1424487" y="27535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{AC13DE56-4CA3-4EE8-8356-59048889EC3C}</a:tableStyleId>
              </a:tblPr>
              <a:tblGrid>
                <a:gridCol w="4221025"/>
                <a:gridCol w="3463425"/>
                <a:gridCol w="3463425"/>
                <a:gridCol w="3463425"/>
                <a:gridCol w="3463425"/>
                <a:gridCol w="3463425"/>
              </a:tblGrid>
              <a:tr h="13089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Adserver para </a:t>
                      </a:r>
                      <a:endParaRPr sz="2200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anunciantes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40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Standard </a:t>
                      </a:r>
                      <a:endParaRPr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Display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40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Criativos 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Dinâmicos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40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Rich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Media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40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Tracking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Pixel + Click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40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Tracking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FFFFFF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Click</a:t>
                      </a:r>
                      <a:endParaRPr i="0" sz="2200" u="none" cap="none" strike="noStrike">
                        <a:solidFill>
                          <a:srgbClr val="FFFFFF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402E"/>
                    </a:solidFill>
                  </a:tcPr>
                </a:tc>
              </a:tr>
              <a:tr h="9120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Métricas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Impressão e Clique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Clique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9120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Controle de entrega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Não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Não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9120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Segmentação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Não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Não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9120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Unificação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9120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Sobreposição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9120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Acompanhamento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9120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Conversão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9120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Auditoria*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200" u="none" cap="none" strike="noStrike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Sim</a:t>
                      </a:r>
                      <a:endParaRPr i="0" sz="2200" u="none" cap="none" strike="noStrike">
                        <a:solidFill>
                          <a:srgbClr val="000000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T="18200" marB="0" marR="18200" marL="1820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20" name="Google Shape;120;p16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</a:t>
            </a:r>
            <a:r>
              <a:rPr lang="pt-BR" sz="6000">
                <a:solidFill>
                  <a:srgbClr val="EFEFEF"/>
                </a:solidFill>
                <a:latin typeface="Varela Round"/>
                <a:ea typeface="Varela Round"/>
                <a:cs typeface="Varela Round"/>
                <a:sym typeface="Varela Round"/>
              </a:rPr>
              <a:t> + ad.ops</a:t>
            </a:r>
            <a:endParaRPr sz="6000">
              <a:solidFill>
                <a:srgbClr val="EFEFE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D9D9D9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/>
        </p:nvSpPr>
        <p:spPr>
          <a:xfrm>
            <a:off x="2448713" y="5778000"/>
            <a:ext cx="1800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i="1" lang="pt-BR" sz="600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Sobre o processo</a:t>
            </a:r>
            <a:endParaRPr i="1" sz="6000">
              <a:solidFill>
                <a:srgbClr val="434343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i="1" lang="pt-BR" sz="600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de Ad.Ops</a:t>
            </a:r>
            <a:endParaRPr i="1" sz="6000">
              <a:solidFill>
                <a:srgbClr val="434343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PAPEL DA ÁREA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3361" y="2899100"/>
            <a:ext cx="8940800" cy="881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/>
          <p:nvPr/>
        </p:nvSpPr>
        <p:spPr>
          <a:xfrm>
            <a:off x="13935940" y="3074661"/>
            <a:ext cx="7587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454545"/>
                </a:solidFill>
                <a:latin typeface="Varela Round"/>
                <a:ea typeface="Varela Round"/>
                <a:cs typeface="Varela Round"/>
                <a:sym typeface="Varela Round"/>
              </a:rPr>
              <a:t>CONFIGURAR ADSERVER</a:t>
            </a:r>
            <a:endParaRPr sz="3000">
              <a:solidFill>
                <a:srgbClr val="45454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cxnSp>
        <p:nvCxnSpPr>
          <p:cNvPr id="134" name="Google Shape;134;p18"/>
          <p:cNvCxnSpPr/>
          <p:nvPr/>
        </p:nvCxnSpPr>
        <p:spPr>
          <a:xfrm>
            <a:off x="7334353" y="3474710"/>
            <a:ext cx="58449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cxnSp>
        <p:nvCxnSpPr>
          <p:cNvPr id="135" name="Google Shape;135;p18"/>
          <p:cNvCxnSpPr/>
          <p:nvPr/>
        </p:nvCxnSpPr>
        <p:spPr>
          <a:xfrm>
            <a:off x="7334341" y="4812255"/>
            <a:ext cx="58449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cxnSp>
        <p:nvCxnSpPr>
          <p:cNvPr id="136" name="Google Shape;136;p18"/>
          <p:cNvCxnSpPr/>
          <p:nvPr/>
        </p:nvCxnSpPr>
        <p:spPr>
          <a:xfrm>
            <a:off x="7334341" y="6395401"/>
            <a:ext cx="58449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cxnSp>
        <p:nvCxnSpPr>
          <p:cNvPr id="137" name="Google Shape;137;p18"/>
          <p:cNvCxnSpPr/>
          <p:nvPr/>
        </p:nvCxnSpPr>
        <p:spPr>
          <a:xfrm>
            <a:off x="7334341" y="7814765"/>
            <a:ext cx="58449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cxnSp>
        <p:nvCxnSpPr>
          <p:cNvPr id="138" name="Google Shape;138;p18"/>
          <p:cNvCxnSpPr/>
          <p:nvPr/>
        </p:nvCxnSpPr>
        <p:spPr>
          <a:xfrm>
            <a:off x="7334341" y="9070365"/>
            <a:ext cx="58449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cxnSp>
        <p:nvCxnSpPr>
          <p:cNvPr id="139" name="Google Shape;139;p18"/>
          <p:cNvCxnSpPr/>
          <p:nvPr/>
        </p:nvCxnSpPr>
        <p:spPr>
          <a:xfrm>
            <a:off x="7334341" y="10162183"/>
            <a:ext cx="58449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cxnSp>
        <p:nvCxnSpPr>
          <p:cNvPr id="140" name="Google Shape;140;p18"/>
          <p:cNvCxnSpPr/>
          <p:nvPr/>
        </p:nvCxnSpPr>
        <p:spPr>
          <a:xfrm>
            <a:off x="7334341" y="11144815"/>
            <a:ext cx="58449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</p:cxnSp>
      <p:sp>
        <p:nvSpPr>
          <p:cNvPr id="141" name="Google Shape;141;p18"/>
          <p:cNvSpPr/>
          <p:nvPr/>
        </p:nvSpPr>
        <p:spPr>
          <a:xfrm>
            <a:off x="13935943" y="4409673"/>
            <a:ext cx="7587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454545"/>
                </a:solidFill>
                <a:latin typeface="Varela Round"/>
                <a:ea typeface="Varela Round"/>
                <a:cs typeface="Varela Round"/>
                <a:sym typeface="Varela Round"/>
              </a:rPr>
              <a:t>CADASTRAMENTO DAS PEÇAS</a:t>
            </a:r>
            <a:endParaRPr sz="3000">
              <a:solidFill>
                <a:srgbClr val="45454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13935943" y="6000007"/>
            <a:ext cx="7587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454545"/>
                </a:solidFill>
                <a:latin typeface="Varela Round"/>
                <a:ea typeface="Varela Round"/>
                <a:cs typeface="Varela Round"/>
                <a:sym typeface="Varela Round"/>
              </a:rPr>
              <a:t>INTERFACE TÉCNICA COM VEÍCULOS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13935945" y="7414652"/>
            <a:ext cx="7587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454545"/>
                </a:solidFill>
                <a:latin typeface="Varela Round"/>
                <a:ea typeface="Varela Round"/>
                <a:cs typeface="Varela Round"/>
                <a:sym typeface="Varela Round"/>
              </a:rPr>
              <a:t>SUPORTE PARA DISCREPÂNCIAS</a:t>
            </a:r>
            <a:endParaRPr sz="3000">
              <a:solidFill>
                <a:srgbClr val="45454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13935945" y="8670252"/>
            <a:ext cx="7587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454545"/>
                </a:solidFill>
                <a:latin typeface="Varela Round"/>
                <a:ea typeface="Varela Round"/>
                <a:cs typeface="Varela Round"/>
                <a:sym typeface="Varela Round"/>
              </a:rPr>
              <a:t>DISPARO DE MATERIAIS</a:t>
            </a:r>
            <a:endParaRPr sz="3000">
              <a:solidFill>
                <a:srgbClr val="45454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13935945" y="9762070"/>
            <a:ext cx="7587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454545"/>
                </a:solidFill>
                <a:latin typeface="Varela Round"/>
                <a:ea typeface="Varela Round"/>
                <a:cs typeface="Varela Round"/>
                <a:sym typeface="Varela Round"/>
              </a:rPr>
              <a:t>CONTROLE DE UNDER E OVER</a:t>
            </a:r>
            <a:endParaRPr sz="3000">
              <a:solidFill>
                <a:srgbClr val="45454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13935945" y="10744702"/>
            <a:ext cx="75879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454545"/>
                </a:solidFill>
                <a:latin typeface="Varela Round"/>
                <a:ea typeface="Varela Round"/>
                <a:cs typeface="Varela Round"/>
                <a:sym typeface="Varela Round"/>
              </a:rPr>
              <a:t>CHECKING DE </a:t>
            </a:r>
            <a:r>
              <a:rPr lang="pt-BR" sz="3000">
                <a:solidFill>
                  <a:srgbClr val="454545"/>
                </a:solidFill>
                <a:latin typeface="Varela Round"/>
                <a:ea typeface="Varela Round"/>
                <a:cs typeface="Varela Round"/>
                <a:sym typeface="Varela Round"/>
              </a:rPr>
              <a:t>VEICULAÇÃO</a:t>
            </a:r>
            <a:endParaRPr sz="3000">
              <a:solidFill>
                <a:srgbClr val="454545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EFEFEF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 + </a:t>
            </a: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ad.ops</a:t>
            </a:r>
            <a:endParaRPr sz="6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EFICIÊNCIA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EFEFEF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 + </a:t>
            </a: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ad.ops</a:t>
            </a:r>
            <a:endParaRPr sz="6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cxnSp>
        <p:nvCxnSpPr>
          <p:cNvPr id="154" name="Google Shape;154;p19"/>
          <p:cNvCxnSpPr/>
          <p:nvPr/>
        </p:nvCxnSpPr>
        <p:spPr>
          <a:xfrm>
            <a:off x="15088384" y="3701928"/>
            <a:ext cx="74961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5" name="Google Shape;155;p19"/>
          <p:cNvCxnSpPr/>
          <p:nvPr/>
        </p:nvCxnSpPr>
        <p:spPr>
          <a:xfrm>
            <a:off x="13054450" y="6165312"/>
            <a:ext cx="6339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6" name="Google Shape;156;p19"/>
          <p:cNvCxnSpPr/>
          <p:nvPr/>
        </p:nvCxnSpPr>
        <p:spPr>
          <a:xfrm>
            <a:off x="9461341" y="8688656"/>
            <a:ext cx="6339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7" name="Google Shape;157;p19"/>
          <p:cNvCxnSpPr/>
          <p:nvPr/>
        </p:nvCxnSpPr>
        <p:spPr>
          <a:xfrm>
            <a:off x="8147034" y="11212000"/>
            <a:ext cx="97116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9697" y="-29980"/>
            <a:ext cx="13609122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/>
          <p:nvPr/>
        </p:nvSpPr>
        <p:spPr>
          <a:xfrm>
            <a:off x="13210599" y="2724025"/>
            <a:ext cx="37347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Dados em tempo real unificados por campanha</a:t>
            </a:r>
            <a:endParaRPr sz="22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9830750" y="5238375"/>
            <a:ext cx="56277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Cruzamentos com dados de conversão e entre veículos (sobreposição)</a:t>
            </a:r>
            <a:endParaRPr sz="22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7638689" y="7774477"/>
            <a:ext cx="53043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Imediatismo. Menor tempo de resposta em ajustes da campanha</a:t>
            </a:r>
            <a:endParaRPr sz="22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5690900" y="10283300"/>
            <a:ext cx="44001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182875" spcFirstLastPara="1" rIns="182875" wrap="square" tIns="91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Melhor qualidade de dados para tomada de decisão</a:t>
            </a:r>
            <a:endParaRPr sz="22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15900219" y="5429760"/>
            <a:ext cx="54132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PC/ADP padronizado</a:t>
            </a:r>
            <a:endParaRPr sz="26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18278501" y="2944750"/>
            <a:ext cx="4539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Recebimento centralizado</a:t>
            </a:r>
            <a:endParaRPr sz="26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11202066" y="10468616"/>
            <a:ext cx="72072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Indicadores de status / controle de erros</a:t>
            </a:r>
            <a:endParaRPr sz="26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13573065" y="7883718"/>
            <a:ext cx="5413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Automação</a:t>
            </a:r>
            <a:endParaRPr sz="26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167" name="Google Shape;167;p19"/>
          <p:cNvPicPr preferRelativeResize="0"/>
          <p:nvPr/>
        </p:nvPicPr>
        <p:blipFill rotWithShape="1">
          <a:blip r:embed="rId4">
            <a:alphaModFix/>
          </a:blip>
          <a:srcRect b="7027" l="20205" r="12976" t="20224"/>
          <a:stretch/>
        </p:blipFill>
        <p:spPr>
          <a:xfrm>
            <a:off x="2471200" y="3391100"/>
            <a:ext cx="3583350" cy="351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D9D9D9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/>
        </p:nvSpPr>
        <p:spPr>
          <a:xfrm>
            <a:off x="2448713" y="5778000"/>
            <a:ext cx="180000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i="1" lang="pt-BR" sz="600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Estrutura</a:t>
            </a:r>
            <a:endParaRPr i="1" sz="6000">
              <a:solidFill>
                <a:srgbClr val="434343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i="1" lang="pt-BR" sz="600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Almap BBDO</a:t>
            </a:r>
            <a:endParaRPr i="1" sz="6000">
              <a:solidFill>
                <a:srgbClr val="434343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/>
          <p:nvPr/>
        </p:nvSpPr>
        <p:spPr>
          <a:xfrm>
            <a:off x="17402025" y="3891538"/>
            <a:ext cx="4833900" cy="1260000"/>
          </a:xfrm>
          <a:prstGeom prst="roundRect">
            <a:avLst>
              <a:gd fmla="val 50000" name="adj"/>
            </a:avLst>
          </a:prstGeom>
          <a:solidFill>
            <a:srgbClr val="99999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26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RAYZA SOARES</a:t>
            </a:r>
            <a:endParaRPr b="1" sz="24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COORDENADORA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DE AD.OPS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12318425" y="3891538"/>
            <a:ext cx="4833900" cy="1260000"/>
          </a:xfrm>
          <a:prstGeom prst="roundRect">
            <a:avLst>
              <a:gd fmla="val 50000" name="adj"/>
            </a:avLst>
          </a:prstGeom>
          <a:solidFill>
            <a:srgbClr val="99999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26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WILSON SILVA</a:t>
            </a:r>
            <a:endParaRPr b="1" sz="24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SUPERVISOR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DE AD.OPS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EQUIPE E CLIENTES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2151225" y="3891538"/>
            <a:ext cx="4833900" cy="1260000"/>
          </a:xfrm>
          <a:prstGeom prst="roundRect">
            <a:avLst>
              <a:gd fmla="val 50000" name="adj"/>
            </a:avLst>
          </a:prstGeom>
          <a:solidFill>
            <a:srgbClr val="99999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26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PÁRIS PIEDADE</a:t>
            </a:r>
            <a:endParaRPr b="1" sz="24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VP DE PERFORMANCE 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E DADOS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182" name="Google Shape;1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1225" y="3891538"/>
            <a:ext cx="1260000" cy="1260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83" name="Google Shape;183;p21"/>
          <p:cNvSpPr/>
          <p:nvPr/>
        </p:nvSpPr>
        <p:spPr>
          <a:xfrm>
            <a:off x="7234825" y="3891538"/>
            <a:ext cx="4833900" cy="1260000"/>
          </a:xfrm>
          <a:prstGeom prst="roundRect">
            <a:avLst>
              <a:gd fmla="val 50000" name="adj"/>
            </a:avLst>
          </a:prstGeom>
          <a:solidFill>
            <a:srgbClr val="99999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26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SIMONE HENRIQUE</a:t>
            </a:r>
            <a:endParaRPr b="1" sz="24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GERENTE DE OPERAÇÕES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FFFFF"/>
                </a:solidFill>
                <a:latin typeface="Varela Round"/>
                <a:ea typeface="Varela Round"/>
                <a:cs typeface="Varela Round"/>
                <a:sym typeface="Varela Round"/>
              </a:rPr>
              <a:t>DE MÍDIA</a:t>
            </a:r>
            <a:endParaRPr>
              <a:solidFill>
                <a:srgbClr val="FFFFFF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184" name="Google Shape;184;p21"/>
          <p:cNvPicPr preferRelativeResize="0"/>
          <p:nvPr/>
        </p:nvPicPr>
        <p:blipFill rotWithShape="1">
          <a:blip r:embed="rId4">
            <a:alphaModFix/>
          </a:blip>
          <a:srcRect b="26694" l="10115" r="47683" t="16929"/>
          <a:stretch/>
        </p:blipFill>
        <p:spPr>
          <a:xfrm>
            <a:off x="7234838" y="3891538"/>
            <a:ext cx="1260000" cy="1260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34863" y="3891538"/>
            <a:ext cx="1260000" cy="1260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86" name="Google Shape;186;p21"/>
          <p:cNvPicPr preferRelativeResize="0"/>
          <p:nvPr/>
        </p:nvPicPr>
        <p:blipFill rotWithShape="1">
          <a:blip r:embed="rId6">
            <a:alphaModFix/>
          </a:blip>
          <a:srcRect b="39165" l="19582" r="19582" t="0"/>
          <a:stretch/>
        </p:blipFill>
        <p:spPr>
          <a:xfrm>
            <a:off x="17402038" y="3891538"/>
            <a:ext cx="1260000" cy="1260000"/>
          </a:xfrm>
          <a:prstGeom prst="ellipse">
            <a:avLst/>
          </a:prstGeom>
          <a:noFill/>
          <a:ln>
            <a:noFill/>
          </a:ln>
        </p:spPr>
      </p:pic>
      <p:cxnSp>
        <p:nvCxnSpPr>
          <p:cNvPr id="187" name="Google Shape;187;p21"/>
          <p:cNvCxnSpPr>
            <a:stCxn id="181" idx="2"/>
            <a:endCxn id="183" idx="2"/>
          </p:cNvCxnSpPr>
          <p:nvPr/>
        </p:nvCxnSpPr>
        <p:spPr>
          <a:xfrm flipH="1" rot="-5400000">
            <a:off x="7109625" y="2610088"/>
            <a:ext cx="600" cy="5083500"/>
          </a:xfrm>
          <a:prstGeom prst="bentConnector3">
            <a:avLst>
              <a:gd fmla="val 39687500" name="adj1"/>
            </a:avLst>
          </a:prstGeom>
          <a:noFill/>
          <a:ln cap="flat" cmpd="sng" w="19050">
            <a:solidFill>
              <a:srgbClr val="DF402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1"/>
          <p:cNvCxnSpPr/>
          <p:nvPr/>
        </p:nvCxnSpPr>
        <p:spPr>
          <a:xfrm flipH="1" rot="-5400000">
            <a:off x="12193275" y="2610088"/>
            <a:ext cx="600" cy="5083500"/>
          </a:xfrm>
          <a:prstGeom prst="bentConnector3">
            <a:avLst>
              <a:gd fmla="val 39687500" name="adj1"/>
            </a:avLst>
          </a:prstGeom>
          <a:noFill/>
          <a:ln cap="flat" cmpd="sng" w="19050">
            <a:solidFill>
              <a:srgbClr val="DF402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1"/>
          <p:cNvCxnSpPr/>
          <p:nvPr/>
        </p:nvCxnSpPr>
        <p:spPr>
          <a:xfrm flipH="1" rot="-5400000">
            <a:off x="17276775" y="2610088"/>
            <a:ext cx="600" cy="5083500"/>
          </a:xfrm>
          <a:prstGeom prst="bentConnector3">
            <a:avLst>
              <a:gd fmla="val 39687500" name="adj1"/>
            </a:avLst>
          </a:prstGeom>
          <a:noFill/>
          <a:ln cap="flat" cmpd="sng" w="19050">
            <a:solidFill>
              <a:srgbClr val="DF402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21"/>
          <p:cNvSpPr/>
          <p:nvPr/>
        </p:nvSpPr>
        <p:spPr>
          <a:xfrm>
            <a:off x="2151238" y="7202988"/>
            <a:ext cx="3517500" cy="3517500"/>
          </a:xfrm>
          <a:prstGeom prst="ellipse">
            <a:avLst/>
          </a:prstGeom>
          <a:solidFill>
            <a:srgbClr val="F3F3F3"/>
          </a:solidFill>
          <a:ln cap="flat" cmpd="sng" w="19050">
            <a:solidFill>
              <a:srgbClr val="DF4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6293038" y="7202988"/>
            <a:ext cx="3517500" cy="3517500"/>
          </a:xfrm>
          <a:prstGeom prst="ellipse">
            <a:avLst/>
          </a:prstGeom>
          <a:solidFill>
            <a:srgbClr val="F3F3F3"/>
          </a:solidFill>
          <a:ln cap="flat" cmpd="sng" w="19050">
            <a:solidFill>
              <a:srgbClr val="DF4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10434838" y="7202988"/>
            <a:ext cx="3517500" cy="3517500"/>
          </a:xfrm>
          <a:prstGeom prst="ellipse">
            <a:avLst/>
          </a:prstGeom>
          <a:solidFill>
            <a:srgbClr val="F3F3F3"/>
          </a:solidFill>
          <a:ln cap="flat" cmpd="sng" w="19050">
            <a:solidFill>
              <a:srgbClr val="DF4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14576638" y="7202988"/>
            <a:ext cx="3517500" cy="3517500"/>
          </a:xfrm>
          <a:prstGeom prst="ellipse">
            <a:avLst/>
          </a:prstGeom>
          <a:solidFill>
            <a:srgbClr val="F3F3F3"/>
          </a:solidFill>
          <a:ln cap="flat" cmpd="sng" w="19050">
            <a:solidFill>
              <a:srgbClr val="DF4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18718438" y="7202988"/>
            <a:ext cx="3517500" cy="3517500"/>
          </a:xfrm>
          <a:prstGeom prst="ellipse">
            <a:avLst/>
          </a:prstGeom>
          <a:solidFill>
            <a:srgbClr val="F3F3F3"/>
          </a:solidFill>
          <a:ln cap="flat" cmpd="sng" w="19050">
            <a:solidFill>
              <a:srgbClr val="DF4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04800" y="8601738"/>
            <a:ext cx="2210400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72950" y="8601738"/>
            <a:ext cx="1757701" cy="7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 rotWithShape="1">
          <a:blip r:embed="rId9">
            <a:alphaModFix/>
          </a:blip>
          <a:srcRect b="27251" l="11324" r="11324" t="0"/>
          <a:stretch/>
        </p:blipFill>
        <p:spPr>
          <a:xfrm>
            <a:off x="11629300" y="8421738"/>
            <a:ext cx="11286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795400" y="8421738"/>
            <a:ext cx="1080000" cy="108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elmas chips" id="199" name="Google Shape;199;p21"/>
          <p:cNvPicPr preferRelativeResize="0"/>
          <p:nvPr/>
        </p:nvPicPr>
        <p:blipFill rotWithShape="1">
          <a:blip r:embed="rId11">
            <a:alphaModFix/>
          </a:blip>
          <a:srcRect b="13372" l="10530" r="11296" t="10216"/>
          <a:stretch/>
        </p:blipFill>
        <p:spPr>
          <a:xfrm>
            <a:off x="19613875" y="8421738"/>
            <a:ext cx="172665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 + ad.ops</a:t>
            </a:r>
            <a:endParaRPr sz="6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cxnSp>
        <p:nvCxnSpPr>
          <p:cNvPr id="201" name="Google Shape;201;p21"/>
          <p:cNvCxnSpPr>
            <a:stCxn id="190" idx="0"/>
          </p:cNvCxnSpPr>
          <p:nvPr/>
        </p:nvCxnSpPr>
        <p:spPr>
          <a:xfrm flipH="1" rot="10800000">
            <a:off x="3909988" y="5396688"/>
            <a:ext cx="8280900" cy="1806300"/>
          </a:xfrm>
          <a:prstGeom prst="straightConnector1">
            <a:avLst/>
          </a:prstGeom>
          <a:noFill/>
          <a:ln cap="flat" cmpd="sng" w="19050">
            <a:solidFill>
              <a:srgbClr val="DF402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21"/>
          <p:cNvCxnSpPr>
            <a:stCxn id="191" idx="0"/>
          </p:cNvCxnSpPr>
          <p:nvPr/>
        </p:nvCxnSpPr>
        <p:spPr>
          <a:xfrm flipH="1" rot="10800000">
            <a:off x="8051788" y="5398488"/>
            <a:ext cx="4138500" cy="1804500"/>
          </a:xfrm>
          <a:prstGeom prst="straightConnector1">
            <a:avLst/>
          </a:prstGeom>
          <a:noFill/>
          <a:ln cap="flat" cmpd="sng" w="19050">
            <a:solidFill>
              <a:srgbClr val="DF402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21"/>
          <p:cNvCxnSpPr>
            <a:stCxn id="192" idx="0"/>
          </p:cNvCxnSpPr>
          <p:nvPr/>
        </p:nvCxnSpPr>
        <p:spPr>
          <a:xfrm rot="10800000">
            <a:off x="12193588" y="5381088"/>
            <a:ext cx="0" cy="1821900"/>
          </a:xfrm>
          <a:prstGeom prst="straightConnector1">
            <a:avLst/>
          </a:prstGeom>
          <a:noFill/>
          <a:ln cap="flat" cmpd="sng" w="19050">
            <a:solidFill>
              <a:srgbClr val="DF402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1"/>
          <p:cNvCxnSpPr>
            <a:stCxn id="193" idx="0"/>
          </p:cNvCxnSpPr>
          <p:nvPr/>
        </p:nvCxnSpPr>
        <p:spPr>
          <a:xfrm rot="10800000">
            <a:off x="12193888" y="5397888"/>
            <a:ext cx="4141500" cy="1805100"/>
          </a:xfrm>
          <a:prstGeom prst="straightConnector1">
            <a:avLst/>
          </a:prstGeom>
          <a:noFill/>
          <a:ln cap="flat" cmpd="sng" w="19050">
            <a:solidFill>
              <a:srgbClr val="DF402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1"/>
          <p:cNvCxnSpPr>
            <a:stCxn id="194" idx="0"/>
          </p:cNvCxnSpPr>
          <p:nvPr/>
        </p:nvCxnSpPr>
        <p:spPr>
          <a:xfrm rot="10800000">
            <a:off x="12194488" y="5397288"/>
            <a:ext cx="8282700" cy="1805700"/>
          </a:xfrm>
          <a:prstGeom prst="straightConnector1">
            <a:avLst/>
          </a:prstGeom>
          <a:noFill/>
          <a:ln cap="flat" cmpd="sng" w="19050">
            <a:solidFill>
              <a:srgbClr val="DF402E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PROCESSOS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 + ad.ops</a:t>
            </a:r>
            <a:endParaRPr sz="6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3061355" y="40786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plano da campanha é aprovado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9182152" y="22870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ad.ops é sinalizada sobre nova campanha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1949312" y="5870216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mídia preenche PC e envia ao ad.ops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1949312" y="76618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mídia monta e envia planilha de produção ao atendimento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9182152" y="11245016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atendimento recebe as peças nomeadas conforme a planilha de produção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3061355" y="94534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atendimento solicita produção de peças para criação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15302948" y="94534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mídia organiza a entrega na rede de acordo com formato/veículo e encaminha para ad.ops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16316971" y="76618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ad.ops checa as peças recebidas e as implementa no ad.sever, gerando as tags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16316971" y="5870216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ad.ops faz os envios de materiais para os portais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15302948" y="4078620"/>
            <a:ext cx="6120900" cy="108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25" lIns="360025" spcFirstLastPara="1" rIns="360025" wrap="square" tIns="3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latin typeface="Varela Round"/>
                <a:ea typeface="Varela Round"/>
                <a:cs typeface="Varela Round"/>
                <a:sym typeface="Varela Round"/>
              </a:rPr>
              <a:t>ad.ops checa a contabilização dos banners e faz o controle da campanha</a:t>
            </a:r>
            <a:endParaRPr b="1" sz="19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222" name="Google Shape;22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4542" y="3738159"/>
            <a:ext cx="7035100" cy="703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6789957">
            <a:off x="7329342" y="3070695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5635906">
            <a:off x="5727929" y="5220671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4009553">
            <a:off x="5072589" y="7020151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936168">
            <a:off x="5659662" y="8902100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297896">
            <a:off x="7285188" y="10982704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8668174">
            <a:off x="18093318" y="5220669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7416583">
            <a:off x="18817134" y="7020151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6307478">
            <a:off x="18084617" y="8902097"/>
            <a:ext cx="672180" cy="59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-3957572">
            <a:off x="16527752" y="10982703"/>
            <a:ext cx="672180" cy="592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/>
          <p:nvPr/>
        </p:nvSpPr>
        <p:spPr>
          <a:xfrm>
            <a:off x="1033588" y="12584249"/>
            <a:ext cx="2232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BENEFÍCIOS ALMAP BBDO E OBSERVAÇÕES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2960050" y="5588050"/>
            <a:ext cx="4110900" cy="1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Dados de mídia em tempo real unificados por campanha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10138150" y="5658100"/>
            <a:ext cx="4110900" cy="1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Cruzamentos com dados de conversão e entre veículos (sobreposição)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17391800" y="5658100"/>
            <a:ext cx="4110900" cy="1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Imediatismo. Menor tempo de resposta em ajustes da campanha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2922263" y="10539425"/>
            <a:ext cx="4110900" cy="1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Melhor qualidade de dados para tomada de decisão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10100363" y="10609475"/>
            <a:ext cx="4110900" cy="1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Visão integrada entre mídia, ad.ops e BI para melhores análises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17354013" y="10609475"/>
            <a:ext cx="4110900" cy="1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SLA reduzido. 48hs após o recebimento do material dentro do padrão</a:t>
            </a:r>
            <a:endParaRPr sz="24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3755500" y="2678500"/>
            <a:ext cx="2520000" cy="25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/>
          <p:cNvPicPr preferRelativeResize="0"/>
          <p:nvPr/>
        </p:nvPicPr>
        <p:blipFill>
          <a:blip r:embed="rId4">
            <a:alphaModFix amt="42000"/>
          </a:blip>
          <a:stretch>
            <a:fillRect/>
          </a:stretch>
        </p:blipFill>
        <p:spPr>
          <a:xfrm>
            <a:off x="10815050" y="2678500"/>
            <a:ext cx="2520000" cy="25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3"/>
          <p:cNvPicPr preferRelativeResize="0"/>
          <p:nvPr/>
        </p:nvPicPr>
        <p:blipFill>
          <a:blip r:embed="rId5">
            <a:alphaModFix amt="42000"/>
          </a:blip>
          <a:stretch>
            <a:fillRect/>
          </a:stretch>
        </p:blipFill>
        <p:spPr>
          <a:xfrm>
            <a:off x="18203575" y="2858500"/>
            <a:ext cx="2160000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/>
          <p:cNvPicPr preferRelativeResize="0"/>
          <p:nvPr/>
        </p:nvPicPr>
        <p:blipFill>
          <a:blip r:embed="rId6">
            <a:alphaModFix amt="42000"/>
          </a:blip>
          <a:stretch>
            <a:fillRect/>
          </a:stretch>
        </p:blipFill>
        <p:spPr>
          <a:xfrm>
            <a:off x="3755500" y="7558675"/>
            <a:ext cx="2520000" cy="25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/>
          <p:cNvPicPr preferRelativeResize="0"/>
          <p:nvPr/>
        </p:nvPicPr>
        <p:blipFill>
          <a:blip r:embed="rId7">
            <a:alphaModFix amt="42000"/>
          </a:blip>
          <a:stretch>
            <a:fillRect/>
          </a:stretch>
        </p:blipFill>
        <p:spPr>
          <a:xfrm>
            <a:off x="10933600" y="7558675"/>
            <a:ext cx="2520000" cy="25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3"/>
          <p:cNvPicPr preferRelativeResize="0"/>
          <p:nvPr/>
        </p:nvPicPr>
        <p:blipFill>
          <a:blip r:embed="rId8">
            <a:alphaModFix amt="42000"/>
          </a:blip>
          <a:stretch>
            <a:fillRect/>
          </a:stretch>
        </p:blipFill>
        <p:spPr>
          <a:xfrm>
            <a:off x="18023575" y="7558675"/>
            <a:ext cx="2520000" cy="25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 + ad.ops</a:t>
            </a:r>
            <a:endParaRPr sz="6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"/>
          <p:cNvSpPr txBox="1"/>
          <p:nvPr/>
        </p:nvSpPr>
        <p:spPr>
          <a:xfrm>
            <a:off x="1033590" y="12584250"/>
            <a:ext cx="362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2400">
                <a:solidFill>
                  <a:schemeClr val="lt1"/>
                </a:solidFill>
                <a:latin typeface="Varela Round"/>
                <a:ea typeface="Varela Round"/>
                <a:cs typeface="Varela Round"/>
                <a:sym typeface="Varela Round"/>
              </a:rPr>
              <a:t>NOSSOS CUSTOS</a:t>
            </a:r>
            <a:endParaRPr b="1" i="0" sz="2400" u="none" cap="none" strike="noStrike">
              <a:solidFill>
                <a:schemeClr val="lt1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1033588" y="865875"/>
            <a:ext cx="223200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 + ad.ops</a:t>
            </a:r>
            <a:endParaRPr sz="6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256" name="Google Shape;25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2525" y="4534388"/>
            <a:ext cx="1806073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78863" y="4544213"/>
            <a:ext cx="20955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27163" y="4667038"/>
            <a:ext cx="1241008" cy="44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82088" y="4742000"/>
            <a:ext cx="2468001" cy="29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434113" y="4667048"/>
            <a:ext cx="1806050" cy="4401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" name="Google Shape;261;p24"/>
          <p:cNvCxnSpPr/>
          <p:nvPr/>
        </p:nvCxnSpPr>
        <p:spPr>
          <a:xfrm>
            <a:off x="1515225" y="5749125"/>
            <a:ext cx="213567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24"/>
          <p:cNvCxnSpPr/>
          <p:nvPr/>
        </p:nvCxnSpPr>
        <p:spPr>
          <a:xfrm>
            <a:off x="1515225" y="7093219"/>
            <a:ext cx="213567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4"/>
          <p:cNvCxnSpPr/>
          <p:nvPr/>
        </p:nvCxnSpPr>
        <p:spPr>
          <a:xfrm>
            <a:off x="1515225" y="8437313"/>
            <a:ext cx="213567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4"/>
          <p:cNvCxnSpPr/>
          <p:nvPr/>
        </p:nvCxnSpPr>
        <p:spPr>
          <a:xfrm>
            <a:off x="1515225" y="9781406"/>
            <a:ext cx="213567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1515225" y="11125500"/>
            <a:ext cx="21356700" cy="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Google Shape;266;p24"/>
          <p:cNvSpPr/>
          <p:nvPr/>
        </p:nvSpPr>
        <p:spPr>
          <a:xfrm>
            <a:off x="1757388" y="604591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CPM	</a:t>
            </a:r>
            <a:endParaRPr sz="30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CPV</a:t>
            </a:r>
            <a:endParaRPr sz="30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RICH MEDIA</a:t>
            </a:r>
            <a:endParaRPr sz="30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666666"/>
                </a:solidFill>
                <a:latin typeface="Varela Round"/>
                <a:ea typeface="Varela Round"/>
                <a:cs typeface="Varela Round"/>
                <a:sym typeface="Varela Round"/>
              </a:rPr>
              <a:t>CPC</a:t>
            </a:r>
            <a:endParaRPr sz="3000">
              <a:solidFill>
                <a:srgbClr val="666666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4823463" y="604591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BF9000"/>
                </a:solidFill>
                <a:latin typeface="Varela Round"/>
                <a:ea typeface="Varela Round"/>
                <a:cs typeface="Varela Round"/>
                <a:sym typeface="Varela Round"/>
              </a:rPr>
              <a:t>R$ 0,04</a:t>
            </a:r>
            <a:endParaRPr sz="3000">
              <a:solidFill>
                <a:srgbClr val="BF9000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BF9000"/>
                </a:solidFill>
                <a:latin typeface="Varela Round"/>
                <a:ea typeface="Varela Round"/>
                <a:cs typeface="Varela Round"/>
                <a:sym typeface="Varela Round"/>
              </a:rPr>
              <a:t>R$ 0,60</a:t>
            </a:r>
            <a:endParaRPr sz="3000">
              <a:solidFill>
                <a:srgbClr val="BF9000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BF9000"/>
                </a:solidFill>
                <a:latin typeface="Varela Round"/>
                <a:ea typeface="Varela Round"/>
                <a:cs typeface="Varela Round"/>
                <a:sym typeface="Varela Round"/>
              </a:rPr>
              <a:t>R$ 0,91</a:t>
            </a:r>
            <a:endParaRPr sz="3000">
              <a:solidFill>
                <a:srgbClr val="BF9000"/>
              </a:solidFill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BF9000"/>
                </a:solidFill>
                <a:latin typeface="Varela Round"/>
                <a:ea typeface="Varela Round"/>
                <a:cs typeface="Varela Round"/>
                <a:sym typeface="Varela Round"/>
              </a:rPr>
              <a:t>R$ 0,0035</a:t>
            </a:r>
            <a:endParaRPr sz="3000">
              <a:solidFill>
                <a:srgbClr val="BF9000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8433988" y="604591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R$ 0,09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R$ 0,70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R$ 0,35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R$ 0,02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12044513" y="604591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R$ 0,10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R$ 0,90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R$ 0,40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R$ 0,02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15655038" y="604591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R$ 0,16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R$ 0,95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R$ 0,68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R$ 0,05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19265563" y="6045913"/>
            <a:ext cx="33642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R$ 0,15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R$ 1,50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R$ 0,80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  <a:p>
            <a:pPr indent="0" lvl="0" marL="0" marR="0" rt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latin typeface="Varela Round"/>
                <a:ea typeface="Varela Round"/>
                <a:cs typeface="Varela Round"/>
                <a:sym typeface="Varela Round"/>
              </a:rPr>
              <a:t>R$ 0,05</a:t>
            </a:r>
            <a:endParaRPr sz="3000"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8528788" y="4352863"/>
            <a:ext cx="3174600" cy="7125000"/>
          </a:xfrm>
          <a:prstGeom prst="rect">
            <a:avLst/>
          </a:prstGeom>
          <a:solidFill>
            <a:srgbClr val="38761D">
              <a:alpha val="96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4"/>
          <p:cNvSpPr/>
          <p:nvPr/>
        </p:nvSpPr>
        <p:spPr>
          <a:xfrm>
            <a:off x="5457813" y="3134163"/>
            <a:ext cx="209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ad.server</a:t>
            </a:r>
            <a:endParaRPr i="1" sz="2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74" name="Google Shape;274;p24"/>
          <p:cNvSpPr/>
          <p:nvPr/>
        </p:nvSpPr>
        <p:spPr>
          <a:xfrm rot="5400000">
            <a:off x="6350763" y="2667588"/>
            <a:ext cx="270300" cy="2056200"/>
          </a:xfrm>
          <a:prstGeom prst="rightBrace">
            <a:avLst>
              <a:gd fmla="val 47387" name="adj1"/>
              <a:gd fmla="val 50000" name="adj2"/>
            </a:avLst>
          </a:prstGeom>
          <a:noFill/>
          <a:ln cap="flat" cmpd="sng" w="19050">
            <a:solidFill>
              <a:srgbClr val="DF4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8369588" y="3134163"/>
            <a:ext cx="1374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75" spcFirstLastPara="1" rIns="182875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rgbClr val="DF402E"/>
                </a:solidFill>
                <a:latin typeface="Varela Round"/>
                <a:ea typeface="Varela Round"/>
                <a:cs typeface="Varela Round"/>
                <a:sym typeface="Varela Round"/>
              </a:rPr>
              <a:t>ad.ops</a:t>
            </a:r>
            <a:endParaRPr i="1" sz="2000">
              <a:solidFill>
                <a:srgbClr val="DF402E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76" name="Google Shape;276;p24"/>
          <p:cNvSpPr/>
          <p:nvPr/>
        </p:nvSpPr>
        <p:spPr>
          <a:xfrm rot="5400000">
            <a:off x="15106838" y="-3176712"/>
            <a:ext cx="270300" cy="13744800"/>
          </a:xfrm>
          <a:prstGeom prst="rightBrace">
            <a:avLst>
              <a:gd fmla="val 47387" name="adj1"/>
              <a:gd fmla="val 50000" name="adj2"/>
            </a:avLst>
          </a:prstGeom>
          <a:noFill/>
          <a:ln cap="flat" cmpd="sng" w="19050">
            <a:solidFill>
              <a:srgbClr val="DF4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6186972" y="12584250"/>
            <a:ext cx="171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pt-BR" sz="1500">
                <a:latin typeface="Varela Round"/>
                <a:ea typeface="Varela Round"/>
                <a:cs typeface="Varela Round"/>
                <a:sym typeface="Varela Round"/>
              </a:rPr>
              <a:t>Custo total com Almap BBDO (ad.server + ad.ops) = </a:t>
            </a:r>
            <a:r>
              <a:rPr b="1" lang="pt-BR" sz="1500">
                <a:solidFill>
                  <a:srgbClr val="999999"/>
                </a:solidFill>
                <a:latin typeface="Varela Round"/>
                <a:ea typeface="Varela Round"/>
                <a:cs typeface="Varela Round"/>
                <a:sym typeface="Varela Round"/>
              </a:rPr>
              <a:t>CPM R$ 0,13 / CPV R$ 1,30 / RICH MEDIA R$ 1,26 / CPC R$ 0,0235</a:t>
            </a:r>
            <a:endParaRPr b="1" i="0" sz="1500" u="none" cap="none" strike="noStrike">
              <a:solidFill>
                <a:srgbClr val="999999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9125" y="6542350"/>
            <a:ext cx="5368924" cy="63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10328252" y="7264575"/>
            <a:ext cx="3730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04B4B"/>
              </a:buClr>
              <a:buSzPts val="6000"/>
              <a:buFont typeface="Arial"/>
              <a:buNone/>
            </a:pPr>
            <a:r>
              <a:rPr b="1" lang="pt-BR" sz="4000">
                <a:solidFill>
                  <a:srgbClr val="504B4B"/>
                </a:solidFill>
                <a:latin typeface="Varela Round"/>
                <a:ea typeface="Varela Round"/>
                <a:cs typeface="Varela Round"/>
                <a:sym typeface="Varela Round"/>
              </a:rPr>
              <a:t>Obrigado.</a:t>
            </a:r>
            <a:endParaRPr b="1" sz="4000">
              <a:solidFill>
                <a:srgbClr val="C3C3C3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13716000" y="4645450"/>
            <a:ext cx="2666100" cy="1204500"/>
          </a:xfrm>
          <a:prstGeom prst="wedgeRoundRectCallout">
            <a:avLst>
              <a:gd fmla="val -36747" name="adj1"/>
              <a:gd fmla="val 79020" name="adj2"/>
              <a:gd fmla="val 0" name="adj3"/>
            </a:avLst>
          </a:prstGeom>
          <a:solidFill>
            <a:srgbClr val="F3F3F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800">
                <a:solidFill>
                  <a:srgbClr val="434343"/>
                </a:solidFill>
                <a:latin typeface="Lobster"/>
                <a:ea typeface="Lobster"/>
                <a:cs typeface="Lobster"/>
                <a:sym typeface="Lobster"/>
              </a:rPr>
              <a:t>ad.ops</a:t>
            </a:r>
            <a:endParaRPr b="1" sz="4800">
              <a:solidFill>
                <a:srgbClr val="434343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LMAP">
  <a:themeElements>
    <a:clrScheme name="ALMAP">
      <a:dk1>
        <a:srgbClr val="FFFFFE"/>
      </a:dk1>
      <a:lt1>
        <a:srgbClr val="141313"/>
      </a:lt1>
      <a:dk2>
        <a:srgbClr val="D01E20"/>
      </a:dk2>
      <a:lt2>
        <a:srgbClr val="141313"/>
      </a:lt2>
      <a:accent1>
        <a:srgbClr val="E8E0C8"/>
      </a:accent1>
      <a:accent2>
        <a:srgbClr val="E47B60"/>
      </a:accent2>
      <a:accent3>
        <a:srgbClr val="777877"/>
      </a:accent3>
      <a:accent4>
        <a:srgbClr val="D01E20"/>
      </a:accent4>
      <a:accent5>
        <a:srgbClr val="4BACC6"/>
      </a:accent5>
      <a:accent6>
        <a:srgbClr val="141313"/>
      </a:accent6>
      <a:hlink>
        <a:srgbClr val="FFFFFE"/>
      </a:hlink>
      <a:folHlink>
        <a:srgbClr val="E8E0C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Override1.xml><?xml version="1.0" encoding="utf-8"?>
<a:themeOverride xmlns:a="http://schemas.openxmlformats.org/drawingml/2006/main" xmlns:r="http://schemas.openxmlformats.org/officeDocument/2006/relationships">
  <a:clrScheme name="ALMAP">
    <a:dk1>
      <a:srgbClr val="FFFFFE"/>
    </a:dk1>
    <a:lt1>
      <a:srgbClr val="141313"/>
    </a:lt1>
    <a:dk2>
      <a:srgbClr val="D01E20"/>
    </a:dk2>
    <a:lt2>
      <a:srgbClr val="141313"/>
    </a:lt2>
    <a:accent1>
      <a:srgbClr val="E8E0C8"/>
    </a:accent1>
    <a:accent2>
      <a:srgbClr val="E47B60"/>
    </a:accent2>
    <a:accent3>
      <a:srgbClr val="777877"/>
    </a:accent3>
    <a:accent4>
      <a:srgbClr val="D01E20"/>
    </a:accent4>
    <a:accent5>
      <a:srgbClr val="4BACC6"/>
    </a:accent5>
    <a:accent6>
      <a:srgbClr val="141313"/>
    </a:accent6>
    <a:hlink>
      <a:srgbClr val="FFFFFE"/>
    </a:hlink>
    <a:folHlink>
      <a:srgbClr val="E8E0C8"/>
    </a:folHlink>
  </a:clrScheme>
</a:themeOverride>
</file>

<file path=ppt/theme/themeOverride2.xml><?xml version="1.0" encoding="utf-8"?>
<a:themeOverride xmlns:a="http://schemas.openxmlformats.org/drawingml/2006/main" xmlns:r="http://schemas.openxmlformats.org/officeDocument/2006/relationships">
  <a:clrScheme name="ALMAP">
    <a:dk1>
      <a:srgbClr val="FFFFFE"/>
    </a:dk1>
    <a:lt1>
      <a:srgbClr val="141313"/>
    </a:lt1>
    <a:dk2>
      <a:srgbClr val="D01E20"/>
    </a:dk2>
    <a:lt2>
      <a:srgbClr val="141313"/>
    </a:lt2>
    <a:accent1>
      <a:srgbClr val="E8E0C8"/>
    </a:accent1>
    <a:accent2>
      <a:srgbClr val="E47B60"/>
    </a:accent2>
    <a:accent3>
      <a:srgbClr val="777877"/>
    </a:accent3>
    <a:accent4>
      <a:srgbClr val="D01E20"/>
    </a:accent4>
    <a:accent5>
      <a:srgbClr val="4BACC6"/>
    </a:accent5>
    <a:accent6>
      <a:srgbClr val="141313"/>
    </a:accent6>
    <a:hlink>
      <a:srgbClr val="FFFFFE"/>
    </a:hlink>
    <a:folHlink>
      <a:srgbClr val="E8E0C8"/>
    </a:folHlink>
  </a:clrScheme>
</a:themeOverride>
</file>