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24387175" cy="13716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Lobster" panose="020B0604020202020204" charset="0"/>
      <p:regular r:id="rId23"/>
    </p:embeddedFont>
    <p:embeddedFont>
      <p:font typeface="Montserrat" panose="020B0604020202020204" charset="0"/>
      <p:bold r:id="rId24"/>
      <p:boldItalic r:id="rId25"/>
    </p:embeddedFont>
    <p:embeddedFont>
      <p:font typeface="Montserrat Medium" panose="020B0604020202020204" charset="0"/>
      <p:regular r:id="rId26"/>
      <p:bold r:id="rId27"/>
      <p:italic r:id="rId28"/>
      <p:boldItalic r:id="rId29"/>
    </p:embeddedFont>
    <p:embeddedFont>
      <p:font typeface="Varela Round" panose="020B0604020202020204" charset="-79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685">
          <p15:clr>
            <a:srgbClr val="A4A3A4"/>
          </p15:clr>
        </p15:guide>
        <p15:guide id="2" orient="horz" pos="6543">
          <p15:clr>
            <a:srgbClr val="A4A3A4"/>
          </p15:clr>
        </p15:guide>
        <p15:guide id="3" orient="horz" pos="468">
          <p15:clr>
            <a:srgbClr val="A4A3A4"/>
          </p15:clr>
        </p15:guide>
        <p15:guide id="4" orient="horz" pos="8203">
          <p15:clr>
            <a:srgbClr val="A4A3A4"/>
          </p15:clr>
        </p15:guide>
        <p15:guide id="5" pos="4755">
          <p15:clr>
            <a:srgbClr val="A4A3A4"/>
          </p15:clr>
        </p15:guide>
        <p15:guide id="6" pos="7770">
          <p15:clr>
            <a:srgbClr val="A4A3A4"/>
          </p15:clr>
        </p15:guide>
        <p15:guide id="7" pos="13545">
          <p15:clr>
            <a:srgbClr val="A4A3A4"/>
          </p15:clr>
        </p15:guide>
        <p15:guide id="8" pos="2102">
          <p15:clr>
            <a:srgbClr val="A4A3A4"/>
          </p15:clr>
        </p15:guide>
        <p15:guide id="9" pos="148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350454-C0D2-4978-9FC4-055444859B62}">
  <a:tblStyle styleId="{37350454-C0D2-4978-9FC4-055444859B6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114" y="84"/>
      </p:cViewPr>
      <p:guideLst>
        <p:guide orient="horz" pos="3685"/>
        <p:guide orient="horz" pos="6543"/>
        <p:guide orient="horz" pos="468"/>
        <p:guide orient="horz" pos="8203"/>
        <p:guide pos="4755"/>
        <p:guide pos="7770"/>
        <p:guide pos="13545"/>
        <p:guide pos="2102"/>
        <p:guide pos="148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96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96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96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96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96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78821127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7" name="Google Shape;67;g578821127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5788211277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4c840a1f7f_0_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4c840a1f7f_0_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5788211277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5788211277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788211277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578821127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788211277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3" name="Google Shape;123;g5788211277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5788211277_0_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5788211277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5788211277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5788211277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5788211277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5788211277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0" name="Google Shape;170;g5788211277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5788211277_0_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5788211277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5788211277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5788211277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5788211277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5788211277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5788211277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5788211277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5788211277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59424cb1f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59424cb1f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499f17820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2" name="Google Shape;312;g499f17820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499f178202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29038" y="4260855"/>
            <a:ext cx="20729098" cy="294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3658076" y="7772400"/>
            <a:ext cx="17071023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t" anchorCtr="0">
            <a:noAutofit/>
          </a:bodyPr>
          <a:lstStyle>
            <a:lvl1pPr marR="0" lvl="0" algn="ctr" rtl="0"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6000"/>
              <a:buFont typeface="Arial"/>
              <a:buNone/>
              <a:defRPr sz="6000" b="1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Font typeface="Arial"/>
              <a:buNone/>
              <a:defRPr sz="3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Font typeface="Arial"/>
              <a:buNone/>
              <a:defRPr sz="3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Font typeface="Arial"/>
              <a:buNone/>
              <a:defRPr sz="3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Font typeface="Arial"/>
              <a:buNone/>
              <a:defRPr sz="3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1060"/>
              </a:spcBef>
              <a:spcAft>
                <a:spcPts val="0"/>
              </a:spcAft>
              <a:buClr>
                <a:srgbClr val="888888"/>
              </a:buClr>
              <a:buSzPts val="5300"/>
              <a:buFont typeface="Arial"/>
              <a:buNone/>
              <a:defRPr sz="53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1060"/>
              </a:spcBef>
              <a:spcAft>
                <a:spcPts val="0"/>
              </a:spcAft>
              <a:buClr>
                <a:srgbClr val="888888"/>
              </a:buClr>
              <a:buSzPts val="5300"/>
              <a:buFont typeface="Arial"/>
              <a:buNone/>
              <a:defRPr sz="53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1060"/>
              </a:spcBef>
              <a:spcAft>
                <a:spcPts val="0"/>
              </a:spcAft>
              <a:buClr>
                <a:srgbClr val="888888"/>
              </a:buClr>
              <a:buSzPts val="5300"/>
              <a:buFont typeface="Arial"/>
              <a:buNone/>
              <a:defRPr sz="53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1060"/>
              </a:spcBef>
              <a:spcAft>
                <a:spcPts val="0"/>
              </a:spcAft>
              <a:buClr>
                <a:srgbClr val="888888"/>
              </a:buClr>
              <a:buSzPts val="5300"/>
              <a:buFont typeface="Arial"/>
              <a:buNone/>
              <a:defRPr sz="53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1219200" y="12712700"/>
            <a:ext cx="569118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8332788" y="12712700"/>
            <a:ext cx="7721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7476788" y="12712700"/>
            <a:ext cx="569118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219200" y="549275"/>
            <a:ext cx="2194877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12193588" y="5954713"/>
            <a:ext cx="10974387" cy="629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t" anchorCtr="0">
            <a:noAutofit/>
          </a:bodyPr>
          <a:lstStyle>
            <a:lvl1pPr marL="457200" marR="0" lvl="0" indent="-228600" algn="l" rtl="0">
              <a:spcBef>
                <a:spcPts val="120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1219200" y="12712700"/>
            <a:ext cx="569118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8332788" y="12712700"/>
            <a:ext cx="7721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17476788" y="12712700"/>
            <a:ext cx="569118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1219200" y="12712700"/>
            <a:ext cx="569118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8332788" y="12712700"/>
            <a:ext cx="7721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7476788" y="12712700"/>
            <a:ext cx="569118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96995" y="13071176"/>
            <a:ext cx="23426808" cy="64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t" anchorCtr="0">
            <a:noAutofit/>
          </a:bodyPr>
          <a:lstStyle>
            <a:lvl1pPr marL="457200" marR="0" lvl="0" indent="-228600" algn="l" rtl="0">
              <a:spcBef>
                <a:spcPts val="42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65150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65150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65150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65150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>
            <a:spLocks noGrp="1"/>
          </p:cNvSpPr>
          <p:nvPr>
            <p:ph type="media" idx="2"/>
          </p:nvPr>
        </p:nvSpPr>
        <p:spPr>
          <a:xfrm>
            <a:off x="720725" y="719139"/>
            <a:ext cx="22940964" cy="1225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t" anchorCtr="0">
            <a:noAutofit/>
          </a:bodyPr>
          <a:lstStyle>
            <a:lvl1pPr marR="0" lvl="0" algn="l" rtl="0">
              <a:spcBef>
                <a:spcPts val="120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2193588" y="5954889"/>
            <a:ext cx="11468101" cy="704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t" anchorCtr="0">
            <a:noAutofit/>
          </a:bodyPr>
          <a:lstStyle>
            <a:lvl1pPr marL="457200" marR="0" lvl="0" indent="-228600" algn="l" rtl="0">
              <a:spcBef>
                <a:spcPts val="120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720725" cy="13716000"/>
          </a:xfrm>
          <a:prstGeom prst="rect">
            <a:avLst/>
          </a:prstGeom>
          <a:solidFill>
            <a:srgbClr val="C0C1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7"/>
          <p:cNvSpPr/>
          <p:nvPr/>
        </p:nvSpPr>
        <p:spPr>
          <a:xfrm>
            <a:off x="23661688" y="0"/>
            <a:ext cx="720725" cy="13716000"/>
          </a:xfrm>
          <a:prstGeom prst="rect">
            <a:avLst/>
          </a:prstGeom>
          <a:solidFill>
            <a:srgbClr val="C0C1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7"/>
          <p:cNvSpPr/>
          <p:nvPr/>
        </p:nvSpPr>
        <p:spPr>
          <a:xfrm rot="-5400000">
            <a:off x="11474450" y="1528762"/>
            <a:ext cx="712787" cy="23661688"/>
          </a:xfrm>
          <a:prstGeom prst="rect">
            <a:avLst/>
          </a:prstGeom>
          <a:solidFill>
            <a:srgbClr val="C0C1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7"/>
          <p:cNvSpPr/>
          <p:nvPr/>
        </p:nvSpPr>
        <p:spPr>
          <a:xfrm rot="-5400000">
            <a:off x="11839575" y="-11834812"/>
            <a:ext cx="712788" cy="24382413"/>
          </a:xfrm>
          <a:prstGeom prst="rect">
            <a:avLst/>
          </a:prstGeom>
          <a:solidFill>
            <a:srgbClr val="C0C1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>
            <a:spLocks noGrp="1"/>
          </p:cNvSpPr>
          <p:nvPr>
            <p:ph type="media" idx="2"/>
          </p:nvPr>
        </p:nvSpPr>
        <p:spPr>
          <a:xfrm>
            <a:off x="720725" y="719139"/>
            <a:ext cx="22940964" cy="1225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t" anchorCtr="0">
            <a:noAutofit/>
          </a:bodyPr>
          <a:lstStyle>
            <a:lvl1pPr marR="0" lvl="0" algn="l" rtl="0">
              <a:spcBef>
                <a:spcPts val="120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46133" y="5406102"/>
            <a:ext cx="23215556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722313" y="719138"/>
            <a:ext cx="22942550" cy="122507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11987644" y="5972376"/>
            <a:ext cx="11470482" cy="1097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t" anchorCtr="0">
            <a:noAutofit/>
          </a:bodyPr>
          <a:lstStyle>
            <a:lvl1pPr marL="457200" marR="0" lvl="0" indent="-228600" algn="l" rtl="0">
              <a:spcBef>
                <a:spcPts val="120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rgbClr val="FFFFF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11987644" y="7070689"/>
            <a:ext cx="11470482" cy="754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t" anchorCtr="0">
            <a:noAutofit/>
          </a:bodyPr>
          <a:lstStyle>
            <a:lvl1pPr marL="457200" marR="0" lvl="0" indent="-228600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193588" y="12201525"/>
            <a:ext cx="685800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11933802" y="6575871"/>
            <a:ext cx="11168064" cy="907821"/>
          </a:xfrm>
          <a:prstGeom prst="rect">
            <a:avLst/>
          </a:prstGeom>
          <a:solidFill>
            <a:srgbClr val="D01E20"/>
          </a:solidFill>
          <a:ln>
            <a:noFill/>
          </a:ln>
        </p:spPr>
        <p:txBody>
          <a:bodyPr spcFirstLastPara="1" wrap="square" lIns="243850" tIns="121925" rIns="243850" bIns="121925" anchor="t" anchorCtr="0">
            <a:noAutofit/>
          </a:bodyPr>
          <a:lstStyle>
            <a:lvl1pPr marL="457200" marR="0" lvl="0" indent="-228600" algn="l" rtl="0">
              <a:spcBef>
                <a:spcPts val="84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FFFFFE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65150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65150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65150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65150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body" idx="2"/>
          </p:nvPr>
        </p:nvSpPr>
        <p:spPr>
          <a:xfrm>
            <a:off x="11920281" y="7562138"/>
            <a:ext cx="11181586" cy="809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t" anchorCtr="0">
            <a:noAutofit/>
          </a:bodyPr>
          <a:lstStyle>
            <a:lvl1pPr marL="457200" marR="0" lvl="0" indent="-228600" algn="l" rtl="0">
              <a:spcBef>
                <a:spcPts val="84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65150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65150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65150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65150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219200" y="549275"/>
            <a:ext cx="2194877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2193588" y="5954713"/>
            <a:ext cx="10974387" cy="629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t" anchorCtr="0">
            <a:noAutofit/>
          </a:bodyPr>
          <a:lstStyle>
            <a:lvl1pPr marL="457200" marR="0" lvl="0" indent="-228600" algn="l" rtl="0">
              <a:spcBef>
                <a:spcPts val="120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76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65150" algn="l" rtl="0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1219200" y="12712700"/>
            <a:ext cx="569118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8332788" y="12712700"/>
            <a:ext cx="7721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7476788" y="12712700"/>
            <a:ext cx="569118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50" tIns="121925" rIns="243850" bIns="1219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jp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116667AE-C41D-40BC-9A07-8498BDB5B811}"/>
              </a:ext>
            </a:extLst>
          </p:cNvPr>
          <p:cNvGrpSpPr/>
          <p:nvPr/>
        </p:nvGrpSpPr>
        <p:grpSpPr>
          <a:xfrm>
            <a:off x="9509125" y="4645450"/>
            <a:ext cx="6872975" cy="2528200"/>
            <a:chOff x="9509125" y="4645450"/>
            <a:chExt cx="6872975" cy="2528200"/>
          </a:xfrm>
        </p:grpSpPr>
        <p:pic>
          <p:nvPicPr>
            <p:cNvPr id="57" name="Google Shape;57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509125" y="6542350"/>
              <a:ext cx="5368924" cy="631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1"/>
            <p:cNvSpPr/>
            <p:nvPr/>
          </p:nvSpPr>
          <p:spPr>
            <a:xfrm>
              <a:off x="13716000" y="4645450"/>
              <a:ext cx="2666100" cy="1204500"/>
            </a:xfrm>
            <a:prstGeom prst="wedgeRoundRectCallout">
              <a:avLst>
                <a:gd name="adj1" fmla="val -36747"/>
                <a:gd name="adj2" fmla="val 79020"/>
                <a:gd name="adj3" fmla="val 0"/>
              </a:avLst>
            </a:prstGeom>
            <a:solidFill>
              <a:srgbClr val="F3F3F3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800" b="1" dirty="0" err="1">
                  <a:solidFill>
                    <a:srgbClr val="434343"/>
                  </a:solidFill>
                  <a:latin typeface="Lobster"/>
                  <a:ea typeface="Lobster"/>
                  <a:cs typeface="Lobster"/>
                  <a:sym typeface="Lobster"/>
                </a:rPr>
                <a:t>ad.ops</a:t>
              </a:r>
              <a:endParaRPr sz="4800" b="1" dirty="0">
                <a:solidFill>
                  <a:srgbClr val="434343"/>
                </a:solidFill>
                <a:latin typeface="Lobster"/>
                <a:ea typeface="Lobster"/>
                <a:cs typeface="Lobster"/>
                <a:sym typeface="Lobs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402E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/>
        </p:nvSpPr>
        <p:spPr>
          <a:xfrm>
            <a:off x="2448713" y="5778000"/>
            <a:ext cx="1800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pt-BR" sz="6000" dirty="0" err="1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Structure</a:t>
            </a:r>
            <a:r>
              <a:rPr lang="pt-BR" sz="6000" dirty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6000" dirty="0" err="1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and</a:t>
            </a:r>
            <a:r>
              <a:rPr lang="pt-BR" sz="6000" dirty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6000" dirty="0" err="1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process</a:t>
            </a:r>
            <a:endParaRPr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4000" dirty="0" err="1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of</a:t>
            </a:r>
            <a:r>
              <a:rPr lang="pt-BR" sz="4000" dirty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4000" dirty="0" err="1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Almap’s</a:t>
            </a:r>
            <a:r>
              <a:rPr lang="pt-BR" sz="4000" dirty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4000" dirty="0" err="1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endParaRPr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/>
        </p:nvSpPr>
        <p:spPr>
          <a:xfrm>
            <a:off x="2448713" y="5778000"/>
            <a:ext cx="1800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6000" i="1" dirty="0" err="1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About</a:t>
            </a:r>
            <a:r>
              <a:rPr lang="pt-BR" sz="6000" i="1" dirty="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6000" i="1" dirty="0" err="1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the</a:t>
            </a:r>
            <a:r>
              <a:rPr lang="pt-BR" sz="6000" i="1" dirty="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6000" i="1" dirty="0" err="1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functions</a:t>
            </a:r>
            <a:endParaRPr sz="6000" i="1" dirty="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6000" i="1" dirty="0" err="1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of</a:t>
            </a:r>
            <a:r>
              <a:rPr lang="pt-BR" sz="6000" i="1" dirty="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6000" i="1" dirty="0" err="1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an</a:t>
            </a:r>
            <a:r>
              <a:rPr lang="pt-BR" sz="6000" i="1" dirty="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6000" i="1" dirty="0" err="1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AdServer</a:t>
            </a:r>
            <a:endParaRPr i="1" dirty="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REASONS TO UTILIZE AN ADSERVER</a:t>
            </a:r>
            <a:endParaRPr sz="2400" b="1" i="0" u="none" strike="noStrike" cap="none" dirty="0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</a:t>
            </a: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 + ad.ops</a:t>
            </a:r>
            <a:endParaRPr sz="6000">
              <a:solidFill>
                <a:srgbClr val="EFEFE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1705513" y="3161362"/>
            <a:ext cx="7575000" cy="8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393700" lvl="0" indent="-342900" algn="just">
              <a:lnSpc>
                <a:spcPct val="150000"/>
              </a:lnSpc>
              <a:buClr>
                <a:srgbClr val="DF402E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/>
                </a:solidFill>
                <a:latin typeface="Varela Round"/>
                <a:ea typeface="Varela Round"/>
                <a:cs typeface="Varela Round"/>
                <a:sym typeface="Varela Round"/>
              </a:rPr>
              <a:t>Metrics</a:t>
            </a:r>
            <a:r>
              <a:rPr lang="en-US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Varela Round"/>
                <a:ea typeface="Varela Round"/>
                <a:cs typeface="Varela Round"/>
                <a:sym typeface="Varela Round"/>
              </a:rPr>
              <a:t>: impressions, clicks, interaction</a:t>
            </a:r>
          </a:p>
          <a:p>
            <a:pPr marL="393700" lvl="0" indent="-342900" algn="just">
              <a:lnSpc>
                <a:spcPct val="150000"/>
              </a:lnSpc>
              <a:buClr>
                <a:srgbClr val="DF402E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/>
                </a:solidFill>
                <a:latin typeface="Varela Round"/>
                <a:ea typeface="Varela Round"/>
                <a:cs typeface="Varela Round"/>
                <a:sym typeface="Varela Round"/>
              </a:rPr>
              <a:t>Creative control delivery</a:t>
            </a:r>
            <a:r>
              <a:rPr lang="en-US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Varela Round"/>
                <a:ea typeface="Varela Round"/>
                <a:cs typeface="Varela Round"/>
                <a:sym typeface="Varela Round"/>
              </a:rPr>
              <a:t>: schedule, period, quantity, priority</a:t>
            </a:r>
          </a:p>
          <a:p>
            <a:pPr marL="393700" lvl="0" indent="-342900" algn="just">
              <a:lnSpc>
                <a:spcPct val="150000"/>
              </a:lnSpc>
              <a:buClr>
                <a:srgbClr val="DF402E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/>
                </a:solidFill>
                <a:latin typeface="Varela Round"/>
                <a:ea typeface="Varela Round"/>
                <a:cs typeface="Varela Round"/>
                <a:sym typeface="Varela Round"/>
              </a:rPr>
              <a:t>Segmentation</a:t>
            </a:r>
            <a:r>
              <a:rPr lang="en-US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Varela Round"/>
                <a:ea typeface="Varela Round"/>
                <a:cs typeface="Varela Round"/>
                <a:sym typeface="Varela Round"/>
              </a:rPr>
              <a:t>: geographic, browsing</a:t>
            </a:r>
          </a:p>
          <a:p>
            <a:pPr marL="393700" lvl="0" indent="-342900" algn="just">
              <a:lnSpc>
                <a:spcPct val="150000"/>
              </a:lnSpc>
              <a:buClr>
                <a:srgbClr val="DF402E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/>
                </a:solidFill>
                <a:latin typeface="Varela Round"/>
                <a:ea typeface="Varela Round"/>
                <a:cs typeface="Varela Round"/>
                <a:sym typeface="Varela Round"/>
              </a:rPr>
              <a:t>Unification</a:t>
            </a:r>
            <a:r>
              <a:rPr lang="en-US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Varela Round"/>
                <a:ea typeface="Varela Round"/>
                <a:cs typeface="Varela Round"/>
                <a:sym typeface="Varela Round"/>
              </a:rPr>
              <a:t>: consolidated metrics of the campaign according to  all vehicles</a:t>
            </a:r>
          </a:p>
          <a:p>
            <a:pPr marL="393700" lvl="0" indent="-342900" algn="just">
              <a:lnSpc>
                <a:spcPct val="150000"/>
              </a:lnSpc>
              <a:buClr>
                <a:srgbClr val="DF402E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2"/>
                </a:solidFill>
                <a:latin typeface="Varela Round"/>
                <a:ea typeface="Varela Round"/>
                <a:cs typeface="Varela Round"/>
                <a:sym typeface="Varela Round"/>
              </a:rPr>
              <a:t>Sobreposition</a:t>
            </a:r>
            <a:r>
              <a:rPr lang="en-US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Varela Round"/>
                <a:ea typeface="Varela Round"/>
                <a:cs typeface="Varela Round"/>
                <a:sym typeface="Varela Round"/>
              </a:rPr>
              <a:t>: cross single users with different vehicles</a:t>
            </a:r>
          </a:p>
          <a:p>
            <a:pPr marL="393700" lvl="0" indent="-342900" algn="just">
              <a:lnSpc>
                <a:spcPct val="150000"/>
              </a:lnSpc>
              <a:buClr>
                <a:srgbClr val="DF402E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/>
                </a:solidFill>
                <a:latin typeface="Varela Round"/>
                <a:ea typeface="Varela Round"/>
                <a:cs typeface="Varela Round"/>
                <a:sym typeface="Varela Round"/>
              </a:rPr>
              <a:t>Monitoring</a:t>
            </a:r>
            <a:r>
              <a:rPr lang="en-US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Varela Round"/>
                <a:ea typeface="Varela Round"/>
                <a:cs typeface="Varela Round"/>
                <a:sym typeface="Varela Round"/>
              </a:rPr>
              <a:t>: allow keep up in real-time the campaign delivery</a:t>
            </a:r>
          </a:p>
          <a:p>
            <a:pPr marL="393700" lvl="0" indent="-342900" algn="just">
              <a:lnSpc>
                <a:spcPct val="150000"/>
              </a:lnSpc>
              <a:buClr>
                <a:srgbClr val="DF402E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/>
                </a:solidFill>
                <a:latin typeface="Varela Round"/>
                <a:ea typeface="Varela Round"/>
                <a:cs typeface="Varela Round"/>
                <a:sym typeface="Varela Round"/>
              </a:rPr>
              <a:t>Conversion</a:t>
            </a:r>
            <a:r>
              <a:rPr lang="en-US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Varela Round"/>
                <a:ea typeface="Varela Round"/>
                <a:cs typeface="Varela Round"/>
                <a:sym typeface="Varela Round"/>
              </a:rPr>
              <a:t>: keep up the conversion tags</a:t>
            </a:r>
          </a:p>
          <a:p>
            <a:pPr marL="393700" lvl="0" indent="-342900" algn="just">
              <a:lnSpc>
                <a:spcPct val="150000"/>
              </a:lnSpc>
              <a:buClr>
                <a:srgbClr val="DF402E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/>
                </a:solidFill>
                <a:latin typeface="Varela Round"/>
                <a:ea typeface="Varela Round"/>
                <a:cs typeface="Varela Round"/>
                <a:sym typeface="Varela Round"/>
              </a:rPr>
              <a:t>Auditory</a:t>
            </a:r>
            <a:r>
              <a:rPr lang="en-US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Varela Round"/>
                <a:ea typeface="Varela Round"/>
                <a:cs typeface="Varela Round"/>
                <a:sym typeface="Varela Round"/>
              </a:rPr>
              <a:t>: compare your results with the results of the vehicle</a:t>
            </a:r>
            <a:endParaRPr sz="2400" dirty="0">
              <a:solidFill>
                <a:schemeClr val="bg1">
                  <a:lumMod val="50000"/>
                  <a:lumOff val="50000"/>
                </a:schemeClr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pSp>
        <p:nvGrpSpPr>
          <p:cNvPr id="78" name="Google Shape;78;p14"/>
          <p:cNvGrpSpPr/>
          <p:nvPr/>
        </p:nvGrpSpPr>
        <p:grpSpPr>
          <a:xfrm>
            <a:off x="10496129" y="1229342"/>
            <a:ext cx="12185562" cy="11257298"/>
            <a:chOff x="10439041" y="1202192"/>
            <a:chExt cx="12185562" cy="11257298"/>
          </a:xfrm>
        </p:grpSpPr>
        <p:pic>
          <p:nvPicPr>
            <p:cNvPr id="79" name="Google Shape;79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10790392" y="1462748"/>
              <a:ext cx="11834211" cy="10996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14"/>
            <p:cNvSpPr/>
            <p:nvPr/>
          </p:nvSpPr>
          <p:spPr>
            <a:xfrm>
              <a:off x="10439041" y="7380182"/>
              <a:ext cx="1354200" cy="13542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spcFirstLastPara="1" wrap="square" lIns="182875" tIns="91400" rIns="182875" bIns="91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1" name="Google Shape;81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828148" y="7752074"/>
              <a:ext cx="648000" cy="64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" name="Google Shape;82;p14"/>
            <p:cNvSpPr/>
            <p:nvPr/>
          </p:nvSpPr>
          <p:spPr>
            <a:xfrm>
              <a:off x="11799194" y="5353582"/>
              <a:ext cx="1354200" cy="13542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spcFirstLastPara="1" wrap="square" lIns="182875" tIns="91400" rIns="182875" bIns="91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13237747" y="3155556"/>
              <a:ext cx="1354200" cy="13542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spcFirstLastPara="1" wrap="square" lIns="182875" tIns="91400" rIns="182875" bIns="91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14520370" y="1202192"/>
              <a:ext cx="1354200" cy="13542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spcFirstLastPara="1" wrap="square" lIns="182875" tIns="91400" rIns="182875" bIns="91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5" name="Google Shape;85;p1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2081335" y="5617672"/>
              <a:ext cx="867224" cy="867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3440284" y="3338688"/>
              <a:ext cx="963274" cy="963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4847902" y="1513344"/>
              <a:ext cx="769944" cy="7699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4"/>
            <p:cNvSpPr/>
            <p:nvPr/>
          </p:nvSpPr>
          <p:spPr>
            <a:xfrm rot="3007761">
              <a:off x="17401347" y="5207090"/>
              <a:ext cx="3618401" cy="1539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91400" rIns="182875" bIns="91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Site</a:t>
              </a:r>
              <a:endParaRPr sz="4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 rot="3007679">
              <a:off x="13568299" y="6802468"/>
              <a:ext cx="6524354" cy="1539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91400" rIns="182875" bIns="91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 dirty="0" err="1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Requisition</a:t>
              </a:r>
              <a:r>
                <a:rPr lang="pt-BR" sz="4000" dirty="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 / Banner</a:t>
              </a:r>
              <a:endParaRPr sz="40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 rot="3007634">
              <a:off x="12242192" y="8279144"/>
              <a:ext cx="4683311" cy="1539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91400" rIns="182875" bIns="91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AdServer</a:t>
              </a:r>
              <a:endParaRPr sz="4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 rot="3007576">
              <a:off x="10467103" y="9477765"/>
              <a:ext cx="4197487" cy="1539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91400" rIns="182875" bIns="91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 dirty="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Banners </a:t>
              </a:r>
              <a:r>
                <a:rPr lang="pt-BR" sz="4000" dirty="0" err="1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Register</a:t>
              </a:r>
              <a:endParaRPr sz="40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lt1"/>
              </a:buClr>
              <a:buSzPts val="2400"/>
            </a:pPr>
            <a:r>
              <a:rPr lang="pt-BR" sz="2400" b="1" dirty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SUPPORTED FORMATS</a:t>
            </a:r>
            <a:endParaRPr sz="2400" b="1" i="0" u="none" strike="noStrike" cap="none" dirty="0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pSp>
        <p:nvGrpSpPr>
          <p:cNvPr id="97" name="Google Shape;97;p15"/>
          <p:cNvGrpSpPr/>
          <p:nvPr/>
        </p:nvGrpSpPr>
        <p:grpSpPr>
          <a:xfrm>
            <a:off x="2204681" y="3811036"/>
            <a:ext cx="3554239" cy="4081484"/>
            <a:chOff x="1448990" y="4007438"/>
            <a:chExt cx="1776853" cy="2040742"/>
          </a:xfrm>
        </p:grpSpPr>
        <p:pic>
          <p:nvPicPr>
            <p:cNvPr id="98" name="Google Shape;98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15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b="1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STANDARD</a:t>
              </a:r>
              <a:endParaRPr sz="2400"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b="1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DISPLAY</a:t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5"/>
          <p:cNvGrpSpPr/>
          <p:nvPr/>
        </p:nvGrpSpPr>
        <p:grpSpPr>
          <a:xfrm>
            <a:off x="7679256" y="3811036"/>
            <a:ext cx="3554239" cy="4081484"/>
            <a:chOff x="1448990" y="4007438"/>
            <a:chExt cx="1776853" cy="2040742"/>
          </a:xfrm>
        </p:grpSpPr>
        <p:pic>
          <p:nvPicPr>
            <p:cNvPr id="101" name="Google Shape;101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5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b="1" dirty="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DYNAMICS</a:t>
              </a:r>
              <a:endParaRPr sz="2400" dirty="0"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b="1" dirty="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CREATIVES</a:t>
              </a:r>
              <a:endParaRPr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5"/>
          <p:cNvGrpSpPr/>
          <p:nvPr/>
        </p:nvGrpSpPr>
        <p:grpSpPr>
          <a:xfrm>
            <a:off x="13153831" y="3811036"/>
            <a:ext cx="3554239" cy="4081484"/>
            <a:chOff x="1448990" y="4007438"/>
            <a:chExt cx="1776853" cy="2040742"/>
          </a:xfrm>
        </p:grpSpPr>
        <p:pic>
          <p:nvPicPr>
            <p:cNvPr id="104" name="Google Shape;104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5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b="1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RICH</a:t>
              </a:r>
              <a:endParaRPr sz="2400"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b="1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MEDIA</a:t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5"/>
          <p:cNvGrpSpPr/>
          <p:nvPr/>
        </p:nvGrpSpPr>
        <p:grpSpPr>
          <a:xfrm>
            <a:off x="18628403" y="3811036"/>
            <a:ext cx="3554239" cy="4081484"/>
            <a:chOff x="1448990" y="4007438"/>
            <a:chExt cx="1776853" cy="2040742"/>
          </a:xfrm>
        </p:grpSpPr>
        <p:pic>
          <p:nvPicPr>
            <p:cNvPr id="107" name="Google Shape;107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15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b="1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TRACKING PIXEL </a:t>
              </a:r>
              <a:endParaRPr sz="2400"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b="1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&amp; CLICK</a:t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5"/>
          <p:cNvSpPr/>
          <p:nvPr/>
        </p:nvSpPr>
        <p:spPr>
          <a:xfrm>
            <a:off x="1821425" y="8827213"/>
            <a:ext cx="4320600" cy="16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Utilizes </a:t>
            </a:r>
            <a:r>
              <a:rPr lang="pt-BR" sz="2400" b="1" dirty="0" err="1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images</a:t>
            </a:r>
            <a:r>
              <a:rPr lang="pt-BR" sz="2400" b="1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2400" b="1" dirty="0" err="1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to</a:t>
            </a:r>
            <a:r>
              <a:rPr lang="pt-BR" sz="2400" b="1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2400" b="1" dirty="0" err="1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sell</a:t>
            </a:r>
            <a:r>
              <a:rPr lang="pt-BR" sz="2400" b="1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.</a:t>
            </a:r>
            <a:endParaRPr sz="2400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7296001" y="8827212"/>
            <a:ext cx="4320600" cy="16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lvl="0" algn="ctr"/>
            <a:r>
              <a:rPr lang="en-US" sz="2400" b="1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From the same template, allow exchange information of dynamic forms.</a:t>
            </a:r>
            <a:endParaRPr sz="2400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12770576" y="8833368"/>
            <a:ext cx="4320600" cy="16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lvl="0" algn="ctr"/>
            <a:r>
              <a:rPr lang="en-US" sz="2400" b="1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Allow a bigger interaction. </a:t>
            </a:r>
            <a:r>
              <a:rPr lang="en-US" sz="2400" b="1" dirty="0" err="1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Expansives</a:t>
            </a:r>
            <a:r>
              <a:rPr lang="en-US" sz="2400" b="1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2400" b="1" dirty="0" err="1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Flutuant</a:t>
            </a:r>
            <a:r>
              <a:rPr lang="en-US" sz="2400" b="1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 Formats.</a:t>
            </a:r>
            <a:endParaRPr sz="2400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8245150" y="8827212"/>
            <a:ext cx="4320600" cy="16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lvl="0" algn="ctr"/>
            <a:r>
              <a:rPr lang="en-US" sz="2400" b="1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Code lines accounting of impressions and clicks. Keep up the creative.</a:t>
            </a:r>
            <a:endParaRPr sz="2400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</a:t>
            </a: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 + ad.ops</a:t>
            </a:r>
            <a:endParaRPr sz="6000">
              <a:solidFill>
                <a:srgbClr val="EFEFE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FORMAT REPORTS</a:t>
            </a:r>
            <a:endParaRPr sz="2400" b="1" i="0" u="none" strike="noStrike" cap="none" dirty="0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aphicFrame>
        <p:nvGraphicFramePr>
          <p:cNvPr id="119" name="Google Shape;119;p16"/>
          <p:cNvGraphicFramePr/>
          <p:nvPr>
            <p:extLst>
              <p:ext uri="{D42A27DB-BD31-4B8C-83A1-F6EECF244321}">
                <p14:modId xmlns:p14="http://schemas.microsoft.com/office/powerpoint/2010/main" val="3322957228"/>
              </p:ext>
            </p:extLst>
          </p:nvPr>
        </p:nvGraphicFramePr>
        <p:xfrm>
          <a:off x="1424487" y="2753596"/>
          <a:ext cx="21538150" cy="8605500"/>
        </p:xfrm>
        <a:graphic>
          <a:graphicData uri="http://schemas.openxmlformats.org/drawingml/2006/table">
            <a:tbl>
              <a:tblPr firstRow="1" bandRow="1">
                <a:noFill/>
                <a:tableStyleId>{37350454-C0D2-4978-9FC4-055444859B62}</a:tableStyleId>
              </a:tblPr>
              <a:tblGrid>
                <a:gridCol w="422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3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63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3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08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 err="1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Adserver</a:t>
                      </a:r>
                      <a:r>
                        <a:rPr lang="pt-BR" sz="2200" u="none" strike="noStrike" cap="none" dirty="0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 for </a:t>
                      </a:r>
                      <a:r>
                        <a:rPr lang="pt-BR" sz="2200" u="none" strike="noStrike" cap="none" dirty="0" err="1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advertisers</a:t>
                      </a:r>
                      <a:endParaRPr sz="2200" i="0" u="none" strike="noStrike" cap="none" dirty="0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Standard </a:t>
                      </a:r>
                      <a:endParaRPr sz="2200" u="none" strike="noStrike" cap="non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Display</a:t>
                      </a:r>
                      <a:endParaRPr sz="2200" i="0" u="none" strike="noStrike" cap="non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Dynamics </a:t>
                      </a:r>
                      <a:endParaRPr sz="2200" i="0" u="none" strike="noStrike" cap="none" dirty="0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 err="1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Creative</a:t>
                      </a:r>
                      <a:endParaRPr sz="2200" i="0" u="none" strike="noStrike" cap="none" dirty="0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Rich</a:t>
                      </a:r>
                      <a:endParaRPr sz="2200" i="0" u="none" strike="noStrike" cap="non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Media</a:t>
                      </a:r>
                      <a:endParaRPr sz="2200" i="0" u="none" strike="noStrike" cap="non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Tracking</a:t>
                      </a:r>
                      <a:endParaRPr sz="2200" i="0" u="none" strike="noStrike" cap="non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Pixel + Click</a:t>
                      </a:r>
                      <a:endParaRPr sz="2200" i="0" u="none" strike="noStrike" cap="non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Tracking</a:t>
                      </a:r>
                      <a:endParaRPr sz="2200" i="0" u="none" strike="noStrike" cap="non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Click</a:t>
                      </a:r>
                      <a:endParaRPr sz="2200" i="0" u="none" strike="noStrike" cap="non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4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 err="1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Metrics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 err="1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Impressions</a:t>
                      </a: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 </a:t>
                      </a:r>
                      <a:r>
                        <a:rPr lang="pt-BR" sz="2200" u="none" strike="noStrike" cap="none" dirty="0" err="1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and</a:t>
                      </a: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 clicks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Clicks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Delivery </a:t>
                      </a:r>
                      <a:r>
                        <a:rPr lang="pt-BR" sz="2200" u="none" strike="noStrike" cap="none" dirty="0" err="1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Control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No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No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 err="1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Segmentation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No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No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 err="1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Unificacion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Overlay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 err="1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Monitoring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1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 err="1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Conversions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1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 err="1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Auditory</a:t>
                      </a: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*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strike="noStrike" cap="none" dirty="0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Yes</a:t>
                      </a:r>
                      <a:endParaRPr sz="2200" i="0" u="none" strike="noStrike" cap="none" dirty="0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18200" marR="18200" marT="1820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0" name="Google Shape;120;p16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</a:t>
            </a: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 + ad.ops</a:t>
            </a:r>
            <a:endParaRPr sz="6000">
              <a:solidFill>
                <a:srgbClr val="EFEFE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/>
        </p:nvSpPr>
        <p:spPr>
          <a:xfrm>
            <a:off x="2448713" y="5778000"/>
            <a:ext cx="1800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4000"/>
            </a:pPr>
            <a:r>
              <a:rPr lang="pt-BR" sz="6000" i="1" dirty="0" err="1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About</a:t>
            </a:r>
            <a:r>
              <a:rPr lang="pt-BR" sz="6000" i="1" dirty="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6000" i="1" dirty="0" err="1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r>
              <a:rPr lang="pt-BR" sz="6000" i="1" dirty="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6000" i="1" dirty="0" err="1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process</a:t>
            </a:r>
            <a:endParaRPr sz="6000" i="1" dirty="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lt1"/>
              </a:buClr>
              <a:buSzPts val="2400"/>
            </a:pPr>
            <a:r>
              <a:rPr lang="pt-BR" sz="2400" b="1" dirty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FIELD RESPONSIBILITIES</a:t>
            </a:r>
            <a:endParaRPr sz="2400" b="1" i="0" u="none" strike="noStrike" cap="none" dirty="0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1DA9BAB2-BFFC-4740-918D-0BFA21E05D99}"/>
              </a:ext>
            </a:extLst>
          </p:cNvPr>
          <p:cNvGrpSpPr/>
          <p:nvPr/>
        </p:nvGrpSpPr>
        <p:grpSpPr>
          <a:xfrm>
            <a:off x="2863361" y="2899100"/>
            <a:ext cx="18660484" cy="8813800"/>
            <a:chOff x="2863361" y="2899100"/>
            <a:chExt cx="18660484" cy="8813800"/>
          </a:xfrm>
        </p:grpSpPr>
        <p:pic>
          <p:nvPicPr>
            <p:cNvPr id="132" name="Google Shape;132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863361" y="2899100"/>
              <a:ext cx="8940800" cy="8813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C2C9F622-24E4-4117-857E-F8A93802CD16}"/>
                </a:ext>
              </a:extLst>
            </p:cNvPr>
            <p:cNvGrpSpPr/>
            <p:nvPr/>
          </p:nvGrpSpPr>
          <p:grpSpPr>
            <a:xfrm>
              <a:off x="7334341" y="3074661"/>
              <a:ext cx="14189487" cy="800100"/>
              <a:chOff x="7334353" y="3074661"/>
              <a:chExt cx="14189487" cy="800100"/>
            </a:xfrm>
          </p:grpSpPr>
          <p:sp>
            <p:nvSpPr>
              <p:cNvPr id="133" name="Google Shape;133;p18"/>
              <p:cNvSpPr/>
              <p:nvPr/>
            </p:nvSpPr>
            <p:spPr>
              <a:xfrm>
                <a:off x="13935940" y="3074661"/>
                <a:ext cx="75879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75" tIns="91400" rIns="182875" bIns="914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000" dirty="0">
                    <a:solidFill>
                      <a:srgbClr val="454545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CONFIGURE ADSERVER</a:t>
                </a:r>
                <a:endParaRPr sz="3000" dirty="0">
                  <a:solidFill>
                    <a:srgbClr val="454545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</p:txBody>
          </p:sp>
          <p:cxnSp>
            <p:nvCxnSpPr>
              <p:cNvPr id="134" name="Google Shape;134;p18"/>
              <p:cNvCxnSpPr/>
              <p:nvPr/>
            </p:nvCxnSpPr>
            <p:spPr>
              <a:xfrm>
                <a:off x="7334353" y="3474710"/>
                <a:ext cx="5844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76200" dir="2700000" algn="tl" rotWithShape="0">
                  <a:srgbClr val="000000">
                    <a:alpha val="40000"/>
                  </a:srgbClr>
                </a:outerShdw>
              </a:effectLst>
            </p:spPr>
          </p:cxnSp>
        </p:grp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9B7067E7-167C-42A0-9523-2763C18E5727}"/>
                </a:ext>
              </a:extLst>
            </p:cNvPr>
            <p:cNvGrpSpPr/>
            <p:nvPr/>
          </p:nvGrpSpPr>
          <p:grpSpPr>
            <a:xfrm>
              <a:off x="7334341" y="4409673"/>
              <a:ext cx="14189502" cy="800100"/>
              <a:chOff x="7334341" y="4409673"/>
              <a:chExt cx="14189502" cy="800100"/>
            </a:xfrm>
          </p:grpSpPr>
          <p:cxnSp>
            <p:nvCxnSpPr>
              <p:cNvPr id="135" name="Google Shape;135;p18"/>
              <p:cNvCxnSpPr/>
              <p:nvPr/>
            </p:nvCxnSpPr>
            <p:spPr>
              <a:xfrm>
                <a:off x="7334341" y="4812255"/>
                <a:ext cx="5844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76200" dir="2700000" algn="tl" rotWithShape="0">
                  <a:srgbClr val="000000">
                    <a:alpha val="40000"/>
                  </a:srgbClr>
                </a:outerShdw>
              </a:effectLst>
            </p:spPr>
          </p:cxnSp>
          <p:sp>
            <p:nvSpPr>
              <p:cNvPr id="141" name="Google Shape;141;p18"/>
              <p:cNvSpPr/>
              <p:nvPr/>
            </p:nvSpPr>
            <p:spPr>
              <a:xfrm>
                <a:off x="13935943" y="4409673"/>
                <a:ext cx="75879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75" tIns="91400" rIns="182875" bIns="914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000" dirty="0">
                    <a:solidFill>
                      <a:srgbClr val="454545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CREATIVE REGISTER</a:t>
                </a:r>
                <a:endParaRPr sz="3000" dirty="0">
                  <a:solidFill>
                    <a:srgbClr val="454545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</p:txBody>
          </p:sp>
        </p:grp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A0A1FE2D-6106-43E5-8A01-16F5CCEB07E8}"/>
                </a:ext>
              </a:extLst>
            </p:cNvPr>
            <p:cNvGrpSpPr/>
            <p:nvPr/>
          </p:nvGrpSpPr>
          <p:grpSpPr>
            <a:xfrm>
              <a:off x="7334341" y="6000007"/>
              <a:ext cx="14189502" cy="800100"/>
              <a:chOff x="7334341" y="6000007"/>
              <a:chExt cx="14189502" cy="800100"/>
            </a:xfrm>
          </p:grpSpPr>
          <p:cxnSp>
            <p:nvCxnSpPr>
              <p:cNvPr id="136" name="Google Shape;136;p18"/>
              <p:cNvCxnSpPr/>
              <p:nvPr/>
            </p:nvCxnSpPr>
            <p:spPr>
              <a:xfrm>
                <a:off x="7334341" y="6395401"/>
                <a:ext cx="5844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76200" dir="2700000" algn="tl" rotWithShape="0">
                  <a:srgbClr val="000000">
                    <a:alpha val="40000"/>
                  </a:srgbClr>
                </a:outerShdw>
              </a:effectLst>
            </p:spPr>
          </p:cxnSp>
          <p:sp>
            <p:nvSpPr>
              <p:cNvPr id="142" name="Google Shape;142;p18"/>
              <p:cNvSpPr/>
              <p:nvPr/>
            </p:nvSpPr>
            <p:spPr>
              <a:xfrm>
                <a:off x="13935943" y="6000007"/>
                <a:ext cx="75879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75" tIns="91400" rIns="182875" bIns="91400" anchor="ctr" anchorCtr="0">
                <a:noAutofit/>
              </a:bodyPr>
              <a:lstStyle/>
              <a:p>
                <a:pPr lvl="0"/>
                <a:r>
                  <a:rPr lang="en-US" sz="3000" dirty="0">
                    <a:solidFill>
                      <a:srgbClr val="454545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TECHNICAL INTERFACE WITH THE VEHICLES</a:t>
                </a:r>
                <a:endParaRPr sz="3000" dirty="0">
                  <a:latin typeface="Varela Round"/>
                  <a:ea typeface="Varela Round"/>
                  <a:cs typeface="Varela Round"/>
                  <a:sym typeface="Varela Round"/>
                </a:endParaRPr>
              </a:p>
            </p:txBody>
          </p:sp>
        </p:grp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2885EC34-6A25-420F-8579-E74604E6CADA}"/>
                </a:ext>
              </a:extLst>
            </p:cNvPr>
            <p:cNvGrpSpPr/>
            <p:nvPr/>
          </p:nvGrpSpPr>
          <p:grpSpPr>
            <a:xfrm>
              <a:off x="7334341" y="7414652"/>
              <a:ext cx="14189504" cy="800100"/>
              <a:chOff x="7334341" y="7414652"/>
              <a:chExt cx="14189504" cy="800100"/>
            </a:xfrm>
          </p:grpSpPr>
          <p:cxnSp>
            <p:nvCxnSpPr>
              <p:cNvPr id="137" name="Google Shape;137;p18"/>
              <p:cNvCxnSpPr/>
              <p:nvPr/>
            </p:nvCxnSpPr>
            <p:spPr>
              <a:xfrm>
                <a:off x="7334341" y="7814765"/>
                <a:ext cx="5844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76200" dir="2700000" algn="tl" rotWithShape="0">
                  <a:srgbClr val="000000">
                    <a:alpha val="40000"/>
                  </a:srgbClr>
                </a:outerShdw>
              </a:effectLst>
            </p:spPr>
          </p:cxnSp>
          <p:sp>
            <p:nvSpPr>
              <p:cNvPr id="143" name="Google Shape;143;p18"/>
              <p:cNvSpPr/>
              <p:nvPr/>
            </p:nvSpPr>
            <p:spPr>
              <a:xfrm>
                <a:off x="13935945" y="7414652"/>
                <a:ext cx="75879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75" tIns="91400" rIns="182875" bIns="914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000" dirty="0">
                    <a:solidFill>
                      <a:srgbClr val="454545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DISCREPANCY SUPPORT</a:t>
                </a:r>
                <a:endParaRPr sz="3000" dirty="0">
                  <a:solidFill>
                    <a:srgbClr val="454545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</p:txBody>
          </p:sp>
        </p:grpSp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18FD28F6-A124-4B29-B472-7FB0A0EF9C72}"/>
                </a:ext>
              </a:extLst>
            </p:cNvPr>
            <p:cNvGrpSpPr/>
            <p:nvPr/>
          </p:nvGrpSpPr>
          <p:grpSpPr>
            <a:xfrm>
              <a:off x="7334341" y="8670252"/>
              <a:ext cx="14189504" cy="800100"/>
              <a:chOff x="7334341" y="8670252"/>
              <a:chExt cx="14189504" cy="800100"/>
            </a:xfrm>
          </p:grpSpPr>
          <p:cxnSp>
            <p:nvCxnSpPr>
              <p:cNvPr id="138" name="Google Shape;138;p18"/>
              <p:cNvCxnSpPr/>
              <p:nvPr/>
            </p:nvCxnSpPr>
            <p:spPr>
              <a:xfrm>
                <a:off x="7334341" y="9070365"/>
                <a:ext cx="5844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76200" dir="2700000" algn="tl" rotWithShape="0">
                  <a:srgbClr val="000000">
                    <a:alpha val="40000"/>
                  </a:srgbClr>
                </a:outerShdw>
              </a:effectLst>
            </p:spPr>
          </p:cxnSp>
          <p:sp>
            <p:nvSpPr>
              <p:cNvPr id="144" name="Google Shape;144;p18"/>
              <p:cNvSpPr/>
              <p:nvPr/>
            </p:nvSpPr>
            <p:spPr>
              <a:xfrm>
                <a:off x="13935945" y="8670252"/>
                <a:ext cx="75879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75" tIns="91400" rIns="182875" bIns="914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000" dirty="0">
                    <a:solidFill>
                      <a:srgbClr val="454545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SEND INFORMATION</a:t>
                </a:r>
                <a:endParaRPr sz="3000" dirty="0">
                  <a:solidFill>
                    <a:srgbClr val="454545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</p:txBody>
          </p:sp>
        </p:grpSp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9A639C99-68DD-4479-9675-A232F80CA125}"/>
                </a:ext>
              </a:extLst>
            </p:cNvPr>
            <p:cNvGrpSpPr/>
            <p:nvPr/>
          </p:nvGrpSpPr>
          <p:grpSpPr>
            <a:xfrm>
              <a:off x="7334341" y="9762070"/>
              <a:ext cx="14189504" cy="800100"/>
              <a:chOff x="7334341" y="9762070"/>
              <a:chExt cx="14189504" cy="800100"/>
            </a:xfrm>
          </p:grpSpPr>
          <p:cxnSp>
            <p:nvCxnSpPr>
              <p:cNvPr id="139" name="Google Shape;139;p18"/>
              <p:cNvCxnSpPr/>
              <p:nvPr/>
            </p:nvCxnSpPr>
            <p:spPr>
              <a:xfrm>
                <a:off x="7334341" y="10162183"/>
                <a:ext cx="5844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76200" dir="2700000" algn="tl" rotWithShape="0">
                  <a:srgbClr val="000000">
                    <a:alpha val="40000"/>
                  </a:srgbClr>
                </a:outerShdw>
              </a:effectLst>
            </p:spPr>
          </p:cxnSp>
          <p:sp>
            <p:nvSpPr>
              <p:cNvPr id="145" name="Google Shape;145;p18"/>
              <p:cNvSpPr/>
              <p:nvPr/>
            </p:nvSpPr>
            <p:spPr>
              <a:xfrm>
                <a:off x="13935945" y="9762070"/>
                <a:ext cx="75879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75" tIns="91400" rIns="182875" bIns="914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000" dirty="0">
                    <a:solidFill>
                      <a:srgbClr val="454545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CONTROLS UNDER AND OVER</a:t>
                </a:r>
                <a:endParaRPr sz="3000" dirty="0">
                  <a:solidFill>
                    <a:srgbClr val="454545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</p:txBody>
          </p:sp>
        </p:grpSp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262C7BE5-A093-403C-9F96-7816680FE7F0}"/>
                </a:ext>
              </a:extLst>
            </p:cNvPr>
            <p:cNvGrpSpPr/>
            <p:nvPr/>
          </p:nvGrpSpPr>
          <p:grpSpPr>
            <a:xfrm>
              <a:off x="7334341" y="10744702"/>
              <a:ext cx="14189504" cy="800100"/>
              <a:chOff x="7334341" y="10744702"/>
              <a:chExt cx="14189504" cy="800100"/>
            </a:xfrm>
          </p:grpSpPr>
          <p:cxnSp>
            <p:nvCxnSpPr>
              <p:cNvPr id="140" name="Google Shape;140;p18"/>
              <p:cNvCxnSpPr/>
              <p:nvPr/>
            </p:nvCxnSpPr>
            <p:spPr>
              <a:xfrm>
                <a:off x="7334341" y="11144815"/>
                <a:ext cx="5844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76200" dir="2700000" algn="tl" rotWithShape="0">
                  <a:srgbClr val="000000">
                    <a:alpha val="40000"/>
                  </a:srgbClr>
                </a:outerShdw>
              </a:effectLst>
            </p:spPr>
          </p:cxnSp>
          <p:sp>
            <p:nvSpPr>
              <p:cNvPr id="146" name="Google Shape;146;p18"/>
              <p:cNvSpPr/>
              <p:nvPr/>
            </p:nvSpPr>
            <p:spPr>
              <a:xfrm>
                <a:off x="13935945" y="10744702"/>
                <a:ext cx="75879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75" tIns="91400" rIns="182875" bIns="914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000" dirty="0">
                    <a:solidFill>
                      <a:srgbClr val="454545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VEHICULATION CHECKING</a:t>
                </a:r>
                <a:endParaRPr sz="3000" dirty="0">
                  <a:solidFill>
                    <a:srgbClr val="454545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</p:txBody>
          </p:sp>
        </p:grpSp>
      </p:grpSp>
      <p:sp>
        <p:nvSpPr>
          <p:cNvPr id="147" name="Google Shape;147;p18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</a:t>
            </a: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lt1"/>
              </a:buClr>
              <a:buSzPts val="2400"/>
            </a:pPr>
            <a:r>
              <a:rPr lang="pt-BR" sz="2400" b="1" dirty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EFFICIENCY</a:t>
            </a:r>
            <a:endParaRPr sz="2400" b="1" i="0" u="none" strike="noStrike" cap="none" dirty="0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</a:t>
            </a: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cxnSp>
        <p:nvCxnSpPr>
          <p:cNvPr id="154" name="Google Shape;154;p19"/>
          <p:cNvCxnSpPr>
            <a:cxnSpLocks/>
          </p:cNvCxnSpPr>
          <p:nvPr/>
        </p:nvCxnSpPr>
        <p:spPr>
          <a:xfrm>
            <a:off x="15088384" y="3701928"/>
            <a:ext cx="7056721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5" name="Google Shape;155;p19"/>
          <p:cNvCxnSpPr>
            <a:cxnSpLocks/>
          </p:cNvCxnSpPr>
          <p:nvPr/>
        </p:nvCxnSpPr>
        <p:spPr>
          <a:xfrm>
            <a:off x="13054450" y="6165312"/>
            <a:ext cx="699885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19"/>
          <p:cNvCxnSpPr/>
          <p:nvPr/>
        </p:nvCxnSpPr>
        <p:spPr>
          <a:xfrm>
            <a:off x="9461341" y="8688656"/>
            <a:ext cx="63390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7" name="Google Shape;157;p19"/>
          <p:cNvCxnSpPr/>
          <p:nvPr/>
        </p:nvCxnSpPr>
        <p:spPr>
          <a:xfrm>
            <a:off x="8147034" y="11212000"/>
            <a:ext cx="97116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9697" y="-29980"/>
            <a:ext cx="13609122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/>
          <p:nvPr/>
        </p:nvSpPr>
        <p:spPr>
          <a:xfrm>
            <a:off x="13210599" y="2724025"/>
            <a:ext cx="37347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lvl="0" algn="ctr"/>
            <a:r>
              <a:rPr lang="pt-BR" sz="2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Real-time </a:t>
            </a:r>
            <a:r>
              <a:rPr lang="pt-BR" sz="2200" dirty="0" err="1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unification</a:t>
            </a:r>
            <a:r>
              <a:rPr lang="pt-BR" sz="2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2200" dirty="0" err="1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by</a:t>
            </a:r>
            <a:r>
              <a:rPr lang="pt-BR" sz="2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2200" dirty="0" err="1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campaign</a:t>
            </a:r>
            <a:endParaRPr sz="2200" dirty="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9830750" y="5238375"/>
            <a:ext cx="56277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lvl="0" algn="ctr"/>
            <a:r>
              <a:rPr lang="en-US" sz="2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Checking between conversion database and vehicles</a:t>
            </a:r>
            <a:endParaRPr sz="2200" dirty="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7638689" y="7774477"/>
            <a:ext cx="53043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lvl="0" algn="ctr"/>
            <a:r>
              <a:rPr lang="en-US" sz="2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Immediacy. Minor responding time to adjust in campaign</a:t>
            </a:r>
            <a:endParaRPr sz="2200" dirty="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5690900" y="10283300"/>
            <a:ext cx="44001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 err="1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Better</a:t>
            </a:r>
            <a:r>
              <a:rPr lang="pt-BR" sz="2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2200" dirty="0" err="1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quality</a:t>
            </a:r>
            <a:r>
              <a:rPr lang="pt-BR" sz="2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2200" dirty="0" err="1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of</a:t>
            </a:r>
            <a:r>
              <a:rPr lang="pt-BR" sz="2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2200" dirty="0" err="1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database</a:t>
            </a:r>
            <a:r>
              <a:rPr lang="pt-BR" sz="2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 for </a:t>
            </a:r>
            <a:r>
              <a:rPr lang="pt-BR" sz="2200" dirty="0" err="1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better</a:t>
            </a:r>
            <a:r>
              <a:rPr lang="pt-BR" sz="2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2200" dirty="0" err="1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decision</a:t>
            </a:r>
            <a:r>
              <a:rPr lang="pt-BR" sz="22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 making</a:t>
            </a:r>
            <a:endParaRPr sz="2200" dirty="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15900219" y="5413136"/>
            <a:ext cx="54132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lvl="0"/>
            <a:r>
              <a:rPr lang="pt-BR" sz="2600" dirty="0" err="1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Adserver</a:t>
            </a:r>
            <a:r>
              <a:rPr lang="pt-BR" sz="2600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2600" dirty="0" err="1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patronization</a:t>
            </a:r>
            <a:endParaRPr sz="2600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18278501" y="2944750"/>
            <a:ext cx="45393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lvl="0"/>
            <a:r>
              <a:rPr lang="pt-BR" sz="2600" dirty="0" err="1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Centralized</a:t>
            </a:r>
            <a:r>
              <a:rPr lang="pt-BR" sz="2600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2600" dirty="0" err="1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receiving</a:t>
            </a:r>
            <a:endParaRPr sz="2600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11202066" y="10468616"/>
            <a:ext cx="72072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Status </a:t>
            </a:r>
            <a:r>
              <a:rPr lang="pt-BR" sz="2600" dirty="0" err="1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indicators</a:t>
            </a:r>
            <a:r>
              <a:rPr lang="pt-BR" sz="2600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 / </a:t>
            </a:r>
            <a:r>
              <a:rPr lang="pt-BR" sz="2600" dirty="0" err="1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Error</a:t>
            </a:r>
            <a:r>
              <a:rPr lang="pt-BR" sz="2600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2600" dirty="0" err="1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control</a:t>
            </a:r>
            <a:endParaRPr sz="2600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13573065" y="7811509"/>
            <a:ext cx="54132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Automation</a:t>
            </a:r>
            <a:endParaRPr sz="2600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67" name="Google Shape;167;p19"/>
          <p:cNvPicPr preferRelativeResize="0"/>
          <p:nvPr/>
        </p:nvPicPr>
        <p:blipFill rotWithShape="1">
          <a:blip r:embed="rId4">
            <a:alphaModFix/>
          </a:blip>
          <a:srcRect l="20205" t="20224" r="12976" b="7027"/>
          <a:stretch/>
        </p:blipFill>
        <p:spPr>
          <a:xfrm>
            <a:off x="2471200" y="3391100"/>
            <a:ext cx="3583350" cy="351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/>
        </p:nvSpPr>
        <p:spPr>
          <a:xfrm>
            <a:off x="2448713" y="5778000"/>
            <a:ext cx="1800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6000" i="1" dirty="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Almap BBDO </a:t>
            </a:r>
            <a:r>
              <a:rPr lang="pt-BR" sz="6000" i="1" dirty="0" err="1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Structure</a:t>
            </a:r>
            <a:endParaRPr sz="6000" i="1" dirty="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CLIENTS AND TEAM</a:t>
            </a:r>
            <a:endParaRPr sz="2400" b="1" i="0" u="none" strike="noStrike" cap="none" dirty="0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8811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 dirty="0" err="1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</a:t>
            </a:r>
            <a:r>
              <a:rPr lang="pt-BR" sz="7200" dirty="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 + </a:t>
            </a:r>
            <a:r>
              <a:rPr lang="pt-BR" sz="7200" dirty="0" err="1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endParaRPr sz="7200" dirty="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4F0EFDB6-5DC7-42C5-976D-491A87747C85}"/>
              </a:ext>
            </a:extLst>
          </p:cNvPr>
          <p:cNvGrpSpPr/>
          <p:nvPr/>
        </p:nvGrpSpPr>
        <p:grpSpPr>
          <a:xfrm>
            <a:off x="2069688" y="5950881"/>
            <a:ext cx="20084700" cy="5339400"/>
            <a:chOff x="2069688" y="6524088"/>
            <a:chExt cx="20084700" cy="5339400"/>
          </a:xfrm>
        </p:grpSpPr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id="{DE5C842B-130C-408D-913A-CE8857EEF989}"/>
                </a:ext>
              </a:extLst>
            </p:cNvPr>
            <p:cNvGrpSpPr/>
            <p:nvPr/>
          </p:nvGrpSpPr>
          <p:grpSpPr>
            <a:xfrm>
              <a:off x="2069688" y="6524088"/>
              <a:ext cx="20084700" cy="5339400"/>
              <a:chOff x="1926813" y="5723988"/>
              <a:chExt cx="20084700" cy="5339400"/>
            </a:xfrm>
          </p:grpSpPr>
          <p:cxnSp>
            <p:nvCxnSpPr>
              <p:cNvPr id="200" name="Google Shape;200;p21"/>
              <p:cNvCxnSpPr>
                <a:stCxn id="191" idx="0"/>
              </p:cNvCxnSpPr>
              <p:nvPr/>
            </p:nvCxnSpPr>
            <p:spPr>
              <a:xfrm rot="10800000">
                <a:off x="11970063" y="5740188"/>
                <a:ext cx="8282700" cy="1805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F402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" name="Google Shape;197;p21"/>
              <p:cNvCxnSpPr>
                <a:stCxn id="188" idx="0"/>
              </p:cNvCxnSpPr>
              <p:nvPr/>
            </p:nvCxnSpPr>
            <p:spPr>
              <a:xfrm rot="10800000" flipH="1">
                <a:off x="7827363" y="5741388"/>
                <a:ext cx="4138500" cy="1804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F402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8" name="Google Shape;198;p21"/>
              <p:cNvCxnSpPr>
                <a:stCxn id="189" idx="0"/>
              </p:cNvCxnSpPr>
              <p:nvPr/>
            </p:nvCxnSpPr>
            <p:spPr>
              <a:xfrm rot="10800000">
                <a:off x="11969163" y="5723988"/>
                <a:ext cx="0" cy="182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F402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" name="Google Shape;196;p21"/>
              <p:cNvCxnSpPr>
                <a:cxnSpLocks/>
                <a:stCxn id="187" idx="0"/>
              </p:cNvCxnSpPr>
              <p:nvPr/>
            </p:nvCxnSpPr>
            <p:spPr>
              <a:xfrm rot="10800000" flipH="1">
                <a:off x="3685563" y="5739588"/>
                <a:ext cx="8280900" cy="1806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F402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9" name="Google Shape;199;p21"/>
              <p:cNvCxnSpPr>
                <a:stCxn id="190" idx="0"/>
              </p:cNvCxnSpPr>
              <p:nvPr/>
            </p:nvCxnSpPr>
            <p:spPr>
              <a:xfrm rot="10800000">
                <a:off x="11969463" y="5740788"/>
                <a:ext cx="4141500" cy="180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F402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7" name="Agrupar 26">
                <a:extLst>
                  <a:ext uri="{FF2B5EF4-FFF2-40B4-BE49-F238E27FC236}">
                    <a16:creationId xmlns:a16="http://schemas.microsoft.com/office/drawing/2014/main" id="{7F787DC6-9E85-4DD4-AC10-260B35F7DB87}"/>
                  </a:ext>
                </a:extLst>
              </p:cNvPr>
              <p:cNvGrpSpPr/>
              <p:nvPr/>
            </p:nvGrpSpPr>
            <p:grpSpPr>
              <a:xfrm>
                <a:off x="1926813" y="7545888"/>
                <a:ext cx="20084700" cy="3517500"/>
                <a:chOff x="1926813" y="7545888"/>
                <a:chExt cx="20084700" cy="3517500"/>
              </a:xfrm>
            </p:grpSpPr>
            <p:pic>
              <p:nvPicPr>
                <p:cNvPr id="193" name="Google Shape;193;p2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l="11324" r="11324" b="27251"/>
                <a:stretch/>
              </p:blipFill>
              <p:spPr>
                <a:xfrm>
                  <a:off x="11476900" y="8421738"/>
                  <a:ext cx="1128600" cy="1080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91" name="Google Shape;191;p21"/>
                <p:cNvSpPr/>
                <p:nvPr/>
              </p:nvSpPr>
              <p:spPr>
                <a:xfrm>
                  <a:off x="18494013" y="7545888"/>
                  <a:ext cx="3517500" cy="3517500"/>
                </a:xfrm>
                <a:prstGeom prst="ellipse">
                  <a:avLst/>
                </a:prstGeom>
                <a:solidFill>
                  <a:srgbClr val="F3F3F3"/>
                </a:solidFill>
                <a:ln w="19050" cap="flat" cmpd="sng">
                  <a:solidFill>
                    <a:srgbClr val="DF402E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94" name="Google Shape;194;p21" descr="Resultado de imagem para elmas chips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10530" t="10216" r="11296" b="13372"/>
                <a:stretch/>
              </p:blipFill>
              <p:spPr>
                <a:xfrm>
                  <a:off x="19389450" y="8729148"/>
                  <a:ext cx="1726650" cy="1080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8" name="Google Shape;188;p21"/>
                <p:cNvSpPr/>
                <p:nvPr/>
              </p:nvSpPr>
              <p:spPr>
                <a:xfrm>
                  <a:off x="6068613" y="7545888"/>
                  <a:ext cx="3517500" cy="3517500"/>
                </a:xfrm>
                <a:prstGeom prst="ellipse">
                  <a:avLst/>
                </a:prstGeom>
                <a:solidFill>
                  <a:srgbClr val="F3F3F3"/>
                </a:solidFill>
                <a:ln w="19050" cap="flat" cmpd="sng">
                  <a:solidFill>
                    <a:srgbClr val="DF402E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92" name="Google Shape;192;p21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6948525" y="8909148"/>
                  <a:ext cx="1757701" cy="720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9" name="Google Shape;189;p21"/>
                <p:cNvSpPr/>
                <p:nvPr/>
              </p:nvSpPr>
              <p:spPr>
                <a:xfrm>
                  <a:off x="10210413" y="7545888"/>
                  <a:ext cx="3517500" cy="3517500"/>
                </a:xfrm>
                <a:prstGeom prst="ellipse">
                  <a:avLst/>
                </a:prstGeom>
                <a:solidFill>
                  <a:srgbClr val="F3F3F3"/>
                </a:solidFill>
                <a:ln w="19050" cap="flat" cmpd="sng">
                  <a:solidFill>
                    <a:srgbClr val="DF402E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202" name="Google Shape;202;p21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11244699" y="8548550"/>
                  <a:ext cx="1441175" cy="144119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7" name="Google Shape;187;p21"/>
                <p:cNvSpPr/>
                <p:nvPr/>
              </p:nvSpPr>
              <p:spPr>
                <a:xfrm>
                  <a:off x="1926813" y="7545888"/>
                  <a:ext cx="3517500" cy="3517500"/>
                </a:xfrm>
                <a:prstGeom prst="ellipse">
                  <a:avLst/>
                </a:prstGeom>
                <a:solidFill>
                  <a:srgbClr val="F3F3F3"/>
                </a:solidFill>
                <a:ln w="19050" cap="flat" cmpd="sng">
                  <a:solidFill>
                    <a:srgbClr val="DF402E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208" name="Google Shape;208;p21"/>
                <p:cNvPicPr preferRelativeResize="0"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81357" y="8530961"/>
                  <a:ext cx="2364011" cy="1476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90" name="Google Shape;190;p21"/>
                <p:cNvSpPr/>
                <p:nvPr/>
              </p:nvSpPr>
              <p:spPr>
                <a:xfrm>
                  <a:off x="14352213" y="7545888"/>
                  <a:ext cx="3517500" cy="3517500"/>
                </a:xfrm>
                <a:prstGeom prst="ellipse">
                  <a:avLst/>
                </a:prstGeom>
                <a:solidFill>
                  <a:srgbClr val="F3F3F3"/>
                </a:solidFill>
                <a:ln w="19050" cap="flat" cmpd="sng">
                  <a:solidFill>
                    <a:srgbClr val="DF402E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209" name="Google Shape;209;p21"/>
                <p:cNvPicPr preferRelativeResize="0"/>
                <p:nvPr/>
              </p:nvPicPr>
              <p:blipFill>
                <a:blip r:embed="rId8">
                  <a:alphaModFix/>
                </a:blip>
                <a:stretch>
                  <a:fillRect/>
                </a:stretch>
              </p:blipFill>
              <p:spPr>
                <a:xfrm>
                  <a:off x="15341325" y="8609886"/>
                  <a:ext cx="1441175" cy="1318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cxnSp>
          <p:nvCxnSpPr>
            <p:cNvPr id="34" name="Conector reto 33">
              <a:extLst>
                <a:ext uri="{FF2B5EF4-FFF2-40B4-BE49-F238E27FC236}">
                  <a16:creationId xmlns:a16="http://schemas.microsoft.com/office/drawing/2014/main" id="{EA2A841B-3B21-41D2-B7EB-DA4D84D30E6D}"/>
                </a:ext>
              </a:extLst>
            </p:cNvPr>
            <p:cNvCxnSpPr>
              <a:cxnSpLocks/>
            </p:cNvCxnSpPr>
            <p:nvPr/>
          </p:nvCxnSpPr>
          <p:spPr>
            <a:xfrm>
              <a:off x="3418405" y="6539688"/>
              <a:ext cx="17866695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00A2335F-1C7E-4A90-A1EE-7DECC215B030}"/>
              </a:ext>
            </a:extLst>
          </p:cNvPr>
          <p:cNvGrpSpPr/>
          <p:nvPr/>
        </p:nvGrpSpPr>
        <p:grpSpPr>
          <a:xfrm>
            <a:off x="1001455" y="2442713"/>
            <a:ext cx="22700595" cy="3523769"/>
            <a:chOff x="1001455" y="2442713"/>
            <a:chExt cx="22700595" cy="3523769"/>
          </a:xfrm>
        </p:grpSpPr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id="{EC925051-4D44-404E-A754-9B6974557C17}"/>
                </a:ext>
              </a:extLst>
            </p:cNvPr>
            <p:cNvGrpSpPr/>
            <p:nvPr/>
          </p:nvGrpSpPr>
          <p:grpSpPr>
            <a:xfrm>
              <a:off x="9800880" y="2442713"/>
              <a:ext cx="4833900" cy="1260000"/>
              <a:chOff x="9704625" y="2442713"/>
              <a:chExt cx="4833900" cy="1260000"/>
            </a:xfrm>
          </p:grpSpPr>
          <p:sp>
            <p:nvSpPr>
              <p:cNvPr id="181" name="Google Shape;181;p21"/>
              <p:cNvSpPr/>
              <p:nvPr/>
            </p:nvSpPr>
            <p:spPr>
              <a:xfrm>
                <a:off x="9704625" y="2442713"/>
                <a:ext cx="4833900" cy="1260000"/>
              </a:xfrm>
              <a:prstGeom prst="roundRect">
                <a:avLst>
                  <a:gd name="adj" fmla="val 50000"/>
                </a:avLst>
              </a:prstGeom>
              <a:solidFill>
                <a:srgbClr val="999999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60000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400" b="1" dirty="0">
                    <a:solidFill>
                      <a:srgbClr val="FFFFFF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PÁRIS PIEDADE</a:t>
                </a:r>
                <a:endParaRPr sz="2400" b="1" dirty="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00" dirty="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dirty="0">
                    <a:solidFill>
                      <a:srgbClr val="FFFFFF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PERFORMANCE AND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dirty="0">
                    <a:solidFill>
                      <a:srgbClr val="FFFFFF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DATABASE VP</a:t>
                </a:r>
                <a:endParaRPr dirty="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</p:txBody>
          </p:sp>
          <p:pic>
            <p:nvPicPr>
              <p:cNvPr id="182" name="Google Shape;182;p21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9738525" y="2442713"/>
                <a:ext cx="1260000" cy="1260000"/>
              </a:xfrm>
              <a:prstGeom prst="ellipse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" name="Agrupar 45">
              <a:extLst>
                <a:ext uri="{FF2B5EF4-FFF2-40B4-BE49-F238E27FC236}">
                  <a16:creationId xmlns:a16="http://schemas.microsoft.com/office/drawing/2014/main" id="{E45EE6F4-6E1C-432C-8EF2-F90F7FFFAB1B}"/>
                </a:ext>
              </a:extLst>
            </p:cNvPr>
            <p:cNvGrpSpPr/>
            <p:nvPr/>
          </p:nvGrpSpPr>
          <p:grpSpPr>
            <a:xfrm>
              <a:off x="18868150" y="4300406"/>
              <a:ext cx="4833900" cy="1666076"/>
              <a:chOff x="18868150" y="4300406"/>
              <a:chExt cx="4833900" cy="1666076"/>
            </a:xfrm>
          </p:grpSpPr>
          <p:grpSp>
            <p:nvGrpSpPr>
              <p:cNvPr id="6" name="Agrupar 5">
                <a:extLst>
                  <a:ext uri="{FF2B5EF4-FFF2-40B4-BE49-F238E27FC236}">
                    <a16:creationId xmlns:a16="http://schemas.microsoft.com/office/drawing/2014/main" id="{BAB2B2D6-5E72-45C6-BA1C-AE75B1E69D0F}"/>
                  </a:ext>
                </a:extLst>
              </p:cNvPr>
              <p:cNvGrpSpPr/>
              <p:nvPr/>
            </p:nvGrpSpPr>
            <p:grpSpPr>
              <a:xfrm>
                <a:off x="18868150" y="4300406"/>
                <a:ext cx="4833900" cy="1267869"/>
                <a:chOff x="19568825" y="3900356"/>
                <a:chExt cx="4833900" cy="1267869"/>
              </a:xfrm>
            </p:grpSpPr>
            <p:sp>
              <p:nvSpPr>
                <p:cNvPr id="205" name="Google Shape;205;p21"/>
                <p:cNvSpPr/>
                <p:nvPr/>
              </p:nvSpPr>
              <p:spPr>
                <a:xfrm>
                  <a:off x="19568825" y="3900356"/>
                  <a:ext cx="4833900" cy="126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99999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60000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2400" b="1" dirty="0">
                      <a:solidFill>
                        <a:srgbClr val="FFFFFF"/>
                      </a:solidFill>
                      <a:latin typeface="Varela Round"/>
                      <a:ea typeface="Varela Round"/>
                      <a:cs typeface="Varela Round"/>
                      <a:sym typeface="Varela Round"/>
                    </a:rPr>
                    <a:t>CÉSAR AUGUSTO</a:t>
                  </a:r>
                  <a:endParaRPr sz="2400" b="1" dirty="0">
                    <a:solidFill>
                      <a:srgbClr val="FFFFFF"/>
                    </a:solidFill>
                    <a:latin typeface="Varela Round"/>
                    <a:ea typeface="Varela Round"/>
                    <a:cs typeface="Varela Round"/>
                    <a:sym typeface="Varela Round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600" dirty="0">
                    <a:solidFill>
                      <a:srgbClr val="FFFFFF"/>
                    </a:solidFill>
                    <a:latin typeface="Varela Round"/>
                    <a:ea typeface="Varela Round"/>
                    <a:cs typeface="Varela Round"/>
                    <a:sym typeface="Varela Round"/>
                  </a:endParaRPr>
                </a:p>
                <a:p>
                  <a:pPr lvl="0"/>
                  <a:r>
                    <a:rPr lang="pt-BR" dirty="0">
                      <a:solidFill>
                        <a:srgbClr val="FFFFFF"/>
                      </a:solidFill>
                      <a:latin typeface="Varela Round"/>
                      <a:ea typeface="Varela Round"/>
                      <a:cs typeface="Varela Round"/>
                      <a:sym typeface="Varela Round"/>
                    </a:rPr>
                    <a:t>AD.OPS ASSISTANT</a:t>
                  </a:r>
                  <a:endParaRPr dirty="0">
                    <a:solidFill>
                      <a:srgbClr val="FFFFFF"/>
                    </a:solidFill>
                    <a:latin typeface="Varela Round"/>
                    <a:ea typeface="Varela Round"/>
                    <a:cs typeface="Varela Round"/>
                    <a:sym typeface="Varela Round"/>
                  </a:endParaRPr>
                </a:p>
              </p:txBody>
            </p:sp>
            <p:pic>
              <p:nvPicPr>
                <p:cNvPr id="206" name="Google Shape;206;p21"/>
                <p:cNvPicPr preferRelativeResize="0"/>
                <p:nvPr/>
              </p:nvPicPr>
              <p:blipFill>
                <a:blip r:embed="rId10">
                  <a:alphaModFix/>
                </a:blip>
                <a:stretch>
                  <a:fillRect/>
                </a:stretch>
              </p:blipFill>
              <p:spPr>
                <a:xfrm>
                  <a:off x="19593361" y="3908225"/>
                  <a:ext cx="1175739" cy="1260000"/>
                </a:xfrm>
                <a:prstGeom prst="ellipse">
                  <a:avLst/>
                </a:prstGeom>
                <a:noFill/>
                <a:ln>
                  <a:noFill/>
                </a:ln>
              </p:spPr>
            </p:pic>
          </p:grpSp>
          <p:cxnSp>
            <p:nvCxnSpPr>
              <p:cNvPr id="37" name="Conector reto 36">
                <a:extLst>
                  <a:ext uri="{FF2B5EF4-FFF2-40B4-BE49-F238E27FC236}">
                    <a16:creationId xmlns:a16="http://schemas.microsoft.com/office/drawing/2014/main" id="{EE3DBC96-4C77-400C-B18B-E55E6B50C2BE}"/>
                  </a:ext>
                </a:extLst>
              </p:cNvPr>
              <p:cNvCxnSpPr>
                <a:cxnSpLocks/>
                <a:endCxn id="205" idx="2"/>
              </p:cNvCxnSpPr>
              <p:nvPr/>
            </p:nvCxnSpPr>
            <p:spPr>
              <a:xfrm flipV="1">
                <a:off x="21285100" y="5560406"/>
                <a:ext cx="0" cy="406076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49" name="Agrupar 48">
              <a:extLst>
                <a:ext uri="{FF2B5EF4-FFF2-40B4-BE49-F238E27FC236}">
                  <a16:creationId xmlns:a16="http://schemas.microsoft.com/office/drawing/2014/main" id="{23284CE2-40CC-4C82-AB67-045B5C702592}"/>
                </a:ext>
              </a:extLst>
            </p:cNvPr>
            <p:cNvGrpSpPr/>
            <p:nvPr/>
          </p:nvGrpSpPr>
          <p:grpSpPr>
            <a:xfrm>
              <a:off x="12906319" y="4280863"/>
              <a:ext cx="4843300" cy="1685619"/>
              <a:chOff x="12906319" y="4280863"/>
              <a:chExt cx="4843300" cy="1685619"/>
            </a:xfrm>
          </p:grpSpPr>
          <p:grpSp>
            <p:nvGrpSpPr>
              <p:cNvPr id="29" name="Agrupar 28">
                <a:extLst>
                  <a:ext uri="{FF2B5EF4-FFF2-40B4-BE49-F238E27FC236}">
                    <a16:creationId xmlns:a16="http://schemas.microsoft.com/office/drawing/2014/main" id="{B71C9B52-580C-4857-8CAB-E7C87BCDB7AC}"/>
                  </a:ext>
                </a:extLst>
              </p:cNvPr>
              <p:cNvGrpSpPr/>
              <p:nvPr/>
            </p:nvGrpSpPr>
            <p:grpSpPr>
              <a:xfrm>
                <a:off x="12906319" y="4280863"/>
                <a:ext cx="4843300" cy="1287412"/>
                <a:chOff x="14621550" y="4223713"/>
                <a:chExt cx="4843300" cy="1287412"/>
              </a:xfrm>
            </p:grpSpPr>
            <p:sp>
              <p:nvSpPr>
                <p:cNvPr id="204" name="Google Shape;204;p21"/>
                <p:cNvSpPr/>
                <p:nvPr/>
              </p:nvSpPr>
              <p:spPr>
                <a:xfrm>
                  <a:off x="14630950" y="4243256"/>
                  <a:ext cx="4833900" cy="126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99999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60000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2400" b="1" dirty="0">
                      <a:solidFill>
                        <a:srgbClr val="FFFFFF"/>
                      </a:solidFill>
                      <a:latin typeface="Varela Round"/>
                      <a:ea typeface="Varela Round"/>
                      <a:cs typeface="Varela Round"/>
                      <a:sym typeface="Varela Round"/>
                    </a:rPr>
                    <a:t>FELIPE LIMA</a:t>
                  </a:r>
                  <a:endParaRPr sz="2400" b="1" dirty="0">
                    <a:solidFill>
                      <a:srgbClr val="FFFFFF"/>
                    </a:solidFill>
                    <a:latin typeface="Varela Round"/>
                    <a:ea typeface="Varela Round"/>
                    <a:cs typeface="Varela Round"/>
                    <a:sym typeface="Varela Round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600" dirty="0">
                    <a:solidFill>
                      <a:srgbClr val="FFFFFF"/>
                    </a:solidFill>
                    <a:latin typeface="Varela Round"/>
                    <a:ea typeface="Varela Round"/>
                    <a:cs typeface="Varela Round"/>
                    <a:sym typeface="Varela Round"/>
                  </a:endParaRPr>
                </a:p>
                <a:p>
                  <a:pPr lvl="0"/>
                  <a:r>
                    <a:rPr lang="pt-BR" dirty="0">
                      <a:solidFill>
                        <a:srgbClr val="FFFFFF"/>
                      </a:solidFill>
                      <a:latin typeface="Varela Round"/>
                      <a:ea typeface="Varela Round"/>
                      <a:cs typeface="Varela Round"/>
                      <a:sym typeface="Varela Round"/>
                    </a:rPr>
                    <a:t>AD.OPS ASSISTANT</a:t>
                  </a:r>
                  <a:endParaRPr dirty="0">
                    <a:solidFill>
                      <a:srgbClr val="FFFFFF"/>
                    </a:solidFill>
                    <a:latin typeface="Varela Round"/>
                    <a:ea typeface="Varela Round"/>
                    <a:cs typeface="Varela Round"/>
                    <a:sym typeface="Varela Round"/>
                  </a:endParaRPr>
                </a:p>
              </p:txBody>
            </p:sp>
            <p:pic>
              <p:nvPicPr>
                <p:cNvPr id="207" name="Google Shape;207;p21"/>
                <p:cNvPicPr preferRelativeResize="0"/>
                <p:nvPr/>
              </p:nvPicPr>
              <p:blipFill>
                <a:blip r:embed="rId11">
                  <a:alphaModFix/>
                </a:blip>
                <a:stretch>
                  <a:fillRect/>
                </a:stretch>
              </p:blipFill>
              <p:spPr>
                <a:xfrm>
                  <a:off x="14621550" y="4223713"/>
                  <a:ext cx="1282763" cy="1287412"/>
                </a:xfrm>
                <a:prstGeom prst="ellipse">
                  <a:avLst/>
                </a:prstGeom>
                <a:noFill/>
                <a:ln>
                  <a:noFill/>
                </a:ln>
              </p:spPr>
            </p:pic>
          </p:grpSp>
          <p:cxnSp>
            <p:nvCxnSpPr>
              <p:cNvPr id="39" name="Conector reto 38">
                <a:extLst>
                  <a:ext uri="{FF2B5EF4-FFF2-40B4-BE49-F238E27FC236}">
                    <a16:creationId xmlns:a16="http://schemas.microsoft.com/office/drawing/2014/main" id="{7446DAF4-2334-4028-A533-6B0B7462CDEB}"/>
                  </a:ext>
                </a:extLst>
              </p:cNvPr>
              <p:cNvCxnSpPr>
                <a:cxnSpLocks/>
                <a:endCxn id="204" idx="2"/>
              </p:cNvCxnSpPr>
              <p:nvPr/>
            </p:nvCxnSpPr>
            <p:spPr>
              <a:xfrm flipV="1">
                <a:off x="15327969" y="5560406"/>
                <a:ext cx="4700" cy="406076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54" name="Agrupar 53">
              <a:extLst>
                <a:ext uri="{FF2B5EF4-FFF2-40B4-BE49-F238E27FC236}">
                  <a16:creationId xmlns:a16="http://schemas.microsoft.com/office/drawing/2014/main" id="{0F76E4AE-0F06-40C0-BF38-2722B77E9133}"/>
                </a:ext>
              </a:extLst>
            </p:cNvPr>
            <p:cNvGrpSpPr/>
            <p:nvPr/>
          </p:nvGrpSpPr>
          <p:grpSpPr>
            <a:xfrm>
              <a:off x="6953887" y="4291588"/>
              <a:ext cx="4833900" cy="1674893"/>
              <a:chOff x="6953887" y="4291588"/>
              <a:chExt cx="4833900" cy="1674893"/>
            </a:xfrm>
          </p:grpSpPr>
          <p:grpSp>
            <p:nvGrpSpPr>
              <p:cNvPr id="30" name="Agrupar 29">
                <a:extLst>
                  <a:ext uri="{FF2B5EF4-FFF2-40B4-BE49-F238E27FC236}">
                    <a16:creationId xmlns:a16="http://schemas.microsoft.com/office/drawing/2014/main" id="{989FD062-A6C2-4CD0-AE93-17C7A13D9FD8}"/>
                  </a:ext>
                </a:extLst>
              </p:cNvPr>
              <p:cNvGrpSpPr/>
              <p:nvPr/>
            </p:nvGrpSpPr>
            <p:grpSpPr>
              <a:xfrm>
                <a:off x="6953887" y="4291588"/>
                <a:ext cx="4833900" cy="1260000"/>
                <a:chOff x="7249102" y="4234438"/>
                <a:chExt cx="4833900" cy="1260000"/>
              </a:xfrm>
            </p:grpSpPr>
            <p:sp>
              <p:nvSpPr>
                <p:cNvPr id="179" name="Google Shape;179;p21"/>
                <p:cNvSpPr/>
                <p:nvPr/>
              </p:nvSpPr>
              <p:spPr>
                <a:xfrm>
                  <a:off x="7249102" y="4234438"/>
                  <a:ext cx="4833900" cy="126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99999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60000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2400" b="1" dirty="0">
                      <a:solidFill>
                        <a:srgbClr val="FFFFFF"/>
                      </a:solidFill>
                      <a:latin typeface="Varela Round"/>
                      <a:ea typeface="Varela Round"/>
                      <a:cs typeface="Varela Round"/>
                      <a:sym typeface="Varela Round"/>
                    </a:rPr>
                    <a:t>WILSON SILVA</a:t>
                  </a:r>
                  <a:endParaRPr sz="2400" b="1" dirty="0">
                    <a:solidFill>
                      <a:srgbClr val="FFFFFF"/>
                    </a:solidFill>
                    <a:latin typeface="Varela Round"/>
                    <a:ea typeface="Varela Round"/>
                    <a:cs typeface="Varela Round"/>
                    <a:sym typeface="Varela Round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600" dirty="0">
                    <a:solidFill>
                      <a:srgbClr val="FFFFFF"/>
                    </a:solidFill>
                    <a:latin typeface="Varela Round"/>
                    <a:ea typeface="Varela Round"/>
                    <a:cs typeface="Varela Round"/>
                    <a:sym typeface="Varela Round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dirty="0">
                      <a:solidFill>
                        <a:srgbClr val="FFFFFF"/>
                      </a:solidFill>
                      <a:latin typeface="Varela Round"/>
                      <a:ea typeface="Varela Round"/>
                      <a:cs typeface="Varela Round"/>
                      <a:sym typeface="Varela Round"/>
                    </a:rPr>
                    <a:t>AD.OPS SUPERVISOR</a:t>
                  </a:r>
                  <a:endParaRPr dirty="0">
                    <a:solidFill>
                      <a:srgbClr val="FFFFFF"/>
                    </a:solidFill>
                    <a:latin typeface="Varela Round"/>
                    <a:ea typeface="Varela Round"/>
                    <a:cs typeface="Varela Round"/>
                    <a:sym typeface="Varela Round"/>
                  </a:endParaRPr>
                </a:p>
              </p:txBody>
            </p:sp>
            <p:pic>
              <p:nvPicPr>
                <p:cNvPr id="185" name="Google Shape;185;p21"/>
                <p:cNvPicPr preferRelativeResize="0"/>
                <p:nvPr/>
              </p:nvPicPr>
              <p:blipFill>
                <a:blip r:embed="rId12">
                  <a:alphaModFix/>
                </a:blip>
                <a:stretch>
                  <a:fillRect/>
                </a:stretch>
              </p:blipFill>
              <p:spPr>
                <a:xfrm>
                  <a:off x="7265540" y="4234438"/>
                  <a:ext cx="1260000" cy="1260000"/>
                </a:xfrm>
                <a:prstGeom prst="ellipse">
                  <a:avLst/>
                </a:prstGeom>
                <a:noFill/>
                <a:ln>
                  <a:noFill/>
                </a:ln>
              </p:spPr>
            </p:pic>
          </p:grpSp>
          <p:cxnSp>
            <p:nvCxnSpPr>
              <p:cNvPr id="53" name="Conector reto 52">
                <a:extLst>
                  <a:ext uri="{FF2B5EF4-FFF2-40B4-BE49-F238E27FC236}">
                    <a16:creationId xmlns:a16="http://schemas.microsoft.com/office/drawing/2014/main" id="{BCA1986A-442C-4F32-9789-511BB4DDDD47}"/>
                  </a:ext>
                </a:extLst>
              </p:cNvPr>
              <p:cNvCxnSpPr/>
              <p:nvPr/>
            </p:nvCxnSpPr>
            <p:spPr>
              <a:xfrm flipV="1">
                <a:off x="9370837" y="5551588"/>
                <a:ext cx="0" cy="4148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59" name="Agrupar 58">
              <a:extLst>
                <a:ext uri="{FF2B5EF4-FFF2-40B4-BE49-F238E27FC236}">
                  <a16:creationId xmlns:a16="http://schemas.microsoft.com/office/drawing/2014/main" id="{2DDCDB08-7D04-47D9-8A7C-9FE9C0C3AC40}"/>
                </a:ext>
              </a:extLst>
            </p:cNvPr>
            <p:cNvGrpSpPr/>
            <p:nvPr/>
          </p:nvGrpSpPr>
          <p:grpSpPr>
            <a:xfrm>
              <a:off x="1001455" y="4291588"/>
              <a:ext cx="4833900" cy="1674893"/>
              <a:chOff x="1001455" y="4291588"/>
              <a:chExt cx="4833900" cy="1674893"/>
            </a:xfrm>
          </p:grpSpPr>
          <p:grpSp>
            <p:nvGrpSpPr>
              <p:cNvPr id="3" name="Agrupar 2">
                <a:extLst>
                  <a:ext uri="{FF2B5EF4-FFF2-40B4-BE49-F238E27FC236}">
                    <a16:creationId xmlns:a16="http://schemas.microsoft.com/office/drawing/2014/main" id="{DEB1D978-5E54-41D5-82A7-D35DD8AB75AF}"/>
                  </a:ext>
                </a:extLst>
              </p:cNvPr>
              <p:cNvGrpSpPr/>
              <p:nvPr/>
            </p:nvGrpSpPr>
            <p:grpSpPr>
              <a:xfrm>
                <a:off x="1001455" y="4291588"/>
                <a:ext cx="4833900" cy="1268818"/>
                <a:chOff x="72025" y="3891538"/>
                <a:chExt cx="4833900" cy="1268818"/>
              </a:xfrm>
            </p:grpSpPr>
            <p:sp>
              <p:nvSpPr>
                <p:cNvPr id="183" name="Google Shape;183;p21"/>
                <p:cNvSpPr/>
                <p:nvPr/>
              </p:nvSpPr>
              <p:spPr>
                <a:xfrm>
                  <a:off x="72025" y="3900356"/>
                  <a:ext cx="4833900" cy="126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99999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60000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2400" b="1" dirty="0">
                      <a:solidFill>
                        <a:srgbClr val="FFFFFF"/>
                      </a:solidFill>
                      <a:latin typeface="Varela Round"/>
                      <a:ea typeface="Varela Round"/>
                      <a:cs typeface="Varela Round"/>
                      <a:sym typeface="Varela Round"/>
                    </a:rPr>
                    <a:t>SIMONE HENRIQUE</a:t>
                  </a:r>
                  <a:endParaRPr sz="2400" b="1" dirty="0">
                    <a:solidFill>
                      <a:srgbClr val="FFFFFF"/>
                    </a:solidFill>
                    <a:latin typeface="Varela Round"/>
                    <a:ea typeface="Varela Round"/>
                    <a:cs typeface="Varela Round"/>
                    <a:sym typeface="Varela Round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600" dirty="0">
                    <a:solidFill>
                      <a:srgbClr val="FFFFFF"/>
                    </a:solidFill>
                    <a:latin typeface="Varela Round"/>
                    <a:ea typeface="Varela Round"/>
                    <a:cs typeface="Varela Round"/>
                    <a:sym typeface="Varela Round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dirty="0">
                      <a:solidFill>
                        <a:srgbClr val="FFFFFF"/>
                      </a:solidFill>
                      <a:latin typeface="Varela Round"/>
                      <a:ea typeface="Varela Round"/>
                      <a:cs typeface="Varela Round"/>
                      <a:sym typeface="Varela Round"/>
                    </a:rPr>
                    <a:t>OPERATION MEDIA MANAGER</a:t>
                  </a:r>
                  <a:endParaRPr dirty="0">
                    <a:solidFill>
                      <a:srgbClr val="FFFFFF"/>
                    </a:solidFill>
                    <a:latin typeface="Varela Round"/>
                    <a:ea typeface="Varela Round"/>
                    <a:cs typeface="Varela Round"/>
                    <a:sym typeface="Varela Round"/>
                  </a:endParaRPr>
                </a:p>
              </p:txBody>
            </p:sp>
            <p:pic>
              <p:nvPicPr>
                <p:cNvPr id="184" name="Google Shape;184;p21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l="10115" t="16929" r="47683" b="26694"/>
                <a:stretch/>
              </p:blipFill>
              <p:spPr>
                <a:xfrm>
                  <a:off x="72038" y="3891538"/>
                  <a:ext cx="1260000" cy="1260000"/>
                </a:xfrm>
                <a:prstGeom prst="ellipse">
                  <a:avLst/>
                </a:prstGeom>
                <a:noFill/>
                <a:ln>
                  <a:noFill/>
                </a:ln>
              </p:spPr>
            </p:pic>
          </p:grpSp>
          <p:cxnSp>
            <p:nvCxnSpPr>
              <p:cNvPr id="56" name="Conector reto 55">
                <a:extLst>
                  <a:ext uri="{FF2B5EF4-FFF2-40B4-BE49-F238E27FC236}">
                    <a16:creationId xmlns:a16="http://schemas.microsoft.com/office/drawing/2014/main" id="{42B376D8-21ED-4CB6-B307-55E6ED084885}"/>
                  </a:ext>
                </a:extLst>
              </p:cNvPr>
              <p:cNvCxnSpPr/>
              <p:nvPr/>
            </p:nvCxnSpPr>
            <p:spPr>
              <a:xfrm flipV="1">
                <a:off x="3418405" y="5551588"/>
                <a:ext cx="0" cy="4148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pic>
        <p:nvPicPr>
          <p:cNvPr id="4098" name="Picture 2" descr="Visa logo">
            <a:extLst>
              <a:ext uri="{FF2B5EF4-FFF2-40B4-BE49-F238E27FC236}">
                <a16:creationId xmlns:a16="http://schemas.microsoft.com/office/drawing/2014/main" id="{D49D591A-752D-4B0C-AE5E-A8EA17DC1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3488" y="6605588"/>
            <a:ext cx="16002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PROCESS</a:t>
            </a:r>
            <a:endParaRPr sz="2400" b="1" i="0" u="none" strike="noStrike" cap="none" dirty="0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3061355" y="40786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25" tIns="360025" rIns="360025" bIns="360025" anchor="ctr" anchorCtr="0">
            <a:noAutofit/>
          </a:bodyPr>
          <a:lstStyle/>
          <a:p>
            <a:pPr lvl="0" algn="ctr"/>
            <a:r>
              <a:rPr lang="en-US" sz="1900" b="1" dirty="0">
                <a:latin typeface="Varela Round"/>
                <a:ea typeface="Varela Round"/>
                <a:cs typeface="Varela Round"/>
                <a:sym typeface="Varela Round"/>
              </a:rPr>
              <a:t>The campaign plan is approved</a:t>
            </a:r>
            <a:endParaRPr sz="1900" b="1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9182152" y="22870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25" tIns="360025" rIns="360025" bIns="360025" anchor="ctr" anchorCtr="0">
            <a:noAutofit/>
          </a:bodyPr>
          <a:lstStyle/>
          <a:p>
            <a:pPr lvl="0" algn="ctr"/>
            <a:r>
              <a:rPr lang="en-US" sz="1900" b="1" dirty="0" err="1"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r>
              <a:rPr lang="en-US" sz="1900" b="1" dirty="0">
                <a:latin typeface="Varela Round"/>
                <a:ea typeface="Varela Round"/>
                <a:cs typeface="Varela Round"/>
                <a:sym typeface="Varela Round"/>
              </a:rPr>
              <a:t>  is flag above the new campaign</a:t>
            </a:r>
            <a:endParaRPr sz="1900" b="1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1949312" y="5870216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25" tIns="360025" rIns="360025" bIns="360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dirty="0">
                <a:latin typeface="Varela Round"/>
                <a:ea typeface="Varela Round"/>
                <a:cs typeface="Varela Round"/>
                <a:sym typeface="Varela Round"/>
              </a:rPr>
              <a:t>media </a:t>
            </a:r>
            <a:r>
              <a:rPr lang="pt-BR" sz="1900" b="1" dirty="0" err="1">
                <a:latin typeface="Varela Round"/>
                <a:ea typeface="Varela Round"/>
                <a:cs typeface="Varela Round"/>
                <a:sym typeface="Varela Round"/>
              </a:rPr>
              <a:t>fills</a:t>
            </a:r>
            <a:r>
              <a:rPr lang="pt-BR" sz="1900" b="1" dirty="0">
                <a:latin typeface="Varela Round"/>
                <a:ea typeface="Varela Round"/>
                <a:cs typeface="Varela Round"/>
                <a:sym typeface="Varela Round"/>
              </a:rPr>
              <a:t> in </a:t>
            </a:r>
            <a:r>
              <a:rPr lang="pt-BR" sz="1900" b="1" dirty="0" err="1">
                <a:latin typeface="Varela Round"/>
                <a:ea typeface="Varela Round"/>
                <a:cs typeface="Varela Round"/>
                <a:sym typeface="Varela Round"/>
              </a:rPr>
              <a:t>ad.placement</a:t>
            </a:r>
            <a:r>
              <a:rPr lang="pt-BR" sz="1900" b="1" dirty="0"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1900" b="1" dirty="0" err="1">
                <a:latin typeface="Varela Round"/>
                <a:ea typeface="Varela Round"/>
                <a:cs typeface="Varela Round"/>
                <a:sym typeface="Varela Round"/>
              </a:rPr>
              <a:t>and</a:t>
            </a:r>
            <a:r>
              <a:rPr lang="pt-BR" sz="1900" b="1" dirty="0"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1900" b="1" dirty="0" err="1">
                <a:latin typeface="Varela Round"/>
                <a:ea typeface="Varela Round"/>
                <a:cs typeface="Varela Round"/>
                <a:sym typeface="Varela Round"/>
              </a:rPr>
              <a:t>sent</a:t>
            </a:r>
            <a:r>
              <a:rPr lang="pt-BR" sz="1900" b="1" dirty="0"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1900" b="1" dirty="0" err="1">
                <a:latin typeface="Varela Round"/>
                <a:ea typeface="Varela Round"/>
                <a:cs typeface="Varela Round"/>
                <a:sym typeface="Varela Round"/>
              </a:rPr>
              <a:t>to</a:t>
            </a:r>
            <a:r>
              <a:rPr lang="pt-BR" sz="1900" b="1" dirty="0"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1900" b="1" dirty="0" err="1"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endParaRPr sz="1900" b="1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1949312" y="76618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25" tIns="360025" rIns="360025" bIns="360025" anchor="ctr" anchorCtr="0">
            <a:noAutofit/>
          </a:bodyPr>
          <a:lstStyle/>
          <a:p>
            <a:pPr lvl="0" algn="ctr"/>
            <a:r>
              <a:rPr lang="en-US" sz="1900" b="1" dirty="0">
                <a:latin typeface="Varela Round"/>
                <a:ea typeface="Varela Round"/>
                <a:cs typeface="Varela Round"/>
                <a:sym typeface="Varela Round"/>
              </a:rPr>
              <a:t>Media mounts and send the spreadsheet of attendance production</a:t>
            </a:r>
            <a:endParaRPr sz="1900" b="1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9182152" y="11245016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25" tIns="360025" rIns="360025" bIns="360025" anchor="ctr" anchorCtr="0">
            <a:noAutofit/>
          </a:bodyPr>
          <a:lstStyle/>
          <a:p>
            <a:pPr lvl="0" algn="ctr"/>
            <a:r>
              <a:rPr lang="en-US" sz="1900" b="1" dirty="0">
                <a:latin typeface="Varela Round"/>
                <a:ea typeface="Varela Round"/>
                <a:cs typeface="Varela Round"/>
                <a:sym typeface="Varela Round"/>
              </a:rPr>
              <a:t>attendance receives the named creatives according to production spreadsheet</a:t>
            </a:r>
            <a:endParaRPr sz="1900" b="1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3061355" y="94534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25" tIns="360025" rIns="360025" bIns="360025" anchor="ctr" anchorCtr="0">
            <a:noAutofit/>
          </a:bodyPr>
          <a:lstStyle/>
          <a:p>
            <a:pPr lvl="0" algn="ctr"/>
            <a:r>
              <a:rPr lang="en-US" sz="1900" b="1" dirty="0">
                <a:latin typeface="Varela Round"/>
                <a:ea typeface="Varela Round"/>
                <a:cs typeface="Varela Round"/>
                <a:sym typeface="Varela Round"/>
              </a:rPr>
              <a:t>Attendance asks creative production to creation team</a:t>
            </a:r>
            <a:endParaRPr sz="1900" b="1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15302948" y="94534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25" tIns="360025" rIns="360025" bIns="360025" anchor="ctr" anchorCtr="0">
            <a:noAutofit/>
          </a:bodyPr>
          <a:lstStyle/>
          <a:p>
            <a:pPr lvl="0" algn="ctr"/>
            <a:r>
              <a:rPr lang="en-US" sz="1900" b="1" dirty="0">
                <a:latin typeface="Varela Round"/>
                <a:ea typeface="Varela Round"/>
                <a:cs typeface="Varela Round"/>
                <a:sym typeface="Varela Round"/>
              </a:rPr>
              <a:t>media organizes the delivery networking according to format/vehicle and send to </a:t>
            </a:r>
            <a:r>
              <a:rPr lang="en-US" sz="1900" b="1" dirty="0" err="1"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endParaRPr sz="1900" b="1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16316971" y="76618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25" tIns="360025" rIns="360025" bIns="360025" anchor="ctr" anchorCtr="0">
            <a:noAutofit/>
          </a:bodyPr>
          <a:lstStyle/>
          <a:p>
            <a:pPr lvl="0" algn="ctr"/>
            <a:r>
              <a:rPr lang="en-US" sz="1900" b="1" dirty="0" err="1"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r>
              <a:rPr lang="en-US" sz="1900" b="1" dirty="0">
                <a:latin typeface="Varela Round"/>
                <a:ea typeface="Varela Round"/>
                <a:cs typeface="Varela Round"/>
                <a:sym typeface="Varela Round"/>
              </a:rPr>
              <a:t> checks the receive creatives and input in the </a:t>
            </a:r>
            <a:r>
              <a:rPr lang="en-US" sz="1900" b="1" dirty="0" err="1">
                <a:latin typeface="Varela Round"/>
                <a:ea typeface="Varela Round"/>
                <a:cs typeface="Varela Round"/>
                <a:sym typeface="Varela Round"/>
              </a:rPr>
              <a:t>ad.sever</a:t>
            </a:r>
            <a:r>
              <a:rPr lang="en-US" sz="1900" b="1" dirty="0">
                <a:latin typeface="Varela Round"/>
                <a:ea typeface="Varela Round"/>
                <a:cs typeface="Varela Round"/>
                <a:sym typeface="Varela Round"/>
              </a:rPr>
              <a:t> and generate the tags</a:t>
            </a:r>
            <a:endParaRPr sz="1900" b="1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16316971" y="5870216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25" tIns="360025" rIns="360025" bIns="360025" anchor="ctr" anchorCtr="0">
            <a:noAutofit/>
          </a:bodyPr>
          <a:lstStyle/>
          <a:p>
            <a:pPr lvl="0" algn="ctr"/>
            <a:r>
              <a:rPr lang="en-US" sz="1900" b="1" dirty="0" err="1"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r>
              <a:rPr lang="en-US" sz="1900" b="1" dirty="0">
                <a:latin typeface="Varela Round"/>
                <a:ea typeface="Varela Round"/>
                <a:cs typeface="Varela Round"/>
                <a:sym typeface="Varela Round"/>
              </a:rPr>
              <a:t> send the information to the vehicles</a:t>
            </a:r>
            <a:endParaRPr sz="1900" b="1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15302948" y="40786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25" tIns="360025" rIns="360025" bIns="360025" anchor="ctr" anchorCtr="0">
            <a:noAutofit/>
          </a:bodyPr>
          <a:lstStyle/>
          <a:p>
            <a:pPr lvl="0" algn="ctr"/>
            <a:r>
              <a:rPr lang="en-US" sz="1900" b="1" dirty="0" err="1"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r>
              <a:rPr lang="en-US" sz="1900" b="1" dirty="0">
                <a:latin typeface="Varela Round"/>
                <a:ea typeface="Varela Round"/>
                <a:cs typeface="Varela Round"/>
                <a:sym typeface="Varela Round"/>
              </a:rPr>
              <a:t> cheeks the accounting of the banners and does the control camping</a:t>
            </a:r>
            <a:endParaRPr sz="1900" b="1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228" name="Google Shape;22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24542" y="3738159"/>
            <a:ext cx="7035100" cy="703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789957" flipH="1">
            <a:off x="7329342" y="3070695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635906" flipH="1">
            <a:off x="5727929" y="5220671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4009553" flipH="1">
            <a:off x="5072589" y="7020151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936168" flipH="1">
            <a:off x="5610185" y="8824328"/>
            <a:ext cx="744156" cy="656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97896" flipH="1">
            <a:off x="7285188" y="10982704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8668174" flipH="1">
            <a:off x="18093318" y="5220669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7416583" flipH="1">
            <a:off x="18817134" y="7020151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307478" flipH="1">
            <a:off x="18084617" y="8902097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957572" flipH="1">
            <a:off x="16527752" y="10982703"/>
            <a:ext cx="672180" cy="592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BENIFTS ALMAP BBDO AND OBSERVATIONS</a:t>
            </a:r>
            <a:endParaRPr sz="2400" b="1" i="0" u="none" strike="noStrike" cap="none" dirty="0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2960050" y="5588050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pt-BR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Varela Round"/>
                <a:ea typeface="Varela Round"/>
                <a:cs typeface="Varela Round"/>
                <a:sym typeface="Varela Round"/>
              </a:rPr>
              <a:t>Real-time </a:t>
            </a:r>
            <a:r>
              <a:rPr lang="pt-BR" sz="24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Varela Round"/>
                <a:ea typeface="Varela Round"/>
                <a:cs typeface="Varela Round"/>
                <a:sym typeface="Varela Round"/>
              </a:rPr>
              <a:t>unification</a:t>
            </a:r>
            <a:r>
              <a:rPr lang="pt-BR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24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Varela Round"/>
                <a:ea typeface="Varela Round"/>
                <a:cs typeface="Varela Round"/>
                <a:sym typeface="Varela Round"/>
              </a:rPr>
              <a:t>by</a:t>
            </a:r>
            <a:r>
              <a:rPr lang="pt-BR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24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Varela Round"/>
                <a:ea typeface="Varela Round"/>
                <a:cs typeface="Varela Round"/>
                <a:sym typeface="Varela Round"/>
              </a:rPr>
              <a:t>campaign</a:t>
            </a:r>
            <a:endParaRPr lang="pt-BR" sz="2400" dirty="0">
              <a:solidFill>
                <a:schemeClr val="bg1">
                  <a:lumMod val="50000"/>
                  <a:lumOff val="50000"/>
                </a:schemeClr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10138150" y="5658100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Varela Round"/>
                <a:ea typeface="Varela Round"/>
                <a:cs typeface="Varela Round"/>
                <a:sym typeface="Varela Round"/>
              </a:rPr>
              <a:t>Checking between conversion database and vehicles</a:t>
            </a:r>
          </a:p>
        </p:txBody>
      </p:sp>
      <p:sp>
        <p:nvSpPr>
          <p:cNvPr id="245" name="Google Shape;245;p23"/>
          <p:cNvSpPr txBox="1"/>
          <p:nvPr/>
        </p:nvSpPr>
        <p:spPr>
          <a:xfrm>
            <a:off x="17391800" y="5658100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Varela Round"/>
                <a:ea typeface="Varela Round"/>
                <a:cs typeface="Varela Round"/>
                <a:sym typeface="Varela Round"/>
              </a:rPr>
              <a:t>Immediacy. Minor responding time to adjust in campaign</a:t>
            </a:r>
          </a:p>
        </p:txBody>
      </p:sp>
      <p:sp>
        <p:nvSpPr>
          <p:cNvPr id="246" name="Google Shape;246;p23"/>
          <p:cNvSpPr txBox="1"/>
          <p:nvPr/>
        </p:nvSpPr>
        <p:spPr>
          <a:xfrm>
            <a:off x="2922263" y="10539425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Varela Round"/>
                <a:ea typeface="Varela Round"/>
                <a:cs typeface="Varela Round"/>
                <a:sym typeface="Varela Round"/>
              </a:rPr>
              <a:t>Better quality of database for better decision making</a:t>
            </a:r>
          </a:p>
        </p:txBody>
      </p:sp>
      <p:sp>
        <p:nvSpPr>
          <p:cNvPr id="247" name="Google Shape;247;p23"/>
          <p:cNvSpPr txBox="1"/>
          <p:nvPr/>
        </p:nvSpPr>
        <p:spPr>
          <a:xfrm>
            <a:off x="10100363" y="10609475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400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The integrated vision between the media, </a:t>
            </a:r>
            <a:r>
              <a:rPr lang="en-US" sz="2400" dirty="0" err="1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r>
              <a:rPr lang="en-US" sz="2400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, and BI to set better analyses</a:t>
            </a:r>
            <a:endParaRPr sz="2400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17354013" y="10609475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400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Reduced SLA (</a:t>
            </a:r>
            <a:r>
              <a:rPr lang="en-US" sz="2400" dirty="0" err="1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2days</a:t>
            </a:r>
            <a:r>
              <a:rPr lang="en-US" sz="2400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) after received the material inside the patron</a:t>
            </a:r>
            <a:endParaRPr sz="2400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249" name="Google Shape;249;p23"/>
          <p:cNvPicPr preferRelativeResize="0"/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3755500" y="2739763"/>
            <a:ext cx="2520000" cy="2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/>
          <p:cNvPicPr preferRelativeResize="0"/>
          <p:nvPr/>
        </p:nvPicPr>
        <p:blipFill>
          <a:blip r:embed="rId4">
            <a:alphaModFix amt="42000"/>
          </a:blip>
          <a:stretch>
            <a:fillRect/>
          </a:stretch>
        </p:blipFill>
        <p:spPr>
          <a:xfrm>
            <a:off x="10791910" y="2616175"/>
            <a:ext cx="2520000" cy="2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/>
          <p:cNvPicPr preferRelativeResize="0"/>
          <p:nvPr/>
        </p:nvPicPr>
        <p:blipFill>
          <a:blip r:embed="rId5">
            <a:alphaModFix amt="42000"/>
          </a:blip>
          <a:stretch>
            <a:fillRect/>
          </a:stretch>
        </p:blipFill>
        <p:spPr>
          <a:xfrm>
            <a:off x="3717713" y="7583199"/>
            <a:ext cx="2520000" cy="2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/>
          <p:cNvPicPr preferRelativeResize="0"/>
          <p:nvPr/>
        </p:nvPicPr>
        <p:blipFill>
          <a:blip r:embed="rId6">
            <a:alphaModFix amt="42000"/>
          </a:blip>
          <a:stretch>
            <a:fillRect/>
          </a:stretch>
        </p:blipFill>
        <p:spPr>
          <a:xfrm>
            <a:off x="10791910" y="7751138"/>
            <a:ext cx="2520000" cy="2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/>
          <p:cNvPicPr preferRelativeResize="0"/>
          <p:nvPr/>
        </p:nvPicPr>
        <p:blipFill>
          <a:blip r:embed="rId7">
            <a:alphaModFix amt="42000"/>
          </a:blip>
          <a:stretch>
            <a:fillRect/>
          </a:stretch>
        </p:blipFill>
        <p:spPr>
          <a:xfrm>
            <a:off x="18187250" y="7215200"/>
            <a:ext cx="2520000" cy="25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6D355D0-F7D8-4791-BCE6-50BC96F728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23293" y="2636473"/>
            <a:ext cx="2350975" cy="252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"/>
          <p:cNvSpPr/>
          <p:nvPr/>
        </p:nvSpPr>
        <p:spPr>
          <a:xfrm>
            <a:off x="8528788" y="4352863"/>
            <a:ext cx="3174600" cy="7125000"/>
          </a:xfrm>
          <a:prstGeom prst="rect">
            <a:avLst/>
          </a:prstGeom>
          <a:solidFill>
            <a:srgbClr val="38761D">
              <a:alpha val="9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261" name="Google Shape;2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2525" y="4534388"/>
            <a:ext cx="1806073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8863" y="4544213"/>
            <a:ext cx="20955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27163" y="4667038"/>
            <a:ext cx="1241008" cy="44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82088" y="4742000"/>
            <a:ext cx="2468001" cy="2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434113" y="4667048"/>
            <a:ext cx="1806050" cy="4401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p24"/>
          <p:cNvCxnSpPr/>
          <p:nvPr/>
        </p:nvCxnSpPr>
        <p:spPr>
          <a:xfrm>
            <a:off x="1515225" y="5749125"/>
            <a:ext cx="21356700" cy="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24"/>
          <p:cNvCxnSpPr/>
          <p:nvPr/>
        </p:nvCxnSpPr>
        <p:spPr>
          <a:xfrm>
            <a:off x="1515225" y="7093219"/>
            <a:ext cx="21356700" cy="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" name="Google Shape;268;p24"/>
          <p:cNvCxnSpPr/>
          <p:nvPr/>
        </p:nvCxnSpPr>
        <p:spPr>
          <a:xfrm>
            <a:off x="1515225" y="8437313"/>
            <a:ext cx="21356700" cy="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24"/>
          <p:cNvCxnSpPr/>
          <p:nvPr/>
        </p:nvCxnSpPr>
        <p:spPr>
          <a:xfrm>
            <a:off x="1515225" y="9781406"/>
            <a:ext cx="21356700" cy="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24"/>
          <p:cNvCxnSpPr/>
          <p:nvPr/>
        </p:nvCxnSpPr>
        <p:spPr>
          <a:xfrm>
            <a:off x="1515225" y="11125500"/>
            <a:ext cx="21356700" cy="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1" name="Google Shape;271;p24"/>
          <p:cNvSpPr/>
          <p:nvPr/>
        </p:nvSpPr>
        <p:spPr>
          <a:xfrm>
            <a:off x="1757388" y="587446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CPM	</a:t>
            </a:r>
            <a:endParaRPr sz="3000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CPV</a:t>
            </a:r>
            <a:endParaRPr sz="3000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RICH MEDIA</a:t>
            </a:r>
            <a:endParaRPr sz="3000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CPC</a:t>
            </a:r>
            <a:endParaRPr sz="3000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4823463" y="58173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BF9000"/>
                </a:solidFill>
                <a:latin typeface="Varela Round"/>
                <a:ea typeface="Varela Round"/>
                <a:cs typeface="Varela Round"/>
                <a:sym typeface="Varela Round"/>
              </a:rPr>
              <a:t>R$ 0,04</a:t>
            </a:r>
            <a:endParaRPr sz="3000" dirty="0">
              <a:solidFill>
                <a:srgbClr val="BF9000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BF9000"/>
                </a:solidFill>
                <a:latin typeface="Varela Round"/>
                <a:ea typeface="Varela Round"/>
                <a:cs typeface="Varela Round"/>
                <a:sym typeface="Varela Round"/>
              </a:rPr>
              <a:t>R$ 0,60</a:t>
            </a:r>
            <a:endParaRPr sz="3000" dirty="0">
              <a:solidFill>
                <a:srgbClr val="BF9000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BF9000"/>
                </a:solidFill>
                <a:latin typeface="Varela Round"/>
                <a:ea typeface="Varela Round"/>
                <a:cs typeface="Varela Round"/>
                <a:sym typeface="Varela Round"/>
              </a:rPr>
              <a:t>R$ 0,91</a:t>
            </a:r>
            <a:endParaRPr sz="3000" dirty="0">
              <a:solidFill>
                <a:srgbClr val="BF9000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BF9000"/>
                </a:solidFill>
                <a:latin typeface="Varela Round"/>
                <a:ea typeface="Varela Round"/>
                <a:cs typeface="Varela Round"/>
                <a:sym typeface="Varela Round"/>
              </a:rPr>
              <a:t>R$ 0,0035</a:t>
            </a:r>
            <a:endParaRPr sz="3000" dirty="0">
              <a:solidFill>
                <a:srgbClr val="BF9000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8433988" y="5788738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R$ 0,10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R$ 0,70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R$ 0,35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R$ 0,025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12044513" y="58173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R$ 0,10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R$ 0,90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R$ 0,40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R$ 0,02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15655038" y="58173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R$ 0,16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R$ 0,95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R$ 0,68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R$ 0,05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19265563" y="58173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R$ 0,15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R$ 1,50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R$ 0,80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R$ 0,05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5457813" y="3134163"/>
            <a:ext cx="20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i="1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</a:t>
            </a:r>
            <a:endParaRPr sz="2000" i="1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9" name="Google Shape;279;p24"/>
          <p:cNvSpPr/>
          <p:nvPr/>
        </p:nvSpPr>
        <p:spPr>
          <a:xfrm rot="5400000">
            <a:off x="6350763" y="2667588"/>
            <a:ext cx="270300" cy="2056200"/>
          </a:xfrm>
          <a:prstGeom prst="rightBrace">
            <a:avLst>
              <a:gd name="adj1" fmla="val 47387"/>
              <a:gd name="adj2" fmla="val 50000"/>
            </a:avLst>
          </a:prstGeom>
          <a:noFill/>
          <a:ln w="19050" cap="flat" cmpd="sng">
            <a:solidFill>
              <a:srgbClr val="DF4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4"/>
          <p:cNvSpPr/>
          <p:nvPr/>
        </p:nvSpPr>
        <p:spPr>
          <a:xfrm>
            <a:off x="8369588" y="3134163"/>
            <a:ext cx="1374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i="1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endParaRPr sz="2000" i="1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81" name="Google Shape;281;p24"/>
          <p:cNvSpPr/>
          <p:nvPr/>
        </p:nvSpPr>
        <p:spPr>
          <a:xfrm rot="5400000">
            <a:off x="15106838" y="-3176712"/>
            <a:ext cx="270300" cy="13744800"/>
          </a:xfrm>
          <a:prstGeom prst="rightBrace">
            <a:avLst>
              <a:gd name="adj1" fmla="val 47387"/>
              <a:gd name="adj2" fmla="val 50000"/>
            </a:avLst>
          </a:prstGeom>
          <a:noFill/>
          <a:ln w="19050" cap="flat" cmpd="sng">
            <a:solidFill>
              <a:srgbClr val="DF4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6187010" y="12584250"/>
            <a:ext cx="17166600" cy="58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pt-BR" sz="1500" b="1" dirty="0">
                <a:latin typeface="Varela Round"/>
                <a:ea typeface="Varela Round"/>
                <a:cs typeface="Varela Round"/>
                <a:sym typeface="Varela Round"/>
              </a:rPr>
              <a:t>Total </a:t>
            </a:r>
            <a:r>
              <a:rPr lang="pt-BR" sz="1500" b="1" dirty="0" err="1">
                <a:latin typeface="Varela Round"/>
                <a:ea typeface="Varela Round"/>
                <a:cs typeface="Varela Round"/>
                <a:sym typeface="Varela Round"/>
              </a:rPr>
              <a:t>costs</a:t>
            </a:r>
            <a:r>
              <a:rPr lang="pt-BR" sz="1500" b="1" dirty="0"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pt-BR" sz="1500" b="1" dirty="0" err="1">
                <a:latin typeface="Varela Round"/>
                <a:ea typeface="Varela Round"/>
                <a:cs typeface="Varela Round"/>
                <a:sym typeface="Varela Round"/>
              </a:rPr>
              <a:t>with</a:t>
            </a:r>
            <a:r>
              <a:rPr lang="pt-BR" sz="1500" b="1" dirty="0">
                <a:latin typeface="Varela Round"/>
                <a:ea typeface="Varela Round"/>
                <a:cs typeface="Varela Round"/>
                <a:sym typeface="Varela Round"/>
              </a:rPr>
              <a:t> Almap BBDO (</a:t>
            </a:r>
            <a:r>
              <a:rPr lang="pt-BR" sz="1500" b="1" dirty="0" err="1">
                <a:latin typeface="Varela Round"/>
                <a:ea typeface="Varela Round"/>
                <a:cs typeface="Varela Round"/>
                <a:sym typeface="Varela Round"/>
              </a:rPr>
              <a:t>ad.server</a:t>
            </a:r>
            <a:r>
              <a:rPr lang="pt-BR" sz="1500" b="1" dirty="0">
                <a:latin typeface="Varela Round"/>
                <a:ea typeface="Varela Round"/>
                <a:cs typeface="Varela Round"/>
                <a:sym typeface="Varela Round"/>
              </a:rPr>
              <a:t> + </a:t>
            </a:r>
            <a:r>
              <a:rPr lang="pt-BR" sz="1500" b="1" dirty="0" err="1"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r>
              <a:rPr lang="pt-BR" sz="1500" b="1" dirty="0">
                <a:latin typeface="Varela Round"/>
                <a:ea typeface="Varela Round"/>
                <a:cs typeface="Varela Round"/>
                <a:sym typeface="Varela Round"/>
              </a:rPr>
              <a:t>) = </a:t>
            </a:r>
            <a:r>
              <a:rPr lang="pt-BR" sz="1500" b="1" dirty="0">
                <a:solidFill>
                  <a:srgbClr val="999999"/>
                </a:solidFill>
                <a:latin typeface="Varela Round"/>
                <a:ea typeface="Varela Round"/>
                <a:cs typeface="Varela Round"/>
                <a:sym typeface="Varela Round"/>
              </a:rPr>
              <a:t>CPM R$ 0,14 / CPV R$ 1,30 / RICH MEDIA R$ 1,26 / CPC R$ 0,0285</a:t>
            </a:r>
            <a:endParaRPr sz="1500" b="1" dirty="0">
              <a:solidFill>
                <a:srgbClr val="999999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lvl="0" algn="r">
              <a:lnSpc>
                <a:spcPct val="115000"/>
              </a:lnSpc>
            </a:pPr>
            <a:r>
              <a:rPr lang="en-US" sz="1500" b="1" dirty="0" err="1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Confideal</a:t>
            </a:r>
            <a:r>
              <a:rPr lang="en-US" sz="1500" b="1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 values. Quotations acquire at the beginning of 2019 subject to marketing variation, proposals available for consultation.</a:t>
            </a:r>
          </a:p>
        </p:txBody>
      </p:sp>
      <p:sp>
        <p:nvSpPr>
          <p:cNvPr id="283" name="Google Shape;283;p24"/>
          <p:cNvSpPr txBox="1"/>
          <p:nvPr/>
        </p:nvSpPr>
        <p:spPr>
          <a:xfrm>
            <a:off x="1033597" y="12584250"/>
            <a:ext cx="442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OUR COSTS</a:t>
            </a:r>
            <a:endParaRPr sz="2400" b="1" i="0" u="none" strike="noStrike" cap="none" dirty="0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18120875" y="12605825"/>
            <a:ext cx="10314000" cy="12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"/>
          <p:cNvSpPr/>
          <p:nvPr/>
        </p:nvSpPr>
        <p:spPr>
          <a:xfrm>
            <a:off x="6003663" y="4180588"/>
            <a:ext cx="3174600" cy="7125000"/>
          </a:xfrm>
          <a:prstGeom prst="rect">
            <a:avLst/>
          </a:prstGeom>
          <a:solidFill>
            <a:srgbClr val="38761D">
              <a:alpha val="9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9" name="Google Shape;289;p25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290" name="Google Shape;29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0463" y="4544213"/>
            <a:ext cx="20955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12563" y="4667038"/>
            <a:ext cx="1241008" cy="44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7488" y="4742000"/>
            <a:ext cx="2468001" cy="2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19513" y="4667048"/>
            <a:ext cx="1806050" cy="4401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4" name="Google Shape;294;p25"/>
          <p:cNvCxnSpPr/>
          <p:nvPr/>
        </p:nvCxnSpPr>
        <p:spPr>
          <a:xfrm>
            <a:off x="1515225" y="5749125"/>
            <a:ext cx="21356700" cy="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5" name="Google Shape;295;p25"/>
          <p:cNvCxnSpPr/>
          <p:nvPr/>
        </p:nvCxnSpPr>
        <p:spPr>
          <a:xfrm>
            <a:off x="1515225" y="7093219"/>
            <a:ext cx="21356700" cy="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" name="Google Shape;296;p25"/>
          <p:cNvCxnSpPr/>
          <p:nvPr/>
        </p:nvCxnSpPr>
        <p:spPr>
          <a:xfrm>
            <a:off x="1515225" y="8437313"/>
            <a:ext cx="21356700" cy="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" name="Google Shape;297;p25"/>
          <p:cNvCxnSpPr/>
          <p:nvPr/>
        </p:nvCxnSpPr>
        <p:spPr>
          <a:xfrm>
            <a:off x="1515225" y="9781406"/>
            <a:ext cx="21356700" cy="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8" name="Google Shape;298;p25"/>
          <p:cNvCxnSpPr/>
          <p:nvPr/>
        </p:nvCxnSpPr>
        <p:spPr>
          <a:xfrm>
            <a:off x="1515225" y="11125500"/>
            <a:ext cx="21356700" cy="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9" name="Google Shape;299;p25"/>
          <p:cNvSpPr/>
          <p:nvPr/>
        </p:nvSpPr>
        <p:spPr>
          <a:xfrm>
            <a:off x="1671663" y="58173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CPM	</a:t>
            </a:r>
            <a:endParaRPr sz="3000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CPV</a:t>
            </a:r>
            <a:endParaRPr sz="3000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RICH MEDIA</a:t>
            </a:r>
            <a:endParaRPr sz="3000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CPC</a:t>
            </a:r>
            <a:endParaRPr sz="3000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5919388" y="5788738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R$ 0,14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R$ 1,30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R$ 1,26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R$ 0,0285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9529913" y="58173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R$ 0,14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R$ 1,50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R$ 1,31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R$ 0,02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13216638" y="5788738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R$ 0,20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R$ 1,55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R$ 1,59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R$ 0,05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16827163" y="58173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R$ 0,19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R$ 2,10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R$ 1,71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marR="0" lvl="0" indent="0" algn="ctr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latin typeface="Varela Round"/>
                <a:ea typeface="Varela Round"/>
                <a:cs typeface="Varela Round"/>
                <a:sym typeface="Varela Round"/>
              </a:rPr>
              <a:t>R$ 0,05</a:t>
            </a:r>
            <a:endParaRPr sz="3000" dirty="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6986188" y="3116550"/>
            <a:ext cx="1374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i="1" dirty="0" err="1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r>
              <a:rPr lang="pt-BR" sz="2000" i="1" dirty="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 + </a:t>
            </a:r>
            <a:r>
              <a:rPr lang="pt-BR" sz="2000" i="1" dirty="0" err="1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Adserver</a:t>
            </a:r>
            <a:r>
              <a:rPr lang="pt-BR" sz="2000" i="1" dirty="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 Services</a:t>
            </a:r>
            <a:endParaRPr sz="2000" i="1" dirty="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306" name="Google Shape;306;p25"/>
          <p:cNvSpPr/>
          <p:nvPr/>
        </p:nvSpPr>
        <p:spPr>
          <a:xfrm rot="5400000">
            <a:off x="13689953" y="-4593729"/>
            <a:ext cx="177900" cy="16671000"/>
          </a:xfrm>
          <a:prstGeom prst="rightBrace">
            <a:avLst>
              <a:gd name="adj1" fmla="val 47387"/>
              <a:gd name="adj2" fmla="val 50000"/>
            </a:avLst>
          </a:prstGeom>
          <a:noFill/>
          <a:ln w="19050" cap="flat" cmpd="sng">
            <a:solidFill>
              <a:srgbClr val="DF4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6187010" y="12584250"/>
            <a:ext cx="1716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1500" b="1" dirty="0">
              <a:solidFill>
                <a:srgbClr val="999999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lvl="0" algn="r">
              <a:lnSpc>
                <a:spcPct val="115000"/>
              </a:lnSpc>
            </a:pPr>
            <a:r>
              <a:rPr lang="en-US" sz="1500" b="1" dirty="0" err="1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Confideal</a:t>
            </a:r>
            <a:r>
              <a:rPr lang="en-US" sz="1500" b="1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 values. Quotations acquire at the beginning of 2019 subject to marketing variation, proposals available for consultation</a:t>
            </a:r>
            <a:r>
              <a:rPr lang="pt-BR" sz="1500" b="1" dirty="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.</a:t>
            </a:r>
            <a:endParaRPr sz="1500" b="1" dirty="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1033597" y="12584250"/>
            <a:ext cx="442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OUR COSTS</a:t>
            </a:r>
            <a:endParaRPr sz="2400" b="1" i="0" u="none" strike="noStrike" cap="none" dirty="0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309" name="Google Shape;309;p25"/>
          <p:cNvSpPr txBox="1"/>
          <p:nvPr/>
        </p:nvSpPr>
        <p:spPr>
          <a:xfrm>
            <a:off x="14557575" y="12659550"/>
            <a:ext cx="51570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9125" y="6542350"/>
            <a:ext cx="5368924" cy="6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6"/>
          <p:cNvSpPr txBox="1"/>
          <p:nvPr/>
        </p:nvSpPr>
        <p:spPr>
          <a:xfrm>
            <a:off x="10328252" y="7264575"/>
            <a:ext cx="3730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04B4B"/>
              </a:buClr>
              <a:buSzPts val="6000"/>
              <a:buFont typeface="Arial"/>
              <a:buNone/>
            </a:pPr>
            <a:r>
              <a:rPr lang="pt-BR" sz="4000" b="1" dirty="0" err="1">
                <a:solidFill>
                  <a:srgbClr val="504B4B"/>
                </a:solidFill>
                <a:latin typeface="Varela Round"/>
                <a:ea typeface="Varela Round"/>
                <a:cs typeface="Varela Round"/>
                <a:sym typeface="Varela Round"/>
              </a:rPr>
              <a:t>Thanks</a:t>
            </a:r>
            <a:endParaRPr sz="4000" b="1" dirty="0">
              <a:solidFill>
                <a:srgbClr val="C3C3C3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13716000" y="4645450"/>
            <a:ext cx="2666100" cy="1204500"/>
          </a:xfrm>
          <a:prstGeom prst="wedgeRoundRectCallout">
            <a:avLst>
              <a:gd name="adj1" fmla="val -36747"/>
              <a:gd name="adj2" fmla="val 79020"/>
              <a:gd name="adj3" fmla="val 0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1">
                <a:solidFill>
                  <a:srgbClr val="434343"/>
                </a:solidFill>
                <a:latin typeface="Lobster"/>
                <a:ea typeface="Lobster"/>
                <a:cs typeface="Lobster"/>
                <a:sym typeface="Lobster"/>
              </a:rPr>
              <a:t>ad.ops</a:t>
            </a:r>
            <a:endParaRPr sz="4800" b="1">
              <a:solidFill>
                <a:srgbClr val="434343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MAP">
  <a:themeElements>
    <a:clrScheme name="ALMAP">
      <a:dk1>
        <a:srgbClr val="FFFFFE"/>
      </a:dk1>
      <a:lt1>
        <a:srgbClr val="141313"/>
      </a:lt1>
      <a:dk2>
        <a:srgbClr val="D01E20"/>
      </a:dk2>
      <a:lt2>
        <a:srgbClr val="141313"/>
      </a:lt2>
      <a:accent1>
        <a:srgbClr val="E8E0C8"/>
      </a:accent1>
      <a:accent2>
        <a:srgbClr val="E47B60"/>
      </a:accent2>
      <a:accent3>
        <a:srgbClr val="777877"/>
      </a:accent3>
      <a:accent4>
        <a:srgbClr val="D01E20"/>
      </a:accent4>
      <a:accent5>
        <a:srgbClr val="4BACC6"/>
      </a:accent5>
      <a:accent6>
        <a:srgbClr val="141313"/>
      </a:accent6>
      <a:hlink>
        <a:srgbClr val="FFFFFE"/>
      </a:hlink>
      <a:folHlink>
        <a:srgbClr val="E8E0C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769</Words>
  <Application>Microsoft Office PowerPoint</Application>
  <PresentationFormat>Personalizar</PresentationFormat>
  <Paragraphs>216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Lobster</vt:lpstr>
      <vt:lpstr>Varela Round</vt:lpstr>
      <vt:lpstr>Arial</vt:lpstr>
      <vt:lpstr>Montserrat</vt:lpstr>
      <vt:lpstr>Montserrat Medium</vt:lpstr>
      <vt:lpstr>Calibri</vt:lpstr>
      <vt:lpstr>ALMAP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Alves de Lima - Almap BBDO</dc:creator>
  <cp:lastModifiedBy>Felipe Alves de Lima - Almap BBDO</cp:lastModifiedBy>
  <cp:revision>31</cp:revision>
  <dcterms:modified xsi:type="dcterms:W3CDTF">2019-12-03T18:29:07Z</dcterms:modified>
</cp:coreProperties>
</file>