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  <p:sldMasterId id="2147483709" r:id="rId2"/>
    <p:sldMasterId id="2147483715" r:id="rId3"/>
    <p:sldMasterId id="2147483719" r:id="rId4"/>
  </p:sldMasterIdLst>
  <p:notesMasterIdLst>
    <p:notesMasterId r:id="rId20"/>
  </p:notesMasterIdLst>
  <p:sldIdLst>
    <p:sldId id="257" r:id="rId5"/>
    <p:sldId id="385" r:id="rId6"/>
    <p:sldId id="401" r:id="rId7"/>
    <p:sldId id="399" r:id="rId8"/>
    <p:sldId id="402" r:id="rId9"/>
    <p:sldId id="424" r:id="rId10"/>
    <p:sldId id="421" r:id="rId11"/>
    <p:sldId id="422" r:id="rId12"/>
    <p:sldId id="405" r:id="rId13"/>
    <p:sldId id="413" r:id="rId14"/>
    <p:sldId id="417" r:id="rId15"/>
    <p:sldId id="406" r:id="rId16"/>
    <p:sldId id="418" r:id="rId17"/>
    <p:sldId id="423" r:id="rId18"/>
    <p:sldId id="390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E311CB9-29CF-468E-8F3A-02293F75FFB6}">
          <p14:sldIdLst>
            <p14:sldId id="257"/>
            <p14:sldId id="385"/>
            <p14:sldId id="401"/>
            <p14:sldId id="399"/>
            <p14:sldId id="402"/>
            <p14:sldId id="424"/>
            <p14:sldId id="421"/>
            <p14:sldId id="422"/>
            <p14:sldId id="405"/>
            <p14:sldId id="413"/>
            <p14:sldId id="417"/>
            <p14:sldId id="406"/>
            <p14:sldId id="418"/>
            <p14:sldId id="423"/>
            <p14:sldId id="39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1E2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70" autoAdjust="0"/>
    <p:restoredTop sz="87670" autoAdjust="0"/>
  </p:normalViewPr>
  <p:slideViewPr>
    <p:cSldViewPr snapToGrid="0">
      <p:cViewPr varScale="1">
        <p:scale>
          <a:sx n="63" d="100"/>
          <a:sy n="63" d="100"/>
        </p:scale>
        <p:origin x="116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5D5198-DF91-4E3C-BD44-E5DA865C8A36}" type="datetimeFigureOut">
              <a:rPr lang="pt-BR" smtClean="0"/>
              <a:t>14/05/2019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932726-D83F-48F7-B9EA-4444A7AA117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0193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1683" name="Notes Placeholder 2"/>
          <p:cNvSpPr>
            <a:spLocks noGrp="1"/>
          </p:cNvSpPr>
          <p:nvPr>
            <p:ph type="body" idx="1"/>
          </p:nvPr>
        </p:nvSpPr>
        <p:spPr>
          <a:extLst/>
        </p:spPr>
        <p:txBody>
          <a:bodyPr/>
          <a:lstStyle/>
          <a:p>
            <a:pPr>
              <a:defRPr/>
            </a:pPr>
            <a:endParaRPr lang="pt-BR">
              <a:latin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3884382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2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979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3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979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4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979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5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9793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1683" name="Notes Placeholder 2"/>
          <p:cNvSpPr>
            <a:spLocks noGrp="1"/>
          </p:cNvSpPr>
          <p:nvPr>
            <p:ph type="body" idx="1"/>
          </p:nvPr>
        </p:nvSpPr>
        <p:spPr>
          <a:extLst/>
        </p:spPr>
        <p:txBody>
          <a:bodyPr/>
          <a:lstStyle/>
          <a:p>
            <a:pPr>
              <a:defRPr/>
            </a:pPr>
            <a:endParaRPr lang="pt-BR">
              <a:latin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2773361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7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92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8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47488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9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9793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10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9793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11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03401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12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9793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13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464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14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3429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07AFAA-4B27-4835-9345-512ABA295532}" type="slidenum">
              <a:rPr lang="pt-BR">
                <a:solidFill>
                  <a:prstClr val="black"/>
                </a:solidFill>
              </a:rPr>
              <a:pPr/>
              <a:t>15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979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5.png"/><Relationship Id="rId5" Type="http://schemas.openxmlformats.org/officeDocument/2006/relationships/slideMaster" Target="../slideMasters/slideMaster3.xml"/><Relationship Id="rId4" Type="http://schemas.openxmlformats.org/officeDocument/2006/relationships/tags" Target="../tags/tag8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5.png"/><Relationship Id="rId5" Type="http://schemas.openxmlformats.org/officeDocument/2006/relationships/slideMaster" Target="../slideMasters/slideMaster3.xml"/><Relationship Id="rId4" Type="http://schemas.openxmlformats.org/officeDocument/2006/relationships/tags" Target="../tags/tag1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5.png"/><Relationship Id="rId5" Type="http://schemas.openxmlformats.org/officeDocument/2006/relationships/slideMaster" Target="../slideMasters/slideMaster3.xml"/><Relationship Id="rId4" Type="http://schemas.openxmlformats.org/officeDocument/2006/relationships/tags" Target="../tags/tag16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7"/>
            <a:ext cx="10363200" cy="1470024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5" y="3886201"/>
            <a:ext cx="8534401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7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8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827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2649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3" y="4406906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3" y="2906714"/>
            <a:ext cx="10363200" cy="1500185"/>
          </a:xfrm>
        </p:spPr>
        <p:txBody>
          <a:bodyPr anchor="b"/>
          <a:lstStyle>
            <a:lvl1pPr marL="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1pPr>
            <a:lvl2pPr marL="457126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91425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62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75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88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00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5336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3" y="1200154"/>
            <a:ext cx="5384799" cy="3394075"/>
          </a:xfrm>
        </p:spPr>
        <p:txBody>
          <a:bodyPr/>
          <a:lstStyle>
            <a:lvl1pPr>
              <a:defRPr sz="2900"/>
            </a:lvl1pPr>
            <a:lvl2pPr>
              <a:defRPr sz="2400"/>
            </a:lvl2pPr>
            <a:lvl3pPr>
              <a:defRPr sz="21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5" y="1200154"/>
            <a:ext cx="5384799" cy="3394075"/>
          </a:xfrm>
        </p:spPr>
        <p:txBody>
          <a:bodyPr/>
          <a:lstStyle>
            <a:lvl1pPr>
              <a:defRPr sz="2900"/>
            </a:lvl1pPr>
            <a:lvl2pPr>
              <a:defRPr sz="2400"/>
            </a:lvl2pPr>
            <a:lvl3pPr>
              <a:defRPr sz="21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1061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43"/>
            <a:ext cx="10972800" cy="1143001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3" y="1535112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26" indent="0">
              <a:buNone/>
              <a:defRPr sz="2100" b="1"/>
            </a:lvl2pPr>
            <a:lvl3pPr marL="914252" indent="0">
              <a:buNone/>
              <a:defRPr sz="1700" b="1"/>
            </a:lvl3pPr>
            <a:lvl4pPr marL="1371378" indent="0">
              <a:buNone/>
              <a:defRPr sz="1600" b="1"/>
            </a:lvl4pPr>
            <a:lvl5pPr marL="1828503" indent="0">
              <a:buNone/>
              <a:defRPr sz="1600" b="1"/>
            </a:lvl5pPr>
            <a:lvl6pPr marL="2285629" indent="0">
              <a:buNone/>
              <a:defRPr sz="1600" b="1"/>
            </a:lvl6pPr>
            <a:lvl7pPr marL="2742755" indent="0">
              <a:buNone/>
              <a:defRPr sz="1600" b="1"/>
            </a:lvl7pPr>
            <a:lvl8pPr marL="3199881" indent="0">
              <a:buNone/>
              <a:defRPr sz="1600" b="1"/>
            </a:lvl8pPr>
            <a:lvl9pPr marL="3657007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3" y="2174875"/>
            <a:ext cx="5386917" cy="395128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7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3" y="1535112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26" indent="0">
              <a:buNone/>
              <a:defRPr sz="2100" b="1"/>
            </a:lvl2pPr>
            <a:lvl3pPr marL="914252" indent="0">
              <a:buNone/>
              <a:defRPr sz="1700" b="1"/>
            </a:lvl3pPr>
            <a:lvl4pPr marL="1371378" indent="0">
              <a:buNone/>
              <a:defRPr sz="1600" b="1"/>
            </a:lvl4pPr>
            <a:lvl5pPr marL="1828503" indent="0">
              <a:buNone/>
              <a:defRPr sz="1600" b="1"/>
            </a:lvl5pPr>
            <a:lvl6pPr marL="2285629" indent="0">
              <a:buNone/>
              <a:defRPr sz="1600" b="1"/>
            </a:lvl6pPr>
            <a:lvl7pPr marL="2742755" indent="0">
              <a:buNone/>
              <a:defRPr sz="1600" b="1"/>
            </a:lvl7pPr>
            <a:lvl8pPr marL="3199881" indent="0">
              <a:buNone/>
              <a:defRPr sz="1600" b="1"/>
            </a:lvl8pPr>
            <a:lvl9pPr marL="3657007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7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27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8070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564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6" y="273054"/>
            <a:ext cx="4011084" cy="1162051"/>
          </a:xfrm>
        </p:spPr>
        <p:txBody>
          <a:bodyPr anchor="b"/>
          <a:lstStyle>
            <a:lvl1pPr algn="l">
              <a:defRPr sz="2100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6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9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1"/>
          </a:xfrm>
        </p:spPr>
        <p:txBody>
          <a:bodyPr/>
          <a:lstStyle>
            <a:lvl1pPr marL="0" indent="0">
              <a:buNone/>
              <a:defRPr sz="1400"/>
            </a:lvl1pPr>
            <a:lvl2pPr marL="457126" indent="0">
              <a:buNone/>
              <a:defRPr sz="1300"/>
            </a:lvl2pPr>
            <a:lvl3pPr marL="914252" indent="0">
              <a:buNone/>
              <a:defRPr sz="1000"/>
            </a:lvl3pPr>
            <a:lvl4pPr marL="1371378" indent="0">
              <a:buNone/>
              <a:defRPr sz="1000"/>
            </a:lvl4pPr>
            <a:lvl5pPr marL="1828503" indent="0">
              <a:buNone/>
              <a:defRPr sz="1000"/>
            </a:lvl5pPr>
            <a:lvl6pPr marL="2285629" indent="0">
              <a:buNone/>
              <a:defRPr sz="1000"/>
            </a:lvl6pPr>
            <a:lvl7pPr marL="2742755" indent="0">
              <a:buNone/>
              <a:defRPr sz="1000"/>
            </a:lvl7pPr>
            <a:lvl8pPr marL="3199881" indent="0">
              <a:buNone/>
              <a:defRPr sz="1000"/>
            </a:lvl8pPr>
            <a:lvl9pPr marL="3657007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7555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9" y="4800605"/>
            <a:ext cx="7315200" cy="566737"/>
          </a:xfrm>
        </p:spPr>
        <p:txBody>
          <a:bodyPr anchor="b"/>
          <a:lstStyle>
            <a:lvl1pPr algn="l">
              <a:defRPr sz="2100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9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26" indent="0">
              <a:buNone/>
              <a:defRPr sz="2900"/>
            </a:lvl2pPr>
            <a:lvl3pPr marL="914252" indent="0">
              <a:buNone/>
              <a:defRPr sz="2400"/>
            </a:lvl3pPr>
            <a:lvl4pPr marL="1371378" indent="0">
              <a:buNone/>
              <a:defRPr sz="2100"/>
            </a:lvl4pPr>
            <a:lvl5pPr marL="1828503" indent="0">
              <a:buNone/>
              <a:defRPr sz="2100"/>
            </a:lvl5pPr>
            <a:lvl6pPr marL="2285629" indent="0">
              <a:buNone/>
              <a:defRPr sz="2100"/>
            </a:lvl6pPr>
            <a:lvl7pPr marL="2742755" indent="0">
              <a:buNone/>
              <a:defRPr sz="2100"/>
            </a:lvl7pPr>
            <a:lvl8pPr marL="3199881" indent="0">
              <a:buNone/>
              <a:defRPr sz="2100"/>
            </a:lvl8pPr>
            <a:lvl9pPr marL="3657007" indent="0">
              <a:buNone/>
              <a:defRPr sz="21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9" y="5367341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26" indent="0">
              <a:buNone/>
              <a:defRPr sz="1300"/>
            </a:lvl2pPr>
            <a:lvl3pPr marL="914252" indent="0">
              <a:buNone/>
              <a:defRPr sz="1000"/>
            </a:lvl3pPr>
            <a:lvl4pPr marL="1371378" indent="0">
              <a:buNone/>
              <a:defRPr sz="1000"/>
            </a:lvl4pPr>
            <a:lvl5pPr marL="1828503" indent="0">
              <a:buNone/>
              <a:defRPr sz="1000"/>
            </a:lvl5pPr>
            <a:lvl6pPr marL="2285629" indent="0">
              <a:buNone/>
              <a:defRPr sz="1000"/>
            </a:lvl6pPr>
            <a:lvl7pPr marL="2742755" indent="0">
              <a:buNone/>
              <a:defRPr sz="1000"/>
            </a:lvl7pPr>
            <a:lvl8pPr marL="3199881" indent="0">
              <a:buNone/>
              <a:defRPr sz="1000"/>
            </a:lvl8pPr>
            <a:lvl9pPr marL="3657007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557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6797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2" y="206379"/>
            <a:ext cx="2743201" cy="438785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5" y="206379"/>
            <a:ext cx="8026399" cy="4387851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217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 bwMode="white">
          <a:xfrm>
            <a:off x="1511306" y="3298828"/>
            <a:ext cx="7829551" cy="739775"/>
          </a:xfrm>
        </p:spPr>
        <p:txBody>
          <a:bodyPr lIns="0"/>
          <a:lstStyle>
            <a:lvl1pPr marL="0" indent="0">
              <a:buFont typeface="Wingdings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 bwMode="white">
          <a:xfrm>
            <a:off x="1511303" y="1406525"/>
            <a:ext cx="8064500" cy="1468438"/>
          </a:xfrm>
        </p:spPr>
        <p:txBody>
          <a:bodyPr lIns="0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1293" name="Picture 29" descr="WM_SQ_Scribble_rgb"/>
          <p:cNvPicPr>
            <a:picLocks noChangeAspect="1" noChangeArrowheads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7" y="6081714"/>
            <a:ext cx="755649" cy="501650"/>
          </a:xfrm>
          <a:prstGeom prst="rect">
            <a:avLst/>
          </a:prstGeom>
          <a:noFill/>
        </p:spPr>
      </p:pic>
      <p:pic>
        <p:nvPicPr>
          <p:cNvPr id="11297" name="Picture 33" descr="WM_logo_PMS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439" y="6362701"/>
            <a:ext cx="2292351" cy="223838"/>
          </a:xfrm>
          <a:prstGeom prst="rect">
            <a:avLst/>
          </a:prstGeom>
          <a:noFill/>
        </p:spPr>
      </p:pic>
      <p:pic>
        <p:nvPicPr>
          <p:cNvPr id="11301" name="Picture 37" descr="wunderman_logo_ko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53" r="-463"/>
          <a:stretch>
            <a:fillRect/>
          </a:stretch>
        </p:blipFill>
        <p:spPr bwMode="auto">
          <a:xfrm>
            <a:off x="9309100" y="6365877"/>
            <a:ext cx="2345267" cy="215900"/>
          </a:xfrm>
          <a:prstGeom prst="rect">
            <a:avLst/>
          </a:prstGeom>
          <a:noFill/>
        </p:spPr>
      </p:pic>
      <p:pic>
        <p:nvPicPr>
          <p:cNvPr id="11302" name="Picture 38" descr="WM_SQ_Scribble_KO"/>
          <p:cNvPicPr>
            <a:picLocks noChangeArrowheads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1" y="6080126"/>
            <a:ext cx="753533" cy="50323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273782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83153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3847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11281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470400" y="6324600"/>
            <a:ext cx="25400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b="1">
              <a:solidFill>
                <a:srgbClr val="66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42002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373218" y="6491265"/>
            <a:ext cx="673956" cy="252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750" b="0">
                <a:solidFill>
                  <a:srgbClr val="333333"/>
                </a:solidFill>
                <a:latin typeface="+mn-lt"/>
              </a:defRPr>
            </a:lvl1pPr>
          </a:lstStyle>
          <a:p>
            <a:fld id="{9784CBA3-D598-4B1F-BAA3-EE14B5154290}" type="slidenum">
              <a:rPr lang="en-AU" smtClean="0"/>
              <a:pPr/>
              <a:t>‹nº›</a:t>
            </a:fld>
            <a:endParaRPr lang="en-AU" dirty="0"/>
          </a:p>
        </p:txBody>
      </p:sp>
      <p:cxnSp>
        <p:nvCxnSpPr>
          <p:cNvPr id="5" name="Straight Connector 69"/>
          <p:cNvCxnSpPr/>
          <p:nvPr userDrawn="1">
            <p:custDataLst>
              <p:tags r:id="rId1"/>
            </p:custDataLst>
          </p:nvPr>
        </p:nvCxnSpPr>
        <p:spPr>
          <a:xfrm>
            <a:off x="376218" y="5946775"/>
            <a:ext cx="1143054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 descr="\\PSTUDIOTERM\Clients\TNS Global\TNS_002 Templates\4. Design\4. Active\PPT Files\2. 5th April Redesign\From Client\TNS_logo_72ppi.png"/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51" y="6071836"/>
            <a:ext cx="672000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/>
          <p:cNvSpPr txBox="1"/>
          <p:nvPr userDrawn="1">
            <p:custDataLst>
              <p:tags r:id="rId3"/>
            </p:custDataLst>
          </p:nvPr>
        </p:nvSpPr>
        <p:spPr>
          <a:xfrm>
            <a:off x="1721173" y="6324880"/>
            <a:ext cx="3386667" cy="530999"/>
          </a:xfrm>
          <a:prstGeom prst="rect">
            <a:avLst/>
          </a:prstGeom>
          <a:noFill/>
        </p:spPr>
        <p:txBody>
          <a:bodyPr vert="horz" wrap="square" lIns="0" tIns="0" rIns="0" bIns="279400" rtlCol="0" anchor="b">
            <a:noAutofit/>
          </a:bodyPr>
          <a:lstStyle/>
          <a:p>
            <a:pPr fontAlgn="base">
              <a:lnSpc>
                <a:spcPct val="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750">
                <a:solidFill>
                  <a:srgbClr val="232323"/>
                </a:solidFill>
                <a:cs typeface="Arial" charset="0"/>
              </a:rPr>
              <a:t>© TNS   </a:t>
            </a:r>
            <a:endParaRPr lang="pt-BR" sz="750" dirty="0" err="1">
              <a:solidFill>
                <a:srgbClr val="232323"/>
              </a:solidFill>
              <a:cs typeface="Arial" charset="0"/>
            </a:endParaRPr>
          </a:p>
        </p:txBody>
      </p:sp>
      <p:sp>
        <p:nvSpPr>
          <p:cNvPr id="8" name="CaixaDeTexto 7"/>
          <p:cNvSpPr txBox="1"/>
          <p:nvPr userDrawn="1">
            <p:custDataLst>
              <p:tags r:id="rId4"/>
            </p:custDataLst>
          </p:nvPr>
        </p:nvSpPr>
        <p:spPr>
          <a:xfrm>
            <a:off x="1712059" y="6298419"/>
            <a:ext cx="254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pt-BR" sz="750" dirty="0">
                <a:solidFill>
                  <a:srgbClr val="232323"/>
                </a:solidFill>
                <a:cs typeface="Arial" charset="0"/>
              </a:rPr>
              <a:t>C0032002</a:t>
            </a:r>
          </a:p>
        </p:txBody>
      </p:sp>
    </p:spTree>
    <p:extLst>
      <p:ext uri="{BB962C8B-B14F-4D97-AF65-F5344CB8AC3E}">
        <p14:creationId xmlns:p14="http://schemas.microsoft.com/office/powerpoint/2010/main" val="25389794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373218" y="6491265"/>
            <a:ext cx="673956" cy="252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750" b="0">
                <a:solidFill>
                  <a:srgbClr val="333333"/>
                </a:solidFill>
                <a:latin typeface="+mn-lt"/>
              </a:defRPr>
            </a:lvl1pPr>
          </a:lstStyle>
          <a:p>
            <a:fld id="{9784CBA3-D598-4B1F-BAA3-EE14B5154290}" type="slidenum">
              <a:rPr lang="en-AU" smtClean="0"/>
              <a:pPr/>
              <a:t>‹nº›</a:t>
            </a:fld>
            <a:endParaRPr lang="en-AU" dirty="0"/>
          </a:p>
        </p:txBody>
      </p:sp>
      <p:cxnSp>
        <p:nvCxnSpPr>
          <p:cNvPr id="3" name="Straight Connector 69"/>
          <p:cNvCxnSpPr/>
          <p:nvPr userDrawn="1">
            <p:custDataLst>
              <p:tags r:id="rId1"/>
            </p:custDataLst>
          </p:nvPr>
        </p:nvCxnSpPr>
        <p:spPr>
          <a:xfrm>
            <a:off x="376218" y="5946775"/>
            <a:ext cx="1143054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\\PSTUDIOTERM\Clients\TNS Global\TNS_002 Templates\4. Design\4. Active\PPT Files\2. 5th April Redesign\From Client\TNS_logo_72ppi.png"/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51" y="6071836"/>
            <a:ext cx="672000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/>
          <p:cNvSpPr txBox="1"/>
          <p:nvPr userDrawn="1">
            <p:custDataLst>
              <p:tags r:id="rId3"/>
            </p:custDataLst>
          </p:nvPr>
        </p:nvSpPr>
        <p:spPr>
          <a:xfrm>
            <a:off x="1721173" y="6324880"/>
            <a:ext cx="3386667" cy="530999"/>
          </a:xfrm>
          <a:prstGeom prst="rect">
            <a:avLst/>
          </a:prstGeom>
          <a:noFill/>
        </p:spPr>
        <p:txBody>
          <a:bodyPr vert="horz" wrap="square" lIns="0" tIns="0" rIns="0" bIns="279400" rtlCol="0" anchor="b">
            <a:noAutofit/>
          </a:bodyPr>
          <a:lstStyle/>
          <a:p>
            <a:pPr fontAlgn="base">
              <a:lnSpc>
                <a:spcPct val="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750">
                <a:solidFill>
                  <a:srgbClr val="232323"/>
                </a:solidFill>
                <a:cs typeface="Arial" charset="0"/>
              </a:rPr>
              <a:t>© TNS   </a:t>
            </a:r>
            <a:endParaRPr lang="pt-BR" sz="750" dirty="0" err="1">
              <a:solidFill>
                <a:srgbClr val="232323"/>
              </a:solidFill>
              <a:cs typeface="Arial" charset="0"/>
            </a:endParaRPr>
          </a:p>
        </p:txBody>
      </p:sp>
      <p:sp>
        <p:nvSpPr>
          <p:cNvPr id="6" name="CaixaDeTexto 5"/>
          <p:cNvSpPr txBox="1"/>
          <p:nvPr userDrawn="1">
            <p:custDataLst>
              <p:tags r:id="rId4"/>
            </p:custDataLst>
          </p:nvPr>
        </p:nvSpPr>
        <p:spPr>
          <a:xfrm>
            <a:off x="1712059" y="6298419"/>
            <a:ext cx="254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pt-BR" sz="750" dirty="0">
                <a:solidFill>
                  <a:srgbClr val="232323"/>
                </a:solidFill>
                <a:cs typeface="Arial" charset="0"/>
              </a:rPr>
              <a:t>C0032002</a:t>
            </a:r>
          </a:p>
        </p:txBody>
      </p:sp>
    </p:spTree>
    <p:extLst>
      <p:ext uri="{BB962C8B-B14F-4D97-AF65-F5344CB8AC3E}">
        <p14:creationId xmlns:p14="http://schemas.microsoft.com/office/powerpoint/2010/main" val="34994181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373218" y="6491265"/>
            <a:ext cx="673956" cy="252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750" b="0">
                <a:solidFill>
                  <a:srgbClr val="333333"/>
                </a:solidFill>
                <a:latin typeface="+mn-lt"/>
              </a:defRPr>
            </a:lvl1pPr>
          </a:lstStyle>
          <a:p>
            <a:fld id="{9784CBA3-D598-4B1F-BAA3-EE14B5154290}" type="slidenum">
              <a:rPr lang="en-AU" smtClean="0"/>
              <a:pPr/>
              <a:t>‹nº›</a:t>
            </a:fld>
            <a:endParaRPr lang="en-AU" dirty="0"/>
          </a:p>
        </p:txBody>
      </p:sp>
      <p:cxnSp>
        <p:nvCxnSpPr>
          <p:cNvPr id="3" name="Straight Connector 69"/>
          <p:cNvCxnSpPr/>
          <p:nvPr userDrawn="1">
            <p:custDataLst>
              <p:tags r:id="rId1"/>
            </p:custDataLst>
          </p:nvPr>
        </p:nvCxnSpPr>
        <p:spPr>
          <a:xfrm>
            <a:off x="376218" y="5946775"/>
            <a:ext cx="1143054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\\PSTUDIOTERM\Clients\TNS Global\TNS_002 Templates\4. Design\4. Active\PPT Files\2. 5th April Redesign\From Client\TNS_logo_72ppi.png"/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51" y="6071836"/>
            <a:ext cx="672000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/>
          <p:cNvSpPr txBox="1"/>
          <p:nvPr userDrawn="1">
            <p:custDataLst>
              <p:tags r:id="rId3"/>
            </p:custDataLst>
          </p:nvPr>
        </p:nvSpPr>
        <p:spPr>
          <a:xfrm>
            <a:off x="1721173" y="6324880"/>
            <a:ext cx="3386667" cy="530999"/>
          </a:xfrm>
          <a:prstGeom prst="rect">
            <a:avLst/>
          </a:prstGeom>
          <a:noFill/>
        </p:spPr>
        <p:txBody>
          <a:bodyPr vert="horz" wrap="square" lIns="0" tIns="0" rIns="0" bIns="279400" rtlCol="0" anchor="b">
            <a:noAutofit/>
          </a:bodyPr>
          <a:lstStyle/>
          <a:p>
            <a:pPr fontAlgn="base">
              <a:lnSpc>
                <a:spcPct val="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750">
                <a:solidFill>
                  <a:srgbClr val="232323"/>
                </a:solidFill>
                <a:cs typeface="Arial" charset="0"/>
              </a:rPr>
              <a:t>© TNS   </a:t>
            </a:r>
            <a:endParaRPr lang="pt-BR" sz="750" dirty="0" err="1">
              <a:solidFill>
                <a:srgbClr val="232323"/>
              </a:solidFill>
              <a:cs typeface="Arial" charset="0"/>
            </a:endParaRPr>
          </a:p>
        </p:txBody>
      </p:sp>
      <p:sp>
        <p:nvSpPr>
          <p:cNvPr id="6" name="CaixaDeTexto 5"/>
          <p:cNvSpPr txBox="1"/>
          <p:nvPr userDrawn="1">
            <p:custDataLst>
              <p:tags r:id="rId4"/>
            </p:custDataLst>
          </p:nvPr>
        </p:nvSpPr>
        <p:spPr>
          <a:xfrm>
            <a:off x="1712059" y="6298419"/>
            <a:ext cx="254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pt-BR" sz="750" dirty="0">
                <a:solidFill>
                  <a:srgbClr val="232323"/>
                </a:solidFill>
                <a:cs typeface="Arial" charset="0"/>
              </a:rPr>
              <a:t>C0032002</a:t>
            </a:r>
          </a:p>
        </p:txBody>
      </p:sp>
    </p:spTree>
    <p:extLst>
      <p:ext uri="{BB962C8B-B14F-4D97-AF65-F5344CB8AC3E}">
        <p14:creationId xmlns:p14="http://schemas.microsoft.com/office/powerpoint/2010/main" val="22446359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0678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67159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64572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63032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17024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2024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11816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86377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05143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40425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17FDA-76E3-48A8-B096-3947A2226C49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14/05/2019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4F068-3652-4EEA-B653-56043058216F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9601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9861609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14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ags" Target="../tags/tag4.xml"/><Relationship Id="rId3" Type="http://schemas.openxmlformats.org/officeDocument/2006/relationships/slideLayout" Target="../slideLayouts/slideLayout19.xml"/><Relationship Id="rId7" Type="http://schemas.openxmlformats.org/officeDocument/2006/relationships/tags" Target="../tags/tag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tags" Target="../tags/tag2.xml"/><Relationship Id="rId5" Type="http://schemas.openxmlformats.org/officeDocument/2006/relationships/tags" Target="../tags/tag1.xml"/><Relationship Id="rId10" Type="http://schemas.openxmlformats.org/officeDocument/2006/relationships/image" Target="../media/image6.png"/><Relationship Id="rId4" Type="http://schemas.openxmlformats.org/officeDocument/2006/relationships/theme" Target="../theme/theme3.xml"/><Relationship Id="rId9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43"/>
            <a:ext cx="10972800" cy="1143001"/>
          </a:xfrm>
          <a:prstGeom prst="rect">
            <a:avLst/>
          </a:prstGeom>
        </p:spPr>
        <p:txBody>
          <a:bodyPr vert="horz" lIns="91426" tIns="45713" rIns="91426" bIns="45713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4"/>
            <a:ext cx="10972800" cy="4525963"/>
          </a:xfrm>
          <a:prstGeom prst="rect">
            <a:avLst/>
          </a:prstGeom>
        </p:spPr>
        <p:txBody>
          <a:bodyPr vert="horz" lIns="91426" tIns="45713" rIns="91426" bIns="45713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4"/>
            <a:ext cx="2844800" cy="365125"/>
          </a:xfrm>
          <a:prstGeom prst="rect">
            <a:avLst/>
          </a:prstGeom>
        </p:spPr>
        <p:txBody>
          <a:bodyPr vert="horz" lIns="91426" tIns="45713" rIns="91426" bIns="45713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126"/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457126"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3" y="6356354"/>
            <a:ext cx="3860800" cy="365125"/>
          </a:xfrm>
          <a:prstGeom prst="rect">
            <a:avLst/>
          </a:prstGeom>
        </p:spPr>
        <p:txBody>
          <a:bodyPr vert="horz" lIns="91426" tIns="45713" rIns="91426" bIns="45713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126"/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4"/>
            <a:ext cx="2844800" cy="365125"/>
          </a:xfrm>
          <a:prstGeom prst="rect">
            <a:avLst/>
          </a:prstGeom>
        </p:spPr>
        <p:txBody>
          <a:bodyPr vert="horz" lIns="91426" tIns="45713" rIns="91426" bIns="45713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126"/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457126"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409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ctr" defTabSz="457126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44" indent="-342844" algn="l" defTabSz="457126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30" indent="-285704" algn="l" defTabSz="457126" rtl="0" eaLnBrk="1" latinLnBrk="0" hangingPunct="1">
        <a:spcBef>
          <a:spcPct val="20000"/>
        </a:spcBef>
        <a:buFont typeface="Arial"/>
        <a:buChar char="–"/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14" indent="-228562" algn="l" defTabSz="457126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940" indent="-228562" algn="l" defTabSz="457126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066" indent="-228562" algn="l" defTabSz="457126" rtl="0" eaLnBrk="1" latinLnBrk="0" hangingPunct="1">
        <a:spcBef>
          <a:spcPct val="20000"/>
        </a:spcBef>
        <a:buFont typeface="Arial"/>
        <a:buChar char="»"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92" indent="-228562" algn="l" defTabSz="457126" rtl="0" eaLnBrk="1" latinLnBrk="0" hangingPunct="1">
        <a:spcBef>
          <a:spcPct val="2000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17" indent="-228562" algn="l" defTabSz="457126" rtl="0" eaLnBrk="1" latinLnBrk="0" hangingPunct="1">
        <a:spcBef>
          <a:spcPct val="2000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443" indent="-228562" algn="l" defTabSz="457126" rtl="0" eaLnBrk="1" latinLnBrk="0" hangingPunct="1">
        <a:spcBef>
          <a:spcPct val="2000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69" indent="-228562" algn="l" defTabSz="457126" rtl="0" eaLnBrk="1" latinLnBrk="0" hangingPunct="1">
        <a:spcBef>
          <a:spcPct val="2000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26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52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78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03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29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55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81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07" algn="l" defTabSz="45712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5" name="Picture 25" descr="WM_SQ_Scribble_rgb"/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7" y="6081714"/>
            <a:ext cx="755649" cy="501650"/>
          </a:xfrm>
          <a:prstGeom prst="rect">
            <a:avLst/>
          </a:prstGeom>
          <a:noFill/>
        </p:spPr>
      </p:pic>
      <p:pic>
        <p:nvPicPr>
          <p:cNvPr id="10267" name="Picture 27" descr="WM_logo_PMS"/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439" y="6362701"/>
            <a:ext cx="2292351" cy="223838"/>
          </a:xfrm>
          <a:prstGeom prst="rect">
            <a:avLst/>
          </a:prstGeom>
          <a:noFill/>
        </p:spPr>
      </p:pic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10123" y="150815"/>
            <a:ext cx="9787180" cy="1271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9" tIns="45714" rIns="91429" bIns="45714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10117" y="1716092"/>
            <a:ext cx="11150600" cy="417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9" tIns="45714" rIns="91429" bIns="4571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7566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</p:sldLayoutIdLst>
  <p:hf hdr="0" ftr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entury Gothic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entury Gothic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entury Gothic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entury Gothic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entury Gothic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entury Gothic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entury Gothic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entury Gothic" pitchFamily="34" charset="0"/>
        </a:defRPr>
      </a:lvl9pPr>
    </p:titleStyle>
    <p:bodyStyle>
      <a:lvl1pPr marL="342900" indent="-342900" algn="l" rtl="0" fontAlgn="base">
        <a:spcBef>
          <a:spcPct val="25000"/>
        </a:spcBef>
        <a:spcAft>
          <a:spcPct val="0"/>
        </a:spcAft>
        <a:buFont typeface="Wingdings" pitchFamily="2" charset="2"/>
        <a:buChar char="§"/>
        <a:defRPr sz="2000">
          <a:solidFill>
            <a:srgbClr val="666666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5000"/>
        </a:spcBef>
        <a:spcAft>
          <a:spcPct val="0"/>
        </a:spcAft>
        <a:buFont typeface="Arial" pitchFamily="34" charset="0"/>
        <a:buChar char="–"/>
        <a:defRPr>
          <a:solidFill>
            <a:srgbClr val="666666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5000"/>
        </a:spcBef>
        <a:spcAft>
          <a:spcPct val="0"/>
        </a:spcAft>
        <a:buFont typeface="Arial" pitchFamily="34" charset="0"/>
        <a:buChar char="–"/>
        <a:defRPr>
          <a:solidFill>
            <a:srgbClr val="666666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5000"/>
        </a:spcBef>
        <a:spcAft>
          <a:spcPct val="0"/>
        </a:spcAft>
        <a:buFont typeface="Arial" pitchFamily="34" charset="0"/>
        <a:buChar char="–"/>
        <a:defRPr>
          <a:solidFill>
            <a:srgbClr val="666666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5000"/>
        </a:spcBef>
        <a:spcAft>
          <a:spcPct val="0"/>
        </a:spcAft>
        <a:buChar char="»"/>
        <a:defRPr>
          <a:solidFill>
            <a:srgbClr val="666666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5000"/>
        </a:spcBef>
        <a:spcAft>
          <a:spcPct val="0"/>
        </a:spcAft>
        <a:buChar char="»"/>
        <a:defRPr>
          <a:solidFill>
            <a:srgbClr val="666666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5000"/>
        </a:spcBef>
        <a:spcAft>
          <a:spcPct val="0"/>
        </a:spcAft>
        <a:buChar char="»"/>
        <a:defRPr>
          <a:solidFill>
            <a:srgbClr val="666666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5000"/>
        </a:spcBef>
        <a:spcAft>
          <a:spcPct val="0"/>
        </a:spcAft>
        <a:buChar char="»"/>
        <a:defRPr>
          <a:solidFill>
            <a:srgbClr val="666666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5000"/>
        </a:spcBef>
        <a:spcAft>
          <a:spcPct val="0"/>
        </a:spcAft>
        <a:buChar char="»"/>
        <a:defRPr>
          <a:solidFill>
            <a:srgbClr val="666666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373218" y="6491265"/>
            <a:ext cx="673956" cy="252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750" b="0">
                <a:solidFill>
                  <a:srgbClr val="333333"/>
                </a:solidFill>
                <a:latin typeface="+mn-lt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784CBA3-D598-4B1F-BAA3-EE14B5154290}" type="slidenum">
              <a:rPr lang="en-AU" smtClean="0">
                <a:cs typeface="Arial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‹nº›</a:t>
            </a:fld>
            <a:endParaRPr lang="en-AU" dirty="0">
              <a:cs typeface="Arial" charset="0"/>
            </a:endParaRPr>
          </a:p>
        </p:txBody>
      </p:sp>
      <p:cxnSp>
        <p:nvCxnSpPr>
          <p:cNvPr id="11" name="Straight Connector 69"/>
          <p:cNvCxnSpPr/>
          <p:nvPr>
            <p:custDataLst>
              <p:tags r:id="rId5"/>
            </p:custDataLst>
          </p:nvPr>
        </p:nvCxnSpPr>
        <p:spPr>
          <a:xfrm>
            <a:off x="376218" y="5946775"/>
            <a:ext cx="1143054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\\PSTUDIOTERM\Clients\TNS Global\TNS_002 Templates\4. Design\4. Active\PPT Files\2. 5th April Redesign\From Client\TNS_logo_72ppi.png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51" y="6071836"/>
            <a:ext cx="672000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aixaDeTexto 12"/>
          <p:cNvSpPr txBox="1"/>
          <p:nvPr>
            <p:custDataLst>
              <p:tags r:id="rId7"/>
            </p:custDataLst>
          </p:nvPr>
        </p:nvSpPr>
        <p:spPr>
          <a:xfrm>
            <a:off x="1721173" y="6324880"/>
            <a:ext cx="3386667" cy="530999"/>
          </a:xfrm>
          <a:prstGeom prst="rect">
            <a:avLst/>
          </a:prstGeom>
          <a:noFill/>
        </p:spPr>
        <p:txBody>
          <a:bodyPr vert="horz" wrap="square" lIns="0" tIns="0" rIns="0" bIns="279400" rtlCol="0" anchor="b">
            <a:noAutofit/>
          </a:bodyPr>
          <a:lstStyle/>
          <a:p>
            <a:pPr fontAlgn="base">
              <a:lnSpc>
                <a:spcPct val="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750">
                <a:solidFill>
                  <a:srgbClr val="232323"/>
                </a:solidFill>
                <a:cs typeface="Arial" charset="0"/>
              </a:rPr>
              <a:t>© TNS   </a:t>
            </a:r>
            <a:endParaRPr lang="pt-BR" sz="750" dirty="0" err="1">
              <a:solidFill>
                <a:srgbClr val="232323"/>
              </a:solidFill>
              <a:cs typeface="Arial" charset="0"/>
            </a:endParaRPr>
          </a:p>
        </p:txBody>
      </p:sp>
      <p:sp>
        <p:nvSpPr>
          <p:cNvPr id="14" name="CaixaDeTexto 13"/>
          <p:cNvSpPr txBox="1"/>
          <p:nvPr>
            <p:custDataLst>
              <p:tags r:id="rId8"/>
            </p:custDataLst>
          </p:nvPr>
        </p:nvSpPr>
        <p:spPr>
          <a:xfrm>
            <a:off x="1712059" y="6298419"/>
            <a:ext cx="2540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pt-BR" sz="750" dirty="0">
                <a:solidFill>
                  <a:srgbClr val="232323"/>
                </a:solidFill>
                <a:cs typeface="Arial" charset="0"/>
              </a:rPr>
              <a:t>C0032002</a:t>
            </a:r>
          </a:p>
        </p:txBody>
      </p:sp>
      <p:pic>
        <p:nvPicPr>
          <p:cNvPr id="15" name="Picture 2" descr="X:\Consumo\C, D\Catho\C0033001 – Emprego Online 3ª Onda\8 - Diversos (modelos, referências, etc)\LogoCatho_NovoAzul.png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10756244" y="6152077"/>
            <a:ext cx="988573" cy="66728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69276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ct val="20000"/>
        </a:spcBef>
        <a:buFont typeface="Arial" pitchFamily="34" charset="0"/>
        <a:buNone/>
        <a:defRPr sz="1600" b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spcBef>
          <a:spcPct val="20000"/>
        </a:spcBef>
        <a:buFont typeface="Arial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252413" indent="-252413" algn="l" defTabSz="914400" rtl="0" eaLnBrk="1" latinLnBrk="0" hangingPunct="1">
        <a:spcBef>
          <a:spcPct val="20000"/>
        </a:spcBef>
        <a:buFont typeface="Wingdings" pitchFamily="2" charset="2"/>
        <a:buChar char="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508000" indent="-255588" algn="l" defTabSz="914400" rtl="0" eaLnBrk="1" latinLnBrk="0" hangingPunct="1">
        <a:spcBef>
          <a:spcPct val="20000"/>
        </a:spcBef>
        <a:buFont typeface="Wingdings" pitchFamily="2" charset="2"/>
        <a:buChar char="n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760413" indent="-252413" algn="l" defTabSz="914400" rtl="0" eaLnBrk="1" latinLnBrk="0" hangingPunct="1">
        <a:spcBef>
          <a:spcPct val="20000"/>
        </a:spcBef>
        <a:buFont typeface="Wingdings" pitchFamily="2" charset="2"/>
        <a:buChar char="n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126"/>
            <a:fld id="{704CA71A-33EA-B940-AF60-B7622460976E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457126"/>
              <a:t>5/14/2019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126"/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126"/>
            <a:fld id="{DC12B671-1D0D-624C-841A-DCE160930F8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457126"/>
              <a:t>‹nº›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5380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F9DA2A7A-6C33-4D1F-A4FF-2FF627602503}"/>
              </a:ext>
            </a:extLst>
          </p:cNvPr>
          <p:cNvSpPr/>
          <p:nvPr/>
        </p:nvSpPr>
        <p:spPr>
          <a:xfrm>
            <a:off x="0" y="0"/>
            <a:ext cx="12192000" cy="6949439"/>
          </a:xfrm>
          <a:prstGeom prst="rect">
            <a:avLst/>
          </a:prstGeom>
          <a:solidFill>
            <a:srgbClr val="D01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261">
              <a:defRPr/>
            </a:pPr>
            <a:endParaRPr lang="en-US" dirty="0">
              <a:highlight>
                <a:srgbClr val="D01E20"/>
              </a:highlight>
            </a:endParaRPr>
          </a:p>
        </p:txBody>
      </p:sp>
      <p:sp>
        <p:nvSpPr>
          <p:cNvPr id="24580" name="Rectangle 3"/>
          <p:cNvSpPr>
            <a:spLocks/>
          </p:cNvSpPr>
          <p:nvPr/>
        </p:nvSpPr>
        <p:spPr bwMode="auto">
          <a:xfrm>
            <a:off x="7539979" y="4475586"/>
            <a:ext cx="379095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algn="r" eaLnBrk="1" hangingPunct="1">
              <a:lnSpc>
                <a:spcPct val="80000"/>
              </a:lnSpc>
            </a:pPr>
            <a:r>
              <a:rPr lang="pt-BR" sz="3200" b="1" dirty="0">
                <a:solidFill>
                  <a:srgbClr val="FFFFFF"/>
                </a:solidFill>
                <a:latin typeface="+mn-lt"/>
                <a:cs typeface="Calibri" panose="020F0502020204030204" pitchFamily="34" charset="0"/>
              </a:rPr>
              <a:t>2019</a:t>
            </a:r>
          </a:p>
        </p:txBody>
      </p:sp>
      <p:sp>
        <p:nvSpPr>
          <p:cNvPr id="5" name="Rectangle 3"/>
          <p:cNvSpPr>
            <a:spLocks/>
          </p:cNvSpPr>
          <p:nvPr/>
        </p:nvSpPr>
        <p:spPr bwMode="auto">
          <a:xfrm>
            <a:off x="6230112" y="4364736"/>
            <a:ext cx="5393426" cy="69777"/>
          </a:xfrm>
          <a:prstGeom prst="rect">
            <a:avLst/>
          </a:prstGeom>
          <a:solidFill>
            <a:srgbClr val="FFFAF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1pPr>
            <a:lvl2pPr marL="742950" indent="-285750">
              <a:spcBef>
                <a:spcPts val="7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2pPr>
            <a:lvl3pPr marL="1143000" indent="-228600">
              <a:spcBef>
                <a:spcPts val="6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3pPr>
            <a:lvl4pPr marL="1600200" indent="-228600">
              <a:spcBef>
                <a:spcPts val="5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4pPr>
            <a:lvl5pPr marL="2057400" indent="-228600">
              <a:spcBef>
                <a:spcPts val="5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endParaRPr lang="pt-BR" sz="4200">
              <a:solidFill>
                <a:srgbClr val="000000"/>
              </a:solidFill>
              <a:latin typeface="Gill Sans" charset="0"/>
              <a:sym typeface="Gill Sans" charset="0"/>
            </a:endParaRPr>
          </a:p>
        </p:txBody>
      </p:sp>
      <p:sp>
        <p:nvSpPr>
          <p:cNvPr id="6" name="Rectangle 3"/>
          <p:cNvSpPr>
            <a:spLocks/>
          </p:cNvSpPr>
          <p:nvPr/>
        </p:nvSpPr>
        <p:spPr bwMode="auto">
          <a:xfrm>
            <a:off x="4681729" y="3542884"/>
            <a:ext cx="6941809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algn="r" eaLnBrk="1" hangingPunct="1">
              <a:lnSpc>
                <a:spcPct val="80000"/>
              </a:lnSpc>
            </a:pPr>
            <a:r>
              <a:rPr lang="pt-BR" sz="4800" b="1" dirty="0" err="1">
                <a:solidFill>
                  <a:srgbClr val="FFFFFF"/>
                </a:solidFill>
                <a:latin typeface="Gotham Bold" panose="02000803030000020004" pitchFamily="2" charset="0"/>
                <a:cs typeface="Calibri" panose="020F0502020204030204" pitchFamily="34" charset="0"/>
              </a:rPr>
              <a:t>AdServer</a:t>
            </a:r>
            <a:r>
              <a:rPr lang="pt-BR" sz="4800" b="1" dirty="0">
                <a:solidFill>
                  <a:srgbClr val="FFFFFF"/>
                </a:solidFill>
                <a:latin typeface="Gotham Bold" panose="02000803030000020004" pitchFamily="2" charset="0"/>
                <a:cs typeface="Calibri" panose="020F0502020204030204" pitchFamily="34" charset="0"/>
              </a:rPr>
              <a:t>/</a:t>
            </a:r>
            <a:r>
              <a:rPr lang="pt-BR" sz="4800" b="1" dirty="0" err="1">
                <a:solidFill>
                  <a:srgbClr val="FFFFFF"/>
                </a:solidFill>
                <a:latin typeface="Gotham Bold" panose="02000803030000020004" pitchFamily="2" charset="0"/>
                <a:cs typeface="Calibri" panose="020F0502020204030204" pitchFamily="34" charset="0"/>
              </a:rPr>
              <a:t>AdOps</a:t>
            </a:r>
            <a:endParaRPr lang="en-US" sz="4800" b="1" dirty="0">
              <a:solidFill>
                <a:srgbClr val="FFFFFF"/>
              </a:solidFill>
              <a:latin typeface="Gotham Bold" panose="02000803030000020004" pitchFamily="2" charset="0"/>
              <a:ea typeface="MS PGothic" panose="020B0600070205080204" pitchFamily="34" charset="-128"/>
              <a:cs typeface="Calibri" panose="020F0502020204030204" pitchFamily="34" charset="0"/>
              <a:sym typeface="Century Gothic" panose="020B0502020202020204" pitchFamily="34" charset="0"/>
            </a:endParaRP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1EB4E9E-8BCD-4F99-9B5D-9FFE63F83282}"/>
              </a:ext>
            </a:extLst>
          </p:cNvPr>
          <p:cNvGrpSpPr/>
          <p:nvPr/>
        </p:nvGrpSpPr>
        <p:grpSpPr>
          <a:xfrm>
            <a:off x="2109217" y="605180"/>
            <a:ext cx="7498081" cy="860924"/>
            <a:chOff x="2584705" y="605180"/>
            <a:chExt cx="7498081" cy="860924"/>
          </a:xfrm>
        </p:grpSpPr>
        <p:sp>
          <p:nvSpPr>
            <p:cNvPr id="2" name="Retângulo 1">
              <a:extLst>
                <a:ext uri="{FF2B5EF4-FFF2-40B4-BE49-F238E27FC236}">
                  <a16:creationId xmlns:a16="http://schemas.microsoft.com/office/drawing/2014/main" id="{1E8F4C44-DDF5-4134-9DD7-36B365932712}"/>
                </a:ext>
              </a:extLst>
            </p:cNvPr>
            <p:cNvSpPr/>
            <p:nvPr/>
          </p:nvSpPr>
          <p:spPr>
            <a:xfrm>
              <a:off x="2584705" y="605180"/>
              <a:ext cx="7498081" cy="8609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pt-BR" dirty="0"/>
            </a:p>
          </p:txBody>
        </p:sp>
        <p:pic>
          <p:nvPicPr>
            <p:cNvPr id="12" name="Picture 1">
              <a:extLst>
                <a:ext uri="{FF2B5EF4-FFF2-40B4-BE49-F238E27FC236}">
                  <a16:creationId xmlns:a16="http://schemas.microsoft.com/office/drawing/2014/main" id="{0C20920D-D8D6-4C2D-8E37-2616EC2B80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63602" y="666443"/>
              <a:ext cx="7394799" cy="7996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298829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292608" y="9500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highlight>
                <a:srgbClr val="FF0000"/>
              </a:highlight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17104" y="76556"/>
            <a:ext cx="10767760" cy="515938"/>
          </a:xfrm>
          <a:prstGeom prst="rect">
            <a:avLst/>
          </a:prstGeom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pt-BR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AdServer</a:t>
            </a:r>
            <a:r>
              <a:rPr lang="pt-BR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O que é?</a:t>
            </a:r>
            <a:endParaRPr lang="en-US" sz="2400" b="1" spc="-150" dirty="0">
              <a:solidFill>
                <a:schemeClr val="bg1"/>
              </a:solidFill>
              <a:latin typeface="Gotham Bold" panose="02000803030000020004" pitchFamily="2" charset="0"/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891" y="1935679"/>
            <a:ext cx="79445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Gotham Light" panose="02000603030000020004" pitchFamily="2" charset="0"/>
                <a:cs typeface="LilyUPC" pitchFamily="34" charset="-34"/>
              </a:rPr>
              <a:t>Plataforma de publicidade que realiza a entrega de banners em sites requisitados em um determinado espaço na página.</a:t>
            </a:r>
            <a:endParaRPr lang="pt-BR" sz="2400" dirty="0">
              <a:latin typeface="Gotham Light" panose="02000603030000020004" pitchFamily="2" charset="0"/>
            </a:endParaRPr>
          </a:p>
        </p:txBody>
      </p:sp>
      <p:pic>
        <p:nvPicPr>
          <p:cNvPr id="10" name="Picture 38" descr="http://t0.gstatic.com/images?q=tbn:ANd9GcQ5MWppd8sszxgv00Gkx-hEiu-jfRiBS6Paq4jCH9n_SD0q9JIZ"/>
          <p:cNvPicPr>
            <a:picLocks noChangeAspect="1" noChangeArrowheads="1"/>
          </p:cNvPicPr>
          <p:nvPr/>
        </p:nvPicPr>
        <p:blipFill>
          <a:blip r:embed="rId3" cstate="print"/>
          <a:srcRect t="10126"/>
          <a:stretch>
            <a:fillRect/>
          </a:stretch>
        </p:blipFill>
        <p:spPr bwMode="auto">
          <a:xfrm>
            <a:off x="7574426" y="3940880"/>
            <a:ext cx="1265783" cy="11385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7726" y="4081521"/>
            <a:ext cx="857250" cy="857250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2782774" y="4367830"/>
            <a:ext cx="1223159" cy="28463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ight Arrow 15"/>
          <p:cNvSpPr/>
          <p:nvPr/>
        </p:nvSpPr>
        <p:spPr>
          <a:xfrm rot="10800000">
            <a:off x="5809003" y="4114675"/>
            <a:ext cx="1223159" cy="28463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ight Arrow 16"/>
          <p:cNvSpPr/>
          <p:nvPr/>
        </p:nvSpPr>
        <p:spPr>
          <a:xfrm>
            <a:off x="5894107" y="4551709"/>
            <a:ext cx="1223159" cy="284634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6"/>
          <p:cNvSpPr txBox="1"/>
          <p:nvPr/>
        </p:nvSpPr>
        <p:spPr>
          <a:xfrm>
            <a:off x="4218906" y="3657205"/>
            <a:ext cx="974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/>
              <a:t>AdServer</a:t>
            </a:r>
            <a:endParaRPr lang="pt-BR" sz="1400"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7574426" y="3608465"/>
            <a:ext cx="974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2774" y="4059166"/>
            <a:ext cx="9748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Cadastro de banners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8240" y="3665362"/>
            <a:ext cx="974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Requisição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8239" y="4937408"/>
            <a:ext cx="974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Banner</a:t>
            </a:r>
          </a:p>
        </p:txBody>
      </p:sp>
    </p:spTree>
    <p:extLst>
      <p:ext uri="{BB962C8B-B14F-4D97-AF65-F5344CB8AC3E}">
        <p14:creationId xmlns:p14="http://schemas.microsoft.com/office/powerpoint/2010/main" val="390452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5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4887182"/>
              </p:ext>
            </p:extLst>
          </p:nvPr>
        </p:nvGraphicFramePr>
        <p:xfrm>
          <a:off x="999744" y="1621536"/>
          <a:ext cx="10387584" cy="3052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3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93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1702">
                <a:tc gridSpan="2">
                  <a:txBody>
                    <a:bodyPr/>
                    <a:lstStyle/>
                    <a:p>
                      <a:pPr marL="0" algn="ctr" defTabSz="457126" rtl="0" eaLnBrk="1" latinLnBrk="0" hangingPunct="1"/>
                      <a:endParaRPr lang="pt-BR" sz="1600" kern="1200" dirty="0">
                        <a:solidFill>
                          <a:schemeClr val="dk1"/>
                        </a:solidFill>
                        <a:latin typeface="Gotham Bold" panose="02000803030000020004" pitchFamily="2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426"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Standard Display*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Utiliza</a:t>
                      </a:r>
                      <a:r>
                        <a:rPr lang="pt-BR" sz="1600" baseline="0" dirty="0"/>
                        <a:t> imagem para vender</a:t>
                      </a:r>
                      <a:endParaRPr lang="pt-BR" sz="16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Criativos Dinâmicos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A partir de um mesmo </a:t>
                      </a:r>
                      <a:r>
                        <a:rPr lang="pt-BR" sz="1600" dirty="0" err="1"/>
                        <a:t>template</a:t>
                      </a:r>
                      <a:r>
                        <a:rPr lang="pt-BR" sz="1600" dirty="0"/>
                        <a:t>, permite trocar</a:t>
                      </a:r>
                      <a:r>
                        <a:rPr lang="pt-BR" sz="1600" baseline="0" dirty="0"/>
                        <a:t> as informações de forma dinâmica.</a:t>
                      </a:r>
                      <a:endParaRPr lang="pt-BR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317">
                <a:tc>
                  <a:txBody>
                    <a:bodyPr/>
                    <a:lstStyle/>
                    <a:p>
                      <a:pPr algn="ctr"/>
                      <a:r>
                        <a:rPr lang="pt-BR" sz="1600" dirty="0" err="1"/>
                        <a:t>Rich</a:t>
                      </a:r>
                      <a:r>
                        <a:rPr lang="pt-BR" sz="1600" dirty="0"/>
                        <a:t> Media*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Permite</a:t>
                      </a:r>
                      <a:r>
                        <a:rPr lang="pt-BR" sz="1600" baseline="0" dirty="0"/>
                        <a:t> uma maior interação.</a:t>
                      </a:r>
                      <a:br>
                        <a:rPr lang="pt-BR" sz="1600" baseline="0" dirty="0"/>
                      </a:br>
                      <a:r>
                        <a:rPr lang="pt-BR" sz="1600" baseline="0" dirty="0"/>
                        <a:t>Formatos Expansíveis ou Flutuantes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0218">
                <a:tc>
                  <a:txBody>
                    <a:bodyPr/>
                    <a:lstStyle/>
                    <a:p>
                      <a:pPr algn="ctr"/>
                      <a:r>
                        <a:rPr lang="pt-BR" sz="1600" dirty="0" err="1"/>
                        <a:t>Tracking</a:t>
                      </a:r>
                      <a:r>
                        <a:rPr lang="pt-BR" sz="1600" dirty="0"/>
                        <a:t> Pixel e Click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Linhas de código que permitem a contabilização de impressões e clicks. Acompanha</a:t>
                      </a:r>
                      <a:r>
                        <a:rPr lang="pt-BR" sz="1600" baseline="0" dirty="0"/>
                        <a:t> o criativo.</a:t>
                      </a:r>
                      <a:endParaRPr lang="pt-BR" sz="16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60372" y="4767072"/>
            <a:ext cx="152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*Definição do Google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02FD6E7-C6D5-4EAB-8D6D-B2588987847D}"/>
              </a:ext>
            </a:extLst>
          </p:cNvPr>
          <p:cNvSpPr/>
          <p:nvPr/>
        </p:nvSpPr>
        <p:spPr>
          <a:xfrm>
            <a:off x="347472" y="12257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highlight>
                <a:srgbClr val="FF0000"/>
              </a:highlight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B384F0A-354C-44E0-9A50-C75A12654A10}"/>
              </a:ext>
            </a:extLst>
          </p:cNvPr>
          <p:cNvSpPr/>
          <p:nvPr/>
        </p:nvSpPr>
        <p:spPr>
          <a:xfrm>
            <a:off x="771968" y="12851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AdServer</a:t>
            </a:r>
            <a:r>
              <a:rPr lang="en-US" sz="2400" b="1" spc="-150" dirty="0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</a:t>
            </a:r>
            <a:r>
              <a:rPr lang="en-US" sz="2400" b="1" spc="-150" dirty="0" err="1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Formatos</a:t>
            </a:r>
            <a:r>
              <a:rPr lang="en-US" sz="2400" b="1" spc="-150" dirty="0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</a:t>
            </a:r>
            <a:r>
              <a:rPr lang="en-US" sz="2400" b="1" spc="-150" dirty="0" err="1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Básicos</a:t>
            </a:r>
            <a:endParaRPr lang="en-US" sz="2400" b="1" spc="-150" dirty="0">
              <a:solidFill>
                <a:schemeClr val="bg1"/>
              </a:solidFill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97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302607"/>
              </p:ext>
            </p:extLst>
          </p:nvPr>
        </p:nvGraphicFramePr>
        <p:xfrm>
          <a:off x="1243584" y="1157589"/>
          <a:ext cx="9838944" cy="4414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9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19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0504">
                <a:tc gridSpan="2">
                  <a:txBody>
                    <a:bodyPr/>
                    <a:lstStyle/>
                    <a:p>
                      <a:pPr algn="ctr" rtl="0" fontAlgn="ctr"/>
                      <a:endParaRPr lang="en-US" sz="1600" u="none" strike="noStrike" dirty="0"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5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Métricas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Impressões</a:t>
                      </a:r>
                      <a:r>
                        <a:rPr lang="en-US" sz="1400" u="none" strike="noStrike" dirty="0">
                          <a:effectLst/>
                          <a:latin typeface="Gotham Light" panose="02000603030000020004" pitchFamily="2" charset="0"/>
                        </a:rPr>
                        <a:t>, Cliques, </a:t>
                      </a:r>
                      <a:r>
                        <a:rPr lang="en-US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Interações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504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u="none" strike="noStrike" dirty="0">
                          <a:effectLst/>
                          <a:latin typeface="Gotham Light" panose="02000603030000020004" pitchFamily="2" charset="0"/>
                        </a:rPr>
                        <a:t>Controle de entrega de criativo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Horário</a:t>
                      </a:r>
                      <a:r>
                        <a:rPr lang="en-US" sz="1400" u="none" strike="noStrike" dirty="0">
                          <a:effectLst/>
                          <a:latin typeface="Gotham Light" panose="02000603030000020004" pitchFamily="2" charset="0"/>
                        </a:rPr>
                        <a:t>, </a:t>
                      </a:r>
                      <a:r>
                        <a:rPr lang="en-US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Período</a:t>
                      </a:r>
                      <a:r>
                        <a:rPr lang="en-US" sz="1400" u="none" strike="noStrike" dirty="0">
                          <a:effectLst/>
                          <a:latin typeface="Gotham Light" panose="02000603030000020004" pitchFamily="2" charset="0"/>
                        </a:rPr>
                        <a:t>, </a:t>
                      </a:r>
                      <a:r>
                        <a:rPr lang="en-US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Quantidade</a:t>
                      </a:r>
                      <a:r>
                        <a:rPr lang="en-US" sz="1400" u="none" strike="noStrike" dirty="0">
                          <a:effectLst/>
                          <a:latin typeface="Gotham Light" panose="02000603030000020004" pitchFamily="2" charset="0"/>
                        </a:rPr>
                        <a:t>, </a:t>
                      </a:r>
                      <a:r>
                        <a:rPr lang="en-US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Prioridade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5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>
                          <a:effectLst/>
                          <a:latin typeface="Gotham Light" panose="02000603030000020004" pitchFamily="2" charset="0"/>
                        </a:rPr>
                        <a:t>Segmentação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Geográfica</a:t>
                      </a:r>
                      <a:r>
                        <a:rPr lang="en-US" sz="1400" u="none" strike="noStrike" dirty="0">
                          <a:effectLst/>
                          <a:latin typeface="Gotham Light" panose="02000603030000020004" pitchFamily="2" charset="0"/>
                        </a:rPr>
                        <a:t>, Browsing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5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>
                          <a:effectLst/>
                          <a:latin typeface="Gotham Light" panose="02000603030000020004" pitchFamily="2" charset="0"/>
                        </a:rPr>
                        <a:t>Unificação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u="none" strike="noStrike" dirty="0">
                          <a:effectLst/>
                          <a:latin typeface="Gotham Light" panose="02000603030000020004" pitchFamily="2" charset="0"/>
                        </a:rPr>
                        <a:t>Métricas consolidadas da campanha em relação a todos os veículos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5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>
                          <a:effectLst/>
                          <a:latin typeface="Gotham Light" panose="02000603030000020004" pitchFamily="2" charset="0"/>
                        </a:rPr>
                        <a:t>Sobreposição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u="none" strike="noStrike" dirty="0">
                          <a:effectLst/>
                          <a:latin typeface="Gotham Light" panose="02000603030000020004" pitchFamily="2" charset="0"/>
                        </a:rPr>
                        <a:t>Cruzar usuários únicos em diferentes veículos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05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>
                          <a:effectLst/>
                          <a:latin typeface="Gotham Light" panose="02000603030000020004" pitchFamily="2" charset="0"/>
                        </a:rPr>
                        <a:t>Acompanhamento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u="none" strike="noStrike" dirty="0">
                          <a:effectLst/>
                          <a:latin typeface="Gotham Light" panose="02000603030000020004" pitchFamily="2" charset="0"/>
                        </a:rPr>
                        <a:t>Permite que você acompanhe em tempo real a entrega da sua campanha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05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>
                          <a:effectLst/>
                          <a:latin typeface="Gotham Light" panose="02000603030000020004" pitchFamily="2" charset="0"/>
                        </a:rPr>
                        <a:t>Conversão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u="none" strike="noStrike" dirty="0">
                          <a:effectLst/>
                          <a:latin typeface="Gotham Light" panose="02000603030000020004" pitchFamily="2" charset="0"/>
                        </a:rPr>
                        <a:t>Cruzamento com </a:t>
                      </a:r>
                      <a:r>
                        <a:rPr lang="pt-BR" sz="1400" u="none" strike="noStrike" dirty="0" err="1">
                          <a:effectLst/>
                          <a:latin typeface="Gotham Light" panose="02000603030000020004" pitchFamily="2" charset="0"/>
                        </a:rPr>
                        <a:t>tags</a:t>
                      </a:r>
                      <a:r>
                        <a:rPr lang="pt-BR" sz="1400" u="none" strike="noStrike" dirty="0">
                          <a:effectLst/>
                          <a:latin typeface="Gotham Light" panose="02000603030000020004" pitchFamily="2" charset="0"/>
                        </a:rPr>
                        <a:t> de conversão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05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u="none" strike="noStrike" dirty="0">
                          <a:effectLst/>
                          <a:latin typeface="Gotham Light" panose="02000603030000020004" pitchFamily="2" charset="0"/>
                        </a:rPr>
                        <a:t>Auditoria*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u="none" strike="noStrike" dirty="0">
                          <a:effectLst/>
                          <a:latin typeface="Gotham Light" panose="02000603030000020004" pitchFamily="2" charset="0"/>
                        </a:rPr>
                        <a:t>Comparar seus resultados com os resultados de veículos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810" marR="9810" marT="981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tângulo 6">
            <a:extLst>
              <a:ext uri="{FF2B5EF4-FFF2-40B4-BE49-F238E27FC236}">
                <a16:creationId xmlns:a16="http://schemas.microsoft.com/office/drawing/2014/main" id="{B2C2F75D-5232-43A1-B3F7-9C2FB14FFA3D}"/>
              </a:ext>
            </a:extLst>
          </p:cNvPr>
          <p:cNvSpPr/>
          <p:nvPr/>
        </p:nvSpPr>
        <p:spPr>
          <a:xfrm>
            <a:off x="347472" y="12257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highlight>
                <a:srgbClr val="FF0000"/>
              </a:highlight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88A816EE-F705-4EF8-A641-0F7994EF46A2}"/>
              </a:ext>
            </a:extLst>
          </p:cNvPr>
          <p:cNvSpPr/>
          <p:nvPr/>
        </p:nvSpPr>
        <p:spPr>
          <a:xfrm>
            <a:off x="771968" y="104126"/>
            <a:ext cx="10767760" cy="515938"/>
          </a:xfrm>
          <a:prstGeom prst="rect">
            <a:avLst/>
          </a:prstGeom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AdServer</a:t>
            </a:r>
            <a:r>
              <a:rPr lang="en-US" sz="2400" b="1" spc="-150" dirty="0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</a:t>
            </a:r>
            <a:r>
              <a:rPr lang="en-US" sz="2400" b="1" spc="-150" dirty="0" err="1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Configurações</a:t>
            </a:r>
            <a:endParaRPr lang="en-US" sz="2400" b="1" spc="-150" dirty="0">
              <a:solidFill>
                <a:schemeClr val="bg1"/>
              </a:solidFill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930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62680"/>
              </p:ext>
            </p:extLst>
          </p:nvPr>
        </p:nvGraphicFramePr>
        <p:xfrm>
          <a:off x="759776" y="1390073"/>
          <a:ext cx="10767760" cy="4104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6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12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12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12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613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149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 err="1">
                          <a:effectLst/>
                          <a:latin typeface="Gotham Bold" panose="02000803030000020004" pitchFamily="2" charset="0"/>
                        </a:rPr>
                        <a:t>Adserver</a:t>
                      </a:r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 para </a:t>
                      </a:r>
                      <a:r>
                        <a:rPr lang="en-US" sz="1500" u="none" strike="noStrike" dirty="0" err="1">
                          <a:effectLst/>
                          <a:latin typeface="Gotham Bold" panose="02000803030000020004" pitchFamily="2" charset="0"/>
                        </a:rPr>
                        <a:t>anunciantes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Standard Display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 err="1">
                          <a:effectLst/>
                          <a:latin typeface="Gotham Bold" panose="02000803030000020004" pitchFamily="2" charset="0"/>
                        </a:rPr>
                        <a:t>Criativos</a:t>
                      </a:r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 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  <a:p>
                      <a:pPr algn="ctr" fontAlgn="ctr"/>
                      <a:r>
                        <a:rPr lang="en-US" sz="1500" u="none" strike="noStrike" dirty="0" err="1">
                          <a:effectLst/>
                          <a:latin typeface="Gotham Bold" panose="02000803030000020004" pitchFamily="2" charset="0"/>
                        </a:rPr>
                        <a:t>Dinâmicos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Rich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Media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Tracking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Pixel + Click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Tracking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Bold" panose="02000803030000020004" pitchFamily="2" charset="0"/>
                        </a:rPr>
                        <a:t>Click</a:t>
                      </a:r>
                      <a:endParaRPr lang="en-US" sz="1500" b="1" i="0" u="none" strike="noStrike" dirty="0">
                        <a:solidFill>
                          <a:srgbClr val="FFFFFF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48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Métricas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Somente Impressão e Clique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 err="1">
                          <a:effectLst/>
                          <a:latin typeface="Gotham Light" panose="02000603030000020004" pitchFamily="2" charset="0"/>
                        </a:rPr>
                        <a:t>Somente</a:t>
                      </a:r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 Clique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 err="1">
                          <a:effectLst/>
                          <a:latin typeface="Gotham Light" panose="02000603030000020004" pitchFamily="2" charset="0"/>
                        </a:rPr>
                        <a:t>Controle</a:t>
                      </a:r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 de </a:t>
                      </a:r>
                      <a:r>
                        <a:rPr lang="en-US" sz="1500" u="none" strike="noStrike" dirty="0" err="1">
                          <a:effectLst/>
                          <a:latin typeface="Gotham Light" panose="02000603030000020004" pitchFamily="2" charset="0"/>
                        </a:rPr>
                        <a:t>entrega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Não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 err="1">
                          <a:effectLst/>
                          <a:latin typeface="Gotham Light" panose="02000603030000020004" pitchFamily="2" charset="0"/>
                        </a:rPr>
                        <a:t>Não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68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 err="1">
                          <a:effectLst/>
                          <a:latin typeface="Gotham Light" panose="02000603030000020004" pitchFamily="2" charset="0"/>
                        </a:rPr>
                        <a:t>Segmentação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Não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 err="1">
                          <a:effectLst/>
                          <a:latin typeface="Gotham Light" panose="02000603030000020004" pitchFamily="2" charset="0"/>
                        </a:rPr>
                        <a:t>Não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749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Unificação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4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Sobreposição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Acompanhamento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Conversão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Auditoria*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effectLst/>
                          <a:latin typeface="Gotham Light" panose="02000603030000020004" pitchFamily="2" charset="0"/>
                        </a:rPr>
                        <a:t>Sim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090" marR="9090" marT="909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Retângulo 7">
            <a:extLst>
              <a:ext uri="{FF2B5EF4-FFF2-40B4-BE49-F238E27FC236}">
                <a16:creationId xmlns:a16="http://schemas.microsoft.com/office/drawing/2014/main" id="{BEE8606B-FF35-4D26-92B5-ACCF626A78A2}"/>
              </a:ext>
            </a:extLst>
          </p:cNvPr>
          <p:cNvSpPr/>
          <p:nvPr/>
        </p:nvSpPr>
        <p:spPr>
          <a:xfrm>
            <a:off x="347472" y="12257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highlight>
                <a:srgbClr val="FF0000"/>
              </a:highlight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940F166-E518-4D8E-BE82-DE4562ABFFED}"/>
              </a:ext>
            </a:extLst>
          </p:cNvPr>
          <p:cNvSpPr/>
          <p:nvPr/>
        </p:nvSpPr>
        <p:spPr>
          <a:xfrm>
            <a:off x="771968" y="12851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AdServer</a:t>
            </a:r>
            <a:r>
              <a:rPr lang="en-US" sz="2400" b="1" spc="-150" dirty="0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Reports por </a:t>
            </a:r>
            <a:r>
              <a:rPr lang="en-US" sz="2400" b="1" spc="-150" dirty="0" err="1">
                <a:solidFill>
                  <a:schemeClr val="bg1"/>
                </a:solidFill>
                <a:ea typeface="ＭＳ Ｐゴシック" charset="0"/>
                <a:cs typeface="Calibri" panose="020F0502020204030204" pitchFamily="34" charset="0"/>
                <a:sym typeface="Century Gothic" charset="0"/>
              </a:rPr>
              <a:t>formatos</a:t>
            </a:r>
            <a:endParaRPr lang="en-US" sz="2400" b="1" spc="-150" dirty="0">
              <a:solidFill>
                <a:schemeClr val="bg1"/>
              </a:solidFill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541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F9DA2A7A-6C33-4D1F-A4FF-2FF627602503}"/>
              </a:ext>
            </a:extLst>
          </p:cNvPr>
          <p:cNvSpPr/>
          <p:nvPr/>
        </p:nvSpPr>
        <p:spPr>
          <a:xfrm>
            <a:off x="0" y="0"/>
            <a:ext cx="12192000" cy="6949439"/>
          </a:xfrm>
          <a:prstGeom prst="rect">
            <a:avLst/>
          </a:prstGeom>
          <a:solidFill>
            <a:srgbClr val="D01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261">
              <a:defRPr/>
            </a:pPr>
            <a:endParaRPr lang="en-US"/>
          </a:p>
        </p:txBody>
      </p:sp>
      <p:sp>
        <p:nvSpPr>
          <p:cNvPr id="5" name="Rectangle 3"/>
          <p:cNvSpPr>
            <a:spLocks/>
          </p:cNvSpPr>
          <p:nvPr/>
        </p:nvSpPr>
        <p:spPr bwMode="auto">
          <a:xfrm flipV="1">
            <a:off x="4691640" y="3672841"/>
            <a:ext cx="2333234" cy="45719"/>
          </a:xfrm>
          <a:prstGeom prst="rect">
            <a:avLst/>
          </a:prstGeom>
          <a:solidFill>
            <a:srgbClr val="FFFAF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1pPr>
            <a:lvl2pPr marL="742950" indent="-285750">
              <a:spcBef>
                <a:spcPts val="7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2pPr>
            <a:lvl3pPr marL="1143000" indent="-228600">
              <a:spcBef>
                <a:spcPts val="6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3pPr>
            <a:lvl4pPr marL="1600200" indent="-228600">
              <a:spcBef>
                <a:spcPts val="5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4pPr>
            <a:lvl5pPr marL="2057400" indent="-228600">
              <a:spcBef>
                <a:spcPts val="5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ヒラギノ角ゴ ProN W3" charset="-128"/>
                <a:sym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endParaRPr lang="pt-BR" sz="4200">
              <a:solidFill>
                <a:srgbClr val="000000"/>
              </a:solidFill>
              <a:latin typeface="Gill Sans" charset="0"/>
              <a:sym typeface="Gill Sans" charset="0"/>
            </a:endParaRPr>
          </a:p>
        </p:txBody>
      </p:sp>
      <p:sp>
        <p:nvSpPr>
          <p:cNvPr id="6" name="Rectangle 3"/>
          <p:cNvSpPr>
            <a:spLocks/>
          </p:cNvSpPr>
          <p:nvPr/>
        </p:nvSpPr>
        <p:spPr bwMode="auto">
          <a:xfrm>
            <a:off x="4435608" y="2895600"/>
            <a:ext cx="2589266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eaLnBrk="0" hangingPunct="0"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000000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algn="r" eaLnBrk="1" hangingPunct="1">
              <a:lnSpc>
                <a:spcPct val="80000"/>
              </a:lnSpc>
            </a:pPr>
            <a:r>
              <a:rPr lang="pt-BR" sz="4800" b="1" dirty="0" err="1">
                <a:solidFill>
                  <a:srgbClr val="FFFFFF"/>
                </a:solidFill>
                <a:latin typeface="Gotham Bold" panose="02000803030000020004" pitchFamily="2" charset="0"/>
                <a:cs typeface="Calibri" panose="020F0502020204030204" pitchFamily="34" charset="0"/>
              </a:rPr>
              <a:t>AdOps</a:t>
            </a:r>
            <a:endParaRPr lang="en-US" sz="4800" b="1" dirty="0">
              <a:solidFill>
                <a:srgbClr val="FFFFFF"/>
              </a:solidFill>
              <a:latin typeface="Gotham Bold" panose="02000803030000020004" pitchFamily="2" charset="0"/>
              <a:ea typeface="MS PGothic" panose="020B0600070205080204" pitchFamily="34" charset="-128"/>
              <a:cs typeface="Calibri" panose="020F0502020204030204" pitchFamily="34" charset="0"/>
              <a:sym typeface="Century Gothic" panose="020B0502020202020204" pitchFamily="34" charset="0"/>
            </a:endParaRP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1EB4E9E-8BCD-4F99-9B5D-9FFE63F83282}"/>
              </a:ext>
            </a:extLst>
          </p:cNvPr>
          <p:cNvGrpSpPr/>
          <p:nvPr/>
        </p:nvGrpSpPr>
        <p:grpSpPr>
          <a:xfrm>
            <a:off x="2109217" y="605180"/>
            <a:ext cx="7498081" cy="860924"/>
            <a:chOff x="2584705" y="605180"/>
            <a:chExt cx="7498081" cy="860924"/>
          </a:xfrm>
        </p:grpSpPr>
        <p:sp>
          <p:nvSpPr>
            <p:cNvPr id="2" name="Retângulo 1">
              <a:extLst>
                <a:ext uri="{FF2B5EF4-FFF2-40B4-BE49-F238E27FC236}">
                  <a16:creationId xmlns:a16="http://schemas.microsoft.com/office/drawing/2014/main" id="{1E8F4C44-DDF5-4134-9DD7-36B365932712}"/>
                </a:ext>
              </a:extLst>
            </p:cNvPr>
            <p:cNvSpPr/>
            <p:nvPr/>
          </p:nvSpPr>
          <p:spPr>
            <a:xfrm>
              <a:off x="2584705" y="605180"/>
              <a:ext cx="7498081" cy="8609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pt-BR" dirty="0"/>
            </a:p>
          </p:txBody>
        </p:sp>
        <p:pic>
          <p:nvPicPr>
            <p:cNvPr id="12" name="Picture 1">
              <a:extLst>
                <a:ext uri="{FF2B5EF4-FFF2-40B4-BE49-F238E27FC236}">
                  <a16:creationId xmlns:a16="http://schemas.microsoft.com/office/drawing/2014/main" id="{0C20920D-D8D6-4C2D-8E37-2616EC2B80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63602" y="666443"/>
              <a:ext cx="7394799" cy="7996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78863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pic>
        <p:nvPicPr>
          <p:cNvPr id="1026" name="Picture 2" descr="Resultado de imagem para gol linhas aereas">
            <a:extLst>
              <a:ext uri="{FF2B5EF4-FFF2-40B4-BE49-F238E27FC236}">
                <a16:creationId xmlns:a16="http://schemas.microsoft.com/office/drawing/2014/main" id="{75203234-F221-4085-8FA9-8BF562CB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143" y="2384172"/>
            <a:ext cx="2161783" cy="1158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sultado de imagem para Volkswagen">
            <a:extLst>
              <a:ext uri="{FF2B5EF4-FFF2-40B4-BE49-F238E27FC236}">
                <a16:creationId xmlns:a16="http://schemas.microsoft.com/office/drawing/2014/main" id="{7BE290DA-498B-4B1B-9FD5-E33A944AE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278" y="2594152"/>
            <a:ext cx="2730779" cy="2730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12" descr="Resultado de imagem para Visa logo">
            <a:extLst>
              <a:ext uri="{FF2B5EF4-FFF2-40B4-BE49-F238E27FC236}">
                <a16:creationId xmlns:a16="http://schemas.microsoft.com/office/drawing/2014/main" id="{7B591AC7-29ED-437E-AE96-BC6A9E3050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44" name="Picture 20" descr="Resultado de imagem para visa png">
            <a:extLst>
              <a:ext uri="{FF2B5EF4-FFF2-40B4-BE49-F238E27FC236}">
                <a16:creationId xmlns:a16="http://schemas.microsoft.com/office/drawing/2014/main" id="{73D03805-8DCE-4614-987E-32C9CCD148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0870" y="2141650"/>
            <a:ext cx="2359987" cy="1474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Resultado de imagem para HP logo">
            <a:extLst>
              <a:ext uri="{FF2B5EF4-FFF2-40B4-BE49-F238E27FC236}">
                <a16:creationId xmlns:a16="http://schemas.microsoft.com/office/drawing/2014/main" id="{C94B199A-6206-4AC9-AF7A-C2D645B64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641" y="4359286"/>
            <a:ext cx="1720785" cy="1720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Resultado de imagem para elmas chips">
            <a:extLst>
              <a:ext uri="{FF2B5EF4-FFF2-40B4-BE49-F238E27FC236}">
                <a16:creationId xmlns:a16="http://schemas.microsoft.com/office/drawing/2014/main" id="{793CB4C4-946B-41AF-AFC5-AF6C24360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9862" y="4010665"/>
            <a:ext cx="3610762" cy="2310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874B529E-7870-422D-B244-CDA406C787CB}"/>
              </a:ext>
            </a:extLst>
          </p:cNvPr>
          <p:cNvSpPr/>
          <p:nvPr/>
        </p:nvSpPr>
        <p:spPr>
          <a:xfrm>
            <a:off x="347472" y="13614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6000" dirty="0">
              <a:highlight>
                <a:srgbClr val="FF0000"/>
              </a:highlight>
              <a:latin typeface="Gotham Bold" panose="02000803030000020004" pitchFamily="2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68920FF-2AE1-4780-8A01-106C0DD75633}"/>
              </a:ext>
            </a:extLst>
          </p:cNvPr>
          <p:cNvSpPr/>
          <p:nvPr/>
        </p:nvSpPr>
        <p:spPr>
          <a:xfrm>
            <a:off x="771968" y="15899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AdOps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Clientes</a:t>
            </a:r>
            <a:endParaRPr lang="en-US" sz="2400" b="1" spc="-150" dirty="0">
              <a:solidFill>
                <a:schemeClr val="bg1"/>
              </a:solidFill>
              <a:latin typeface="Gotham Bold" panose="02000803030000020004" pitchFamily="2" charset="0"/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609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tx1"/>
                </a:solidFill>
                <a:latin typeface="Gotham Light" panose="02000603030000020004" pitchFamily="2" charset="0"/>
              </a:rPr>
              <a:t>Simone Fernandes - Gerente</a:t>
            </a:r>
          </a:p>
          <a:p>
            <a:pPr marL="285750" indent="-285750" algn="ctr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tx1"/>
                </a:solidFill>
                <a:latin typeface="Gotham Light" panose="02000603030000020004" pitchFamily="2" charset="0"/>
              </a:rPr>
              <a:t>Wilson Silva - Supervisor</a:t>
            </a:r>
          </a:p>
          <a:p>
            <a:pPr marL="285750" indent="-285750" algn="ctr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tx1"/>
                </a:solidFill>
                <a:latin typeface="Gotham Light" panose="02000603030000020004" pitchFamily="2" charset="0"/>
              </a:rPr>
              <a:t>Rayza Soares - Coordenadora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2C8AF196-267E-4F3E-A2D1-955D8E203253}"/>
              </a:ext>
            </a:extLst>
          </p:cNvPr>
          <p:cNvSpPr/>
          <p:nvPr/>
        </p:nvSpPr>
        <p:spPr>
          <a:xfrm>
            <a:off x="347472" y="13614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6000" dirty="0">
              <a:highlight>
                <a:srgbClr val="FF0000"/>
              </a:highlight>
              <a:latin typeface="Gotham Bold" panose="02000803030000020004" pitchFamily="2" charset="0"/>
            </a:endParaRP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7EF1356D-F35F-4721-ADCB-F7B79197D399}"/>
              </a:ext>
            </a:extLst>
          </p:cNvPr>
          <p:cNvSpPr/>
          <p:nvPr/>
        </p:nvSpPr>
        <p:spPr>
          <a:xfrm>
            <a:off x="771968" y="12851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AdOps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Equipe</a:t>
            </a:r>
            <a:endParaRPr lang="en-US" sz="2400" b="1" spc="-150" dirty="0">
              <a:solidFill>
                <a:schemeClr val="bg1"/>
              </a:solidFill>
              <a:latin typeface="Gotham Bold" panose="02000803030000020004" pitchFamily="2" charset="0"/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532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901222"/>
              </p:ext>
            </p:extLst>
          </p:nvPr>
        </p:nvGraphicFramePr>
        <p:xfrm>
          <a:off x="2462784" y="2462783"/>
          <a:ext cx="6973824" cy="261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7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093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Configurar</a:t>
                      </a:r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 DCM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11066" marR="11066" marT="11066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93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Cadastramento</a:t>
                      </a:r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 das </a:t>
                      </a:r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peças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11066" marR="11066" marT="11066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93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Interface </a:t>
                      </a:r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técnica</a:t>
                      </a:r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 com </a:t>
                      </a:r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veículos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11066" marR="11066" marT="11066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93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Suporte</a:t>
                      </a:r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 para </a:t>
                      </a:r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discrepâncias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11066" marR="11066" marT="11066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16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Disparo</a:t>
                      </a:r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 de </a:t>
                      </a:r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materiais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11066" marR="11066" marT="11066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16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Controle</a:t>
                      </a:r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 de Under e Over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11066" marR="11066" marT="11066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6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Checking de </a:t>
                      </a:r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veiculações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11066" marR="11066" marT="11066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6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u="none" strike="noStrike" dirty="0">
                          <a:effectLst/>
                          <a:latin typeface="Gotham Light" panose="02000603030000020004" pitchFamily="2" charset="0"/>
                        </a:rPr>
                        <a:t>Interface com </a:t>
                      </a:r>
                      <a:r>
                        <a:rPr lang="en-US" sz="2000" u="none" strike="noStrike" dirty="0" err="1">
                          <a:effectLst/>
                          <a:latin typeface="Gotham Light" panose="02000603030000020004" pitchFamily="2" charset="0"/>
                        </a:rPr>
                        <a:t>veículo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11066" marR="11066" marT="11066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tângulo 9">
            <a:extLst>
              <a:ext uri="{FF2B5EF4-FFF2-40B4-BE49-F238E27FC236}">
                <a16:creationId xmlns:a16="http://schemas.microsoft.com/office/drawing/2014/main" id="{27100A1B-240C-4AB1-A6D8-EF82DB55501F}"/>
              </a:ext>
            </a:extLst>
          </p:cNvPr>
          <p:cNvSpPr/>
          <p:nvPr/>
        </p:nvSpPr>
        <p:spPr>
          <a:xfrm>
            <a:off x="347472" y="13614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6000" dirty="0">
              <a:highlight>
                <a:srgbClr val="FF0000"/>
              </a:highlight>
              <a:latin typeface="Gotham Bold" panose="02000803030000020004" pitchFamily="2" charset="0"/>
            </a:endParaRP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0546EA66-9CE0-450E-A7ED-5B3934FBC009}"/>
              </a:ext>
            </a:extLst>
          </p:cNvPr>
          <p:cNvSpPr/>
          <p:nvPr/>
        </p:nvSpPr>
        <p:spPr>
          <a:xfrm>
            <a:off x="771968" y="12851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AdOps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Principais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Funções</a:t>
            </a:r>
            <a:endParaRPr lang="en-US" sz="2400" b="1" spc="-150" dirty="0">
              <a:solidFill>
                <a:schemeClr val="bg1"/>
              </a:solidFill>
              <a:latin typeface="Gotham Bold" panose="02000803030000020004" pitchFamily="2" charset="0"/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1541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68458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648973" y="972458"/>
            <a:ext cx="1805302" cy="5232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Processo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8720" y="966854"/>
            <a:ext cx="1451038" cy="5232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Padrão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6115" y="972458"/>
            <a:ext cx="1721946" cy="5232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Controle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614029" y="1915874"/>
            <a:ext cx="1001486" cy="493486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  <a:latin typeface="Gotham Light" panose="02000603030000020004" pitchFamily="2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36430" y="1962562"/>
            <a:ext cx="6168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Gotham Light" panose="02000603030000020004" pitchFamily="2" charset="0"/>
              </a:rPr>
              <a:t>PC Padronizado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6430" y="2587254"/>
            <a:ext cx="6168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Gotham Light" panose="02000603030000020004" pitchFamily="2" charset="0"/>
              </a:rPr>
              <a:t>Recebimento Centralizado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6430" y="3203837"/>
            <a:ext cx="6168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Gotham Light" panose="02000603030000020004" pitchFamily="2" charset="0"/>
              </a:rPr>
              <a:t>Indicadores de Status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6430" y="3806185"/>
            <a:ext cx="6168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Gotham Light" panose="02000603030000020004" pitchFamily="2" charset="0"/>
              </a:rPr>
              <a:t>Controle de Erros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36430" y="4423048"/>
            <a:ext cx="6168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Gotham Light" panose="02000603030000020004" pitchFamily="2" charset="0"/>
              </a:rPr>
              <a:t>Automação</a:t>
            </a:r>
          </a:p>
        </p:txBody>
      </p:sp>
      <p:sp>
        <p:nvSpPr>
          <p:cNvPr id="6" name="Plus 5"/>
          <p:cNvSpPr/>
          <p:nvPr/>
        </p:nvSpPr>
        <p:spPr>
          <a:xfrm>
            <a:off x="2888323" y="5355771"/>
            <a:ext cx="1117600" cy="1059543"/>
          </a:xfrm>
          <a:prstGeom prst="mathPlus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  <a:latin typeface="Gotham Light" panose="02000603030000020004" pitchFamily="2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234835" y="5593154"/>
            <a:ext cx="1935145" cy="5232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Completo</a:t>
            </a:r>
          </a:p>
        </p:txBody>
      </p:sp>
      <p:sp>
        <p:nvSpPr>
          <p:cNvPr id="47" name="Plus 46"/>
          <p:cNvSpPr/>
          <p:nvPr/>
        </p:nvSpPr>
        <p:spPr>
          <a:xfrm>
            <a:off x="6535367" y="5355771"/>
            <a:ext cx="1117600" cy="1059543"/>
          </a:xfrm>
          <a:prstGeom prst="mathPlus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latin typeface="Gotham Light" panose="02000603030000020004" pitchFamily="2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881879" y="5593154"/>
            <a:ext cx="1725152" cy="5232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Eficiente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614029" y="2569151"/>
            <a:ext cx="1001486" cy="493486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  <a:latin typeface="Gotham Light" panose="02000603030000020004" pitchFamily="2" charset="0"/>
            </a:endParaRPr>
          </a:p>
        </p:txBody>
      </p:sp>
      <p:sp>
        <p:nvSpPr>
          <p:cNvPr id="24" name="Right Arrow 23"/>
          <p:cNvSpPr/>
          <p:nvPr/>
        </p:nvSpPr>
        <p:spPr>
          <a:xfrm>
            <a:off x="3614029" y="3173320"/>
            <a:ext cx="1001486" cy="493486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  <a:latin typeface="Gotham Light" panose="02000603030000020004" pitchFamily="2" charset="0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3610457" y="3771689"/>
            <a:ext cx="1001486" cy="493486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  <a:latin typeface="Gotham Light" panose="02000603030000020004" pitchFamily="2" charset="0"/>
            </a:endParaRPr>
          </a:p>
        </p:txBody>
      </p:sp>
      <p:sp>
        <p:nvSpPr>
          <p:cNvPr id="29" name="Right Arrow 28"/>
          <p:cNvSpPr/>
          <p:nvPr/>
        </p:nvSpPr>
        <p:spPr>
          <a:xfrm>
            <a:off x="3610457" y="4389737"/>
            <a:ext cx="1001486" cy="493486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  <a:latin typeface="Gotham Light" panose="02000603030000020004" pitchFamily="2" charset="0"/>
            </a:endParaRP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4EC055ED-F714-4883-839D-16DF70DECBA9}"/>
              </a:ext>
            </a:extLst>
          </p:cNvPr>
          <p:cNvSpPr/>
          <p:nvPr/>
        </p:nvSpPr>
        <p:spPr>
          <a:xfrm>
            <a:off x="347472" y="13614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6000" dirty="0">
              <a:highlight>
                <a:srgbClr val="FF0000"/>
              </a:highlight>
              <a:latin typeface="Gotham Bold" panose="02000803030000020004" pitchFamily="2" charset="0"/>
            </a:endParaRPr>
          </a:p>
        </p:txBody>
      </p:sp>
      <p:sp>
        <p:nvSpPr>
          <p:cNvPr id="31" name="Rectangle 3">
            <a:extLst>
              <a:ext uri="{FF2B5EF4-FFF2-40B4-BE49-F238E27FC236}">
                <a16:creationId xmlns:a16="http://schemas.microsoft.com/office/drawing/2014/main" id="{1366A80D-0E9D-4BE2-A790-8673BCB568A4}"/>
              </a:ext>
            </a:extLst>
          </p:cNvPr>
          <p:cNvSpPr/>
          <p:nvPr/>
        </p:nvSpPr>
        <p:spPr>
          <a:xfrm>
            <a:off x="771968" y="12851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AdOps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Pradonização</a:t>
            </a:r>
            <a:endParaRPr lang="en-US" sz="2400" b="1" spc="-150" dirty="0">
              <a:solidFill>
                <a:schemeClr val="bg1"/>
              </a:solidFill>
              <a:latin typeface="Gotham Bold" panose="02000803030000020004" pitchFamily="2" charset="0"/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0243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 tmFilter="0, 0; .2, .5; .8, .5; 1, 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250" autoRev="1" fill="hold"/>
                                        <p:tgtEl>
                                          <p:spTgt spid="4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6" grpId="0" animBg="1"/>
      <p:bldP spid="47" grpId="0" animBg="1"/>
      <p:bldP spid="23" grpId="0" animBg="1"/>
      <p:bldP spid="24" grpId="0" animBg="1"/>
      <p:bldP spid="25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253423" y="1831420"/>
            <a:ext cx="1799773" cy="478971"/>
          </a:xfrm>
          <a:prstGeom prst="rect">
            <a:avLst/>
          </a:prstGeom>
          <a:solidFill>
            <a:schemeClr val="bg1">
              <a:lumMod val="65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Plano da Campanha é Aprovado</a:t>
            </a:r>
          </a:p>
          <a:p>
            <a:pPr algn="ctr"/>
            <a:endParaRPr lang="pt-BR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otham Light" panose="02000603030000020004" pitchFamily="2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192348" y="956721"/>
            <a:ext cx="2046299" cy="478971"/>
          </a:xfrm>
          <a:prstGeom prst="rect">
            <a:avLst/>
          </a:prstGeom>
          <a:solidFill>
            <a:schemeClr val="bg1">
              <a:lumMod val="50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AdOps é avisado que terá uma campanha “X”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4018" y="2678223"/>
            <a:ext cx="1911513" cy="738611"/>
          </a:xfrm>
          <a:prstGeom prst="rect">
            <a:avLst/>
          </a:prstGeom>
          <a:solidFill>
            <a:schemeClr val="bg1">
              <a:lumMod val="50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Midia monta o Planilha de </a:t>
            </a:r>
            <a:r>
              <a:rPr lang="pt-BR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Specs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 e repassa para atendimento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991" y="3849339"/>
            <a:ext cx="2153303" cy="597319"/>
          </a:xfrm>
          <a:prstGeom prst="rect">
            <a:avLst/>
          </a:prstGeom>
          <a:solidFill>
            <a:schemeClr val="bg1">
              <a:lumMod val="65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Atendimento envia para produtora criar as peças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888" y="4961650"/>
            <a:ext cx="2153303" cy="696011"/>
          </a:xfrm>
          <a:prstGeom prst="rect">
            <a:avLst/>
          </a:prstGeom>
          <a:solidFill>
            <a:schemeClr val="bg1">
              <a:lumMod val="50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Produtora envia as peças para o atendimento que repassa para Mídia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7518" y="5630384"/>
            <a:ext cx="2255502" cy="687627"/>
          </a:xfrm>
          <a:prstGeom prst="rect">
            <a:avLst/>
          </a:prstGeom>
          <a:solidFill>
            <a:schemeClr val="bg1">
              <a:lumMod val="65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Mídia cria o ADP e envia para </a:t>
            </a:r>
            <a:r>
              <a:rPr lang="pt-BR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AdOps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 com as peças</a:t>
            </a:r>
          </a:p>
          <a:p>
            <a:pPr algn="ctr"/>
            <a:endParaRPr lang="pt-BR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otham Light" panose="02000603030000020004" pitchFamily="2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669953" y="4906956"/>
            <a:ext cx="2255502" cy="687627"/>
          </a:xfrm>
          <a:prstGeom prst="rect">
            <a:avLst/>
          </a:prstGeom>
          <a:solidFill>
            <a:schemeClr val="bg1">
              <a:lumMod val="50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pt-BR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otham Light" panose="02000603030000020004" pitchFamily="2" charset="0"/>
            </a:endParaRPr>
          </a:p>
          <a:p>
            <a:pPr algn="ctr"/>
            <a:r>
              <a:rPr lang="pt-BR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AdOps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 Valida ADP + Peças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3182" y="3796255"/>
            <a:ext cx="2255502" cy="650403"/>
          </a:xfrm>
          <a:prstGeom prst="rect">
            <a:avLst/>
          </a:prstGeom>
          <a:solidFill>
            <a:schemeClr val="bg1">
              <a:lumMod val="65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Validação Ok, </a:t>
            </a:r>
            <a:r>
              <a:rPr lang="pt-BR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AdOps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, gera as </a:t>
            </a:r>
            <a:r>
              <a:rPr lang="pt-BR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Tags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 + contadores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2480" y="2729371"/>
            <a:ext cx="2255502" cy="565992"/>
          </a:xfrm>
          <a:prstGeom prst="rect">
            <a:avLst/>
          </a:prstGeom>
          <a:solidFill>
            <a:schemeClr val="bg1">
              <a:lumMod val="50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AdOps  faz os envios de materiais para os portais.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3076" y="1650557"/>
            <a:ext cx="2350940" cy="659834"/>
          </a:xfrm>
          <a:prstGeom prst="rect">
            <a:avLst/>
          </a:prstGeom>
          <a:solidFill>
            <a:schemeClr val="bg1">
              <a:lumMod val="65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AdOps  checa a contabilização dos banners encaminhados.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3565142" y="1527124"/>
            <a:ext cx="88862" cy="1779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 flipV="1">
            <a:off x="9267602" y="2396681"/>
            <a:ext cx="158228" cy="238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cxnSpLocks/>
          </p:cNvCxnSpPr>
          <p:nvPr/>
        </p:nvCxnSpPr>
        <p:spPr>
          <a:xfrm flipH="1" flipV="1">
            <a:off x="9389303" y="3420831"/>
            <a:ext cx="53424" cy="151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9199010" y="4578293"/>
            <a:ext cx="122445" cy="168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7707960" y="5758774"/>
            <a:ext cx="124776" cy="68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H="1">
            <a:off x="2817779" y="2436745"/>
            <a:ext cx="64408" cy="198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cxnSpLocks/>
          </p:cNvCxnSpPr>
          <p:nvPr/>
        </p:nvCxnSpPr>
        <p:spPr>
          <a:xfrm>
            <a:off x="2817779" y="3441166"/>
            <a:ext cx="64408" cy="3178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3151408" y="4635794"/>
            <a:ext cx="84660" cy="1779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639914" y="5784539"/>
            <a:ext cx="120277" cy="120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http://mensagens.culturamix.com/blog/wp-content/gallery/5-213/frases-sobre-o-trabalho-em-equipe-7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898" y="2052083"/>
            <a:ext cx="2664488" cy="2664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Rectangle 18">
            <a:extLst>
              <a:ext uri="{FF2B5EF4-FFF2-40B4-BE49-F238E27FC236}">
                <a16:creationId xmlns:a16="http://schemas.microsoft.com/office/drawing/2014/main" id="{0AA40FEB-9DF0-4955-B625-F2548B02E076}"/>
              </a:ext>
            </a:extLst>
          </p:cNvPr>
          <p:cNvSpPr/>
          <p:nvPr/>
        </p:nvSpPr>
        <p:spPr>
          <a:xfrm>
            <a:off x="6316243" y="884399"/>
            <a:ext cx="2255502" cy="497578"/>
          </a:xfrm>
          <a:prstGeom prst="rect">
            <a:avLst/>
          </a:prstGeom>
          <a:solidFill>
            <a:schemeClr val="bg1">
              <a:lumMod val="50000"/>
            </a:schemeClr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Caso precise, </a:t>
            </a:r>
            <a:r>
              <a:rPr lang="pt-BR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AdOps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 faz o acompanhamento de U x O</a:t>
            </a:r>
          </a:p>
        </p:txBody>
      </p:sp>
      <p:cxnSp>
        <p:nvCxnSpPr>
          <p:cNvPr id="33" name="Straight Arrow Connector 20">
            <a:extLst>
              <a:ext uri="{FF2B5EF4-FFF2-40B4-BE49-F238E27FC236}">
                <a16:creationId xmlns:a16="http://schemas.microsoft.com/office/drawing/2014/main" id="{5348BE69-D0A4-48D6-82DF-4AC85C916238}"/>
              </a:ext>
            </a:extLst>
          </p:cNvPr>
          <p:cNvCxnSpPr/>
          <p:nvPr/>
        </p:nvCxnSpPr>
        <p:spPr>
          <a:xfrm flipH="1" flipV="1">
            <a:off x="8362543" y="1397221"/>
            <a:ext cx="158228" cy="238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tângulo 29">
            <a:extLst>
              <a:ext uri="{FF2B5EF4-FFF2-40B4-BE49-F238E27FC236}">
                <a16:creationId xmlns:a16="http://schemas.microsoft.com/office/drawing/2014/main" id="{8B04F8C5-2F1D-47FC-9BF3-4ED62A149CC3}"/>
              </a:ext>
            </a:extLst>
          </p:cNvPr>
          <p:cNvSpPr/>
          <p:nvPr/>
        </p:nvSpPr>
        <p:spPr>
          <a:xfrm>
            <a:off x="355614" y="71430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6000" dirty="0">
              <a:highlight>
                <a:srgbClr val="FF0000"/>
              </a:highlight>
              <a:latin typeface="Gotham Bold" panose="02000803030000020004" pitchFamily="2" charset="0"/>
            </a:endParaRPr>
          </a:p>
        </p:txBody>
      </p:sp>
      <p:sp>
        <p:nvSpPr>
          <p:cNvPr id="34" name="Rectangle 3">
            <a:extLst>
              <a:ext uri="{FF2B5EF4-FFF2-40B4-BE49-F238E27FC236}">
                <a16:creationId xmlns:a16="http://schemas.microsoft.com/office/drawing/2014/main" id="{77E3DD2D-89F2-4D9D-B345-2403B77D93EE}"/>
              </a:ext>
            </a:extLst>
          </p:cNvPr>
          <p:cNvSpPr/>
          <p:nvPr/>
        </p:nvSpPr>
        <p:spPr>
          <a:xfrm>
            <a:off x="780110" y="75988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Integração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de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Equipes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: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AdOps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+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Midia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+ Atendimento</a:t>
            </a:r>
          </a:p>
        </p:txBody>
      </p:sp>
    </p:spTree>
    <p:extLst>
      <p:ext uri="{BB962C8B-B14F-4D97-AF65-F5344CB8AC3E}">
        <p14:creationId xmlns:p14="http://schemas.microsoft.com/office/powerpoint/2010/main" val="1571330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5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1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B31A046-0E1A-47F8-8864-39C29139D6D0}"/>
              </a:ext>
            </a:extLst>
          </p:cNvPr>
          <p:cNvSpPr/>
          <p:nvPr/>
        </p:nvSpPr>
        <p:spPr>
          <a:xfrm>
            <a:off x="347472" y="13614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6000" dirty="0">
              <a:highlight>
                <a:srgbClr val="FF0000"/>
              </a:highlight>
              <a:latin typeface="Gotham Bold" panose="02000803030000020004" pitchFamily="2" charset="0"/>
            </a:endParaRP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2617258C-5646-4E05-ABA1-88EB364FA973}"/>
              </a:ext>
            </a:extLst>
          </p:cNvPr>
          <p:cNvSpPr/>
          <p:nvPr/>
        </p:nvSpPr>
        <p:spPr>
          <a:xfrm>
            <a:off x="771968" y="12851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AdOps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Benefícios</a:t>
            </a:r>
          </a:p>
        </p:txBody>
      </p:sp>
      <p:graphicFrame>
        <p:nvGraphicFramePr>
          <p:cNvPr id="7" name="Table 1">
            <a:extLst>
              <a:ext uri="{FF2B5EF4-FFF2-40B4-BE49-F238E27FC236}">
                <a16:creationId xmlns:a16="http://schemas.microsoft.com/office/drawing/2014/main" id="{A937C8AF-3F3C-445E-80AC-032D172D02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96230"/>
              </p:ext>
            </p:extLst>
          </p:nvPr>
        </p:nvGraphicFramePr>
        <p:xfrm>
          <a:off x="1126648" y="2329691"/>
          <a:ext cx="10058400" cy="25753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09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pt-BR" sz="2000" dirty="0">
                          <a:solidFill>
                            <a:schemeClr val="tx1"/>
                          </a:solidFill>
                          <a:latin typeface="Gotham Light" panose="02000603030000020004" pitchFamily="2" charset="0"/>
                        </a:rPr>
                        <a:t>Dados em tempo real unificados por campanha</a:t>
                      </a:r>
                    </a:p>
                  </a:txBody>
                  <a:tcPr marL="11066" marR="11066" marT="11066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9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pt-BR" sz="2000" dirty="0">
                          <a:solidFill>
                            <a:schemeClr val="tx1"/>
                          </a:solidFill>
                          <a:latin typeface="Gotham Light" panose="02000603030000020004" pitchFamily="2" charset="0"/>
                        </a:rPr>
                        <a:t>Cruzamentos com dados de conversão e entre veículos (sobreposição)</a:t>
                      </a:r>
                    </a:p>
                  </a:txBody>
                  <a:tcPr marL="11066" marR="11066" marT="11066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9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pt-BR" sz="2000" dirty="0">
                          <a:solidFill>
                            <a:schemeClr val="tx1"/>
                          </a:solidFill>
                          <a:latin typeface="Gotham Light" panose="02000603030000020004" pitchFamily="2" charset="0"/>
                        </a:rPr>
                        <a:t>Imediatismo. Menor tempo de resposta em ajustes da campanha</a:t>
                      </a:r>
                    </a:p>
                  </a:txBody>
                  <a:tcPr marL="11066" marR="11066" marT="11066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9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pt-BR" sz="2000" dirty="0">
                          <a:solidFill>
                            <a:schemeClr val="tx1"/>
                          </a:solidFill>
                          <a:latin typeface="Gotham Light" panose="02000603030000020004" pitchFamily="2" charset="0"/>
                        </a:rPr>
                        <a:t>Melhor qualidade de dados para tomada de decisão</a:t>
                      </a:r>
                    </a:p>
                  </a:txBody>
                  <a:tcPr marL="11066" marR="11066" marT="11066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162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pt-BR" sz="2000" dirty="0">
                          <a:solidFill>
                            <a:schemeClr val="tx1"/>
                          </a:solidFill>
                          <a:latin typeface="Gotham Light" panose="02000603030000020004" pitchFamily="2" charset="0"/>
                        </a:rPr>
                        <a:t>Melhor análise de BI</a:t>
                      </a:r>
                    </a:p>
                  </a:txBody>
                  <a:tcPr marL="11066" marR="11066" marT="11066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8303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2168"/>
            <a:ext cx="12192000" cy="68458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chemeClr val="tx1"/>
                </a:solidFill>
                <a:latin typeface="Gotham Light" panose="02000603030000020004" pitchFamily="2" charset="0"/>
              </a:rPr>
              <a:t>Prazo de até 48h para a implementação do material </a:t>
            </a:r>
          </a:p>
          <a:p>
            <a:pPr algn="ctr">
              <a:lnSpc>
                <a:spcPct val="200000"/>
              </a:lnSpc>
            </a:pPr>
            <a:r>
              <a:rPr lang="pt-BR" sz="2800" dirty="0">
                <a:solidFill>
                  <a:schemeClr val="tx1"/>
                </a:solidFill>
                <a:latin typeface="Gotham Light" panose="02000603030000020004" pitchFamily="2" charset="0"/>
              </a:rPr>
              <a:t>após recebimento dentro dos padrões.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207357D-1272-46F0-86B5-C8E744AE41A6}"/>
              </a:ext>
            </a:extLst>
          </p:cNvPr>
          <p:cNvSpPr/>
          <p:nvPr/>
        </p:nvSpPr>
        <p:spPr>
          <a:xfrm>
            <a:off x="347472" y="13614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6000" dirty="0">
              <a:highlight>
                <a:srgbClr val="FF0000"/>
              </a:highlight>
              <a:latin typeface="Gotham Bold" panose="02000803030000020004" pitchFamily="2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AF70D01-6DFC-4A83-B692-E9EE6DB4A90E}"/>
              </a:ext>
            </a:extLst>
          </p:cNvPr>
          <p:cNvSpPr/>
          <p:nvPr/>
        </p:nvSpPr>
        <p:spPr>
          <a:xfrm>
            <a:off x="771968" y="15899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AdOps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: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Prazos</a:t>
            </a:r>
            <a:endParaRPr lang="en-US" sz="2400" b="1" spc="-150" dirty="0">
              <a:solidFill>
                <a:schemeClr val="bg1"/>
              </a:solidFill>
              <a:latin typeface="Gotham Bold" panose="02000803030000020004" pitchFamily="2" charset="0"/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84699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54C9B82-2BEF-4568-AC84-A3CF2C46ACBD}"/>
              </a:ext>
            </a:extLst>
          </p:cNvPr>
          <p:cNvSpPr/>
          <p:nvPr/>
        </p:nvSpPr>
        <p:spPr>
          <a:xfrm>
            <a:off x="1792224" y="1328928"/>
            <a:ext cx="9339072" cy="21512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FDD0734-BF47-4C2D-A14C-C051366C4A09}"/>
              </a:ext>
            </a:extLst>
          </p:cNvPr>
          <p:cNvSpPr/>
          <p:nvPr/>
        </p:nvSpPr>
        <p:spPr>
          <a:xfrm>
            <a:off x="1792224" y="3700311"/>
            <a:ext cx="9339072" cy="21512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2236643" y="1091800"/>
            <a:ext cx="1799773" cy="406261"/>
          </a:xfrm>
          <a:prstGeom prst="rect">
            <a:avLst/>
          </a:prstGeom>
          <a:solidFill>
            <a:schemeClr val="tx1"/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Almap</a:t>
            </a:r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89A95A6F-5003-458A-950B-78AABF55CFBE}"/>
              </a:ext>
            </a:extLst>
          </p:cNvPr>
          <p:cNvSpPr/>
          <p:nvPr/>
        </p:nvSpPr>
        <p:spPr>
          <a:xfrm>
            <a:off x="2236643" y="3545582"/>
            <a:ext cx="1799773" cy="406261"/>
          </a:xfrm>
          <a:prstGeom prst="rect">
            <a:avLst/>
          </a:prstGeom>
          <a:solidFill>
            <a:schemeClr val="tx1"/>
          </a:solidFill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tham Light" panose="02000603030000020004" pitchFamily="2" charset="0"/>
              </a:rPr>
              <a:t>Terceiros</a:t>
            </a:r>
          </a:p>
          <a:p>
            <a:pPr algn="just"/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otham Light" panose="02000603030000020004" pitchFamily="2" charset="0"/>
            </a:endParaRPr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275B0A93-1557-405B-824A-40C10AF6A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82193"/>
              </p:ext>
            </p:extLst>
          </p:nvPr>
        </p:nvGraphicFramePr>
        <p:xfrm>
          <a:off x="2236643" y="1735189"/>
          <a:ext cx="8071692" cy="14963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9391">
                  <a:extLst>
                    <a:ext uri="{9D8B030D-6E8A-4147-A177-3AD203B41FA5}">
                      <a16:colId xmlns:a16="http://schemas.microsoft.com/office/drawing/2014/main" val="2941131871"/>
                    </a:ext>
                  </a:extLst>
                </a:gridCol>
                <a:gridCol w="1902193">
                  <a:extLst>
                    <a:ext uri="{9D8B030D-6E8A-4147-A177-3AD203B41FA5}">
                      <a16:colId xmlns:a16="http://schemas.microsoft.com/office/drawing/2014/main" val="2592541515"/>
                    </a:ext>
                  </a:extLst>
                </a:gridCol>
                <a:gridCol w="441880">
                  <a:extLst>
                    <a:ext uri="{9D8B030D-6E8A-4147-A177-3AD203B41FA5}">
                      <a16:colId xmlns:a16="http://schemas.microsoft.com/office/drawing/2014/main" val="4033492402"/>
                    </a:ext>
                  </a:extLst>
                </a:gridCol>
                <a:gridCol w="2070528">
                  <a:extLst>
                    <a:ext uri="{9D8B030D-6E8A-4147-A177-3AD203B41FA5}">
                      <a16:colId xmlns:a16="http://schemas.microsoft.com/office/drawing/2014/main" val="1269523825"/>
                    </a:ext>
                  </a:extLst>
                </a:gridCol>
                <a:gridCol w="471339">
                  <a:extLst>
                    <a:ext uri="{9D8B030D-6E8A-4147-A177-3AD203B41FA5}">
                      <a16:colId xmlns:a16="http://schemas.microsoft.com/office/drawing/2014/main" val="1118228834"/>
                    </a:ext>
                  </a:extLst>
                </a:gridCol>
                <a:gridCol w="1986361">
                  <a:extLst>
                    <a:ext uri="{9D8B030D-6E8A-4147-A177-3AD203B41FA5}">
                      <a16:colId xmlns:a16="http://schemas.microsoft.com/office/drawing/2014/main" val="1846828061"/>
                    </a:ext>
                  </a:extLst>
                </a:gridCol>
              </a:tblGrid>
              <a:tr h="2963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 Light" panose="02000603030000020004" pitchFamily="2" charset="0"/>
                        </a:rPr>
                        <a:t> </a:t>
                      </a:r>
                      <a:endParaRPr lang="pt-BR" sz="1100" b="0" i="0" u="none" strike="noStrike" dirty="0">
                        <a:solidFill>
                          <a:schemeClr val="bg1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Custo DCM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+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Custo Operacional </a:t>
                      </a:r>
                      <a:r>
                        <a:rPr lang="pt-BR" sz="1100" u="none" strike="noStrike" dirty="0" err="1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AdOps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pt-BR" sz="1100" u="none" strike="noStrike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=</a:t>
                      </a:r>
                      <a:endParaRPr lang="pt-BR" sz="1100" b="1" i="0" u="none" strike="noStrike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Custo </a:t>
                      </a:r>
                      <a:r>
                        <a:rPr lang="pt-BR" sz="1100" u="none" strike="noStrike" dirty="0" err="1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Adops</a:t>
                      </a:r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 -&gt; Cliente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299833"/>
                  </a:ext>
                </a:extLst>
              </a:tr>
              <a:tr h="2963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 Bold" panose="02000803030000020004" pitchFamily="2" charset="0"/>
                        </a:rPr>
                        <a:t>CPM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>
                          <a:effectLst/>
                        </a:rPr>
                        <a:t>0,04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0,09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0,13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261610"/>
                  </a:ext>
                </a:extLst>
              </a:tr>
              <a:tr h="2963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 Bold" panose="02000803030000020004" pitchFamily="2" charset="0"/>
                        </a:rPr>
                        <a:t>CPV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>
                          <a:effectLst/>
                        </a:rPr>
                        <a:t>0,60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>
                          <a:effectLst/>
                        </a:rPr>
                        <a:t>0,70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1,30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7995484"/>
                  </a:ext>
                </a:extLst>
              </a:tr>
              <a:tr h="2963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 err="1">
                          <a:effectLst/>
                          <a:latin typeface="Gotham Bold" panose="02000803030000020004" pitchFamily="2" charset="0"/>
                        </a:rPr>
                        <a:t>Rich</a:t>
                      </a:r>
                      <a:r>
                        <a:rPr lang="pt-BR" sz="1100" u="none" strike="noStrike" dirty="0">
                          <a:effectLst/>
                          <a:latin typeface="Gotham Bold" panose="02000803030000020004" pitchFamily="2" charset="0"/>
                        </a:rPr>
                        <a:t> Media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0,91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>
                          <a:effectLst/>
                        </a:rPr>
                        <a:t>0,35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1,26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068927"/>
                  </a:ext>
                </a:extLst>
              </a:tr>
              <a:tr h="31112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 Bold" panose="02000803030000020004" pitchFamily="2" charset="0"/>
                        </a:rPr>
                        <a:t>CPC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0,0035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0,02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0,0235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924338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8EA8CD80-407A-4143-BD84-4995521F2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97758"/>
              </p:ext>
            </p:extLst>
          </p:nvPr>
        </p:nvGraphicFramePr>
        <p:xfrm>
          <a:off x="2236643" y="4138567"/>
          <a:ext cx="8053405" cy="14941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5629">
                  <a:extLst>
                    <a:ext uri="{9D8B030D-6E8A-4147-A177-3AD203B41FA5}">
                      <a16:colId xmlns:a16="http://schemas.microsoft.com/office/drawing/2014/main" val="2404581531"/>
                    </a:ext>
                  </a:extLst>
                </a:gridCol>
                <a:gridCol w="1292129">
                  <a:extLst>
                    <a:ext uri="{9D8B030D-6E8A-4147-A177-3AD203B41FA5}">
                      <a16:colId xmlns:a16="http://schemas.microsoft.com/office/drawing/2014/main" val="2033080086"/>
                    </a:ext>
                  </a:extLst>
                </a:gridCol>
                <a:gridCol w="219456">
                  <a:extLst>
                    <a:ext uri="{9D8B030D-6E8A-4147-A177-3AD203B41FA5}">
                      <a16:colId xmlns:a16="http://schemas.microsoft.com/office/drawing/2014/main" val="2926269836"/>
                    </a:ext>
                  </a:extLst>
                </a:gridCol>
                <a:gridCol w="1615439">
                  <a:extLst>
                    <a:ext uri="{9D8B030D-6E8A-4147-A177-3AD203B41FA5}">
                      <a16:colId xmlns:a16="http://schemas.microsoft.com/office/drawing/2014/main" val="363174933"/>
                    </a:ext>
                  </a:extLst>
                </a:gridCol>
                <a:gridCol w="207264">
                  <a:extLst>
                    <a:ext uri="{9D8B030D-6E8A-4147-A177-3AD203B41FA5}">
                      <a16:colId xmlns:a16="http://schemas.microsoft.com/office/drawing/2014/main" val="905634575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1084630596"/>
                    </a:ext>
                  </a:extLst>
                </a:gridCol>
                <a:gridCol w="268224">
                  <a:extLst>
                    <a:ext uri="{9D8B030D-6E8A-4147-A177-3AD203B41FA5}">
                      <a16:colId xmlns:a16="http://schemas.microsoft.com/office/drawing/2014/main" val="831635171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954859086"/>
                    </a:ext>
                  </a:extLst>
                </a:gridCol>
              </a:tblGrid>
              <a:tr h="28001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u="none" strike="noStrike">
                          <a:solidFill>
                            <a:schemeClr val="bg1"/>
                          </a:solidFill>
                          <a:effectLst/>
                          <a:latin typeface="Gotham Light" panose="02000603030000020004" pitchFamily="2" charset="0"/>
                        </a:rPr>
                        <a:t> </a:t>
                      </a:r>
                      <a:endParaRPr lang="pt-BR" sz="1100" b="0" i="0" u="none" strike="noStrike">
                        <a:solidFill>
                          <a:schemeClr val="bg1"/>
                        </a:solidFill>
                        <a:effectLst/>
                        <a:latin typeface="Gotham Light" panose="020006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Custo DCM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 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" panose="02000604040000020004" pitchFamily="50" charset="0"/>
                        </a:rPr>
                        <a:t> 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Custo </a:t>
                      </a:r>
                      <a:r>
                        <a:rPr lang="pt-BR" sz="1100" u="none" strike="noStrike" dirty="0" err="1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Predicta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Custo </a:t>
                      </a:r>
                      <a:r>
                        <a:rPr lang="pt-BR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Admotion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 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" panose="02000604040000020004" pitchFamily="50" charset="0"/>
                        </a:rPr>
                        <a:t> 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Gotham" panose="02000604040000020004" pitchFamily="50" charset="0"/>
                      </a:endParaRPr>
                    </a:p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" panose="02000604040000020004" pitchFamily="50" charset="0"/>
                        </a:rPr>
                        <a:t> 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Gotham" panose="02000604040000020004" pitchFamily="50" charset="0"/>
                      </a:endParaRPr>
                    </a:p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" panose="02000604040000020004" pitchFamily="50" charset="0"/>
                        </a:rPr>
                        <a:t> 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Gotham" panose="02000604040000020004" pitchFamily="50" charset="0"/>
                      </a:endParaRPr>
                    </a:p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" panose="02000604040000020004" pitchFamily="50" charset="0"/>
                        </a:rPr>
                        <a:t> 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Custo </a:t>
                      </a:r>
                      <a:r>
                        <a:rPr lang="pt-BR" sz="1100" u="none" strike="noStrike" dirty="0" err="1">
                          <a:solidFill>
                            <a:schemeClr val="bg1"/>
                          </a:solidFill>
                          <a:effectLst/>
                          <a:latin typeface="Gotham" panose="02000604040000020004" pitchFamily="50" charset="0"/>
                        </a:rPr>
                        <a:t>Reamp</a:t>
                      </a:r>
                      <a:endParaRPr lang="pt-BR" sz="1100" b="1" i="0" u="none" strike="noStrike" dirty="0">
                        <a:solidFill>
                          <a:schemeClr val="bg1"/>
                        </a:solidFill>
                        <a:effectLst/>
                        <a:latin typeface="Gotham" panose="02000604040000020004" pitchFamily="50" charset="0"/>
                      </a:endParaRPr>
                    </a:p>
                  </a:txBody>
                  <a:tcPr marL="9525" marR="9525" marT="9525" marB="0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858225"/>
                  </a:ext>
                </a:extLst>
              </a:tr>
              <a:tr h="28001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 Bold" panose="02000803030000020004" pitchFamily="2" charset="0"/>
                        </a:rPr>
                        <a:t>CPM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>
                          <a:effectLst/>
                        </a:rPr>
                        <a:t>0,04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>
                          <a:effectLst/>
                        </a:rPr>
                        <a:t>0,10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0,16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0,15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330178"/>
                  </a:ext>
                </a:extLst>
              </a:tr>
              <a:tr h="28001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 Bold" panose="02000803030000020004" pitchFamily="2" charset="0"/>
                        </a:rPr>
                        <a:t>CPV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0,60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0,90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1,50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831003"/>
                  </a:ext>
                </a:extLst>
              </a:tr>
              <a:tr h="33967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 err="1">
                          <a:effectLst/>
                          <a:latin typeface="Gotham Bold" panose="02000803030000020004" pitchFamily="2" charset="0"/>
                        </a:rPr>
                        <a:t>Rch</a:t>
                      </a:r>
                      <a:r>
                        <a:rPr lang="pt-BR" sz="1100" u="none" strike="noStrike" dirty="0">
                          <a:effectLst/>
                          <a:latin typeface="Gotham Bold" panose="02000803030000020004" pitchFamily="2" charset="0"/>
                        </a:rPr>
                        <a:t> Media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0,91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0,40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0,68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0,80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718505"/>
                  </a:ext>
                </a:extLst>
              </a:tr>
              <a:tr h="31441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Gotham Bold" panose="02000803030000020004" pitchFamily="2" charset="0"/>
                        </a:rPr>
                        <a:t>CPC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Gotham Bold" panose="02000803030000020004" pitchFamily="2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0,0035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>
                          <a:effectLst/>
                        </a:rPr>
                        <a:t>0,02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0,05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</a:rPr>
                        <a:t>0,05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482799"/>
                  </a:ext>
                </a:extLst>
              </a:tr>
            </a:tbl>
          </a:graphicData>
        </a:graphic>
      </p:graphicFrame>
      <p:sp>
        <p:nvSpPr>
          <p:cNvPr id="15" name="Retângulo 14">
            <a:extLst>
              <a:ext uri="{FF2B5EF4-FFF2-40B4-BE49-F238E27FC236}">
                <a16:creationId xmlns:a16="http://schemas.microsoft.com/office/drawing/2014/main" id="{43F3E95F-E166-4B61-88A4-6880B5AFD78E}"/>
              </a:ext>
            </a:extLst>
          </p:cNvPr>
          <p:cNvSpPr/>
          <p:nvPr/>
        </p:nvSpPr>
        <p:spPr>
          <a:xfrm>
            <a:off x="347472" y="136144"/>
            <a:ext cx="11497056" cy="548185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6000" dirty="0">
              <a:highlight>
                <a:srgbClr val="FF0000"/>
              </a:highlight>
              <a:latin typeface="Gotham Bold" panose="02000803030000020004" pitchFamily="2" charset="0"/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6CAA9B92-4433-488C-903A-F23D091EED91}"/>
              </a:ext>
            </a:extLst>
          </p:cNvPr>
          <p:cNvSpPr/>
          <p:nvPr/>
        </p:nvSpPr>
        <p:spPr>
          <a:xfrm>
            <a:off x="771968" y="128510"/>
            <a:ext cx="10767760" cy="515938"/>
          </a:xfrm>
          <a:prstGeom prst="rect">
            <a:avLst/>
          </a:prstGeom>
          <a:solidFill>
            <a:srgbClr val="D01E20"/>
          </a:solidFill>
        </p:spPr>
        <p:txBody>
          <a:bodyPr wrap="square" lIns="145188" tIns="72594" rIns="145188" bIns="72594">
            <a:spAutoFit/>
          </a:bodyPr>
          <a:lstStyle/>
          <a:p>
            <a:pPr defTabSz="457126"/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Custos :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Plataforma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Google +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Serviços</a:t>
            </a:r>
            <a:r>
              <a:rPr lang="en-US" sz="2400" b="1" spc="-150" dirty="0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 </a:t>
            </a:r>
            <a:r>
              <a:rPr lang="en-US" sz="2400" b="1" spc="-150" dirty="0" err="1">
                <a:solidFill>
                  <a:schemeClr val="bg1"/>
                </a:solidFill>
                <a:latin typeface="Gotham Bold" panose="02000803030000020004" pitchFamily="2" charset="0"/>
                <a:ea typeface="ＭＳ Ｐゴシック" charset="0"/>
                <a:cs typeface="Calibri" panose="020F0502020204030204" pitchFamily="34" charset="0"/>
                <a:sym typeface="Century Gothic" charset="0"/>
              </a:rPr>
              <a:t>AdOps</a:t>
            </a:r>
            <a:endParaRPr lang="en-US" sz="2400" b="1" spc="-150" dirty="0">
              <a:solidFill>
                <a:schemeClr val="bg1"/>
              </a:solidFill>
              <a:latin typeface="Gotham Bold" panose="02000803030000020004" pitchFamily="2" charset="0"/>
              <a:ea typeface="ＭＳ Ｐゴシック" charset="0"/>
              <a:cs typeface="Calibri" panose="020F0502020204030204" pitchFamily="34" charset="0"/>
              <a:sym typeface="Century Gothic" charset="0"/>
            </a:endParaRPr>
          </a:p>
        </p:txBody>
      </p:sp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B66F975E-901D-463A-9A79-E7104B8FB847}"/>
              </a:ext>
            </a:extLst>
          </p:cNvPr>
          <p:cNvSpPr/>
          <p:nvPr/>
        </p:nvSpPr>
        <p:spPr>
          <a:xfrm>
            <a:off x="9083040" y="1004990"/>
            <a:ext cx="381000" cy="619058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188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prstClr val="white"/>
              </a:solidFill>
            </a:endParaRPr>
          </a:p>
        </p:txBody>
      </p:sp>
      <p:sp>
        <p:nvSpPr>
          <p:cNvPr id="36" name="Title 1"/>
          <p:cNvSpPr>
            <a:spLocks noGrp="1"/>
          </p:cNvSpPr>
          <p:nvPr>
            <p:ph type="title"/>
          </p:nvPr>
        </p:nvSpPr>
        <p:spPr>
          <a:xfrm>
            <a:off x="1981200" y="2636912"/>
            <a:ext cx="8229600" cy="1143000"/>
          </a:xfrm>
        </p:spPr>
        <p:txBody>
          <a:bodyPr>
            <a:normAutofit/>
          </a:bodyPr>
          <a:lstStyle/>
          <a:p>
            <a:r>
              <a:rPr lang="pt-BR" sz="5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Gotham" panose="02000604040000020004" pitchFamily="50" charset="0"/>
              </a:rPr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229667927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OOTER" val="LIN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RSION" val="4001"/>
  <p:tag name="FOOTER" val="LOGO"/>
  <p:tag name="DESIGN" val="CHAPTER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P" val="DOCUMENTDAT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P" val="DOCUMENTDAT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OOTER" val="LIN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RSION" val="4001"/>
  <p:tag name="FOOTER" val="LOGO"/>
  <p:tag name="DESIGN" val="CHAPTER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P" val="DOCUMENTDAT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P" val="DOCUMENTDAT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OOTER" val="LIN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RSION" val="4001"/>
  <p:tag name="FOOTER" val="LOGO"/>
  <p:tag name="DESIGN" val="CHAPT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P" val="DOCUMENTDATA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P" val="DOCUMENTDAT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OOTER" val="LIN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RSION" val="4001"/>
  <p:tag name="FOOTER" val="LOGO"/>
  <p:tag name="DESIGN" val="CHAPTER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P" val="DOCUMENTDATA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P" val="DOCUMENTDATA"/>
</p:tagLst>
</file>

<file path=ppt/theme/theme1.xml><?xml version="1.0" encoding="utf-8"?>
<a:theme xmlns:a="http://schemas.openxmlformats.org/drawingml/2006/main" name="Guide_Mediamin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Square Scribble">
  <a:themeElements>
    <a:clrScheme name="">
      <a:dk1>
        <a:srgbClr val="666666"/>
      </a:dk1>
      <a:lt1>
        <a:srgbClr val="FFFFFF"/>
      </a:lt1>
      <a:dk2>
        <a:srgbClr val="C50084"/>
      </a:dk2>
      <a:lt2>
        <a:srgbClr val="000000"/>
      </a:lt2>
      <a:accent1>
        <a:srgbClr val="6600A7"/>
      </a:accent1>
      <a:accent2>
        <a:srgbClr val="4C5CC5"/>
      </a:accent2>
      <a:accent3>
        <a:srgbClr val="FFFFFF"/>
      </a:accent3>
      <a:accent4>
        <a:srgbClr val="565656"/>
      </a:accent4>
      <a:accent5>
        <a:srgbClr val="B8AAD0"/>
      </a:accent5>
      <a:accent6>
        <a:srgbClr val="4453B2"/>
      </a:accent6>
      <a:hlink>
        <a:srgbClr val="F3D311"/>
      </a:hlink>
      <a:folHlink>
        <a:srgbClr val="61C250"/>
      </a:folHlink>
    </a:clrScheme>
    <a:fontScheme name="1_Square Scribble">
      <a:majorFont>
        <a:latin typeface="Century Gothic"/>
        <a:ea typeface=""/>
        <a:cs typeface=""/>
      </a:majorFont>
      <a:minorFont>
        <a:latin typeface="Century Gothic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entury Gothic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entury Gothic" pitchFamily="34" charset="0"/>
          </a:defRPr>
        </a:defPPr>
      </a:lstStyle>
    </a:lnDef>
  </a:objectDefaults>
  <a:extraClrSchemeLst>
    <a:extraClrScheme>
      <a:clrScheme name="1_Square Scribbl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quare Scribbl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quare Scribbl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quare Scribbl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quare Scribbl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quare Scribbl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quare Scribbl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quare Scribbl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quare Scribbl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quare Scribbl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quare Scribbl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quare Scribbl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quare Scribble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73BB8"/>
        </a:accent1>
        <a:accent2>
          <a:srgbClr val="C50084"/>
        </a:accent2>
        <a:accent3>
          <a:srgbClr val="FFFFFF"/>
        </a:accent3>
        <a:accent4>
          <a:srgbClr val="000000"/>
        </a:accent4>
        <a:accent5>
          <a:srgbClr val="B8AFD8"/>
        </a:accent5>
        <a:accent6>
          <a:srgbClr val="B20077"/>
        </a:accent6>
        <a:hlink>
          <a:srgbClr val="4C5CC5"/>
        </a:hlink>
        <a:folHlink>
          <a:srgbClr val="9A9B9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quare Scribble 14">
        <a:dk1>
          <a:srgbClr val="9A9B9D"/>
        </a:dk1>
        <a:lt1>
          <a:srgbClr val="FFFFFF"/>
        </a:lt1>
        <a:dk2>
          <a:srgbClr val="000000"/>
        </a:dk2>
        <a:lt2>
          <a:srgbClr val="808080"/>
        </a:lt2>
        <a:accent1>
          <a:srgbClr val="673BB8"/>
        </a:accent1>
        <a:accent2>
          <a:srgbClr val="C50084"/>
        </a:accent2>
        <a:accent3>
          <a:srgbClr val="FFFFFF"/>
        </a:accent3>
        <a:accent4>
          <a:srgbClr val="838485"/>
        </a:accent4>
        <a:accent5>
          <a:srgbClr val="B8AFD8"/>
        </a:accent5>
        <a:accent6>
          <a:srgbClr val="B20077"/>
        </a:accent6>
        <a:hlink>
          <a:srgbClr val="4C5CC5"/>
        </a:hlink>
        <a:folHlink>
          <a:srgbClr val="9A9B9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quare Scribble 15">
        <a:dk1>
          <a:srgbClr val="C50084"/>
        </a:dk1>
        <a:lt1>
          <a:srgbClr val="FFFFFF"/>
        </a:lt1>
        <a:dk2>
          <a:srgbClr val="000000"/>
        </a:dk2>
        <a:lt2>
          <a:srgbClr val="808080"/>
        </a:lt2>
        <a:accent1>
          <a:srgbClr val="673BB8"/>
        </a:accent1>
        <a:accent2>
          <a:srgbClr val="4C5CC5"/>
        </a:accent2>
        <a:accent3>
          <a:srgbClr val="FFFFFF"/>
        </a:accent3>
        <a:accent4>
          <a:srgbClr val="A80070"/>
        </a:accent4>
        <a:accent5>
          <a:srgbClr val="B8AFD8"/>
        </a:accent5>
        <a:accent6>
          <a:srgbClr val="4453B2"/>
        </a:accent6>
        <a:hlink>
          <a:srgbClr val="FFB60F"/>
        </a:hlink>
        <a:folHlink>
          <a:srgbClr val="5CC15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quare Scribble 16">
        <a:dk1>
          <a:srgbClr val="C50084"/>
        </a:dk1>
        <a:lt1>
          <a:srgbClr val="FFFFFF"/>
        </a:lt1>
        <a:dk2>
          <a:srgbClr val="000000"/>
        </a:dk2>
        <a:lt2>
          <a:srgbClr val="808080"/>
        </a:lt2>
        <a:accent1>
          <a:srgbClr val="6600A7"/>
        </a:accent1>
        <a:accent2>
          <a:srgbClr val="4C5CC5"/>
        </a:accent2>
        <a:accent3>
          <a:srgbClr val="FFFFFF"/>
        </a:accent3>
        <a:accent4>
          <a:srgbClr val="A80070"/>
        </a:accent4>
        <a:accent5>
          <a:srgbClr val="B8AAD0"/>
        </a:accent5>
        <a:accent6>
          <a:srgbClr val="4453B2"/>
        </a:accent6>
        <a:hlink>
          <a:srgbClr val="FFB60F"/>
        </a:hlink>
        <a:folHlink>
          <a:srgbClr val="5CC151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itle">
  <a:themeElements>
    <a:clrScheme name="TNS Colours">
      <a:dk1>
        <a:sysClr val="windowText" lastClr="000000"/>
      </a:dk1>
      <a:lt1>
        <a:sysClr val="window" lastClr="FFFFFF"/>
      </a:lt1>
      <a:dk2>
        <a:srgbClr val="131C6B"/>
      </a:dk2>
      <a:lt2>
        <a:srgbClr val="3EB1CC"/>
      </a:lt2>
      <a:accent1>
        <a:srgbClr val="C50017"/>
      </a:accent1>
      <a:accent2>
        <a:srgbClr val="F7911E"/>
      </a:accent2>
      <a:accent3>
        <a:srgbClr val="EF5205"/>
      </a:accent3>
      <a:accent4>
        <a:srgbClr val="7A2280"/>
      </a:accent4>
      <a:accent5>
        <a:srgbClr val="4C1D52"/>
      </a:accent5>
      <a:accent6>
        <a:srgbClr val="4655A5"/>
      </a:accent6>
      <a:hlink>
        <a:srgbClr val="4F6128"/>
      </a:hlink>
      <a:folHlink>
        <a:srgbClr val="4F6128"/>
      </a:folHlink>
    </a:clrScheme>
    <a:fontScheme name="TNS Master Fonts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/>
        </a:solidFill>
        <a:ln w="12700">
          <a:solidFill>
            <a:schemeClr val="accent3"/>
          </a:solidFill>
        </a:ln>
      </a:spPr>
      <a:bodyPr rtlCol="0" anchor="t"/>
      <a:lstStyle>
        <a:defPPr>
          <a:defRPr sz="1300" b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sz="1600" b="0" dirty="0" err="1" smtClean="0">
            <a:solidFill>
              <a:srgbClr val="333333"/>
            </a:solidFill>
            <a:latin typeface="+mn-lt"/>
          </a:defRPr>
        </a:defPPr>
      </a:lstStyle>
    </a:txDef>
  </a:objectDefaults>
  <a:extraClrSchemeLst/>
</a:theme>
</file>

<file path=ppt/theme/theme4.xml><?xml version="1.0" encoding="utf-8"?>
<a:theme xmlns:a="http://schemas.openxmlformats.org/drawingml/2006/main" name="1_Office Them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Guide_Mediamind</Template>
  <TotalTime>3708</TotalTime>
  <Words>560</Words>
  <Application>Microsoft Office PowerPoint</Application>
  <PresentationFormat>Widescreen</PresentationFormat>
  <Paragraphs>214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14</vt:i4>
      </vt:variant>
      <vt:variant>
        <vt:lpstr>Tema</vt:lpstr>
      </vt:variant>
      <vt:variant>
        <vt:i4>4</vt:i4>
      </vt:variant>
      <vt:variant>
        <vt:lpstr>Títulos de slides</vt:lpstr>
      </vt:variant>
      <vt:variant>
        <vt:i4>15</vt:i4>
      </vt:variant>
    </vt:vector>
  </HeadingPairs>
  <TitlesOfParts>
    <vt:vector size="33" baseType="lpstr">
      <vt:lpstr>ＭＳ Ｐゴシック</vt:lpstr>
      <vt:lpstr>ＭＳ Ｐゴシック</vt:lpstr>
      <vt:lpstr>Arial</vt:lpstr>
      <vt:lpstr>Calibri</vt:lpstr>
      <vt:lpstr>Calibri Light</vt:lpstr>
      <vt:lpstr>Century Gothic</vt:lpstr>
      <vt:lpstr>Gill Sans</vt:lpstr>
      <vt:lpstr>Gotham</vt:lpstr>
      <vt:lpstr>Gotham Bold</vt:lpstr>
      <vt:lpstr>Gotham Light</vt:lpstr>
      <vt:lpstr>LilyUPC</vt:lpstr>
      <vt:lpstr>Verdana</vt:lpstr>
      <vt:lpstr>Wingdings</vt:lpstr>
      <vt:lpstr>ヒラギノ角ゴ ProN W3</vt:lpstr>
      <vt:lpstr>Guide_Mediamind</vt:lpstr>
      <vt:lpstr>1_Square Scribble</vt:lpstr>
      <vt:lpstr>Title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Daniel Costa</dc:creator>
  <cp:lastModifiedBy>Wilson Santos Silva - Almap BBDO</cp:lastModifiedBy>
  <cp:revision>147</cp:revision>
  <cp:lastPrinted>2014-01-21T17:37:06Z</cp:lastPrinted>
  <dcterms:created xsi:type="dcterms:W3CDTF">2014-04-07T21:32:56Z</dcterms:created>
  <dcterms:modified xsi:type="dcterms:W3CDTF">2019-05-14T20:01:25Z</dcterms:modified>
</cp:coreProperties>
</file>