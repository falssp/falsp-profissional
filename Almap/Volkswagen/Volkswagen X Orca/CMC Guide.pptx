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6034" r:id="rId2"/>
    <p:sldId id="6041" r:id="rId3"/>
    <p:sldId id="6042" r:id="rId4"/>
    <p:sldId id="6044" r:id="rId5"/>
    <p:sldId id="6043" r:id="rId6"/>
    <p:sldId id="6040" r:id="rId7"/>
    <p:sldId id="6045" r:id="rId8"/>
    <p:sldId id="6048" r:id="rId9"/>
    <p:sldId id="6047" r:id="rId10"/>
    <p:sldId id="6049" r:id="rId11"/>
    <p:sldId id="6046" r:id="rId12"/>
    <p:sldId id="6050" r:id="rId13"/>
    <p:sldId id="6051" r:id="rId14"/>
    <p:sldId id="171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E699"/>
    <a:srgbClr val="84D0C4"/>
    <a:srgbClr val="FDE6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33B43D-22B0-B64C-8E62-8287C3F81FF1}" v="57" dt="2020-08-27T13:52:48.076"/>
    <p1510:client id="{9FF0FDA0-76F8-E743-97C8-EEE10FE04768}" v="6" dt="2020-08-27T09:59:56.2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29"/>
    <p:restoredTop sz="94683"/>
  </p:normalViewPr>
  <p:slideViewPr>
    <p:cSldViewPr snapToGrid="0" snapToObjects="1">
      <p:cViewPr>
        <p:scale>
          <a:sx n="100" d="100"/>
          <a:sy n="100" d="100"/>
        </p:scale>
        <p:origin x="904" y="360"/>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viewProps" Target="viewProp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presProps" Target="presProps.xml" Id="rId17" /><Relationship Type="http://schemas.openxmlformats.org/officeDocument/2006/relationships/slide" Target="slides/slide1.xml" Id="rId2" /><Relationship Type="http://schemas.openxmlformats.org/officeDocument/2006/relationships/notesMaster" Target="notesMasters/notesMaster1.xml" Id="rId16" /><Relationship Type="http://schemas.openxmlformats.org/officeDocument/2006/relationships/tableStyles" Target="tableStyles.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slide" Target="slides/slide9.xml" Id="rId10" /><Relationship Type="http://schemas.openxmlformats.org/officeDocument/2006/relationships/theme" Target="theme/theme1.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microsoft.com/office/2015/10/relationships/revisionInfo" Target="revisionInfo.xml" Id="rId22"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CD88A4-7AAB-DD43-BCF2-6E5677A12295}" type="datetimeFigureOut">
              <a:rPr lang="en-US" smtClean="0"/>
              <a:t>8/27/20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359EF4-7D9F-B948-B05A-763CAB234647}" type="slidenum">
              <a:rPr lang="en-US" smtClean="0"/>
              <a:t>‹#›</a:t>
            </a:fld>
            <a:endParaRPr lang="en-US"/>
          </a:p>
        </p:txBody>
      </p:sp>
    </p:spTree>
    <p:extLst>
      <p:ext uri="{BB962C8B-B14F-4D97-AF65-F5344CB8AC3E}">
        <p14:creationId xmlns:p14="http://schemas.microsoft.com/office/powerpoint/2010/main" val="3379108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5C6D2D-5EDB-EF46-BBA4-82C8BBEB693C}" type="slidenum">
              <a:rPr lang="en-GB" smtClean="0"/>
              <a:t>1</a:t>
            </a:fld>
            <a:endParaRPr lang="en-GB" dirty="0"/>
          </a:p>
        </p:txBody>
      </p:sp>
    </p:spTree>
    <p:extLst>
      <p:ext uri="{BB962C8B-B14F-4D97-AF65-F5344CB8AC3E}">
        <p14:creationId xmlns:p14="http://schemas.microsoft.com/office/powerpoint/2010/main" val="4202848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1539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8226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7386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1930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59643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5711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93462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64137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377892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42610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5C6D2D-5EDB-EF46-BBA4-82C8BBEB693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38057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52CF9-CDDD-F34E-855D-A739B03AA83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4B4515B-3499-4F49-8826-65E9991CA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EDFFBC7-88AA-6E49-BF1A-710BC964030A}"/>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5" name="Footer Placeholder 4">
            <a:extLst>
              <a:ext uri="{FF2B5EF4-FFF2-40B4-BE49-F238E27FC236}">
                <a16:creationId xmlns:a16="http://schemas.microsoft.com/office/drawing/2014/main" id="{8CE5F5BB-19FB-5A41-BD5A-93F3C1394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C39536-3359-CE4F-9350-659DEEA09099}"/>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960020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E557-5A6E-F84D-B654-65E86C13457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C94B130-4951-B245-BF7B-AFD7F624B8E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11DA42-E8F2-7E40-B15F-205EC4E73ABC}"/>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5" name="Footer Placeholder 4">
            <a:extLst>
              <a:ext uri="{FF2B5EF4-FFF2-40B4-BE49-F238E27FC236}">
                <a16:creationId xmlns:a16="http://schemas.microsoft.com/office/drawing/2014/main" id="{8E3AD992-E16B-4541-971B-1447D7D80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D8346F-FD88-2E4C-85FF-24C969380094}"/>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4069720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EAF8B-2715-5440-936A-1502A935E3C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FCFCAD7-1C81-0946-9C6B-FDB2EB681F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0A22658-AB54-DC45-9D2C-C282C7ADB0D0}"/>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5" name="Footer Placeholder 4">
            <a:extLst>
              <a:ext uri="{FF2B5EF4-FFF2-40B4-BE49-F238E27FC236}">
                <a16:creationId xmlns:a16="http://schemas.microsoft.com/office/drawing/2014/main" id="{ED7A2D6D-D33F-6741-A80D-F345B6A0F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3617E-EAF2-394D-BB24-F5AFE53AB8D6}"/>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2670593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D051-E90E-4443-8C0F-257E2B72007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8F1D2B5-741A-F34D-8412-2B4533F4B3E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2BDA7BC-5805-774D-B28D-280393AFAA8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C53AC88-3802-5242-B1B7-086DED522302}"/>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6" name="Footer Placeholder 5">
            <a:extLst>
              <a:ext uri="{FF2B5EF4-FFF2-40B4-BE49-F238E27FC236}">
                <a16:creationId xmlns:a16="http://schemas.microsoft.com/office/drawing/2014/main" id="{E577BA7A-34FD-5945-80AC-EEEE53535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A22C01-F102-8C4B-B97F-4465084AD849}"/>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1136947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1DF9D-55B3-2140-9C4F-B97234A8A64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30E5A58-13E0-6C48-8AE1-B9C4DC3BCD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033FAF1-1712-5945-BBC9-AB53FFA5F67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B79A570-A7E7-1641-8FB3-E5544FB016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4DBFAF9-2487-A04E-BB64-D07B2D064F1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2C67DF4-7216-1B4D-9278-8CE2425CF48E}"/>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8" name="Footer Placeholder 7">
            <a:extLst>
              <a:ext uri="{FF2B5EF4-FFF2-40B4-BE49-F238E27FC236}">
                <a16:creationId xmlns:a16="http://schemas.microsoft.com/office/drawing/2014/main" id="{BFF1D863-0E83-684A-80B9-1CBE7724658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0AA14C-D7C1-A840-BB32-40D6FB3A1F4F}"/>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1617420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03483-E5D9-4440-A130-B012CB4A8F5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28150E3-7847-8343-AC2D-449136217D5F}"/>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4" name="Footer Placeholder 3">
            <a:extLst>
              <a:ext uri="{FF2B5EF4-FFF2-40B4-BE49-F238E27FC236}">
                <a16:creationId xmlns:a16="http://schemas.microsoft.com/office/drawing/2014/main" id="{34F0BAA8-F7E6-5B46-864B-E3ABBF87FA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781A82-6308-B24A-B092-A3FCF8285DC0}"/>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3867816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4DE896-CB85-964A-9031-FDA799753744}"/>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3" name="Footer Placeholder 2">
            <a:extLst>
              <a:ext uri="{FF2B5EF4-FFF2-40B4-BE49-F238E27FC236}">
                <a16:creationId xmlns:a16="http://schemas.microsoft.com/office/drawing/2014/main" id="{D71334AF-84C4-F34E-93B6-6C0755EBBB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02AC2F-8DB2-D544-A4AE-BC6EEF01C554}"/>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1786441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B1F6-7B3C-0B43-AABD-D47CCD4A6D4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699385F-2848-D34A-B920-35960A09F2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7CDEDBB-4DAD-A44D-9668-72F34C3C3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D506DF-7B33-D440-AC03-34BEE3F78048}"/>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6" name="Footer Placeholder 5">
            <a:extLst>
              <a:ext uri="{FF2B5EF4-FFF2-40B4-BE49-F238E27FC236}">
                <a16:creationId xmlns:a16="http://schemas.microsoft.com/office/drawing/2014/main" id="{0C68E118-2CDC-724E-9569-6CEB4BCB9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3B664-E5D9-BE46-A4CA-3AE086F02050}"/>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139468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B7DFB-B1A2-E141-9D82-B8CDA99083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9187955-1773-CE45-877D-390DBD5615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19DBD5-A4FD-1C49-8352-EFD1A5518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827C63-797F-484C-BD9D-F0FBEA6CDBFC}"/>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6" name="Footer Placeholder 5">
            <a:extLst>
              <a:ext uri="{FF2B5EF4-FFF2-40B4-BE49-F238E27FC236}">
                <a16:creationId xmlns:a16="http://schemas.microsoft.com/office/drawing/2014/main" id="{CE3BFDAF-E01F-5C4C-B247-13C391B00D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6EACD-C911-AC45-9984-A76B0D4BA5A4}"/>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2835857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5BE8C-AF3C-D54F-8C66-F2A81D0B435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236D577-369A-F94A-813E-F9901ADD283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55816B-9FC1-154D-9CA6-206BFAFB3969}"/>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5" name="Footer Placeholder 4">
            <a:extLst>
              <a:ext uri="{FF2B5EF4-FFF2-40B4-BE49-F238E27FC236}">
                <a16:creationId xmlns:a16="http://schemas.microsoft.com/office/drawing/2014/main" id="{F1CB226B-FAF8-CE4C-AD43-176DB66EDC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7181F2-9536-2D4F-A4B9-B6E96EC43880}"/>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394189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94038B-4FE5-E949-A9C9-AC521B53F1E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7036D45-4193-7D41-9E7D-1CAB681B569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DA6864D-5556-824E-A7FD-CD8D9F65395B}"/>
              </a:ext>
            </a:extLst>
          </p:cNvPr>
          <p:cNvSpPr>
            <a:spLocks noGrp="1"/>
          </p:cNvSpPr>
          <p:nvPr>
            <p:ph type="dt" sz="half" idx="10"/>
          </p:nvPr>
        </p:nvSpPr>
        <p:spPr/>
        <p:txBody>
          <a:bodyPr/>
          <a:lstStyle/>
          <a:p>
            <a:fld id="{675DFBCD-D264-E646-B919-A54BD0393830}" type="datetimeFigureOut">
              <a:rPr lang="en-US" smtClean="0"/>
              <a:t>8/27/20</a:t>
            </a:fld>
            <a:endParaRPr lang="en-US"/>
          </a:p>
        </p:txBody>
      </p:sp>
      <p:sp>
        <p:nvSpPr>
          <p:cNvPr id="5" name="Footer Placeholder 4">
            <a:extLst>
              <a:ext uri="{FF2B5EF4-FFF2-40B4-BE49-F238E27FC236}">
                <a16:creationId xmlns:a16="http://schemas.microsoft.com/office/drawing/2014/main" id="{B368CEF7-C824-2143-BFDF-CF783A1271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116090-2840-CD41-9E5F-3AE7C28FAA6E}"/>
              </a:ext>
            </a:extLst>
          </p:cNvPr>
          <p:cNvSpPr>
            <a:spLocks noGrp="1"/>
          </p:cNvSpPr>
          <p:nvPr>
            <p:ph type="sldNum" sz="quarter" idx="12"/>
          </p:nvPr>
        </p:nvSpPr>
        <p:spPr/>
        <p:txBody>
          <a:bodyPr/>
          <a:lstStyle/>
          <a:p>
            <a:fld id="{6A0B94E7-EAF2-4A47-B5B6-610C5EB7BE5E}" type="slidenum">
              <a:rPr lang="en-US" smtClean="0"/>
              <a:t>‹#›</a:t>
            </a:fld>
            <a:endParaRPr lang="en-US"/>
          </a:p>
        </p:txBody>
      </p:sp>
    </p:spTree>
    <p:extLst>
      <p:ext uri="{BB962C8B-B14F-4D97-AF65-F5344CB8AC3E}">
        <p14:creationId xmlns:p14="http://schemas.microsoft.com/office/powerpoint/2010/main" val="39195187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ubheading">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C1AE13EF-4BE9-AC49-82BE-D41A478225A6}"/>
              </a:ext>
            </a:extLst>
          </p:cNvPr>
          <p:cNvSpPr>
            <a:spLocks noGrp="1"/>
          </p:cNvSpPr>
          <p:nvPr>
            <p:ph type="title" hasCustomPrompt="1"/>
          </p:nvPr>
        </p:nvSpPr>
        <p:spPr>
          <a:xfrm>
            <a:off x="887330" y="927327"/>
            <a:ext cx="814598" cy="729842"/>
          </a:xfrm>
          <a:prstGeom prst="rect">
            <a:avLst/>
          </a:prstGeom>
        </p:spPr>
        <p:txBody>
          <a:bodyPr anchor="ctr"/>
          <a:lstStyle>
            <a:lvl1pPr marL="0" algn="l" defTabSz="914400" rtl="0" eaLnBrk="1" latinLnBrk="0" hangingPunct="1">
              <a:defRPr lang="en-US" sz="4800" kern="1200" dirty="0">
                <a:solidFill>
                  <a:srgbClr val="1B3F55"/>
                </a:solidFill>
                <a:latin typeface="Helvetica Neue"/>
                <a:ea typeface="Helvetica Neue Thin" panose="020B0403020202020204" pitchFamily="34" charset="0"/>
                <a:cs typeface="Helvetica Neue"/>
              </a:defRPr>
            </a:lvl1pPr>
          </a:lstStyle>
          <a:p>
            <a:r>
              <a:rPr lang="en-US" dirty="0"/>
              <a:t>X)</a:t>
            </a:r>
          </a:p>
        </p:txBody>
      </p:sp>
      <p:sp>
        <p:nvSpPr>
          <p:cNvPr id="15" name="Content Placeholder 14">
            <a:extLst>
              <a:ext uri="{FF2B5EF4-FFF2-40B4-BE49-F238E27FC236}">
                <a16:creationId xmlns:a16="http://schemas.microsoft.com/office/drawing/2014/main" id="{1FB565BF-D120-AA4E-B235-32239490CA08}"/>
              </a:ext>
            </a:extLst>
          </p:cNvPr>
          <p:cNvSpPr>
            <a:spLocks noGrp="1"/>
          </p:cNvSpPr>
          <p:nvPr>
            <p:ph sz="quarter" idx="10" hasCustomPrompt="1"/>
          </p:nvPr>
        </p:nvSpPr>
        <p:spPr>
          <a:xfrm>
            <a:off x="1611971" y="927327"/>
            <a:ext cx="9679219" cy="729841"/>
          </a:xfrm>
          <a:prstGeom prst="rect">
            <a:avLst/>
          </a:prstGeom>
        </p:spPr>
        <p:txBody>
          <a:bodyPr/>
          <a:lstStyle>
            <a:lvl1pPr marL="0" indent="0">
              <a:buNone/>
              <a:defRPr lang="en-US" sz="4800" b="0" kern="1200" cap="none" baseline="0" dirty="0">
                <a:solidFill>
                  <a:srgbClr val="1B3F55"/>
                </a:solidFill>
                <a:latin typeface="Helvetica Neue Thin" panose="020B0403020202020204" pitchFamily="34" charset="0"/>
                <a:ea typeface="Helvetica Neue Thin" panose="020B0403020202020204" pitchFamily="34" charset="0"/>
                <a:cs typeface="Helvetica Neue"/>
              </a:defRPr>
            </a:lvl1pPr>
          </a:lstStyle>
          <a:p>
            <a:pPr lvl="0"/>
            <a:r>
              <a:rPr lang="en-US" dirty="0"/>
              <a:t>Set </a:t>
            </a:r>
            <a:r>
              <a:rPr lang="en-US" dirty="0" err="1"/>
              <a:t>colour</a:t>
            </a:r>
            <a:r>
              <a:rPr lang="en-US" dirty="0"/>
              <a:t> </a:t>
            </a:r>
            <a:r>
              <a:rPr lang="en-US" sz="4800" b="1" kern="1200" dirty="0">
                <a:solidFill>
                  <a:srgbClr val="FF8DC1"/>
                </a:solidFill>
                <a:latin typeface="Helvetica Neue"/>
                <a:ea typeface="Helvetica Neue Thin" panose="020B0403020202020204" pitchFamily="34" charset="0"/>
                <a:cs typeface="Helvetica Neue"/>
              </a:rPr>
              <a:t>CHANGE COLOUR</a:t>
            </a:r>
            <a:endParaRPr lang="en-US" dirty="0"/>
          </a:p>
        </p:txBody>
      </p:sp>
    </p:spTree>
    <p:extLst>
      <p:ext uri="{BB962C8B-B14F-4D97-AF65-F5344CB8AC3E}">
        <p14:creationId xmlns:p14="http://schemas.microsoft.com/office/powerpoint/2010/main" val="3765114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tandard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3F9701F-2D44-0541-AD6E-BCE9D674EA43}"/>
              </a:ext>
            </a:extLst>
          </p:cNvPr>
          <p:cNvSpPr/>
          <p:nvPr userDrawn="1"/>
        </p:nvSpPr>
        <p:spPr>
          <a:xfrm>
            <a:off x="0" y="431832"/>
            <a:ext cx="12192000" cy="487392"/>
          </a:xfrm>
          <a:prstGeom prst="rect">
            <a:avLst/>
          </a:prstGeom>
          <a:solidFill>
            <a:srgbClr val="E9EB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b="1" dirty="0">
              <a:solidFill>
                <a:srgbClr val="1B3F55"/>
              </a:solidFill>
              <a:latin typeface="Helvetica Neue"/>
              <a:ea typeface="Gill Sans Light" charset="0"/>
              <a:cs typeface="Helvetica Neue"/>
            </a:endParaRPr>
          </a:p>
        </p:txBody>
      </p:sp>
      <p:sp>
        <p:nvSpPr>
          <p:cNvPr id="16" name="Title 15">
            <a:extLst>
              <a:ext uri="{FF2B5EF4-FFF2-40B4-BE49-F238E27FC236}">
                <a16:creationId xmlns:a16="http://schemas.microsoft.com/office/drawing/2014/main" id="{B6A1B533-3AB3-3E47-A671-6B6FF787DC88}"/>
              </a:ext>
            </a:extLst>
          </p:cNvPr>
          <p:cNvSpPr>
            <a:spLocks noGrp="1"/>
          </p:cNvSpPr>
          <p:nvPr>
            <p:ph type="title" hasCustomPrompt="1"/>
          </p:nvPr>
        </p:nvSpPr>
        <p:spPr>
          <a:xfrm>
            <a:off x="0" y="431833"/>
            <a:ext cx="12192000" cy="487391"/>
          </a:xfrm>
          <a:prstGeom prst="rect">
            <a:avLst/>
          </a:prstGeom>
        </p:spPr>
        <p:txBody>
          <a:bodyPr anchor="ctr"/>
          <a:lstStyle>
            <a:lvl1pPr algn="ctr">
              <a:defRPr lang="en-US" sz="2200" kern="1200" dirty="0">
                <a:solidFill>
                  <a:srgbClr val="1B3F55"/>
                </a:solidFill>
                <a:latin typeface="Helvetica Neue Thin" panose="020B0403020202020204" pitchFamily="34" charset="0"/>
                <a:ea typeface="Helvetica Neue Thin" panose="020B0403020202020204" pitchFamily="34" charset="0"/>
                <a:cs typeface="Gotham Black"/>
              </a:defRPr>
            </a:lvl1pPr>
          </a:lstStyle>
          <a:p>
            <a:r>
              <a:rPr lang="en-US" dirty="0"/>
              <a:t>Slide Heading</a:t>
            </a:r>
          </a:p>
        </p:txBody>
      </p:sp>
      <p:sp>
        <p:nvSpPr>
          <p:cNvPr id="23" name="Content Placeholder 14">
            <a:extLst>
              <a:ext uri="{FF2B5EF4-FFF2-40B4-BE49-F238E27FC236}">
                <a16:creationId xmlns:a16="http://schemas.microsoft.com/office/drawing/2014/main" id="{ED8D35EA-C01B-8D47-82D1-4E04F702DE84}"/>
              </a:ext>
            </a:extLst>
          </p:cNvPr>
          <p:cNvSpPr>
            <a:spLocks noGrp="1"/>
          </p:cNvSpPr>
          <p:nvPr>
            <p:ph sz="quarter" idx="11" hasCustomPrompt="1"/>
          </p:nvPr>
        </p:nvSpPr>
        <p:spPr>
          <a:xfrm>
            <a:off x="1" y="0"/>
            <a:ext cx="12192000" cy="431831"/>
          </a:xfrm>
          <a:prstGeom prst="rect">
            <a:avLst/>
          </a:prstGeom>
        </p:spPr>
        <p:txBody>
          <a:bodyPr anchor="ctr"/>
          <a:lstStyle>
            <a:lvl1pPr marL="0" indent="0" algn="ctr">
              <a:buNone/>
              <a:defRPr lang="en-US" sz="1400" b="0" kern="1200" dirty="0">
                <a:solidFill>
                  <a:srgbClr val="1A3D54"/>
                </a:solidFill>
                <a:latin typeface="Helvetica Neue Thin" panose="020B0403020202020204" pitchFamily="34" charset="0"/>
                <a:ea typeface="Helvetica Neue Thin" panose="020B0403020202020204" pitchFamily="34" charset="0"/>
                <a:cs typeface="Gotham Black"/>
              </a:defRPr>
            </a:lvl1pPr>
          </a:lstStyle>
          <a:p>
            <a:pPr lvl="0"/>
            <a:r>
              <a:rPr lang="en-US" dirty="0"/>
              <a:t>Heading COLOUR</a:t>
            </a:r>
          </a:p>
        </p:txBody>
      </p:sp>
    </p:spTree>
    <p:extLst>
      <p:ext uri="{BB962C8B-B14F-4D97-AF65-F5344CB8AC3E}">
        <p14:creationId xmlns:p14="http://schemas.microsoft.com/office/powerpoint/2010/main" val="14596080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38B000-69A5-8640-8331-E4EA05D5B219}"/>
              </a:ext>
            </a:extLst>
          </p:cNvPr>
          <p:cNvPicPr>
            <a:picLocks noChangeAspect="1"/>
          </p:cNvPicPr>
          <p:nvPr userDrawn="1"/>
        </p:nvPicPr>
        <p:blipFill rotWithShape="1">
          <a:blip r:embed="rId2">
            <a:alphaModFix amt="49000"/>
          </a:blip>
          <a:srcRect r="78683"/>
          <a:stretch/>
        </p:blipFill>
        <p:spPr>
          <a:xfrm>
            <a:off x="11328408" y="6053776"/>
            <a:ext cx="512980" cy="518114"/>
          </a:xfrm>
          <a:prstGeom prst="rect">
            <a:avLst/>
          </a:prstGeom>
        </p:spPr>
      </p:pic>
    </p:spTree>
    <p:extLst>
      <p:ext uri="{BB962C8B-B14F-4D97-AF65-F5344CB8AC3E}">
        <p14:creationId xmlns:p14="http://schemas.microsoft.com/office/powerpoint/2010/main" val="3383504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726852-C423-3B4A-9CFB-6F8DAC5C53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4EF4452-7B67-BD46-A7B5-F6EB04B001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8D4DA2D-8C12-1C48-AC23-41A0142FA3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5DFBCD-D264-E646-B919-A54BD0393830}" type="datetimeFigureOut">
              <a:rPr lang="en-US" smtClean="0"/>
              <a:t>8/27/20</a:t>
            </a:fld>
            <a:endParaRPr lang="en-US"/>
          </a:p>
        </p:txBody>
      </p:sp>
      <p:sp>
        <p:nvSpPr>
          <p:cNvPr id="5" name="Footer Placeholder 4">
            <a:extLst>
              <a:ext uri="{FF2B5EF4-FFF2-40B4-BE49-F238E27FC236}">
                <a16:creationId xmlns:a16="http://schemas.microsoft.com/office/drawing/2014/main" id="{0CFA8212-1097-9D48-8037-82462ACC0E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BCB05C1-F28A-D044-B231-98B29507AA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B94E7-EAF2-4A47-B5B6-610C5EB7BE5E}" type="slidenum">
              <a:rPr lang="en-US" smtClean="0"/>
              <a:t>‹#›</a:t>
            </a:fld>
            <a:endParaRPr lang="en-US"/>
          </a:p>
        </p:txBody>
      </p:sp>
    </p:spTree>
    <p:extLst>
      <p:ext uri="{BB962C8B-B14F-4D97-AF65-F5344CB8AC3E}">
        <p14:creationId xmlns:p14="http://schemas.microsoft.com/office/powerpoint/2010/main" val="3337298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7.tiff"/><Relationship Id="rId4" Type="http://schemas.openxmlformats.org/officeDocument/2006/relationships/image" Target="../media/image6.tiff"/></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3.png"/><Relationship Id="rId5" Type="http://schemas.microsoft.com/office/2007/relationships/hdphoto" Target="../media/hdphoto3.wdp"/><Relationship Id="rId4" Type="http://schemas.microsoft.com/office/2007/relationships/hdphoto" Target="../media/hdphoto2.wdp"/><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pn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3.png"/><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cmc.adylicorca.com/login"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hyperlink" Target="https://cmc.adylicorca.com/login"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ar parked next to a body of water&#10;&#10;Description automatically generated">
            <a:extLst>
              <a:ext uri="{FF2B5EF4-FFF2-40B4-BE49-F238E27FC236}">
                <a16:creationId xmlns:a16="http://schemas.microsoft.com/office/drawing/2014/main" id="{845A34B3-5EB9-3D44-BC1F-C8E87A0EB426}"/>
              </a:ext>
            </a:extLst>
          </p:cNvPr>
          <p:cNvPicPr>
            <a:picLocks noChangeAspect="1"/>
          </p:cNvPicPr>
          <p:nvPr/>
        </p:nvPicPr>
        <p:blipFill rotWithShape="1">
          <a:blip r:embed="rId3">
            <a:alphaModFix amt="34000"/>
          </a:blip>
          <a:srcRect t="15027"/>
          <a:stretch/>
        </p:blipFill>
        <p:spPr>
          <a:xfrm>
            <a:off x="0" y="0"/>
            <a:ext cx="12192000" cy="6858000"/>
          </a:xfrm>
          <a:prstGeom prst="rect">
            <a:avLst/>
          </a:prstGeom>
        </p:spPr>
      </p:pic>
      <p:sp>
        <p:nvSpPr>
          <p:cNvPr id="7" name="Rounded Rectangle 6">
            <a:extLst>
              <a:ext uri="{FF2B5EF4-FFF2-40B4-BE49-F238E27FC236}">
                <a16:creationId xmlns:a16="http://schemas.microsoft.com/office/drawing/2014/main" id="{178DF1B0-69BF-CB46-AFB9-3F5E57EC6AA5}"/>
              </a:ext>
            </a:extLst>
          </p:cNvPr>
          <p:cNvSpPr/>
          <p:nvPr/>
        </p:nvSpPr>
        <p:spPr>
          <a:xfrm>
            <a:off x="3393132" y="2584577"/>
            <a:ext cx="5405735" cy="2366763"/>
          </a:xfrm>
          <a:prstGeom prst="round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8FBF909-53D8-044D-8C63-596C32D5A1C6}"/>
              </a:ext>
            </a:extLst>
          </p:cNvPr>
          <p:cNvSpPr>
            <a:spLocks noGrp="1"/>
          </p:cNvSpPr>
          <p:nvPr>
            <p:ph type="title"/>
          </p:nvPr>
        </p:nvSpPr>
        <p:spPr>
          <a:xfrm>
            <a:off x="915933" y="2190422"/>
            <a:ext cx="10515600" cy="1577537"/>
          </a:xfrm>
        </p:spPr>
        <p:txBody>
          <a:bodyPr/>
          <a:lstStyle/>
          <a:p>
            <a:pPr algn="ctr"/>
            <a:r>
              <a:rPr lang="en-GB" b="1" dirty="0">
                <a:solidFill>
                  <a:schemeClr val="accent3">
                    <a:lumMod val="50000"/>
                  </a:schemeClr>
                </a:solidFill>
                <a:latin typeface="+mn-lt"/>
              </a:rPr>
              <a:t>CMC Template</a:t>
            </a:r>
          </a:p>
        </p:txBody>
      </p:sp>
      <p:pic>
        <p:nvPicPr>
          <p:cNvPr id="6" name="Picture 5" descr="A close up of a sign&#10;&#10;Description automatically generated">
            <a:extLst>
              <a:ext uri="{FF2B5EF4-FFF2-40B4-BE49-F238E27FC236}">
                <a16:creationId xmlns:a16="http://schemas.microsoft.com/office/drawing/2014/main" id="{8A006B7D-DAEA-F046-862D-514012716493}"/>
              </a:ext>
            </a:extLst>
          </p:cNvPr>
          <p:cNvPicPr>
            <a:picLocks noChangeAspect="1"/>
          </p:cNvPicPr>
          <p:nvPr/>
        </p:nvPicPr>
        <p:blipFill>
          <a:blip r:embed="rId4"/>
          <a:stretch>
            <a:fillRect/>
          </a:stretch>
        </p:blipFill>
        <p:spPr>
          <a:xfrm>
            <a:off x="4278619" y="3767958"/>
            <a:ext cx="3634760" cy="698066"/>
          </a:xfrm>
          <a:prstGeom prst="rect">
            <a:avLst/>
          </a:prstGeom>
        </p:spPr>
      </p:pic>
    </p:spTree>
    <p:extLst>
      <p:ext uri="{BB962C8B-B14F-4D97-AF65-F5344CB8AC3E}">
        <p14:creationId xmlns:p14="http://schemas.microsoft.com/office/powerpoint/2010/main" val="3962456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able, building, indoor&#13;&#10;&#13;&#10;Description automatically generated">
            <a:extLst>
              <a:ext uri="{FF2B5EF4-FFF2-40B4-BE49-F238E27FC236}">
                <a16:creationId xmlns:a16="http://schemas.microsoft.com/office/drawing/2014/main" id="{369F799D-B91A-3C4E-B4DC-9523269B5671}"/>
              </a:ext>
            </a:extLst>
          </p:cNvPr>
          <p:cNvPicPr>
            <a:picLocks noChangeAspect="1"/>
          </p:cNvPicPr>
          <p:nvPr/>
        </p:nvPicPr>
        <p:blipFill rotWithShape="1">
          <a:blip r:embed="rId3">
            <a:alphaModFix amt="50000"/>
            <a:extLst>
              <a:ext uri="{BEBA8EAE-BF5A-486C-A8C5-ECC9F3942E4B}">
                <a14:imgProps xmlns:a14="http://schemas.microsoft.com/office/drawing/2010/main">
                  <a14:imgLayer r:embed="rId4">
                    <a14:imgEffect>
                      <a14:colorTemperature colorTemp="9324"/>
                    </a14:imgEffect>
                    <a14:imgEffect>
                      <a14:saturation sat="147000"/>
                    </a14:imgEffect>
                  </a14:imgLayer>
                </a14:imgProps>
              </a:ext>
              <a:ext uri="{28A0092B-C50C-407E-A947-70E740481C1C}">
                <a14:useLocalDpi xmlns:a14="http://schemas.microsoft.com/office/drawing/2010/main" val="0"/>
              </a:ext>
            </a:extLst>
          </a:blip>
          <a:srcRect l="29163" t="1324" r="21598"/>
          <a:stretch/>
        </p:blipFill>
        <p:spPr>
          <a:xfrm>
            <a:off x="6915150" y="919224"/>
            <a:ext cx="5276850" cy="5938776"/>
          </a:xfrm>
          <a:prstGeom prst="rect">
            <a:avLst/>
          </a:prstGeom>
        </p:spPr>
      </p:pic>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What is the CMC?</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TextBox 3">
            <a:extLst>
              <a:ext uri="{FF2B5EF4-FFF2-40B4-BE49-F238E27FC236}">
                <a16:creationId xmlns:a16="http://schemas.microsoft.com/office/drawing/2014/main" id="{1A6B4E91-8331-C548-BBC3-246769B5855B}"/>
              </a:ext>
            </a:extLst>
          </p:cNvPr>
          <p:cNvSpPr txBox="1"/>
          <p:nvPr/>
        </p:nvSpPr>
        <p:spPr>
          <a:xfrm>
            <a:off x="922755" y="1875522"/>
            <a:ext cx="5069641" cy="3108543"/>
          </a:xfrm>
          <a:prstGeom prst="rect">
            <a:avLst/>
          </a:prstGeom>
          <a:noFill/>
        </p:spPr>
        <p:txBody>
          <a:bodyPr wrap="square" rtlCol="0">
            <a:spAutoFit/>
          </a:bodyPr>
          <a:lstStyle/>
          <a:p>
            <a:r>
              <a:rPr lang="en-US" sz="2000" dirty="0">
                <a:latin typeface="Gill Sans MT" panose="020B0502020104020203" pitchFamily="34" charset="77"/>
              </a:rPr>
              <a:t>The Content Management Catalogue (CMC) is a template tool that allows us to:</a:t>
            </a:r>
          </a:p>
          <a:p>
            <a:pPr marL="342900" indent="-342900">
              <a:buFont typeface="Arial" panose="020B0604020202020204" pitchFamily="34" charset="0"/>
              <a:buChar char="•"/>
            </a:pPr>
            <a:r>
              <a:rPr lang="en-US" sz="2000" dirty="0">
                <a:latin typeface="Gill Sans MT" panose="020B0502020104020203" pitchFamily="34" charset="77"/>
              </a:rPr>
              <a:t> Control the offers in creative variants without having to create new variants </a:t>
            </a:r>
          </a:p>
          <a:p>
            <a:pPr marL="342900" indent="-342900">
              <a:buFont typeface="Arial" panose="020B0604020202020204" pitchFamily="34" charset="0"/>
              <a:buChar char="•"/>
            </a:pPr>
            <a:r>
              <a:rPr lang="en-US" sz="2000" dirty="0">
                <a:latin typeface="Gill Sans MT" panose="020B0502020104020203" pitchFamily="34" charset="77"/>
              </a:rPr>
              <a:t>No need to redeploy</a:t>
            </a:r>
          </a:p>
          <a:p>
            <a:pPr marL="342900" indent="-342900">
              <a:buFont typeface="Arial" panose="020B0604020202020204" pitchFamily="34" charset="0"/>
              <a:buChar char="•"/>
            </a:pPr>
            <a:r>
              <a:rPr lang="en-US" sz="2000" dirty="0">
                <a:latin typeface="Gill Sans MT" panose="020B0502020104020203" pitchFamily="34" charset="77"/>
              </a:rPr>
              <a:t>Schedule offers </a:t>
            </a:r>
          </a:p>
          <a:p>
            <a:pPr marL="342900" indent="-342900">
              <a:buFont typeface="Arial" panose="020B0604020202020204" pitchFamily="34" charset="0"/>
              <a:buChar char="•"/>
            </a:pPr>
            <a:endParaRPr lang="en-US" sz="2000" dirty="0">
              <a:latin typeface="Gill Sans MT" panose="020B0502020104020203" pitchFamily="34" charset="77"/>
            </a:endParaRPr>
          </a:p>
          <a:p>
            <a:r>
              <a:rPr lang="en-US" sz="2000" dirty="0">
                <a:latin typeface="Gill Sans MT" panose="020B0502020104020203" pitchFamily="34" charset="77"/>
              </a:rPr>
              <a:t>Saving valuable time and making the DCO process much more efficient.</a:t>
            </a:r>
          </a:p>
          <a:p>
            <a:endParaRPr lang="en-US" sz="1600" dirty="0"/>
          </a:p>
        </p:txBody>
      </p:sp>
    </p:spTree>
    <p:extLst>
      <p:ext uri="{BB962C8B-B14F-4D97-AF65-F5344CB8AC3E}">
        <p14:creationId xmlns:p14="http://schemas.microsoft.com/office/powerpoint/2010/main" val="26286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What are the Benefits?</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Rectangle 3">
            <a:extLst>
              <a:ext uri="{FF2B5EF4-FFF2-40B4-BE49-F238E27FC236}">
                <a16:creationId xmlns:a16="http://schemas.microsoft.com/office/drawing/2014/main" id="{ACCFC0AD-1F3C-A04F-941A-C2A583625FDD}"/>
              </a:ext>
            </a:extLst>
          </p:cNvPr>
          <p:cNvSpPr/>
          <p:nvPr/>
        </p:nvSpPr>
        <p:spPr>
          <a:xfrm>
            <a:off x="420348" y="1680512"/>
            <a:ext cx="2947541" cy="1569660"/>
          </a:xfrm>
          <a:prstGeom prst="rect">
            <a:avLst/>
          </a:prstGeom>
        </p:spPr>
        <p:txBody>
          <a:bodyPr wrap="square">
            <a:spAutoFit/>
          </a:bodyPr>
          <a:lstStyle/>
          <a:p>
            <a:pPr algn="ctr"/>
            <a:r>
              <a:rPr lang="en-GB" sz="2400" b="1" dirty="0">
                <a:solidFill>
                  <a:srgbClr val="FD8FC1"/>
                </a:solidFill>
                <a:cs typeface="Calibri" panose="020F0502020204030204" pitchFamily="34" charset="0"/>
              </a:rPr>
              <a:t>1. Improve efficiencies by updating multiple variants at once</a:t>
            </a:r>
          </a:p>
        </p:txBody>
      </p:sp>
      <p:sp>
        <p:nvSpPr>
          <p:cNvPr id="5" name="Rectangle 4">
            <a:extLst>
              <a:ext uri="{FF2B5EF4-FFF2-40B4-BE49-F238E27FC236}">
                <a16:creationId xmlns:a16="http://schemas.microsoft.com/office/drawing/2014/main" id="{F10B56F7-D0D9-8F42-A602-0E56FEA522C9}"/>
              </a:ext>
            </a:extLst>
          </p:cNvPr>
          <p:cNvSpPr/>
          <p:nvPr/>
        </p:nvSpPr>
        <p:spPr>
          <a:xfrm>
            <a:off x="4078831" y="1735424"/>
            <a:ext cx="2947541" cy="1200329"/>
          </a:xfrm>
          <a:prstGeom prst="rect">
            <a:avLst/>
          </a:prstGeom>
        </p:spPr>
        <p:txBody>
          <a:bodyPr wrap="square">
            <a:spAutoFit/>
          </a:bodyPr>
          <a:lstStyle/>
          <a:p>
            <a:pPr algn="ctr"/>
            <a:r>
              <a:rPr lang="en-GB" sz="2400" b="1" dirty="0">
                <a:solidFill>
                  <a:srgbClr val="FD8FC1"/>
                </a:solidFill>
                <a:cs typeface="Calibri" panose="020F0502020204030204" pitchFamily="34" charset="0"/>
              </a:rPr>
              <a:t>2. Give VW more power and visibility over their messaging</a:t>
            </a:r>
          </a:p>
        </p:txBody>
      </p:sp>
      <p:pic>
        <p:nvPicPr>
          <p:cNvPr id="8" name="Picture 7">
            <a:extLst>
              <a:ext uri="{FF2B5EF4-FFF2-40B4-BE49-F238E27FC236}">
                <a16:creationId xmlns:a16="http://schemas.microsoft.com/office/drawing/2014/main" id="{5420D321-200C-354D-97CC-591D28943150}"/>
              </a:ext>
            </a:extLst>
          </p:cNvPr>
          <p:cNvPicPr>
            <a:picLocks noChangeAspect="1"/>
          </p:cNvPicPr>
          <p:nvPr/>
        </p:nvPicPr>
        <p:blipFill>
          <a:blip r:embed="rId3"/>
          <a:stretch>
            <a:fillRect/>
          </a:stretch>
        </p:blipFill>
        <p:spPr>
          <a:xfrm>
            <a:off x="836389" y="3713838"/>
            <a:ext cx="2115457" cy="2115457"/>
          </a:xfrm>
          <a:prstGeom prst="rect">
            <a:avLst/>
          </a:prstGeom>
        </p:spPr>
      </p:pic>
      <p:sp>
        <p:nvSpPr>
          <p:cNvPr id="9" name="Rectangle 8">
            <a:extLst>
              <a:ext uri="{FF2B5EF4-FFF2-40B4-BE49-F238E27FC236}">
                <a16:creationId xmlns:a16="http://schemas.microsoft.com/office/drawing/2014/main" id="{415A113C-0971-5344-A3B6-30390C95B22A}"/>
              </a:ext>
            </a:extLst>
          </p:cNvPr>
          <p:cNvSpPr/>
          <p:nvPr/>
        </p:nvSpPr>
        <p:spPr>
          <a:xfrm>
            <a:off x="8106326" y="1735424"/>
            <a:ext cx="2947541" cy="1569660"/>
          </a:xfrm>
          <a:prstGeom prst="rect">
            <a:avLst/>
          </a:prstGeom>
        </p:spPr>
        <p:txBody>
          <a:bodyPr wrap="square">
            <a:spAutoFit/>
          </a:bodyPr>
          <a:lstStyle/>
          <a:p>
            <a:pPr algn="ctr"/>
            <a:r>
              <a:rPr lang="en-GB" sz="2400" b="1" dirty="0">
                <a:solidFill>
                  <a:srgbClr val="FD8FC1"/>
                </a:solidFill>
                <a:cs typeface="Calibri" panose="020F0502020204030204" pitchFamily="34" charset="0"/>
              </a:rPr>
              <a:t>3. Quick real time Offer updates – that don’t require redeployments</a:t>
            </a:r>
          </a:p>
        </p:txBody>
      </p:sp>
      <p:pic>
        <p:nvPicPr>
          <p:cNvPr id="10" name="Picture 9">
            <a:extLst>
              <a:ext uri="{FF2B5EF4-FFF2-40B4-BE49-F238E27FC236}">
                <a16:creationId xmlns:a16="http://schemas.microsoft.com/office/drawing/2014/main" id="{62847DFB-40F4-4342-BC98-E749DB495A64}"/>
              </a:ext>
            </a:extLst>
          </p:cNvPr>
          <p:cNvPicPr>
            <a:picLocks noChangeAspect="1"/>
          </p:cNvPicPr>
          <p:nvPr/>
        </p:nvPicPr>
        <p:blipFill>
          <a:blip r:embed="rId4"/>
          <a:stretch>
            <a:fillRect/>
          </a:stretch>
        </p:blipFill>
        <p:spPr>
          <a:xfrm>
            <a:off x="4910915" y="3713838"/>
            <a:ext cx="2115457" cy="2115457"/>
          </a:xfrm>
          <a:prstGeom prst="rect">
            <a:avLst/>
          </a:prstGeom>
        </p:spPr>
      </p:pic>
      <p:pic>
        <p:nvPicPr>
          <p:cNvPr id="11" name="Picture 10">
            <a:extLst>
              <a:ext uri="{FF2B5EF4-FFF2-40B4-BE49-F238E27FC236}">
                <a16:creationId xmlns:a16="http://schemas.microsoft.com/office/drawing/2014/main" id="{D61DC8C1-2261-1247-B7A7-95BA439903E3}"/>
              </a:ext>
            </a:extLst>
          </p:cNvPr>
          <p:cNvPicPr>
            <a:picLocks noChangeAspect="1"/>
          </p:cNvPicPr>
          <p:nvPr/>
        </p:nvPicPr>
        <p:blipFill>
          <a:blip r:embed="rId5"/>
          <a:stretch>
            <a:fillRect/>
          </a:stretch>
        </p:blipFill>
        <p:spPr>
          <a:xfrm>
            <a:off x="8333682" y="3525152"/>
            <a:ext cx="2492827" cy="2492827"/>
          </a:xfrm>
          <a:prstGeom prst="rect">
            <a:avLst/>
          </a:prstGeom>
        </p:spPr>
      </p:pic>
    </p:spTree>
    <p:extLst>
      <p:ext uri="{BB962C8B-B14F-4D97-AF65-F5344CB8AC3E}">
        <p14:creationId xmlns:p14="http://schemas.microsoft.com/office/powerpoint/2010/main" val="1023679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Deployment Process – Existing</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cxnSp>
        <p:nvCxnSpPr>
          <p:cNvPr id="4" name="Straight Connector 3">
            <a:extLst>
              <a:ext uri="{FF2B5EF4-FFF2-40B4-BE49-F238E27FC236}">
                <a16:creationId xmlns:a16="http://schemas.microsoft.com/office/drawing/2014/main" id="{72CDA032-26F4-594C-A2C7-00004CF283B1}"/>
              </a:ext>
            </a:extLst>
          </p:cNvPr>
          <p:cNvCxnSpPr>
            <a:cxnSpLocks/>
          </p:cNvCxnSpPr>
          <p:nvPr/>
        </p:nvCxnSpPr>
        <p:spPr>
          <a:xfrm>
            <a:off x="1278709" y="4337966"/>
            <a:ext cx="664092" cy="4212"/>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A7818386-223A-9644-B386-1AF42D79D708}"/>
              </a:ext>
            </a:extLst>
          </p:cNvPr>
          <p:cNvSpPr/>
          <p:nvPr/>
        </p:nvSpPr>
        <p:spPr>
          <a:xfrm>
            <a:off x="1776061" y="3941307"/>
            <a:ext cx="1575687" cy="709619"/>
          </a:xfrm>
          <a:prstGeom prst="roundRect">
            <a:avLst/>
          </a:prstGeom>
          <a:solidFill>
            <a:schemeClr val="bg1"/>
          </a:solidFill>
          <a:ln w="28575"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schemeClr val="tx1"/>
              </a:solidFill>
            </a:endParaRPr>
          </a:p>
        </p:txBody>
      </p:sp>
      <p:sp>
        <p:nvSpPr>
          <p:cNvPr id="9" name="Rounded Rectangle 8">
            <a:extLst>
              <a:ext uri="{FF2B5EF4-FFF2-40B4-BE49-F238E27FC236}">
                <a16:creationId xmlns:a16="http://schemas.microsoft.com/office/drawing/2014/main" id="{A8408276-6753-3642-9C1E-3EC4CC73CA7A}"/>
              </a:ext>
            </a:extLst>
          </p:cNvPr>
          <p:cNvSpPr/>
          <p:nvPr/>
        </p:nvSpPr>
        <p:spPr>
          <a:xfrm>
            <a:off x="3988749" y="3941808"/>
            <a:ext cx="1575687" cy="709619"/>
          </a:xfrm>
          <a:prstGeom prst="roundRect">
            <a:avLst/>
          </a:prstGeom>
          <a:noFill/>
          <a:ln w="28575"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schemeClr val="tx1"/>
              </a:solidFill>
            </a:endParaRPr>
          </a:p>
        </p:txBody>
      </p:sp>
      <p:sp>
        <p:nvSpPr>
          <p:cNvPr id="10" name="Rounded Rectangle 9">
            <a:extLst>
              <a:ext uri="{FF2B5EF4-FFF2-40B4-BE49-F238E27FC236}">
                <a16:creationId xmlns:a16="http://schemas.microsoft.com/office/drawing/2014/main" id="{22782784-5BE1-E348-BCCB-B1DFD9F7DC08}"/>
              </a:ext>
            </a:extLst>
          </p:cNvPr>
          <p:cNvSpPr/>
          <p:nvPr/>
        </p:nvSpPr>
        <p:spPr>
          <a:xfrm>
            <a:off x="6150514" y="3941307"/>
            <a:ext cx="1575687" cy="709619"/>
          </a:xfrm>
          <a:prstGeom prst="roundRect">
            <a:avLst/>
          </a:prstGeom>
          <a:noFill/>
          <a:ln w="28575"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schemeClr val="tx1"/>
              </a:solidFill>
            </a:endParaRPr>
          </a:p>
        </p:txBody>
      </p:sp>
      <p:sp>
        <p:nvSpPr>
          <p:cNvPr id="11" name="Rounded Rectangle 10">
            <a:extLst>
              <a:ext uri="{FF2B5EF4-FFF2-40B4-BE49-F238E27FC236}">
                <a16:creationId xmlns:a16="http://schemas.microsoft.com/office/drawing/2014/main" id="{04888F3C-6453-0143-8FE4-6F405386ECA0}"/>
              </a:ext>
            </a:extLst>
          </p:cNvPr>
          <p:cNvSpPr/>
          <p:nvPr/>
        </p:nvSpPr>
        <p:spPr>
          <a:xfrm>
            <a:off x="1776061" y="2301114"/>
            <a:ext cx="1575686" cy="1084788"/>
          </a:xfrm>
          <a:prstGeom prst="roundRect">
            <a:avLst/>
          </a:prstGeom>
          <a:noFill/>
          <a:ln w="28575"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12" name="TextBox 11">
            <a:extLst>
              <a:ext uri="{FF2B5EF4-FFF2-40B4-BE49-F238E27FC236}">
                <a16:creationId xmlns:a16="http://schemas.microsoft.com/office/drawing/2014/main" id="{C27A34EB-BA7A-8449-B630-57AD1B6DF510}"/>
              </a:ext>
            </a:extLst>
          </p:cNvPr>
          <p:cNvSpPr txBox="1"/>
          <p:nvPr/>
        </p:nvSpPr>
        <p:spPr>
          <a:xfrm>
            <a:off x="1786614" y="2465781"/>
            <a:ext cx="1514125" cy="900246"/>
          </a:xfrm>
          <a:prstGeom prst="rect">
            <a:avLst/>
          </a:prstGeom>
          <a:noFill/>
        </p:spPr>
        <p:txBody>
          <a:bodyPr wrap="square" rtlCol="0">
            <a:spAutoFit/>
          </a:bodyPr>
          <a:lstStyle/>
          <a:p>
            <a:pPr algn="ctr"/>
            <a:r>
              <a:rPr lang="en-GB" sz="1050" dirty="0">
                <a:latin typeface="Gill Sans SemiBold" charset="0"/>
                <a:ea typeface="Gill Sans SemiBold" charset="0"/>
                <a:cs typeface="Gill Sans SemiBold" charset="0"/>
              </a:rPr>
              <a:t>Supply</a:t>
            </a:r>
            <a:r>
              <a:rPr lang="en-GB" sz="1050" b="1" dirty="0">
                <a:latin typeface="Gill Sans SemiBold" charset="0"/>
                <a:ea typeface="Gill Sans SemiBold" charset="0"/>
                <a:cs typeface="Gill Sans SemiBold" charset="0"/>
              </a:rPr>
              <a:t> audience names </a:t>
            </a:r>
            <a:r>
              <a:rPr lang="en-GB" sz="1050" dirty="0">
                <a:latin typeface="Gill Sans SemiBold" charset="0"/>
                <a:ea typeface="Gill Sans SemiBold" charset="0"/>
                <a:cs typeface="Gill Sans SemiBold" charset="0"/>
              </a:rPr>
              <a:t>&amp; Sizmek keywords to Engine DCO, via working document</a:t>
            </a:r>
          </a:p>
        </p:txBody>
      </p:sp>
      <p:sp>
        <p:nvSpPr>
          <p:cNvPr id="13" name="Rounded Rectangle 12">
            <a:extLst>
              <a:ext uri="{FF2B5EF4-FFF2-40B4-BE49-F238E27FC236}">
                <a16:creationId xmlns:a16="http://schemas.microsoft.com/office/drawing/2014/main" id="{59B8D277-E02C-0241-8220-E092A0852678}"/>
              </a:ext>
            </a:extLst>
          </p:cNvPr>
          <p:cNvSpPr/>
          <p:nvPr/>
        </p:nvSpPr>
        <p:spPr>
          <a:xfrm>
            <a:off x="4001208" y="2317656"/>
            <a:ext cx="1575686" cy="1084788"/>
          </a:xfrm>
          <a:prstGeom prst="roundRect">
            <a:avLst/>
          </a:prstGeom>
          <a:noFill/>
          <a:ln w="28575"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14" name="TextBox 13">
            <a:extLst>
              <a:ext uri="{FF2B5EF4-FFF2-40B4-BE49-F238E27FC236}">
                <a16:creationId xmlns:a16="http://schemas.microsoft.com/office/drawing/2014/main" id="{764B59BF-5EAE-EA41-98A6-75A9ACE11EFF}"/>
              </a:ext>
            </a:extLst>
          </p:cNvPr>
          <p:cNvSpPr txBox="1"/>
          <p:nvPr/>
        </p:nvSpPr>
        <p:spPr>
          <a:xfrm>
            <a:off x="4046889" y="2570678"/>
            <a:ext cx="1442167" cy="577081"/>
          </a:xfrm>
          <a:prstGeom prst="rect">
            <a:avLst/>
          </a:prstGeom>
          <a:noFill/>
        </p:spPr>
        <p:txBody>
          <a:bodyPr wrap="square" rtlCol="0">
            <a:spAutoFit/>
          </a:bodyPr>
          <a:lstStyle/>
          <a:p>
            <a:pPr algn="ctr"/>
            <a:r>
              <a:rPr lang="en-GB" sz="1050" b="1" dirty="0">
                <a:latin typeface="Gill Sans SemiBold" charset="0"/>
                <a:ea typeface="Gill Sans SemiBold" charset="0"/>
                <a:cs typeface="Gill Sans SemiBold" charset="0"/>
              </a:rPr>
              <a:t>Load audiences into Orca and notify PHD &amp; Creative Agency</a:t>
            </a:r>
          </a:p>
        </p:txBody>
      </p:sp>
      <p:sp>
        <p:nvSpPr>
          <p:cNvPr id="15" name="Rounded Rectangle 14">
            <a:extLst>
              <a:ext uri="{FF2B5EF4-FFF2-40B4-BE49-F238E27FC236}">
                <a16:creationId xmlns:a16="http://schemas.microsoft.com/office/drawing/2014/main" id="{0C9AC226-0A00-4240-92F5-E7FEF3C23639}"/>
              </a:ext>
            </a:extLst>
          </p:cNvPr>
          <p:cNvSpPr/>
          <p:nvPr/>
        </p:nvSpPr>
        <p:spPr>
          <a:xfrm>
            <a:off x="6184198" y="2316106"/>
            <a:ext cx="1575686" cy="1084788"/>
          </a:xfrm>
          <a:prstGeom prst="roundRect">
            <a:avLst/>
          </a:prstGeom>
          <a:noFill/>
          <a:ln w="28575"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16" name="TextBox 15">
            <a:extLst>
              <a:ext uri="{FF2B5EF4-FFF2-40B4-BE49-F238E27FC236}">
                <a16:creationId xmlns:a16="http://schemas.microsoft.com/office/drawing/2014/main" id="{F3F2E83D-17EF-F041-9360-427E3C844CD9}"/>
              </a:ext>
            </a:extLst>
          </p:cNvPr>
          <p:cNvSpPr txBox="1"/>
          <p:nvPr/>
        </p:nvSpPr>
        <p:spPr>
          <a:xfrm>
            <a:off x="6226355" y="2569959"/>
            <a:ext cx="1514125" cy="738664"/>
          </a:xfrm>
          <a:prstGeom prst="rect">
            <a:avLst/>
          </a:prstGeom>
          <a:noFill/>
        </p:spPr>
        <p:txBody>
          <a:bodyPr wrap="square" rtlCol="0">
            <a:spAutoFit/>
          </a:bodyPr>
          <a:lstStyle/>
          <a:p>
            <a:pPr algn="ctr"/>
            <a:r>
              <a:rPr lang="en-GB" sz="1050" b="1" dirty="0">
                <a:latin typeface="Gill Sans SemiBold" charset="0"/>
                <a:ea typeface="Gill Sans SemiBold" charset="0"/>
                <a:cs typeface="Gill Sans SemiBold" charset="0"/>
              </a:rPr>
              <a:t>Creative Agency to build variants for the relevant audience names</a:t>
            </a:r>
          </a:p>
        </p:txBody>
      </p:sp>
      <p:sp>
        <p:nvSpPr>
          <p:cNvPr id="17" name="Rounded Rectangle 16">
            <a:extLst>
              <a:ext uri="{FF2B5EF4-FFF2-40B4-BE49-F238E27FC236}">
                <a16:creationId xmlns:a16="http://schemas.microsoft.com/office/drawing/2014/main" id="{BE5000EE-78BA-C84B-A68A-B0D662050C8F}"/>
              </a:ext>
            </a:extLst>
          </p:cNvPr>
          <p:cNvSpPr/>
          <p:nvPr/>
        </p:nvSpPr>
        <p:spPr>
          <a:xfrm>
            <a:off x="8481157" y="3941307"/>
            <a:ext cx="1575687" cy="709619"/>
          </a:xfrm>
          <a:prstGeom prst="roundRect">
            <a:avLst/>
          </a:prstGeom>
          <a:noFill/>
          <a:ln w="28575"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18" name="Rounded Rectangle 17">
            <a:extLst>
              <a:ext uri="{FF2B5EF4-FFF2-40B4-BE49-F238E27FC236}">
                <a16:creationId xmlns:a16="http://schemas.microsoft.com/office/drawing/2014/main" id="{09899357-9E55-9C46-ABCE-6A1F724DACD6}"/>
              </a:ext>
            </a:extLst>
          </p:cNvPr>
          <p:cNvSpPr/>
          <p:nvPr/>
        </p:nvSpPr>
        <p:spPr>
          <a:xfrm>
            <a:off x="8481158" y="2355438"/>
            <a:ext cx="1575686" cy="1084788"/>
          </a:xfrm>
          <a:prstGeom prst="roundRect">
            <a:avLst/>
          </a:prstGeom>
          <a:noFill/>
          <a:ln w="28575"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19" name="TextBox 18">
            <a:extLst>
              <a:ext uri="{FF2B5EF4-FFF2-40B4-BE49-F238E27FC236}">
                <a16:creationId xmlns:a16="http://schemas.microsoft.com/office/drawing/2014/main" id="{85E03CB0-1666-5046-804B-83B60C5A2C10}"/>
              </a:ext>
            </a:extLst>
          </p:cNvPr>
          <p:cNvSpPr txBox="1"/>
          <p:nvPr/>
        </p:nvSpPr>
        <p:spPr>
          <a:xfrm>
            <a:off x="8503267" y="2528198"/>
            <a:ext cx="1514125" cy="738664"/>
          </a:xfrm>
          <a:prstGeom prst="rect">
            <a:avLst/>
          </a:prstGeom>
          <a:noFill/>
        </p:spPr>
        <p:txBody>
          <a:bodyPr wrap="square" rtlCol="0">
            <a:spAutoFit/>
          </a:bodyPr>
          <a:lstStyle/>
          <a:p>
            <a:pPr algn="ctr"/>
            <a:r>
              <a:rPr lang="en-GB" sz="1050" b="1" dirty="0">
                <a:latin typeface="Gill Sans SemiBold" charset="0"/>
                <a:ea typeface="Gill Sans SemiBold" charset="0"/>
                <a:cs typeface="Gill Sans SemiBold" charset="0"/>
              </a:rPr>
              <a:t>Duplicate existing variants and update them with new offer / creative refresh </a:t>
            </a:r>
          </a:p>
        </p:txBody>
      </p:sp>
      <p:sp>
        <p:nvSpPr>
          <p:cNvPr id="20" name="TextBox 19">
            <a:extLst>
              <a:ext uri="{FF2B5EF4-FFF2-40B4-BE49-F238E27FC236}">
                <a16:creationId xmlns:a16="http://schemas.microsoft.com/office/drawing/2014/main" id="{4AF70A08-B786-F643-90EF-3A23D546664B}"/>
              </a:ext>
            </a:extLst>
          </p:cNvPr>
          <p:cNvSpPr txBox="1"/>
          <p:nvPr/>
        </p:nvSpPr>
        <p:spPr>
          <a:xfrm>
            <a:off x="1836353" y="5024816"/>
            <a:ext cx="1455101" cy="415498"/>
          </a:xfrm>
          <a:prstGeom prst="rect">
            <a:avLst/>
          </a:prstGeom>
          <a:noFill/>
        </p:spPr>
        <p:txBody>
          <a:bodyPr wrap="square" rtlCol="0">
            <a:spAutoFit/>
          </a:bodyPr>
          <a:lstStyle/>
          <a:p>
            <a:pPr algn="ctr"/>
            <a:r>
              <a:rPr lang="en-GB" sz="1050" b="1" dirty="0">
                <a:latin typeface="Gill Sans SemiBold" charset="0"/>
                <a:ea typeface="Gill Sans SemiBold" charset="0"/>
                <a:cs typeface="Gill Sans SemiBold" charset="0"/>
              </a:rPr>
              <a:t>Feedback or Approve creative variants</a:t>
            </a:r>
          </a:p>
        </p:txBody>
      </p:sp>
      <p:cxnSp>
        <p:nvCxnSpPr>
          <p:cNvPr id="22" name="Straight Arrow Connector 21">
            <a:extLst>
              <a:ext uri="{FF2B5EF4-FFF2-40B4-BE49-F238E27FC236}">
                <a16:creationId xmlns:a16="http://schemas.microsoft.com/office/drawing/2014/main" id="{578C6DD6-B709-A641-9CCE-BAFF3F76FBBE}"/>
              </a:ext>
            </a:extLst>
          </p:cNvPr>
          <p:cNvCxnSpPr>
            <a:cxnSpLocks/>
          </p:cNvCxnSpPr>
          <p:nvPr/>
        </p:nvCxnSpPr>
        <p:spPr>
          <a:xfrm>
            <a:off x="3488737" y="1913184"/>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9E30B73-61FF-1E47-9899-688A296208E2}"/>
              </a:ext>
            </a:extLst>
          </p:cNvPr>
          <p:cNvCxnSpPr>
            <a:cxnSpLocks/>
          </p:cNvCxnSpPr>
          <p:nvPr/>
        </p:nvCxnSpPr>
        <p:spPr>
          <a:xfrm>
            <a:off x="5659148" y="1897151"/>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4D039D9-A3CA-764B-9064-87C1A29C563B}"/>
              </a:ext>
            </a:extLst>
          </p:cNvPr>
          <p:cNvCxnSpPr>
            <a:cxnSpLocks/>
          </p:cNvCxnSpPr>
          <p:nvPr/>
        </p:nvCxnSpPr>
        <p:spPr>
          <a:xfrm>
            <a:off x="7943251" y="1937359"/>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1DECB73-231E-AE4A-8613-4466BB787956}"/>
              </a:ext>
            </a:extLst>
          </p:cNvPr>
          <p:cNvCxnSpPr>
            <a:cxnSpLocks/>
          </p:cNvCxnSpPr>
          <p:nvPr/>
        </p:nvCxnSpPr>
        <p:spPr>
          <a:xfrm>
            <a:off x="3489282" y="4383018"/>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696ACEE-0B8A-A140-BEB9-472296F722E9}"/>
              </a:ext>
            </a:extLst>
          </p:cNvPr>
          <p:cNvCxnSpPr>
            <a:cxnSpLocks/>
          </p:cNvCxnSpPr>
          <p:nvPr/>
        </p:nvCxnSpPr>
        <p:spPr>
          <a:xfrm>
            <a:off x="5671028" y="4383018"/>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286C1C8-B754-4748-8AEF-2B98606520A4}"/>
              </a:ext>
            </a:extLst>
          </p:cNvPr>
          <p:cNvCxnSpPr>
            <a:cxnSpLocks/>
          </p:cNvCxnSpPr>
          <p:nvPr/>
        </p:nvCxnSpPr>
        <p:spPr>
          <a:xfrm>
            <a:off x="7903908" y="4383018"/>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6B33E01-2B61-E14F-8BBE-0FCA7F95FA98}"/>
              </a:ext>
            </a:extLst>
          </p:cNvPr>
          <p:cNvCxnSpPr>
            <a:cxnSpLocks/>
          </p:cNvCxnSpPr>
          <p:nvPr/>
        </p:nvCxnSpPr>
        <p:spPr>
          <a:xfrm>
            <a:off x="10034326" y="1937359"/>
            <a:ext cx="38799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E13E359-5822-B944-A6F2-16C9D57F45C7}"/>
              </a:ext>
            </a:extLst>
          </p:cNvPr>
          <p:cNvCxnSpPr>
            <a:cxnSpLocks/>
          </p:cNvCxnSpPr>
          <p:nvPr/>
        </p:nvCxnSpPr>
        <p:spPr>
          <a:xfrm>
            <a:off x="10405385" y="1937359"/>
            <a:ext cx="0" cy="1795843"/>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5C8B406-2398-D044-83C1-A07E6C7B6452}"/>
              </a:ext>
            </a:extLst>
          </p:cNvPr>
          <p:cNvCxnSpPr>
            <a:cxnSpLocks/>
          </p:cNvCxnSpPr>
          <p:nvPr/>
        </p:nvCxnSpPr>
        <p:spPr>
          <a:xfrm>
            <a:off x="1278709" y="3716280"/>
            <a:ext cx="912667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3EAC827-AAC9-EC49-BAEC-251048377FDF}"/>
              </a:ext>
            </a:extLst>
          </p:cNvPr>
          <p:cNvCxnSpPr>
            <a:cxnSpLocks/>
          </p:cNvCxnSpPr>
          <p:nvPr/>
        </p:nvCxnSpPr>
        <p:spPr>
          <a:xfrm>
            <a:off x="1298140" y="3716280"/>
            <a:ext cx="0" cy="62671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Chevron 31">
            <a:extLst>
              <a:ext uri="{FF2B5EF4-FFF2-40B4-BE49-F238E27FC236}">
                <a16:creationId xmlns:a16="http://schemas.microsoft.com/office/drawing/2014/main" id="{D450F136-B13D-CC43-B771-FEF9F15440CE}"/>
              </a:ext>
            </a:extLst>
          </p:cNvPr>
          <p:cNvSpPr/>
          <p:nvPr/>
        </p:nvSpPr>
        <p:spPr>
          <a:xfrm>
            <a:off x="1495281" y="4302603"/>
            <a:ext cx="104028" cy="99270"/>
          </a:xfrm>
          <a:prstGeom prst="chevron">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Chevron 32">
            <a:extLst>
              <a:ext uri="{FF2B5EF4-FFF2-40B4-BE49-F238E27FC236}">
                <a16:creationId xmlns:a16="http://schemas.microsoft.com/office/drawing/2014/main" id="{BBC8A78C-9B3A-BB40-8E73-FC397150C433}"/>
              </a:ext>
            </a:extLst>
          </p:cNvPr>
          <p:cNvSpPr/>
          <p:nvPr/>
        </p:nvSpPr>
        <p:spPr>
          <a:xfrm>
            <a:off x="10203379" y="1892977"/>
            <a:ext cx="104028" cy="99270"/>
          </a:xfrm>
          <a:prstGeom prst="chevron">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4" name="Chevron 33">
            <a:extLst>
              <a:ext uri="{FF2B5EF4-FFF2-40B4-BE49-F238E27FC236}">
                <a16:creationId xmlns:a16="http://schemas.microsoft.com/office/drawing/2014/main" id="{C42DC595-DE23-C54F-B91E-20F3AD428D25}"/>
              </a:ext>
            </a:extLst>
          </p:cNvPr>
          <p:cNvSpPr/>
          <p:nvPr/>
        </p:nvSpPr>
        <p:spPr>
          <a:xfrm rot="10800000">
            <a:off x="5818785" y="3666645"/>
            <a:ext cx="104028" cy="99270"/>
          </a:xfrm>
          <a:prstGeom prst="chevron">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35" name="Group 34">
            <a:extLst>
              <a:ext uri="{FF2B5EF4-FFF2-40B4-BE49-F238E27FC236}">
                <a16:creationId xmlns:a16="http://schemas.microsoft.com/office/drawing/2014/main" id="{6DCF0552-5177-FA4B-A152-A52BEB212930}"/>
              </a:ext>
            </a:extLst>
          </p:cNvPr>
          <p:cNvGrpSpPr/>
          <p:nvPr/>
        </p:nvGrpSpPr>
        <p:grpSpPr>
          <a:xfrm rot="16200000">
            <a:off x="9845358" y="4293864"/>
            <a:ext cx="2135865" cy="1291727"/>
            <a:chOff x="110864" y="4352735"/>
            <a:chExt cx="2135865" cy="1291727"/>
          </a:xfrm>
        </p:grpSpPr>
        <p:sp>
          <p:nvSpPr>
            <p:cNvPr id="36" name="TextBox 35">
              <a:extLst>
                <a:ext uri="{FF2B5EF4-FFF2-40B4-BE49-F238E27FC236}">
                  <a16:creationId xmlns:a16="http://schemas.microsoft.com/office/drawing/2014/main" id="{E8A25040-2178-1B4E-99EB-682C708C1EF3}"/>
                </a:ext>
              </a:extLst>
            </p:cNvPr>
            <p:cNvSpPr txBox="1"/>
            <p:nvPr/>
          </p:nvSpPr>
          <p:spPr>
            <a:xfrm>
              <a:off x="110864" y="4936576"/>
              <a:ext cx="2135865" cy="707886"/>
            </a:xfrm>
            <a:prstGeom prst="rect">
              <a:avLst/>
            </a:prstGeom>
            <a:noFill/>
            <a:ln>
              <a:solidFill>
                <a:schemeClr val="accent1"/>
              </a:solidFill>
            </a:ln>
          </p:spPr>
          <p:txBody>
            <a:bodyPr wrap="square" rtlCol="0">
              <a:spAutoFit/>
            </a:bodyPr>
            <a:lstStyle/>
            <a:p>
              <a:pPr algn="ctr"/>
              <a:r>
                <a:rPr lang="en-US" sz="2000" dirty="0"/>
                <a:t>OFFER / CREATIVE UPDATED</a:t>
              </a:r>
            </a:p>
          </p:txBody>
        </p:sp>
        <p:cxnSp>
          <p:nvCxnSpPr>
            <p:cNvPr id="37" name="Straight Arrow Connector 36">
              <a:extLst>
                <a:ext uri="{FF2B5EF4-FFF2-40B4-BE49-F238E27FC236}">
                  <a16:creationId xmlns:a16="http://schemas.microsoft.com/office/drawing/2014/main" id="{37CB2AFE-A694-F049-8313-53F20207DC15}"/>
                </a:ext>
              </a:extLst>
            </p:cNvPr>
            <p:cNvCxnSpPr>
              <a:cxnSpLocks/>
            </p:cNvCxnSpPr>
            <p:nvPr/>
          </p:nvCxnSpPr>
          <p:spPr>
            <a:xfrm>
              <a:off x="1805016" y="4352735"/>
              <a:ext cx="0" cy="451026"/>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pic>
        <p:nvPicPr>
          <p:cNvPr id="39" name="Picture 38">
            <a:extLst>
              <a:ext uri="{FF2B5EF4-FFF2-40B4-BE49-F238E27FC236}">
                <a16:creationId xmlns:a16="http://schemas.microsoft.com/office/drawing/2014/main" id="{FFBD6ED4-6ABB-F743-85A9-94CBDA5B91F7}"/>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p:blipFill>
        <p:spPr>
          <a:xfrm>
            <a:off x="2191300" y="1644480"/>
            <a:ext cx="804577" cy="568800"/>
          </a:xfrm>
          <a:prstGeom prst="rect">
            <a:avLst/>
          </a:prstGeom>
        </p:spPr>
      </p:pic>
      <p:pic>
        <p:nvPicPr>
          <p:cNvPr id="40" name="Picture 39">
            <a:extLst>
              <a:ext uri="{FF2B5EF4-FFF2-40B4-BE49-F238E27FC236}">
                <a16:creationId xmlns:a16="http://schemas.microsoft.com/office/drawing/2014/main" id="{DAD52758-49D6-6D43-8EEC-13CFFD5B39A5}"/>
              </a:ext>
            </a:extLst>
          </p:cNvPr>
          <p:cNvPicPr>
            <a:picLocks noChangeAspect="1"/>
          </p:cNvPicPr>
          <p:nvPr/>
        </p:nvPicPr>
        <p:blipFill>
          <a:blip r:embed="rId3" cstate="screen">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a:ext>
            </a:extLst>
          </a:blip>
          <a:stretch>
            <a:fillRect/>
          </a:stretch>
        </p:blipFill>
        <p:spPr>
          <a:xfrm>
            <a:off x="8866710" y="3980079"/>
            <a:ext cx="804577" cy="568800"/>
          </a:xfrm>
          <a:prstGeom prst="rect">
            <a:avLst/>
          </a:prstGeom>
        </p:spPr>
      </p:pic>
      <p:sp>
        <p:nvSpPr>
          <p:cNvPr id="46" name="TextBox 45">
            <a:extLst>
              <a:ext uri="{FF2B5EF4-FFF2-40B4-BE49-F238E27FC236}">
                <a16:creationId xmlns:a16="http://schemas.microsoft.com/office/drawing/2014/main" id="{6D056774-32E7-414B-A4DB-88D21C291D84}"/>
              </a:ext>
            </a:extLst>
          </p:cNvPr>
          <p:cNvSpPr txBox="1"/>
          <p:nvPr/>
        </p:nvSpPr>
        <p:spPr>
          <a:xfrm>
            <a:off x="4001208" y="5024816"/>
            <a:ext cx="1448790" cy="1061829"/>
          </a:xfrm>
          <a:prstGeom prst="rect">
            <a:avLst/>
          </a:prstGeom>
          <a:noFill/>
        </p:spPr>
        <p:txBody>
          <a:bodyPr wrap="square" rtlCol="0">
            <a:spAutoFit/>
          </a:bodyPr>
          <a:lstStyle/>
          <a:p>
            <a:pPr algn="ctr"/>
            <a:r>
              <a:rPr lang="en-GB" sz="1050" b="1" dirty="0">
                <a:latin typeface="Gill Sans SemiBold" charset="0"/>
                <a:ea typeface="Gill Sans SemiBold" charset="0"/>
                <a:cs typeface="Gill Sans SemiBold" charset="0"/>
              </a:rPr>
              <a:t>Add new/updated landing page URLs with UTM tracking to each variant within Orca. Once done, set variant/s </a:t>
            </a:r>
            <a:r>
              <a:rPr lang="en-GB" sz="1050" b="1" i="1" dirty="0">
                <a:latin typeface="Gill Sans SemiBold" charset="0"/>
                <a:ea typeface="Gill Sans SemiBold" charset="0"/>
                <a:cs typeface="Gill Sans SemiBold" charset="0"/>
              </a:rPr>
              <a:t>Live</a:t>
            </a:r>
            <a:r>
              <a:rPr lang="en-GB" sz="1050" b="1" dirty="0">
                <a:latin typeface="Gill Sans SemiBold" charset="0"/>
                <a:ea typeface="Gill Sans SemiBold" charset="0"/>
                <a:cs typeface="Gill Sans SemiBold" charset="0"/>
              </a:rPr>
              <a:t>.</a:t>
            </a:r>
          </a:p>
        </p:txBody>
      </p:sp>
      <p:sp>
        <p:nvSpPr>
          <p:cNvPr id="47" name="TextBox 46">
            <a:extLst>
              <a:ext uri="{FF2B5EF4-FFF2-40B4-BE49-F238E27FC236}">
                <a16:creationId xmlns:a16="http://schemas.microsoft.com/office/drawing/2014/main" id="{D986D282-FDAE-6444-8E31-1251BCBA65CA}"/>
              </a:ext>
            </a:extLst>
          </p:cNvPr>
          <p:cNvSpPr txBox="1"/>
          <p:nvPr/>
        </p:nvSpPr>
        <p:spPr>
          <a:xfrm>
            <a:off x="6293350" y="5024816"/>
            <a:ext cx="1276335" cy="900246"/>
          </a:xfrm>
          <a:prstGeom prst="rect">
            <a:avLst/>
          </a:prstGeom>
          <a:noFill/>
        </p:spPr>
        <p:txBody>
          <a:bodyPr wrap="square" rtlCol="0">
            <a:spAutoFit/>
          </a:bodyPr>
          <a:lstStyle/>
          <a:p>
            <a:pPr algn="ctr"/>
            <a:r>
              <a:rPr lang="en-GB" sz="1050" b="1" dirty="0">
                <a:latin typeface="Gill Sans SemiBold" charset="0"/>
                <a:ea typeface="Gill Sans SemiBold" charset="0"/>
                <a:cs typeface="Gill Sans SemiBold" charset="0"/>
              </a:rPr>
              <a:t>Engine DCO to deploy from Orca, assign ads to Sizmek Ad Ids and map audiences.</a:t>
            </a:r>
          </a:p>
        </p:txBody>
      </p:sp>
      <p:sp>
        <p:nvSpPr>
          <p:cNvPr id="48" name="TextBox 47">
            <a:extLst>
              <a:ext uri="{FF2B5EF4-FFF2-40B4-BE49-F238E27FC236}">
                <a16:creationId xmlns:a16="http://schemas.microsoft.com/office/drawing/2014/main" id="{CDB5E55D-52FE-ED42-8965-F2F27B5CC476}"/>
              </a:ext>
            </a:extLst>
          </p:cNvPr>
          <p:cNvSpPr txBox="1"/>
          <p:nvPr/>
        </p:nvSpPr>
        <p:spPr>
          <a:xfrm>
            <a:off x="8692724" y="5024816"/>
            <a:ext cx="1317223" cy="1061829"/>
          </a:xfrm>
          <a:prstGeom prst="rect">
            <a:avLst/>
          </a:prstGeom>
          <a:noFill/>
        </p:spPr>
        <p:txBody>
          <a:bodyPr wrap="square" rtlCol="0">
            <a:spAutoFit/>
          </a:bodyPr>
          <a:lstStyle/>
          <a:p>
            <a:r>
              <a:rPr lang="en-GB" sz="1050" b="1" dirty="0">
                <a:latin typeface="Gill Sans SemiBold" charset="0"/>
                <a:cs typeface="Gill Sans SemiBold" charset="0"/>
              </a:rPr>
              <a:t>Set campaign live in DSP and set up daily reports in Sizmek to be sent to Engine DCO. </a:t>
            </a:r>
          </a:p>
          <a:p>
            <a:endParaRPr lang="en-GB" sz="1050" b="1" dirty="0">
              <a:solidFill>
                <a:schemeClr val="bg2">
                  <a:lumMod val="75000"/>
                </a:schemeClr>
              </a:solidFill>
              <a:latin typeface="Gill Sans SemiBold" charset="0"/>
              <a:ea typeface="Gill Sans SemiBold" charset="0"/>
              <a:cs typeface="Gill Sans SemiBold" charset="0"/>
            </a:endParaRPr>
          </a:p>
        </p:txBody>
      </p:sp>
      <p:pic>
        <p:nvPicPr>
          <p:cNvPr id="43" name="Picture 42" descr="A close up of a sign&#10;&#10;Description automatically generated">
            <a:extLst>
              <a:ext uri="{FF2B5EF4-FFF2-40B4-BE49-F238E27FC236}">
                <a16:creationId xmlns:a16="http://schemas.microsoft.com/office/drawing/2014/main" id="{23E3BF7B-1019-954B-A4B3-DBAF7A6D9D33}"/>
              </a:ext>
            </a:extLst>
          </p:cNvPr>
          <p:cNvPicPr>
            <a:picLocks noChangeAspect="1"/>
          </p:cNvPicPr>
          <p:nvPr/>
        </p:nvPicPr>
        <p:blipFill>
          <a:blip r:embed="rId6"/>
          <a:stretch>
            <a:fillRect/>
          </a:stretch>
        </p:blipFill>
        <p:spPr>
          <a:xfrm>
            <a:off x="4173118" y="1805357"/>
            <a:ext cx="1251553" cy="240364"/>
          </a:xfrm>
          <a:prstGeom prst="rect">
            <a:avLst/>
          </a:prstGeom>
        </p:spPr>
      </p:pic>
      <p:pic>
        <p:nvPicPr>
          <p:cNvPr id="58" name="Picture 57" descr="A close up of a sign&#10;&#10;Description automatically generated">
            <a:extLst>
              <a:ext uri="{FF2B5EF4-FFF2-40B4-BE49-F238E27FC236}">
                <a16:creationId xmlns:a16="http://schemas.microsoft.com/office/drawing/2014/main" id="{6155C5E2-FF59-EE4B-9B1D-B1255B4378BA}"/>
              </a:ext>
            </a:extLst>
          </p:cNvPr>
          <p:cNvPicPr>
            <a:picLocks noChangeAspect="1"/>
          </p:cNvPicPr>
          <p:nvPr/>
        </p:nvPicPr>
        <p:blipFill>
          <a:blip r:embed="rId6"/>
          <a:stretch>
            <a:fillRect/>
          </a:stretch>
        </p:blipFill>
        <p:spPr>
          <a:xfrm>
            <a:off x="6312580" y="4178658"/>
            <a:ext cx="1251553" cy="240364"/>
          </a:xfrm>
          <a:prstGeom prst="rect">
            <a:avLst/>
          </a:prstGeom>
        </p:spPr>
      </p:pic>
      <p:pic>
        <p:nvPicPr>
          <p:cNvPr id="42" name="Picture 41" descr="A close up of a sign&#10;&#10;Description automatically generated">
            <a:extLst>
              <a:ext uri="{FF2B5EF4-FFF2-40B4-BE49-F238E27FC236}">
                <a16:creationId xmlns:a16="http://schemas.microsoft.com/office/drawing/2014/main" id="{46CC0A4A-F0D3-A543-9DC2-726906F8916F}"/>
              </a:ext>
            </a:extLst>
          </p:cNvPr>
          <p:cNvPicPr>
            <a:picLocks noChangeAspect="1"/>
          </p:cNvPicPr>
          <p:nvPr/>
        </p:nvPicPr>
        <p:blipFill rotWithShape="1">
          <a:blip r:embed="rId7"/>
          <a:srcRect l="13588" t="12450" r="7629" b="7795"/>
          <a:stretch/>
        </p:blipFill>
        <p:spPr>
          <a:xfrm>
            <a:off x="1868114" y="4090171"/>
            <a:ext cx="489245" cy="495274"/>
          </a:xfrm>
          <a:prstGeom prst="rect">
            <a:avLst/>
          </a:prstGeom>
        </p:spPr>
      </p:pic>
      <p:pic>
        <p:nvPicPr>
          <p:cNvPr id="3" name="Graphic 2" descr="Palette">
            <a:extLst>
              <a:ext uri="{FF2B5EF4-FFF2-40B4-BE49-F238E27FC236}">
                <a16:creationId xmlns:a16="http://schemas.microsoft.com/office/drawing/2014/main" id="{7FD912DD-027F-9D49-BE5E-08511426859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81156" y="1403352"/>
            <a:ext cx="914400" cy="914400"/>
          </a:xfrm>
          <a:prstGeom prst="rect">
            <a:avLst/>
          </a:prstGeom>
        </p:spPr>
      </p:pic>
      <p:pic>
        <p:nvPicPr>
          <p:cNvPr id="51" name="Graphic 50" descr="Palette">
            <a:extLst>
              <a:ext uri="{FF2B5EF4-FFF2-40B4-BE49-F238E27FC236}">
                <a16:creationId xmlns:a16="http://schemas.microsoft.com/office/drawing/2014/main" id="{5ED763AE-CFCC-2145-B2CD-62A828EF5E4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15886" y="1386714"/>
            <a:ext cx="914400" cy="914400"/>
          </a:xfrm>
          <a:prstGeom prst="rect">
            <a:avLst/>
          </a:prstGeom>
        </p:spPr>
      </p:pic>
      <p:pic>
        <p:nvPicPr>
          <p:cNvPr id="52" name="Graphic 51" descr="Palette">
            <a:extLst>
              <a:ext uri="{FF2B5EF4-FFF2-40B4-BE49-F238E27FC236}">
                <a16:creationId xmlns:a16="http://schemas.microsoft.com/office/drawing/2014/main" id="{EF02EB58-98E1-FF4E-A8A2-D37B4BBD281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17485" y="3924129"/>
            <a:ext cx="778758" cy="778758"/>
          </a:xfrm>
          <a:prstGeom prst="rect">
            <a:avLst/>
          </a:prstGeom>
        </p:spPr>
      </p:pic>
      <p:pic>
        <p:nvPicPr>
          <p:cNvPr id="54" name="Graphic 53" descr="Palette">
            <a:extLst>
              <a:ext uri="{FF2B5EF4-FFF2-40B4-BE49-F238E27FC236}">
                <a16:creationId xmlns:a16="http://schemas.microsoft.com/office/drawing/2014/main" id="{886FA6C5-518E-8F44-B2FE-00FA7C7E6A1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97600" y="3906737"/>
            <a:ext cx="778758" cy="778758"/>
          </a:xfrm>
          <a:prstGeom prst="rect">
            <a:avLst/>
          </a:prstGeom>
        </p:spPr>
      </p:pic>
    </p:spTree>
    <p:extLst>
      <p:ext uri="{BB962C8B-B14F-4D97-AF65-F5344CB8AC3E}">
        <p14:creationId xmlns:p14="http://schemas.microsoft.com/office/powerpoint/2010/main" val="465927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Deployment Process – With CMC</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5" name="Rounded Rectangle 4">
            <a:extLst>
              <a:ext uri="{FF2B5EF4-FFF2-40B4-BE49-F238E27FC236}">
                <a16:creationId xmlns:a16="http://schemas.microsoft.com/office/drawing/2014/main" id="{E6C21CB3-9707-3748-8F5C-11C6774074FF}"/>
              </a:ext>
            </a:extLst>
          </p:cNvPr>
          <p:cNvSpPr/>
          <p:nvPr/>
        </p:nvSpPr>
        <p:spPr>
          <a:xfrm>
            <a:off x="529151" y="3201000"/>
            <a:ext cx="1575686" cy="1084788"/>
          </a:xfrm>
          <a:prstGeom prst="roundRect">
            <a:avLst/>
          </a:prstGeom>
          <a:noFill/>
          <a:ln w="28575"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8" name="TextBox 7">
            <a:extLst>
              <a:ext uri="{FF2B5EF4-FFF2-40B4-BE49-F238E27FC236}">
                <a16:creationId xmlns:a16="http://schemas.microsoft.com/office/drawing/2014/main" id="{73D4E751-AE3F-DE4D-A31E-7598F7D41F24}"/>
              </a:ext>
            </a:extLst>
          </p:cNvPr>
          <p:cNvSpPr txBox="1"/>
          <p:nvPr/>
        </p:nvSpPr>
        <p:spPr>
          <a:xfrm>
            <a:off x="532766" y="3413291"/>
            <a:ext cx="1514125" cy="900246"/>
          </a:xfrm>
          <a:prstGeom prst="rect">
            <a:avLst/>
          </a:prstGeom>
          <a:noFill/>
        </p:spPr>
        <p:txBody>
          <a:bodyPr wrap="square" rtlCol="0">
            <a:spAutoFit/>
          </a:bodyPr>
          <a:lstStyle>
            <a:defPPr>
              <a:defRPr lang="en-US"/>
            </a:defPPr>
            <a:lvl1pPr algn="ctr">
              <a:defRPr sz="1050" b="1">
                <a:latin typeface="Gill Sans SemiBold" charset="0"/>
                <a:ea typeface="Gill Sans SemiBold" charset="0"/>
                <a:cs typeface="Gill Sans SemiBold" charset="0"/>
              </a:defRPr>
            </a:lvl1pPr>
          </a:lstStyle>
          <a:p>
            <a:r>
              <a:rPr lang="en-GB" dirty="0"/>
              <a:t>Supply audience names &amp; Sizmek keywords to Engine DCO, via working document</a:t>
            </a:r>
          </a:p>
        </p:txBody>
      </p:sp>
      <p:sp>
        <p:nvSpPr>
          <p:cNvPr id="9" name="Rounded Rectangle 8">
            <a:extLst>
              <a:ext uri="{FF2B5EF4-FFF2-40B4-BE49-F238E27FC236}">
                <a16:creationId xmlns:a16="http://schemas.microsoft.com/office/drawing/2014/main" id="{29F27BB3-D28B-E449-8E43-72A01AD6E7D0}"/>
              </a:ext>
            </a:extLst>
          </p:cNvPr>
          <p:cNvSpPr/>
          <p:nvPr/>
        </p:nvSpPr>
        <p:spPr>
          <a:xfrm>
            <a:off x="2754298" y="3217542"/>
            <a:ext cx="1575686" cy="1084788"/>
          </a:xfrm>
          <a:prstGeom prst="roundRect">
            <a:avLst/>
          </a:prstGeom>
          <a:noFill/>
          <a:ln w="28575"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10" name="TextBox 9">
            <a:extLst>
              <a:ext uri="{FF2B5EF4-FFF2-40B4-BE49-F238E27FC236}">
                <a16:creationId xmlns:a16="http://schemas.microsoft.com/office/drawing/2014/main" id="{2CED47BC-DA05-2E40-B883-1FAC30D330C7}"/>
              </a:ext>
            </a:extLst>
          </p:cNvPr>
          <p:cNvSpPr txBox="1"/>
          <p:nvPr/>
        </p:nvSpPr>
        <p:spPr>
          <a:xfrm>
            <a:off x="2799979" y="3470564"/>
            <a:ext cx="1442167" cy="577081"/>
          </a:xfrm>
          <a:prstGeom prst="rect">
            <a:avLst/>
          </a:prstGeom>
          <a:noFill/>
        </p:spPr>
        <p:txBody>
          <a:bodyPr wrap="square" rtlCol="0">
            <a:spAutoFit/>
          </a:bodyPr>
          <a:lstStyle>
            <a:defPPr>
              <a:defRPr lang="en-US"/>
            </a:defPPr>
            <a:lvl1pPr algn="ctr">
              <a:defRPr sz="1050" b="1">
                <a:latin typeface="Gill Sans SemiBold" charset="0"/>
                <a:ea typeface="Gill Sans SemiBold" charset="0"/>
                <a:cs typeface="Gill Sans SemiBold" charset="0"/>
              </a:defRPr>
            </a:lvl1pPr>
          </a:lstStyle>
          <a:p>
            <a:r>
              <a:rPr lang="en-GB" dirty="0"/>
              <a:t>Load audiences into Orca and notify PHD &amp; Creative Agency</a:t>
            </a:r>
          </a:p>
        </p:txBody>
      </p:sp>
      <p:sp>
        <p:nvSpPr>
          <p:cNvPr id="11" name="Rounded Rectangle 10">
            <a:extLst>
              <a:ext uri="{FF2B5EF4-FFF2-40B4-BE49-F238E27FC236}">
                <a16:creationId xmlns:a16="http://schemas.microsoft.com/office/drawing/2014/main" id="{82C184AE-E65F-A045-9C1A-7AC21BE6DB7E}"/>
              </a:ext>
            </a:extLst>
          </p:cNvPr>
          <p:cNvSpPr/>
          <p:nvPr/>
        </p:nvSpPr>
        <p:spPr>
          <a:xfrm>
            <a:off x="4937288" y="3215992"/>
            <a:ext cx="1575686" cy="1084788"/>
          </a:xfrm>
          <a:prstGeom prst="roundRect">
            <a:avLst/>
          </a:prstGeom>
          <a:noFill/>
          <a:ln w="28575" cmpd="sng">
            <a:solidFill>
              <a:schemeClr val="bg1">
                <a:lumMod val="7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cxnSp>
        <p:nvCxnSpPr>
          <p:cNvPr id="12" name="Straight Arrow Connector 11">
            <a:extLst>
              <a:ext uri="{FF2B5EF4-FFF2-40B4-BE49-F238E27FC236}">
                <a16:creationId xmlns:a16="http://schemas.microsoft.com/office/drawing/2014/main" id="{F6F87ADD-04AD-F149-B326-A520E929FDD1}"/>
              </a:ext>
            </a:extLst>
          </p:cNvPr>
          <p:cNvCxnSpPr>
            <a:cxnSpLocks/>
          </p:cNvCxnSpPr>
          <p:nvPr/>
        </p:nvCxnSpPr>
        <p:spPr>
          <a:xfrm>
            <a:off x="2241827" y="2813070"/>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DBF54A6-84BD-2C4B-B620-18A1861D4D81}"/>
              </a:ext>
            </a:extLst>
          </p:cNvPr>
          <p:cNvCxnSpPr>
            <a:cxnSpLocks/>
          </p:cNvCxnSpPr>
          <p:nvPr/>
        </p:nvCxnSpPr>
        <p:spPr>
          <a:xfrm>
            <a:off x="4412238" y="2797037"/>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53C88E3-E484-BE41-AF6C-1289E804DB59}"/>
              </a:ext>
            </a:extLst>
          </p:cNvPr>
          <p:cNvCxnSpPr>
            <a:cxnSpLocks/>
          </p:cNvCxnSpPr>
          <p:nvPr/>
        </p:nvCxnSpPr>
        <p:spPr>
          <a:xfrm>
            <a:off x="6851804" y="2782226"/>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F814E623-AC48-DE49-9585-518794C399D6}"/>
              </a:ext>
            </a:extLst>
          </p:cNvPr>
          <p:cNvSpPr/>
          <p:nvPr/>
        </p:nvSpPr>
        <p:spPr>
          <a:xfrm>
            <a:off x="7677207" y="3204323"/>
            <a:ext cx="1575686" cy="1081465"/>
          </a:xfrm>
          <a:prstGeom prst="roundRect">
            <a:avLst/>
          </a:prstGeom>
          <a:noFill/>
          <a:ln w="28575" cmpd="sng">
            <a:solidFill>
              <a:schemeClr val="accent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algn="ctr">
              <a:lnSpc>
                <a:spcPct val="130000"/>
              </a:lnSpc>
            </a:pPr>
            <a:endParaRPr lang="en-US" sz="600" dirty="0">
              <a:solidFill>
                <a:prstClr val="white"/>
              </a:solidFill>
            </a:endParaRPr>
          </a:p>
        </p:txBody>
      </p:sp>
      <p:sp>
        <p:nvSpPr>
          <p:cNvPr id="17" name="TextBox 16">
            <a:extLst>
              <a:ext uri="{FF2B5EF4-FFF2-40B4-BE49-F238E27FC236}">
                <a16:creationId xmlns:a16="http://schemas.microsoft.com/office/drawing/2014/main" id="{E503240B-72B8-F248-AF3A-E04B82E2F71C}"/>
              </a:ext>
            </a:extLst>
          </p:cNvPr>
          <p:cNvSpPr txBox="1"/>
          <p:nvPr/>
        </p:nvSpPr>
        <p:spPr>
          <a:xfrm>
            <a:off x="7741631" y="3389054"/>
            <a:ext cx="1455101" cy="900246"/>
          </a:xfrm>
          <a:prstGeom prst="rect">
            <a:avLst/>
          </a:prstGeom>
          <a:noFill/>
        </p:spPr>
        <p:txBody>
          <a:bodyPr wrap="square" rtlCol="0">
            <a:spAutoFit/>
          </a:bodyPr>
          <a:lstStyle/>
          <a:p>
            <a:pPr algn="ctr"/>
            <a:r>
              <a:rPr lang="en-GB" sz="1050" b="1" dirty="0">
                <a:latin typeface="Gill Sans SemiBold" charset="0"/>
                <a:cs typeface="Gill Sans SemiBold" charset="0"/>
              </a:rPr>
              <a:t>The client provides the offer copy for Creative Agency to schedule using the CMC</a:t>
            </a:r>
          </a:p>
        </p:txBody>
      </p:sp>
      <p:cxnSp>
        <p:nvCxnSpPr>
          <p:cNvPr id="18" name="Straight Arrow Connector 17">
            <a:extLst>
              <a:ext uri="{FF2B5EF4-FFF2-40B4-BE49-F238E27FC236}">
                <a16:creationId xmlns:a16="http://schemas.microsoft.com/office/drawing/2014/main" id="{05A23584-339A-F14B-BBE9-6BFE8202D7F7}"/>
              </a:ext>
            </a:extLst>
          </p:cNvPr>
          <p:cNvCxnSpPr>
            <a:cxnSpLocks/>
          </p:cNvCxnSpPr>
          <p:nvPr/>
        </p:nvCxnSpPr>
        <p:spPr>
          <a:xfrm>
            <a:off x="9434200" y="2770452"/>
            <a:ext cx="399542" cy="0"/>
          </a:xfrm>
          <a:prstGeom prst="straightConnector1">
            <a:avLst/>
          </a:prstGeom>
          <a:ln w="69850" cmpd="sng">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25979EB-072A-7749-8637-B941D2FB4726}"/>
              </a:ext>
            </a:extLst>
          </p:cNvPr>
          <p:cNvSpPr txBox="1"/>
          <p:nvPr/>
        </p:nvSpPr>
        <p:spPr>
          <a:xfrm>
            <a:off x="10326943" y="2053696"/>
            <a:ext cx="1306286" cy="1569660"/>
          </a:xfrm>
          <a:prstGeom prst="rect">
            <a:avLst/>
          </a:prstGeom>
          <a:noFill/>
        </p:spPr>
        <p:txBody>
          <a:bodyPr wrap="square" rtlCol="0">
            <a:spAutoFit/>
          </a:bodyPr>
          <a:lstStyle/>
          <a:p>
            <a:r>
              <a:rPr lang="en-US" sz="1200" b="1" dirty="0">
                <a:latin typeface="Gill Sans MT" panose="020B0502020104020203" pitchFamily="34" charset="77"/>
              </a:rPr>
              <a:t>As the variant is already live, there is no need to redeploy or set live – it all happens in real time </a:t>
            </a:r>
          </a:p>
        </p:txBody>
      </p:sp>
      <p:sp>
        <p:nvSpPr>
          <p:cNvPr id="20" name="TextBox 19">
            <a:extLst>
              <a:ext uri="{FF2B5EF4-FFF2-40B4-BE49-F238E27FC236}">
                <a16:creationId xmlns:a16="http://schemas.microsoft.com/office/drawing/2014/main" id="{337D9EBE-4CF9-EA47-B83B-852A76054C1B}"/>
              </a:ext>
            </a:extLst>
          </p:cNvPr>
          <p:cNvSpPr txBox="1"/>
          <p:nvPr/>
        </p:nvSpPr>
        <p:spPr>
          <a:xfrm>
            <a:off x="7287904" y="5249281"/>
            <a:ext cx="4726948" cy="523220"/>
          </a:xfrm>
          <a:prstGeom prst="rect">
            <a:avLst/>
          </a:prstGeom>
          <a:noFill/>
          <a:ln>
            <a:solidFill>
              <a:schemeClr val="accent1"/>
            </a:solidFill>
          </a:ln>
        </p:spPr>
        <p:txBody>
          <a:bodyPr wrap="square" rtlCol="0">
            <a:spAutoFit/>
          </a:bodyPr>
          <a:lstStyle/>
          <a:p>
            <a:r>
              <a:rPr lang="en-US" sz="2800" dirty="0">
                <a:latin typeface="Gill Sans MT" panose="020B0502020104020203" pitchFamily="34" charset="77"/>
              </a:rPr>
              <a:t>OFFER / CREATIVE UPDATED</a:t>
            </a:r>
          </a:p>
        </p:txBody>
      </p:sp>
      <p:sp>
        <p:nvSpPr>
          <p:cNvPr id="21" name="Down Arrow 20">
            <a:extLst>
              <a:ext uri="{FF2B5EF4-FFF2-40B4-BE49-F238E27FC236}">
                <a16:creationId xmlns:a16="http://schemas.microsoft.com/office/drawing/2014/main" id="{FF4DDB91-AD20-3D4C-8BC0-93017CC4B65A}"/>
              </a:ext>
            </a:extLst>
          </p:cNvPr>
          <p:cNvSpPr/>
          <p:nvPr/>
        </p:nvSpPr>
        <p:spPr>
          <a:xfrm>
            <a:off x="10534098" y="3661695"/>
            <a:ext cx="787843" cy="1393372"/>
          </a:xfrm>
          <a:prstGeom prst="downArrow">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C000"/>
              </a:solidFill>
            </a:endParaRPr>
          </a:p>
        </p:txBody>
      </p:sp>
      <p:pic>
        <p:nvPicPr>
          <p:cNvPr id="22" name="Picture 21">
            <a:extLst>
              <a:ext uri="{FF2B5EF4-FFF2-40B4-BE49-F238E27FC236}">
                <a16:creationId xmlns:a16="http://schemas.microsoft.com/office/drawing/2014/main" id="{4489EBD9-D448-4E4A-8E82-26C1975574A7}"/>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p:blipFill>
        <p:spPr>
          <a:xfrm>
            <a:off x="914705" y="2528670"/>
            <a:ext cx="804577" cy="568800"/>
          </a:xfrm>
          <a:prstGeom prst="rect">
            <a:avLst/>
          </a:prstGeom>
        </p:spPr>
      </p:pic>
      <p:sp>
        <p:nvSpPr>
          <p:cNvPr id="23" name="TextBox 22">
            <a:extLst>
              <a:ext uri="{FF2B5EF4-FFF2-40B4-BE49-F238E27FC236}">
                <a16:creationId xmlns:a16="http://schemas.microsoft.com/office/drawing/2014/main" id="{E286DB6E-A10A-454F-9666-8B7C14926568}"/>
              </a:ext>
            </a:extLst>
          </p:cNvPr>
          <p:cNvSpPr txBox="1"/>
          <p:nvPr/>
        </p:nvSpPr>
        <p:spPr>
          <a:xfrm>
            <a:off x="4968068" y="3429000"/>
            <a:ext cx="1514125" cy="738664"/>
          </a:xfrm>
          <a:prstGeom prst="rect">
            <a:avLst/>
          </a:prstGeom>
          <a:noFill/>
        </p:spPr>
        <p:txBody>
          <a:bodyPr wrap="square" rtlCol="0">
            <a:spAutoFit/>
          </a:bodyPr>
          <a:lstStyle/>
          <a:p>
            <a:pPr algn="ctr"/>
            <a:r>
              <a:rPr lang="en-GB" sz="1050" b="1" dirty="0">
                <a:latin typeface="Gill Sans SemiBold" charset="0"/>
                <a:cs typeface="Gill Sans SemiBold" charset="0"/>
              </a:rPr>
              <a:t>Creative Agency to build variants for the relevant audience names</a:t>
            </a:r>
          </a:p>
        </p:txBody>
      </p:sp>
      <p:pic>
        <p:nvPicPr>
          <p:cNvPr id="28" name="Picture 27" descr="A close up of a sign&#10;&#10;Description automatically generated">
            <a:extLst>
              <a:ext uri="{FF2B5EF4-FFF2-40B4-BE49-F238E27FC236}">
                <a16:creationId xmlns:a16="http://schemas.microsoft.com/office/drawing/2014/main" id="{F083211A-9DD1-B541-93FC-0D36A9911EA6}"/>
              </a:ext>
            </a:extLst>
          </p:cNvPr>
          <p:cNvPicPr>
            <a:picLocks noChangeAspect="1"/>
          </p:cNvPicPr>
          <p:nvPr/>
        </p:nvPicPr>
        <p:blipFill>
          <a:blip r:embed="rId5"/>
          <a:stretch>
            <a:fillRect/>
          </a:stretch>
        </p:blipFill>
        <p:spPr>
          <a:xfrm>
            <a:off x="2949521" y="2718344"/>
            <a:ext cx="1251553" cy="240364"/>
          </a:xfrm>
          <a:prstGeom prst="rect">
            <a:avLst/>
          </a:prstGeom>
        </p:spPr>
      </p:pic>
      <p:pic>
        <p:nvPicPr>
          <p:cNvPr id="24" name="Graphic 23" descr="Palette">
            <a:extLst>
              <a:ext uri="{FF2B5EF4-FFF2-40B4-BE49-F238E27FC236}">
                <a16:creationId xmlns:a16="http://schemas.microsoft.com/office/drawing/2014/main" id="{18E34F74-D3E4-A641-A0A9-F7D7DA7257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5019" y="2339837"/>
            <a:ext cx="914400" cy="914400"/>
          </a:xfrm>
          <a:prstGeom prst="rect">
            <a:avLst/>
          </a:prstGeom>
        </p:spPr>
      </p:pic>
      <p:pic>
        <p:nvPicPr>
          <p:cNvPr id="25" name="Graphic 24" descr="Palette">
            <a:extLst>
              <a:ext uri="{FF2B5EF4-FFF2-40B4-BE49-F238E27FC236}">
                <a16:creationId xmlns:a16="http://schemas.microsoft.com/office/drawing/2014/main" id="{87231664-A82C-C14C-B0EF-B480BE74268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31630" y="2404241"/>
            <a:ext cx="755969" cy="755969"/>
          </a:xfrm>
          <a:prstGeom prst="rect">
            <a:avLst/>
          </a:prstGeom>
        </p:spPr>
      </p:pic>
      <p:pic>
        <p:nvPicPr>
          <p:cNvPr id="29" name="Picture 28" descr="A close up of a sign&#10;&#10;Description automatically generated">
            <a:extLst>
              <a:ext uri="{FF2B5EF4-FFF2-40B4-BE49-F238E27FC236}">
                <a16:creationId xmlns:a16="http://schemas.microsoft.com/office/drawing/2014/main" id="{EA43BFBC-ED11-0841-ADB6-068F9206C109}"/>
              </a:ext>
            </a:extLst>
          </p:cNvPr>
          <p:cNvPicPr>
            <a:picLocks noChangeAspect="1"/>
          </p:cNvPicPr>
          <p:nvPr/>
        </p:nvPicPr>
        <p:blipFill rotWithShape="1">
          <a:blip r:embed="rId8"/>
          <a:srcRect l="13588" t="12450" r="7629" b="7795"/>
          <a:stretch/>
        </p:blipFill>
        <p:spPr>
          <a:xfrm>
            <a:off x="7872473" y="2523244"/>
            <a:ext cx="539527" cy="546176"/>
          </a:xfrm>
          <a:prstGeom prst="rect">
            <a:avLst/>
          </a:prstGeom>
        </p:spPr>
      </p:pic>
    </p:spTree>
    <p:extLst>
      <p:ext uri="{BB962C8B-B14F-4D97-AF65-F5344CB8AC3E}">
        <p14:creationId xmlns:p14="http://schemas.microsoft.com/office/powerpoint/2010/main" val="3553587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Key Definitions &amp; Usage Instructions</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graphicFrame>
        <p:nvGraphicFramePr>
          <p:cNvPr id="8" name="Table 7">
            <a:extLst>
              <a:ext uri="{FF2B5EF4-FFF2-40B4-BE49-F238E27FC236}">
                <a16:creationId xmlns:a16="http://schemas.microsoft.com/office/drawing/2014/main" id="{03FE0C75-D3ED-F548-B8BE-FAE3A1F59076}"/>
              </a:ext>
            </a:extLst>
          </p:cNvPr>
          <p:cNvGraphicFramePr>
            <a:graphicFrameLocks noGrp="1"/>
          </p:cNvGraphicFramePr>
          <p:nvPr>
            <p:extLst>
              <p:ext uri="{D42A27DB-BD31-4B8C-83A1-F6EECF244321}">
                <p14:modId xmlns:p14="http://schemas.microsoft.com/office/powerpoint/2010/main" val="359755483"/>
              </p:ext>
            </p:extLst>
          </p:nvPr>
        </p:nvGraphicFramePr>
        <p:xfrm>
          <a:off x="673240" y="1131649"/>
          <a:ext cx="11134415" cy="4938682"/>
        </p:xfrm>
        <a:graphic>
          <a:graphicData uri="http://schemas.openxmlformats.org/drawingml/2006/table">
            <a:tbl>
              <a:tblPr firstRow="1" bandRow="1">
                <a:tableStyleId>{5C22544A-7EE6-4342-B048-85BDC9FD1C3A}</a:tableStyleId>
              </a:tblPr>
              <a:tblGrid>
                <a:gridCol w="3549856">
                  <a:extLst>
                    <a:ext uri="{9D8B030D-6E8A-4147-A177-3AD203B41FA5}">
                      <a16:colId xmlns:a16="http://schemas.microsoft.com/office/drawing/2014/main" val="1607545078"/>
                    </a:ext>
                  </a:extLst>
                </a:gridCol>
                <a:gridCol w="7584559">
                  <a:extLst>
                    <a:ext uri="{9D8B030D-6E8A-4147-A177-3AD203B41FA5}">
                      <a16:colId xmlns:a16="http://schemas.microsoft.com/office/drawing/2014/main" val="233380018"/>
                    </a:ext>
                  </a:extLst>
                </a:gridCol>
              </a:tblGrid>
              <a:tr h="564034">
                <a:tc>
                  <a:txBody>
                    <a:bodyPr/>
                    <a:lstStyle/>
                    <a:p>
                      <a:pPr algn="ctr"/>
                      <a:r>
                        <a:rPr lang="en-US" sz="2000" dirty="0">
                          <a:latin typeface="Gill Sans MT" panose="020B0502020104020203" pitchFamily="34" charset="77"/>
                        </a:rPr>
                        <a:t>Key Terms</a:t>
                      </a:r>
                    </a:p>
                  </a:txBody>
                  <a:tcPr/>
                </a:tc>
                <a:tc>
                  <a:txBody>
                    <a:bodyPr/>
                    <a:lstStyle/>
                    <a:p>
                      <a:pPr algn="ctr"/>
                      <a:r>
                        <a:rPr lang="en-US" sz="2000" dirty="0">
                          <a:latin typeface="Gill Sans MT" panose="020B0502020104020203" pitchFamily="34" charset="77"/>
                        </a:rPr>
                        <a:t>Description</a:t>
                      </a:r>
                    </a:p>
                  </a:txBody>
                  <a:tcPr/>
                </a:tc>
                <a:extLst>
                  <a:ext uri="{0D108BD9-81ED-4DB2-BD59-A6C34878D82A}">
                    <a16:rowId xmlns:a16="http://schemas.microsoft.com/office/drawing/2014/main" val="3244889476"/>
                  </a:ext>
                </a:extLst>
              </a:tr>
              <a:tr h="639238">
                <a:tc>
                  <a:txBody>
                    <a:bodyPr/>
                    <a:lstStyle/>
                    <a:p>
                      <a:pPr algn="ctr"/>
                      <a:r>
                        <a:rPr lang="en-US" sz="1400" dirty="0">
                          <a:latin typeface="Gill Sans MT" panose="020B0502020104020203" pitchFamily="34" charset="77"/>
                        </a:rPr>
                        <a:t>Content Management Catalogue (CMC)</a:t>
                      </a:r>
                    </a:p>
                  </a:txBody>
                  <a:tcPr anchor="ctr"/>
                </a:tc>
                <a:tc>
                  <a:txBody>
                    <a:bodyPr/>
                    <a:lstStyle/>
                    <a:p>
                      <a:pPr algn="ctr"/>
                      <a:r>
                        <a:rPr lang="en-US" sz="1400" dirty="0" err="1">
                          <a:latin typeface="Gill Sans MT" panose="020B0502020104020203" pitchFamily="34" charset="77"/>
                        </a:rPr>
                        <a:t>Adylic’s</a:t>
                      </a:r>
                      <a:r>
                        <a:rPr lang="en-US" sz="1400" dirty="0">
                          <a:latin typeface="Gill Sans MT" panose="020B0502020104020203" pitchFamily="34" charset="77"/>
                        </a:rPr>
                        <a:t> pre-built API functionality. Useful for copy uploads within multiple creative variants. </a:t>
                      </a:r>
                      <a:r>
                        <a:rPr lang="en-US" sz="1400" dirty="0" err="1">
                          <a:latin typeface="Gill Sans MT" panose="020B0502020104020203" pitchFamily="34" charset="77"/>
                        </a:rPr>
                        <a:t>Eg.</a:t>
                      </a:r>
                      <a:r>
                        <a:rPr lang="en-US" sz="1400" dirty="0">
                          <a:latin typeface="Gill Sans MT" panose="020B0502020104020203" pitchFamily="34" charset="77"/>
                        </a:rPr>
                        <a:t> Monthly offers</a:t>
                      </a:r>
                    </a:p>
                  </a:txBody>
                  <a:tcPr anchor="ctr"/>
                </a:tc>
                <a:extLst>
                  <a:ext uri="{0D108BD9-81ED-4DB2-BD59-A6C34878D82A}">
                    <a16:rowId xmlns:a16="http://schemas.microsoft.com/office/drawing/2014/main" val="2403730735"/>
                  </a:ext>
                </a:extLst>
              </a:tr>
              <a:tr h="639238">
                <a:tc>
                  <a:txBody>
                    <a:bodyPr/>
                    <a:lstStyle/>
                    <a:p>
                      <a:pPr algn="ctr"/>
                      <a:r>
                        <a:rPr lang="en-US" sz="1400" dirty="0">
                          <a:latin typeface="Gill Sans MT" panose="020B0502020104020203" pitchFamily="34" charset="77"/>
                        </a:rPr>
                        <a:t>Content Group</a:t>
                      </a:r>
                    </a:p>
                  </a:txBody>
                  <a:tcPr anchor="ctr"/>
                </a:tc>
                <a:tc>
                  <a:txBody>
                    <a:bodyPr/>
                    <a:lstStyle/>
                    <a:p>
                      <a:pPr algn="ctr"/>
                      <a:r>
                        <a:rPr lang="en-US" sz="1400" dirty="0">
                          <a:latin typeface="Gill Sans MT" panose="020B0502020104020203" pitchFamily="34" charset="77"/>
                        </a:rPr>
                        <a:t>Grouping for Dynamic Content, recommended by model but could be also used for events or other relevant grouping</a:t>
                      </a:r>
                    </a:p>
                  </a:txBody>
                  <a:tcPr anchor="ctr"/>
                </a:tc>
                <a:extLst>
                  <a:ext uri="{0D108BD9-81ED-4DB2-BD59-A6C34878D82A}">
                    <a16:rowId xmlns:a16="http://schemas.microsoft.com/office/drawing/2014/main" val="259418304"/>
                  </a:ext>
                </a:extLst>
              </a:tr>
              <a:tr h="902454">
                <a:tc>
                  <a:txBody>
                    <a:bodyPr/>
                    <a:lstStyle/>
                    <a:p>
                      <a:pPr algn="ctr"/>
                      <a:r>
                        <a:rPr lang="en-US" sz="1400" dirty="0">
                          <a:latin typeface="Gill Sans MT" panose="020B0502020104020203" pitchFamily="34" charset="77"/>
                        </a:rPr>
                        <a:t>Dynamic Content</a:t>
                      </a:r>
                    </a:p>
                  </a:txBody>
                  <a:tcPr anchor="ctr"/>
                </a:tc>
                <a:tc>
                  <a:txBody>
                    <a:bodyPr/>
                    <a:lstStyle/>
                    <a:p>
                      <a:pPr algn="ctr"/>
                      <a:r>
                        <a:rPr lang="en-US" sz="1400" dirty="0">
                          <a:latin typeface="Gill Sans MT" panose="020B0502020104020203" pitchFamily="34" charset="77"/>
                        </a:rPr>
                        <a:t>Overarching grouping for each editable section e.g. Model, Copy. Ensure you are using the same dynamic content section for all offers to avoid needing to update the API Key this within the Orca variant</a:t>
                      </a:r>
                    </a:p>
                  </a:txBody>
                  <a:tcPr anchor="ctr"/>
                </a:tc>
                <a:extLst>
                  <a:ext uri="{0D108BD9-81ED-4DB2-BD59-A6C34878D82A}">
                    <a16:rowId xmlns:a16="http://schemas.microsoft.com/office/drawing/2014/main" val="694144406"/>
                  </a:ext>
                </a:extLst>
              </a:tr>
              <a:tr h="639238">
                <a:tc>
                  <a:txBody>
                    <a:bodyPr/>
                    <a:lstStyle/>
                    <a:p>
                      <a:pPr algn="ctr"/>
                      <a:r>
                        <a:rPr lang="en-US" sz="1400" dirty="0">
                          <a:latin typeface="Gill Sans MT" panose="020B0502020104020203" pitchFamily="34" charset="77"/>
                        </a:rPr>
                        <a:t>API Key</a:t>
                      </a:r>
                    </a:p>
                  </a:txBody>
                  <a:tcPr anchor="ctr"/>
                </a:tc>
                <a:tc>
                  <a:txBody>
                    <a:bodyPr/>
                    <a:lstStyle/>
                    <a:p>
                      <a:pPr algn="ctr"/>
                      <a:r>
                        <a:rPr lang="en-US" sz="1400" dirty="0">
                          <a:latin typeface="Gill Sans MT" panose="020B0502020104020203" pitchFamily="34" charset="77"/>
                        </a:rPr>
                        <a:t>An automatically generated code which is attached to a dynamic content group. The key will need to be added to the related section within the ORCA template to connect the value/dynamic content</a:t>
                      </a:r>
                    </a:p>
                  </a:txBody>
                  <a:tcPr anchor="ctr"/>
                </a:tc>
                <a:extLst>
                  <a:ext uri="{0D108BD9-81ED-4DB2-BD59-A6C34878D82A}">
                    <a16:rowId xmlns:a16="http://schemas.microsoft.com/office/drawing/2014/main" val="1992010434"/>
                  </a:ext>
                </a:extLst>
              </a:tr>
              <a:tr h="457494">
                <a:tc>
                  <a:txBody>
                    <a:bodyPr/>
                    <a:lstStyle/>
                    <a:p>
                      <a:pPr algn="ctr"/>
                      <a:r>
                        <a:rPr lang="en-US" sz="1400" dirty="0">
                          <a:latin typeface="Gill Sans MT" panose="020B0502020104020203" pitchFamily="34" charset="77"/>
                        </a:rPr>
                        <a:t>Default Value</a:t>
                      </a:r>
                    </a:p>
                  </a:txBody>
                  <a:tcPr anchor="ctr"/>
                </a:tc>
                <a:tc>
                  <a:txBody>
                    <a:bodyPr/>
                    <a:lstStyle/>
                    <a:p>
                      <a:pPr algn="ctr"/>
                      <a:r>
                        <a:rPr lang="en-US" sz="1400" dirty="0">
                          <a:latin typeface="Gill Sans MT" panose="020B0502020104020203" pitchFamily="34" charset="77"/>
                        </a:rPr>
                        <a:t>The content which will be displayed within the variant, unless time specific content is added. Once the time specific content has expired, this content will preview.</a:t>
                      </a:r>
                    </a:p>
                  </a:txBody>
                  <a:tcPr anchor="ctr"/>
                </a:tc>
                <a:extLst>
                  <a:ext uri="{0D108BD9-81ED-4DB2-BD59-A6C34878D82A}">
                    <a16:rowId xmlns:a16="http://schemas.microsoft.com/office/drawing/2014/main" val="715942235"/>
                  </a:ext>
                </a:extLst>
              </a:tr>
              <a:tr h="457494">
                <a:tc>
                  <a:txBody>
                    <a:bodyPr/>
                    <a:lstStyle/>
                    <a:p>
                      <a:pPr algn="ctr"/>
                      <a:r>
                        <a:rPr lang="en-US" sz="1400" dirty="0">
                          <a:latin typeface="Gill Sans MT" panose="020B0502020104020203" pitchFamily="34" charset="77"/>
                        </a:rPr>
                        <a:t>Versions</a:t>
                      </a:r>
                    </a:p>
                  </a:txBody>
                  <a:tcPr anchor="ctr"/>
                </a:tc>
                <a:tc>
                  <a:txBody>
                    <a:bodyPr/>
                    <a:lstStyle/>
                    <a:p>
                      <a:pPr algn="ctr"/>
                      <a:r>
                        <a:rPr lang="en-US" sz="1400" dirty="0">
                          <a:latin typeface="Gill Sans MT" panose="020B0502020104020203" pitchFamily="34" charset="77"/>
                        </a:rPr>
                        <a:t>The optional for automatically scheduled time specific values (copy, terms etc.) to be added to the creative. Once the time specific content has expired, the content will revert to the default value</a:t>
                      </a:r>
                    </a:p>
                  </a:txBody>
                  <a:tcPr anchor="ctr"/>
                </a:tc>
                <a:extLst>
                  <a:ext uri="{0D108BD9-81ED-4DB2-BD59-A6C34878D82A}">
                    <a16:rowId xmlns:a16="http://schemas.microsoft.com/office/drawing/2014/main" val="1445893692"/>
                  </a:ext>
                </a:extLst>
              </a:tr>
              <a:tr h="457494">
                <a:tc>
                  <a:txBody>
                    <a:bodyPr/>
                    <a:lstStyle/>
                    <a:p>
                      <a:pPr algn="ctr"/>
                      <a:r>
                        <a:rPr lang="en-US" sz="1400" dirty="0">
                          <a:latin typeface="Gill Sans MT" panose="020B0502020104020203" pitchFamily="34" charset="77"/>
                        </a:rPr>
                        <a:t>Value</a:t>
                      </a:r>
                    </a:p>
                  </a:txBody>
                  <a:tcPr anchor="ctr"/>
                </a:tc>
                <a:tc>
                  <a:txBody>
                    <a:bodyPr/>
                    <a:lstStyle/>
                    <a:p>
                      <a:pPr algn="ctr"/>
                      <a:r>
                        <a:rPr lang="en-US" sz="1400" dirty="0">
                          <a:latin typeface="Gill Sans MT" panose="020B0502020104020203" pitchFamily="34" charset="77"/>
                        </a:rPr>
                        <a:t>Similar to the default value but is the content which will only show during time and dates specified within the version section</a:t>
                      </a:r>
                    </a:p>
                  </a:txBody>
                  <a:tcPr anchor="ctr"/>
                </a:tc>
                <a:extLst>
                  <a:ext uri="{0D108BD9-81ED-4DB2-BD59-A6C34878D82A}">
                    <a16:rowId xmlns:a16="http://schemas.microsoft.com/office/drawing/2014/main" val="2250227958"/>
                  </a:ext>
                </a:extLst>
              </a:tr>
            </a:tbl>
          </a:graphicData>
        </a:graphic>
      </p:graphicFrame>
    </p:spTree>
    <p:extLst>
      <p:ext uri="{BB962C8B-B14F-4D97-AF65-F5344CB8AC3E}">
        <p14:creationId xmlns:p14="http://schemas.microsoft.com/office/powerpoint/2010/main" val="3840152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Using the CMC</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TextBox 3">
            <a:extLst>
              <a:ext uri="{FF2B5EF4-FFF2-40B4-BE49-F238E27FC236}">
                <a16:creationId xmlns:a16="http://schemas.microsoft.com/office/drawing/2014/main" id="{F8AD3350-BEDF-6E47-B990-5AC1887B526E}"/>
              </a:ext>
            </a:extLst>
          </p:cNvPr>
          <p:cNvSpPr txBox="1"/>
          <p:nvPr/>
        </p:nvSpPr>
        <p:spPr>
          <a:xfrm>
            <a:off x="917364" y="1418406"/>
            <a:ext cx="11042755" cy="707886"/>
          </a:xfrm>
          <a:prstGeom prst="rect">
            <a:avLst/>
          </a:prstGeom>
          <a:noFill/>
        </p:spPr>
        <p:txBody>
          <a:bodyPr wrap="square" rtlCol="0">
            <a:spAutoFit/>
          </a:bodyPr>
          <a:lstStyle/>
          <a:p>
            <a:r>
              <a:rPr lang="en-US" sz="2000" dirty="0">
                <a:latin typeface="Gill Sans MT" panose="020B0502020104020203" pitchFamily="34" charset="77"/>
              </a:rPr>
              <a:t>Once you’ve signed into the CMC </a:t>
            </a:r>
            <a:r>
              <a:rPr lang="en-US" sz="2000" dirty="0">
                <a:latin typeface="Gill Sans MT" panose="020B0502020104020203" pitchFamily="34" charset="77"/>
                <a:hlinkClick r:id="rId3"/>
              </a:rPr>
              <a:t>here</a:t>
            </a:r>
            <a:r>
              <a:rPr lang="en-US" sz="2000" dirty="0">
                <a:latin typeface="Gill Sans MT" panose="020B0502020104020203" pitchFamily="34" charset="77"/>
              </a:rPr>
              <a:t>, you’ll the be on the </a:t>
            </a:r>
            <a:r>
              <a:rPr lang="en-US" sz="2000" b="1" dirty="0">
                <a:latin typeface="Gill Sans MT" panose="020B0502020104020203" pitchFamily="34" charset="77"/>
              </a:rPr>
              <a:t>Market Profile </a:t>
            </a:r>
            <a:r>
              <a:rPr lang="en-US" sz="2000" dirty="0">
                <a:latin typeface="Gill Sans MT" panose="020B0502020104020203" pitchFamily="34" charset="77"/>
              </a:rPr>
              <a:t>page. Content for your market will be housed under the “</a:t>
            </a:r>
            <a:r>
              <a:rPr lang="en-US" sz="2000" dirty="0" err="1">
                <a:latin typeface="Gill Sans MT" panose="020B0502020104020203" pitchFamily="34" charset="77"/>
              </a:rPr>
              <a:t>vw</a:t>
            </a:r>
            <a:r>
              <a:rPr lang="en-US" sz="2000" dirty="0">
                <a:latin typeface="Gill Sans MT" panose="020B0502020104020203" pitchFamily="34" charset="77"/>
              </a:rPr>
              <a:t>-</a:t>
            </a:r>
            <a:r>
              <a:rPr lang="en-US" sz="2000" i="1" dirty="0">
                <a:latin typeface="Gill Sans MT" panose="020B0502020104020203" pitchFamily="34" charset="77"/>
              </a:rPr>
              <a:t>market</a:t>
            </a:r>
            <a:r>
              <a:rPr lang="en-US" sz="2000" dirty="0">
                <a:latin typeface="Gill Sans MT" panose="020B0502020104020203" pitchFamily="34" charset="77"/>
              </a:rPr>
              <a:t>” market.</a:t>
            </a:r>
          </a:p>
        </p:txBody>
      </p:sp>
      <p:sp>
        <p:nvSpPr>
          <p:cNvPr id="5" name="TextBox 4">
            <a:extLst>
              <a:ext uri="{FF2B5EF4-FFF2-40B4-BE49-F238E27FC236}">
                <a16:creationId xmlns:a16="http://schemas.microsoft.com/office/drawing/2014/main" id="{B727DD78-56E6-3B4B-969B-971473F3FD62}"/>
              </a:ext>
            </a:extLst>
          </p:cNvPr>
          <p:cNvSpPr txBox="1"/>
          <p:nvPr/>
        </p:nvSpPr>
        <p:spPr>
          <a:xfrm>
            <a:off x="2763491" y="5546146"/>
            <a:ext cx="7350500" cy="923330"/>
          </a:xfrm>
          <a:prstGeom prst="rect">
            <a:avLst/>
          </a:prstGeom>
          <a:noFill/>
        </p:spPr>
        <p:txBody>
          <a:bodyPr wrap="square" rtlCol="0">
            <a:spAutoFit/>
          </a:bodyPr>
          <a:lstStyle/>
          <a:p>
            <a:r>
              <a:rPr lang="en-US" b="1" dirty="0">
                <a:solidFill>
                  <a:srgbClr val="00B0F0"/>
                </a:solidFill>
                <a:latin typeface="Gill Sans Light" panose="020B0302020104020203" pitchFamily="34" charset="-79"/>
                <a:cs typeface="Gill Sans Light" panose="020B0302020104020203" pitchFamily="34" charset="-79"/>
              </a:rPr>
              <a:t>TIP!</a:t>
            </a:r>
            <a:r>
              <a:rPr lang="en-US" i="1" dirty="0">
                <a:solidFill>
                  <a:srgbClr val="00B0F0"/>
                </a:solidFill>
                <a:latin typeface="Gill Sans Light" panose="020B0302020104020203" pitchFamily="34" charset="-79"/>
                <a:cs typeface="Gill Sans Light" panose="020B0302020104020203" pitchFamily="34" charset="-79"/>
              </a:rPr>
              <a:t>  </a:t>
            </a:r>
            <a:r>
              <a:rPr lang="en-US" i="1" dirty="0">
                <a:latin typeface="Gill Sans Light" panose="020B0302020104020203" pitchFamily="34" charset="-79"/>
                <a:cs typeface="Gill Sans Light" panose="020B0302020104020203" pitchFamily="34" charset="-79"/>
              </a:rPr>
              <a:t>Clicking on the headers on the page (this page and subsequent pages) will order the columns contents accordingly. So clicking on </a:t>
            </a:r>
            <a:r>
              <a:rPr lang="en-US" b="1" i="1" dirty="0">
                <a:latin typeface="Gill Sans Light" panose="020B0302020104020203" pitchFamily="34" charset="-79"/>
                <a:cs typeface="Gill Sans Light" panose="020B0302020104020203" pitchFamily="34" charset="-79"/>
              </a:rPr>
              <a:t>ID </a:t>
            </a:r>
            <a:r>
              <a:rPr lang="en-US" i="1" dirty="0">
                <a:latin typeface="Gill Sans Light" panose="020B0302020104020203" pitchFamily="34" charset="-79"/>
                <a:cs typeface="Gill Sans Light" panose="020B0302020104020203" pitchFamily="34" charset="-79"/>
              </a:rPr>
              <a:t>will order the contents by number and clicking on </a:t>
            </a:r>
            <a:r>
              <a:rPr lang="en-US" b="1" i="1" dirty="0">
                <a:latin typeface="Gill Sans Light" panose="020B0302020104020203" pitchFamily="34" charset="-79"/>
                <a:cs typeface="Gill Sans Light" panose="020B0302020104020203" pitchFamily="34" charset="-79"/>
              </a:rPr>
              <a:t>Market </a:t>
            </a:r>
            <a:r>
              <a:rPr lang="en-US" i="1" dirty="0">
                <a:latin typeface="Gill Sans Light" panose="020B0302020104020203" pitchFamily="34" charset="-79"/>
                <a:cs typeface="Gill Sans Light" panose="020B0302020104020203" pitchFamily="34" charset="-79"/>
              </a:rPr>
              <a:t>will order alphabetically.</a:t>
            </a:r>
            <a:endParaRPr lang="en-US" dirty="0"/>
          </a:p>
        </p:txBody>
      </p:sp>
      <p:grpSp>
        <p:nvGrpSpPr>
          <p:cNvPr id="9" name="Group 8">
            <a:extLst>
              <a:ext uri="{FF2B5EF4-FFF2-40B4-BE49-F238E27FC236}">
                <a16:creationId xmlns:a16="http://schemas.microsoft.com/office/drawing/2014/main" id="{B7DC74CB-28DD-A540-837B-AD8678B8C69E}"/>
              </a:ext>
            </a:extLst>
          </p:cNvPr>
          <p:cNvGrpSpPr/>
          <p:nvPr/>
        </p:nvGrpSpPr>
        <p:grpSpPr>
          <a:xfrm>
            <a:off x="1699143" y="2764221"/>
            <a:ext cx="8793714" cy="1728508"/>
            <a:chOff x="3949924" y="3019593"/>
            <a:chExt cx="8010195" cy="1233657"/>
          </a:xfrm>
        </p:grpSpPr>
        <p:pic>
          <p:nvPicPr>
            <p:cNvPr id="3" name="Picture 2">
              <a:extLst>
                <a:ext uri="{FF2B5EF4-FFF2-40B4-BE49-F238E27FC236}">
                  <a16:creationId xmlns:a16="http://schemas.microsoft.com/office/drawing/2014/main" id="{F8BD9C13-E99A-D24D-AF02-5760583730CA}"/>
                </a:ext>
              </a:extLst>
            </p:cNvPr>
            <p:cNvPicPr>
              <a:picLocks noChangeAspect="1"/>
            </p:cNvPicPr>
            <p:nvPr/>
          </p:nvPicPr>
          <p:blipFill rotWithShape="1">
            <a:blip r:embed="rId4"/>
            <a:srcRect r="19851"/>
            <a:stretch/>
          </p:blipFill>
          <p:spPr>
            <a:xfrm>
              <a:off x="3949924" y="3019593"/>
              <a:ext cx="8010195" cy="1233657"/>
            </a:xfrm>
            <a:prstGeom prst="rect">
              <a:avLst/>
            </a:prstGeom>
          </p:spPr>
        </p:pic>
        <p:pic>
          <p:nvPicPr>
            <p:cNvPr id="2" name="Picture 1">
              <a:extLst>
                <a:ext uri="{FF2B5EF4-FFF2-40B4-BE49-F238E27FC236}">
                  <a16:creationId xmlns:a16="http://schemas.microsoft.com/office/drawing/2014/main" id="{C3501E4C-6C33-7743-ACBA-2846DB5FA09A}"/>
                </a:ext>
              </a:extLst>
            </p:cNvPr>
            <p:cNvPicPr>
              <a:picLocks noChangeAspect="1"/>
            </p:cNvPicPr>
            <p:nvPr/>
          </p:nvPicPr>
          <p:blipFill>
            <a:blip r:embed="rId5"/>
            <a:stretch>
              <a:fillRect/>
            </a:stretch>
          </p:blipFill>
          <p:spPr>
            <a:xfrm>
              <a:off x="6096000" y="3913034"/>
              <a:ext cx="5863206" cy="302820"/>
            </a:xfrm>
            <a:prstGeom prst="rect">
              <a:avLst/>
            </a:prstGeom>
          </p:spPr>
        </p:pic>
      </p:grpSp>
    </p:spTree>
    <p:extLst>
      <p:ext uri="{BB962C8B-B14F-4D97-AF65-F5344CB8AC3E}">
        <p14:creationId xmlns:p14="http://schemas.microsoft.com/office/powerpoint/2010/main" val="3337255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a:xfrm>
            <a:off x="-1" y="431831"/>
            <a:ext cx="12192000" cy="487391"/>
          </a:xfrm>
        </p:spPr>
        <p:txBody>
          <a:bodyPr/>
          <a:lstStyle/>
          <a:p>
            <a:r>
              <a:rPr lang="en-US" dirty="0"/>
              <a:t>Content Groups</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TextBox 3">
            <a:extLst>
              <a:ext uri="{FF2B5EF4-FFF2-40B4-BE49-F238E27FC236}">
                <a16:creationId xmlns:a16="http://schemas.microsoft.com/office/drawing/2014/main" id="{0662E14D-D7B1-9847-A6E5-C2ACFA632DE0}"/>
              </a:ext>
            </a:extLst>
          </p:cNvPr>
          <p:cNvSpPr txBox="1"/>
          <p:nvPr/>
        </p:nvSpPr>
        <p:spPr>
          <a:xfrm>
            <a:off x="416348" y="1088206"/>
            <a:ext cx="11359303" cy="1323439"/>
          </a:xfrm>
          <a:prstGeom prst="rect">
            <a:avLst/>
          </a:prstGeom>
          <a:noFill/>
        </p:spPr>
        <p:txBody>
          <a:bodyPr wrap="square" rtlCol="0">
            <a:spAutoFit/>
          </a:bodyPr>
          <a:lstStyle/>
          <a:p>
            <a:r>
              <a:rPr lang="en-US" sz="2000" dirty="0">
                <a:latin typeface="Gill Sans MT" panose="020B0502020104020203" pitchFamily="34" charset="77"/>
              </a:rPr>
              <a:t>When you click into a market you enter the </a:t>
            </a:r>
            <a:r>
              <a:rPr lang="en-US" sz="2000" b="1" dirty="0">
                <a:latin typeface="Gill Sans MT" panose="020B0502020104020203" pitchFamily="34" charset="77"/>
              </a:rPr>
              <a:t>Content Groups</a:t>
            </a:r>
            <a:r>
              <a:rPr lang="en-US" sz="2000" dirty="0">
                <a:latin typeface="Gill Sans MT" panose="020B0502020104020203" pitchFamily="34" charset="77"/>
              </a:rPr>
              <a:t> section. </a:t>
            </a:r>
          </a:p>
          <a:p>
            <a:endParaRPr lang="en-US" sz="2000" dirty="0">
              <a:latin typeface="Gill Sans MT" panose="020B0502020104020203" pitchFamily="34" charset="77"/>
            </a:endParaRPr>
          </a:p>
          <a:p>
            <a:r>
              <a:rPr lang="en-US" sz="2000" dirty="0">
                <a:latin typeface="Gill Sans MT" panose="020B0502020104020203" pitchFamily="34" charset="77"/>
              </a:rPr>
              <a:t>In this section you can edit and create new Content Groups, which act as collections of the content you would like scheduled or added in rotation to the variants</a:t>
            </a:r>
          </a:p>
        </p:txBody>
      </p:sp>
      <p:sp>
        <p:nvSpPr>
          <p:cNvPr id="5" name="TextBox 4">
            <a:extLst>
              <a:ext uri="{FF2B5EF4-FFF2-40B4-BE49-F238E27FC236}">
                <a16:creationId xmlns:a16="http://schemas.microsoft.com/office/drawing/2014/main" id="{0D1E9B4C-A487-0A48-96F3-05DCEFF9D1E5}"/>
              </a:ext>
            </a:extLst>
          </p:cNvPr>
          <p:cNvSpPr txBox="1"/>
          <p:nvPr/>
        </p:nvSpPr>
        <p:spPr>
          <a:xfrm>
            <a:off x="594511" y="2854737"/>
            <a:ext cx="2652696" cy="2585323"/>
          </a:xfrm>
          <a:prstGeom prst="rect">
            <a:avLst/>
          </a:prstGeom>
          <a:noFill/>
        </p:spPr>
        <p:txBody>
          <a:bodyPr wrap="square" rtlCol="0">
            <a:spAutoFit/>
          </a:bodyPr>
          <a:lstStyle/>
          <a:p>
            <a:r>
              <a:rPr lang="en-US" i="1" dirty="0">
                <a:latin typeface="Gill Sans MT" panose="020B0502020104020203" pitchFamily="34" charset="77"/>
              </a:rPr>
              <a:t>Example: </a:t>
            </a:r>
            <a:r>
              <a:rPr lang="en-US" dirty="0">
                <a:latin typeface="Gill Sans MT" panose="020B0502020104020203" pitchFamily="34" charset="77"/>
              </a:rPr>
              <a:t> ‘Offers’ could be the name of a content group populated with standard offers; another content group could be ‘Specials’ which would be a group of special one-off offers. Or you could split this up by model. </a:t>
            </a:r>
            <a:endParaRPr lang="en-US" dirty="0"/>
          </a:p>
        </p:txBody>
      </p:sp>
      <p:pic>
        <p:nvPicPr>
          <p:cNvPr id="2" name="Picture 1">
            <a:extLst>
              <a:ext uri="{FF2B5EF4-FFF2-40B4-BE49-F238E27FC236}">
                <a16:creationId xmlns:a16="http://schemas.microsoft.com/office/drawing/2014/main" id="{13BC61D0-A390-8644-904D-64CD0F97809C}"/>
              </a:ext>
            </a:extLst>
          </p:cNvPr>
          <p:cNvPicPr>
            <a:picLocks noChangeAspect="1"/>
          </p:cNvPicPr>
          <p:nvPr/>
        </p:nvPicPr>
        <p:blipFill>
          <a:blip r:embed="rId3"/>
          <a:stretch>
            <a:fillRect/>
          </a:stretch>
        </p:blipFill>
        <p:spPr>
          <a:xfrm>
            <a:off x="3916132" y="2657649"/>
            <a:ext cx="7681357" cy="2782411"/>
          </a:xfrm>
          <a:prstGeom prst="rect">
            <a:avLst/>
          </a:prstGeom>
        </p:spPr>
      </p:pic>
    </p:spTree>
    <p:extLst>
      <p:ext uri="{BB962C8B-B14F-4D97-AF65-F5344CB8AC3E}">
        <p14:creationId xmlns:p14="http://schemas.microsoft.com/office/powerpoint/2010/main" val="1365536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Dynamic Content</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TextBox 3">
            <a:extLst>
              <a:ext uri="{FF2B5EF4-FFF2-40B4-BE49-F238E27FC236}">
                <a16:creationId xmlns:a16="http://schemas.microsoft.com/office/drawing/2014/main" id="{E9F42CE6-674F-A74A-9C5B-9FFB4EAE1A1A}"/>
              </a:ext>
            </a:extLst>
          </p:cNvPr>
          <p:cNvSpPr txBox="1"/>
          <p:nvPr/>
        </p:nvSpPr>
        <p:spPr>
          <a:xfrm>
            <a:off x="460162" y="997003"/>
            <a:ext cx="11359303" cy="1015663"/>
          </a:xfrm>
          <a:prstGeom prst="rect">
            <a:avLst/>
          </a:prstGeom>
          <a:noFill/>
        </p:spPr>
        <p:txBody>
          <a:bodyPr wrap="square" rtlCol="0">
            <a:spAutoFit/>
          </a:bodyPr>
          <a:lstStyle/>
          <a:p>
            <a:r>
              <a:rPr lang="en-US" sz="2000" dirty="0">
                <a:latin typeface="Gill Sans MT" panose="020B0502020104020203" pitchFamily="34" charset="77"/>
              </a:rPr>
              <a:t>This is a more granular and specific version of a content group. In </a:t>
            </a:r>
            <a:r>
              <a:rPr lang="en-US" sz="2000" b="1" dirty="0">
                <a:latin typeface="Gill Sans MT" panose="020B0502020104020203" pitchFamily="34" charset="77"/>
              </a:rPr>
              <a:t>Dynamic Content</a:t>
            </a:r>
            <a:r>
              <a:rPr lang="en-US" sz="2000" dirty="0">
                <a:latin typeface="Gill Sans MT" panose="020B0502020104020203" pitchFamily="34" charset="77"/>
              </a:rPr>
              <a:t>  you can set the </a:t>
            </a:r>
            <a:r>
              <a:rPr lang="en-US" sz="2000" b="1" dirty="0">
                <a:latin typeface="Gill Sans MT" panose="020B0502020104020203" pitchFamily="34" charset="77"/>
              </a:rPr>
              <a:t>default value</a:t>
            </a:r>
            <a:r>
              <a:rPr lang="en-US" sz="2000" dirty="0">
                <a:latin typeface="Gill Sans MT" panose="020B0502020104020203" pitchFamily="34" charset="77"/>
              </a:rPr>
              <a:t>. The default value is what will serve as copy if there is nothing scheduled to run in the Versions.</a:t>
            </a:r>
          </a:p>
        </p:txBody>
      </p:sp>
      <p:sp>
        <p:nvSpPr>
          <p:cNvPr id="5" name="TextBox 4">
            <a:extLst>
              <a:ext uri="{FF2B5EF4-FFF2-40B4-BE49-F238E27FC236}">
                <a16:creationId xmlns:a16="http://schemas.microsoft.com/office/drawing/2014/main" id="{E91608FD-6EE9-9D4F-A1F5-D857AD2E6180}"/>
              </a:ext>
            </a:extLst>
          </p:cNvPr>
          <p:cNvSpPr txBox="1"/>
          <p:nvPr/>
        </p:nvSpPr>
        <p:spPr>
          <a:xfrm>
            <a:off x="7262735" y="2537011"/>
            <a:ext cx="4479364" cy="2862322"/>
          </a:xfrm>
          <a:prstGeom prst="rect">
            <a:avLst/>
          </a:prstGeom>
          <a:noFill/>
        </p:spPr>
        <p:txBody>
          <a:bodyPr wrap="square" rtlCol="0">
            <a:spAutoFit/>
          </a:bodyPr>
          <a:lstStyle/>
          <a:p>
            <a:r>
              <a:rPr lang="en-US" dirty="0">
                <a:latin typeface="Gill Sans MT" panose="020B0502020104020203" pitchFamily="34" charset="77"/>
              </a:rPr>
              <a:t>The Dynamic Content page is the first introduction of the </a:t>
            </a:r>
            <a:r>
              <a:rPr lang="en-US" b="1" dirty="0">
                <a:latin typeface="Gill Sans MT" panose="020B0502020104020203" pitchFamily="34" charset="77"/>
              </a:rPr>
              <a:t>API Key. </a:t>
            </a:r>
            <a:r>
              <a:rPr lang="en-US" dirty="0">
                <a:latin typeface="Gill Sans MT" panose="020B0502020104020203" pitchFamily="34" charset="77"/>
              </a:rPr>
              <a:t>The API Key is how the Variants in ORCA and CMC will communicate. The </a:t>
            </a:r>
            <a:r>
              <a:rPr lang="en-US" b="1" dirty="0">
                <a:latin typeface="Gill Sans MT" panose="020B0502020104020203" pitchFamily="34" charset="77"/>
              </a:rPr>
              <a:t>API Key </a:t>
            </a:r>
            <a:r>
              <a:rPr lang="en-US" dirty="0">
                <a:latin typeface="Gill Sans MT" panose="020B0502020104020203" pitchFamily="34" charset="77"/>
              </a:rPr>
              <a:t>must be copied into the Variants exactly when the variants are being created.</a:t>
            </a:r>
          </a:p>
          <a:p>
            <a:endParaRPr lang="en-US" dirty="0">
              <a:latin typeface="Gill Sans MT" panose="020B0502020104020203" pitchFamily="34" charset="77"/>
            </a:endParaRPr>
          </a:p>
          <a:p>
            <a:r>
              <a:rPr lang="en-US" dirty="0">
                <a:latin typeface="Gill Sans MT" panose="020B0502020104020203" pitchFamily="34" charset="77"/>
              </a:rPr>
              <a:t>It’s a concatenation of </a:t>
            </a:r>
            <a:r>
              <a:rPr lang="en-US" b="1" dirty="0">
                <a:latin typeface="Gill Sans MT" panose="020B0502020104020203" pitchFamily="34" charset="77"/>
              </a:rPr>
              <a:t>Client </a:t>
            </a:r>
            <a:r>
              <a:rPr lang="en-US" b="1" dirty="0" err="1">
                <a:latin typeface="Gill Sans MT" panose="020B0502020104020203" pitchFamily="34" charset="77"/>
              </a:rPr>
              <a:t>Profile_Content_Group</a:t>
            </a:r>
            <a:r>
              <a:rPr lang="en-US" b="1" dirty="0">
                <a:latin typeface="Gill Sans MT" panose="020B0502020104020203" pitchFamily="34" charset="77"/>
              </a:rPr>
              <a:t>_ </a:t>
            </a:r>
            <a:r>
              <a:rPr lang="en-US" b="1" dirty="0" err="1">
                <a:latin typeface="Gill Sans MT" panose="020B0502020104020203" pitchFamily="34" charset="77"/>
              </a:rPr>
              <a:t>Dyanmic</a:t>
            </a:r>
            <a:r>
              <a:rPr lang="en-US" b="1" dirty="0">
                <a:latin typeface="Gill Sans MT" panose="020B0502020104020203" pitchFamily="34" charset="77"/>
              </a:rPr>
              <a:t> Content</a:t>
            </a:r>
            <a:endParaRPr lang="en-US" dirty="0">
              <a:latin typeface="Gill Sans MT" panose="020B0502020104020203" pitchFamily="34" charset="77"/>
            </a:endParaRPr>
          </a:p>
        </p:txBody>
      </p:sp>
      <p:pic>
        <p:nvPicPr>
          <p:cNvPr id="2" name="Picture 1">
            <a:extLst>
              <a:ext uri="{FF2B5EF4-FFF2-40B4-BE49-F238E27FC236}">
                <a16:creationId xmlns:a16="http://schemas.microsoft.com/office/drawing/2014/main" id="{703FA600-06D8-3448-A328-F9BEDFCF8417}"/>
              </a:ext>
            </a:extLst>
          </p:cNvPr>
          <p:cNvPicPr>
            <a:picLocks noChangeAspect="1"/>
          </p:cNvPicPr>
          <p:nvPr/>
        </p:nvPicPr>
        <p:blipFill>
          <a:blip r:embed="rId3"/>
          <a:stretch>
            <a:fillRect/>
          </a:stretch>
        </p:blipFill>
        <p:spPr>
          <a:xfrm>
            <a:off x="336332" y="2784720"/>
            <a:ext cx="6578469" cy="2308324"/>
          </a:xfrm>
          <a:prstGeom prst="rect">
            <a:avLst/>
          </a:prstGeom>
        </p:spPr>
      </p:pic>
    </p:spTree>
    <p:extLst>
      <p:ext uri="{BB962C8B-B14F-4D97-AF65-F5344CB8AC3E}">
        <p14:creationId xmlns:p14="http://schemas.microsoft.com/office/powerpoint/2010/main" val="3775544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Dynamic Content</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TextBox 3">
            <a:extLst>
              <a:ext uri="{FF2B5EF4-FFF2-40B4-BE49-F238E27FC236}">
                <a16:creationId xmlns:a16="http://schemas.microsoft.com/office/drawing/2014/main" id="{E9F42CE6-674F-A74A-9C5B-9FFB4EAE1A1A}"/>
              </a:ext>
            </a:extLst>
          </p:cNvPr>
          <p:cNvSpPr txBox="1"/>
          <p:nvPr/>
        </p:nvSpPr>
        <p:spPr>
          <a:xfrm>
            <a:off x="460162" y="997003"/>
            <a:ext cx="11359303" cy="1015663"/>
          </a:xfrm>
          <a:prstGeom prst="rect">
            <a:avLst/>
          </a:prstGeom>
          <a:noFill/>
        </p:spPr>
        <p:txBody>
          <a:bodyPr wrap="square" rtlCol="0">
            <a:spAutoFit/>
          </a:bodyPr>
          <a:lstStyle/>
          <a:p>
            <a:r>
              <a:rPr lang="en-US" sz="2000" dirty="0">
                <a:latin typeface="Gill Sans MT" panose="020B0502020104020203" pitchFamily="34" charset="77"/>
              </a:rPr>
              <a:t>This is the view for setting the </a:t>
            </a:r>
            <a:r>
              <a:rPr lang="en-US" sz="2000" b="1" dirty="0">
                <a:latin typeface="Gill Sans MT" panose="020B0502020104020203" pitchFamily="34" charset="77"/>
              </a:rPr>
              <a:t>Dynamic Content </a:t>
            </a:r>
            <a:r>
              <a:rPr lang="en-US" sz="2000" dirty="0">
                <a:latin typeface="Gill Sans MT" panose="020B0502020104020203" pitchFamily="34" charset="77"/>
              </a:rPr>
              <a:t>default value. Under “Dynamic Content” you should create a name for the content. Under “Default Value” you should insert the copy you would like to appear within the variant.</a:t>
            </a:r>
          </a:p>
        </p:txBody>
      </p:sp>
      <p:sp>
        <p:nvSpPr>
          <p:cNvPr id="10" name="Rectangle 9">
            <a:extLst>
              <a:ext uri="{FF2B5EF4-FFF2-40B4-BE49-F238E27FC236}">
                <a16:creationId xmlns:a16="http://schemas.microsoft.com/office/drawing/2014/main" id="{F1AE471C-EEF3-6C43-A06C-561FFCB4C18E}"/>
              </a:ext>
            </a:extLst>
          </p:cNvPr>
          <p:cNvSpPr/>
          <p:nvPr/>
        </p:nvSpPr>
        <p:spPr>
          <a:xfrm>
            <a:off x="6354501" y="2960671"/>
            <a:ext cx="4872942" cy="289367"/>
          </a:xfrm>
          <a:prstGeom prst="rect">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Overarching grouping for each editable section e.g. Model, Copy</a:t>
            </a:r>
          </a:p>
        </p:txBody>
      </p:sp>
      <p:sp>
        <p:nvSpPr>
          <p:cNvPr id="12" name="Rectangle 11">
            <a:extLst>
              <a:ext uri="{FF2B5EF4-FFF2-40B4-BE49-F238E27FC236}">
                <a16:creationId xmlns:a16="http://schemas.microsoft.com/office/drawing/2014/main" id="{EF15887C-F8F9-EF4C-9FB3-6DE04F1E04B6}"/>
              </a:ext>
            </a:extLst>
          </p:cNvPr>
          <p:cNvSpPr/>
          <p:nvPr/>
        </p:nvSpPr>
        <p:spPr>
          <a:xfrm>
            <a:off x="6354501" y="4152496"/>
            <a:ext cx="4872942" cy="338481"/>
          </a:xfrm>
          <a:prstGeom prst="rect">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The content which will be displayed within the variant, unless time specific content is added</a:t>
            </a:r>
          </a:p>
        </p:txBody>
      </p:sp>
      <p:sp>
        <p:nvSpPr>
          <p:cNvPr id="13" name="Rectangle 12">
            <a:extLst>
              <a:ext uri="{FF2B5EF4-FFF2-40B4-BE49-F238E27FC236}">
                <a16:creationId xmlns:a16="http://schemas.microsoft.com/office/drawing/2014/main" id="{13A73B39-FFE7-C64D-992F-BF10BE1CA3B0}"/>
              </a:ext>
            </a:extLst>
          </p:cNvPr>
          <p:cNvSpPr/>
          <p:nvPr/>
        </p:nvSpPr>
        <p:spPr>
          <a:xfrm>
            <a:off x="6354501" y="4773071"/>
            <a:ext cx="4872942" cy="338481"/>
          </a:xfrm>
          <a:prstGeom prst="rect">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More information on what the value is</a:t>
            </a:r>
          </a:p>
        </p:txBody>
      </p:sp>
      <p:pic>
        <p:nvPicPr>
          <p:cNvPr id="2" name="Picture 1">
            <a:extLst>
              <a:ext uri="{FF2B5EF4-FFF2-40B4-BE49-F238E27FC236}">
                <a16:creationId xmlns:a16="http://schemas.microsoft.com/office/drawing/2014/main" id="{02967A8E-E5B8-C843-92C9-7A153A7963B1}"/>
              </a:ext>
            </a:extLst>
          </p:cNvPr>
          <p:cNvPicPr>
            <a:picLocks noChangeAspect="1"/>
          </p:cNvPicPr>
          <p:nvPr/>
        </p:nvPicPr>
        <p:blipFill>
          <a:blip r:embed="rId3"/>
          <a:stretch>
            <a:fillRect/>
          </a:stretch>
        </p:blipFill>
        <p:spPr>
          <a:xfrm>
            <a:off x="1350107" y="2191108"/>
            <a:ext cx="3632200" cy="3922776"/>
          </a:xfrm>
          <a:prstGeom prst="rect">
            <a:avLst/>
          </a:prstGeom>
        </p:spPr>
      </p:pic>
    </p:spTree>
    <p:extLst>
      <p:ext uri="{BB962C8B-B14F-4D97-AF65-F5344CB8AC3E}">
        <p14:creationId xmlns:p14="http://schemas.microsoft.com/office/powerpoint/2010/main" val="575664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Date &amp; Time based offer deployment</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TextBox 3">
            <a:extLst>
              <a:ext uri="{FF2B5EF4-FFF2-40B4-BE49-F238E27FC236}">
                <a16:creationId xmlns:a16="http://schemas.microsoft.com/office/drawing/2014/main" id="{50CC4D45-7BF5-AA49-A232-D4ACD9A0F8D7}"/>
              </a:ext>
            </a:extLst>
          </p:cNvPr>
          <p:cNvSpPr txBox="1"/>
          <p:nvPr/>
        </p:nvSpPr>
        <p:spPr>
          <a:xfrm>
            <a:off x="448352" y="1249899"/>
            <a:ext cx="11359303" cy="1015663"/>
          </a:xfrm>
          <a:prstGeom prst="rect">
            <a:avLst/>
          </a:prstGeom>
          <a:noFill/>
        </p:spPr>
        <p:txBody>
          <a:bodyPr wrap="square" rtlCol="0">
            <a:spAutoFit/>
          </a:bodyPr>
          <a:lstStyle/>
          <a:p>
            <a:r>
              <a:rPr lang="en-US" sz="2000" dirty="0">
                <a:latin typeface="Gill Sans MT" panose="020B0502020104020203" pitchFamily="34" charset="77"/>
              </a:rPr>
              <a:t>When you have defined your dynamic content you can then create new </a:t>
            </a:r>
            <a:r>
              <a:rPr lang="en-US" sz="2000" b="1" dirty="0">
                <a:latin typeface="Gill Sans MT" panose="020B0502020104020203" pitchFamily="34" charset="77"/>
              </a:rPr>
              <a:t>versions</a:t>
            </a:r>
            <a:r>
              <a:rPr lang="en-US" sz="2000" dirty="0">
                <a:latin typeface="Gill Sans MT" panose="020B0502020104020203" pitchFamily="34" charset="77"/>
              </a:rPr>
              <a:t> of that dynamic content – </a:t>
            </a:r>
            <a:r>
              <a:rPr lang="en-US" sz="2000" b="1" dirty="0">
                <a:latin typeface="Gill Sans MT" panose="020B0502020104020203" pitchFamily="34" charset="77"/>
              </a:rPr>
              <a:t>versions</a:t>
            </a:r>
            <a:r>
              <a:rPr lang="en-US" sz="2000" dirty="0">
                <a:latin typeface="Gill Sans MT" panose="020B0502020104020203" pitchFamily="34" charset="77"/>
              </a:rPr>
              <a:t> that you can schedule accordingly.  It is here in versions that you can have an overview of all your offers; you can also easily create and delete existing versions.</a:t>
            </a:r>
          </a:p>
        </p:txBody>
      </p:sp>
      <p:pic>
        <p:nvPicPr>
          <p:cNvPr id="2" name="Picture 1">
            <a:extLst>
              <a:ext uri="{FF2B5EF4-FFF2-40B4-BE49-F238E27FC236}">
                <a16:creationId xmlns:a16="http://schemas.microsoft.com/office/drawing/2014/main" id="{24765C5D-85CC-9143-8186-49AA1ECD6550}"/>
              </a:ext>
            </a:extLst>
          </p:cNvPr>
          <p:cNvPicPr>
            <a:picLocks noChangeAspect="1"/>
          </p:cNvPicPr>
          <p:nvPr/>
        </p:nvPicPr>
        <p:blipFill>
          <a:blip r:embed="rId3"/>
          <a:stretch>
            <a:fillRect/>
          </a:stretch>
        </p:blipFill>
        <p:spPr>
          <a:xfrm>
            <a:off x="7461382" y="2265562"/>
            <a:ext cx="4011482" cy="3813872"/>
          </a:xfrm>
          <a:prstGeom prst="rect">
            <a:avLst/>
          </a:prstGeom>
        </p:spPr>
      </p:pic>
      <p:pic>
        <p:nvPicPr>
          <p:cNvPr id="9" name="Picture 8">
            <a:extLst>
              <a:ext uri="{FF2B5EF4-FFF2-40B4-BE49-F238E27FC236}">
                <a16:creationId xmlns:a16="http://schemas.microsoft.com/office/drawing/2014/main" id="{185163F1-F74C-4841-A93B-E5C6E684DD25}"/>
              </a:ext>
            </a:extLst>
          </p:cNvPr>
          <p:cNvPicPr>
            <a:picLocks noChangeAspect="1"/>
          </p:cNvPicPr>
          <p:nvPr/>
        </p:nvPicPr>
        <p:blipFill>
          <a:blip r:embed="rId4"/>
          <a:stretch>
            <a:fillRect/>
          </a:stretch>
        </p:blipFill>
        <p:spPr>
          <a:xfrm>
            <a:off x="171450" y="2922380"/>
            <a:ext cx="7126591" cy="1922522"/>
          </a:xfrm>
          <a:prstGeom prst="rect">
            <a:avLst/>
          </a:prstGeom>
        </p:spPr>
      </p:pic>
    </p:spTree>
    <p:extLst>
      <p:ext uri="{BB962C8B-B14F-4D97-AF65-F5344CB8AC3E}">
        <p14:creationId xmlns:p14="http://schemas.microsoft.com/office/powerpoint/2010/main" val="3138929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7FFA9E7-3E04-B24C-BF07-46E6E4841433}"/>
              </a:ext>
            </a:extLst>
          </p:cNvPr>
          <p:cNvPicPr>
            <a:picLocks noChangeAspect="1"/>
          </p:cNvPicPr>
          <p:nvPr/>
        </p:nvPicPr>
        <p:blipFill rotWithShape="1">
          <a:blip r:embed="rId2"/>
          <a:srcRect b="23847"/>
          <a:stretch/>
        </p:blipFill>
        <p:spPr>
          <a:xfrm>
            <a:off x="0" y="1748080"/>
            <a:ext cx="4643964" cy="430887"/>
          </a:xfrm>
          <a:prstGeom prst="rect">
            <a:avLst/>
          </a:prstGeom>
        </p:spPr>
      </p:pic>
      <p:pic>
        <p:nvPicPr>
          <p:cNvPr id="34" name="Picture 33" descr="A screenshot of a cell phone&#10;&#10;Description automatically generated">
            <a:extLst>
              <a:ext uri="{FF2B5EF4-FFF2-40B4-BE49-F238E27FC236}">
                <a16:creationId xmlns:a16="http://schemas.microsoft.com/office/drawing/2014/main" id="{2EA92B67-120F-2349-98DE-AACA2670BEC1}"/>
              </a:ext>
            </a:extLst>
          </p:cNvPr>
          <p:cNvPicPr>
            <a:picLocks noChangeAspect="1"/>
          </p:cNvPicPr>
          <p:nvPr/>
        </p:nvPicPr>
        <p:blipFill rotWithShape="1">
          <a:blip r:embed="rId3"/>
          <a:srcRect l="63776"/>
          <a:stretch/>
        </p:blipFill>
        <p:spPr>
          <a:xfrm>
            <a:off x="7657309" y="1757263"/>
            <a:ext cx="4278384" cy="1533407"/>
          </a:xfrm>
          <a:prstGeom prst="rect">
            <a:avLst/>
          </a:prstGeom>
        </p:spPr>
      </p:pic>
      <p:sp>
        <p:nvSpPr>
          <p:cNvPr id="36" name="Oval 35">
            <a:extLst>
              <a:ext uri="{FF2B5EF4-FFF2-40B4-BE49-F238E27FC236}">
                <a16:creationId xmlns:a16="http://schemas.microsoft.com/office/drawing/2014/main" id="{02127507-31D0-2F4C-A0A3-5FCBF1DE49BC}"/>
              </a:ext>
            </a:extLst>
          </p:cNvPr>
          <p:cNvSpPr/>
          <p:nvPr/>
        </p:nvSpPr>
        <p:spPr>
          <a:xfrm>
            <a:off x="212161" y="1481851"/>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1</a:t>
            </a:r>
          </a:p>
        </p:txBody>
      </p:sp>
      <p:sp>
        <p:nvSpPr>
          <p:cNvPr id="37" name="Oval 36">
            <a:extLst>
              <a:ext uri="{FF2B5EF4-FFF2-40B4-BE49-F238E27FC236}">
                <a16:creationId xmlns:a16="http://schemas.microsoft.com/office/drawing/2014/main" id="{BED2C985-C778-FE4F-8FB9-90ACA24ED6B0}"/>
              </a:ext>
            </a:extLst>
          </p:cNvPr>
          <p:cNvSpPr/>
          <p:nvPr/>
        </p:nvSpPr>
        <p:spPr>
          <a:xfrm>
            <a:off x="3867849" y="1481851"/>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2</a:t>
            </a:r>
          </a:p>
        </p:txBody>
      </p:sp>
      <p:sp>
        <p:nvSpPr>
          <p:cNvPr id="38" name="Oval 37">
            <a:extLst>
              <a:ext uri="{FF2B5EF4-FFF2-40B4-BE49-F238E27FC236}">
                <a16:creationId xmlns:a16="http://schemas.microsoft.com/office/drawing/2014/main" id="{4FA47C51-CE6F-1940-808C-E796E943A4B0}"/>
              </a:ext>
            </a:extLst>
          </p:cNvPr>
          <p:cNvSpPr/>
          <p:nvPr/>
        </p:nvSpPr>
        <p:spPr>
          <a:xfrm>
            <a:off x="8299652" y="1507822"/>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4</a:t>
            </a:r>
          </a:p>
        </p:txBody>
      </p:sp>
      <p:sp>
        <p:nvSpPr>
          <p:cNvPr id="39" name="Oval 38">
            <a:extLst>
              <a:ext uri="{FF2B5EF4-FFF2-40B4-BE49-F238E27FC236}">
                <a16:creationId xmlns:a16="http://schemas.microsoft.com/office/drawing/2014/main" id="{8E1D2402-79DC-A84E-A037-C789837D36A3}"/>
              </a:ext>
            </a:extLst>
          </p:cNvPr>
          <p:cNvSpPr/>
          <p:nvPr/>
        </p:nvSpPr>
        <p:spPr>
          <a:xfrm>
            <a:off x="2731463" y="4200907"/>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1</a:t>
            </a:r>
          </a:p>
        </p:txBody>
      </p:sp>
      <p:sp>
        <p:nvSpPr>
          <p:cNvPr id="40" name="Oval 39">
            <a:extLst>
              <a:ext uri="{FF2B5EF4-FFF2-40B4-BE49-F238E27FC236}">
                <a16:creationId xmlns:a16="http://schemas.microsoft.com/office/drawing/2014/main" id="{34606E6C-0735-E840-932D-6A4019D489BE}"/>
              </a:ext>
            </a:extLst>
          </p:cNvPr>
          <p:cNvSpPr/>
          <p:nvPr/>
        </p:nvSpPr>
        <p:spPr>
          <a:xfrm>
            <a:off x="2731463" y="4910868"/>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2</a:t>
            </a:r>
          </a:p>
        </p:txBody>
      </p:sp>
      <p:sp>
        <p:nvSpPr>
          <p:cNvPr id="41" name="Oval 40">
            <a:extLst>
              <a:ext uri="{FF2B5EF4-FFF2-40B4-BE49-F238E27FC236}">
                <a16:creationId xmlns:a16="http://schemas.microsoft.com/office/drawing/2014/main" id="{E44B646F-328C-8948-B459-557FE920B45F}"/>
              </a:ext>
            </a:extLst>
          </p:cNvPr>
          <p:cNvSpPr/>
          <p:nvPr/>
        </p:nvSpPr>
        <p:spPr>
          <a:xfrm>
            <a:off x="2608799" y="5620829"/>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3</a:t>
            </a:r>
          </a:p>
        </p:txBody>
      </p:sp>
      <p:sp>
        <p:nvSpPr>
          <p:cNvPr id="42" name="TextBox 41">
            <a:extLst>
              <a:ext uri="{FF2B5EF4-FFF2-40B4-BE49-F238E27FC236}">
                <a16:creationId xmlns:a16="http://schemas.microsoft.com/office/drawing/2014/main" id="{80E7A6BC-A479-914E-8E05-E50B0CBAEB8C}"/>
              </a:ext>
            </a:extLst>
          </p:cNvPr>
          <p:cNvSpPr txBox="1"/>
          <p:nvPr/>
        </p:nvSpPr>
        <p:spPr>
          <a:xfrm>
            <a:off x="0" y="467131"/>
            <a:ext cx="12192000" cy="430887"/>
          </a:xfrm>
          <a:prstGeom prst="rect">
            <a:avLst/>
          </a:prstGeom>
          <a:noFill/>
        </p:spPr>
        <p:txBody>
          <a:bodyPr wrap="square" rtlCol="0">
            <a:spAutoFit/>
          </a:bodyPr>
          <a:lstStyle/>
          <a:p>
            <a:pPr algn="ctr"/>
            <a:r>
              <a:rPr lang="en-US" sz="2200" dirty="0">
                <a:latin typeface="Helvetica Neue Thin" panose="020B0403020202020204" pitchFamily="34" charset="0"/>
                <a:ea typeface="Helvetica Neue Thin" panose="020B0403020202020204" pitchFamily="34" charset="0"/>
                <a:cs typeface="Helvetica Neue" panose="02000503000000020004" pitchFamily="2" charset="0"/>
              </a:rPr>
              <a:t>CMC within ORCA</a:t>
            </a:r>
          </a:p>
        </p:txBody>
      </p:sp>
      <p:sp>
        <p:nvSpPr>
          <p:cNvPr id="45" name="TextBox 44">
            <a:extLst>
              <a:ext uri="{FF2B5EF4-FFF2-40B4-BE49-F238E27FC236}">
                <a16:creationId xmlns:a16="http://schemas.microsoft.com/office/drawing/2014/main" id="{9C61F49C-AC9A-0B48-BD8D-1DA6BF4CF8B8}"/>
              </a:ext>
            </a:extLst>
          </p:cNvPr>
          <p:cNvSpPr txBox="1"/>
          <p:nvPr/>
        </p:nvSpPr>
        <p:spPr>
          <a:xfrm>
            <a:off x="3214681" y="4787310"/>
            <a:ext cx="6984396" cy="492443"/>
          </a:xfrm>
          <a:prstGeom prst="rect">
            <a:avLst/>
          </a:prstGeom>
          <a:noFill/>
        </p:spPr>
        <p:txBody>
          <a:bodyPr wrap="square" rtlCol="0">
            <a:spAutoFit/>
          </a:bodyPr>
          <a:lstStyle/>
          <a:p>
            <a:r>
              <a:rPr lang="en-US" sz="1400" dirty="0">
                <a:latin typeface="Gill Sans MT" panose="020B0502020104020203" pitchFamily="34" charset="77"/>
              </a:rPr>
              <a:t>This is where the API Key for the Terms Overlay is inserted. </a:t>
            </a:r>
            <a:r>
              <a:rPr lang="en-US" sz="1200" i="1" dirty="0">
                <a:latin typeface="Gill Sans MT" panose="020B0502020104020203" pitchFamily="34" charset="77"/>
              </a:rPr>
              <a:t>*Please note you will still need to place the copy for the terms overlay button in the “Refresh Terms” Tab.</a:t>
            </a:r>
            <a:endParaRPr lang="en-US" sz="1400" i="1" dirty="0">
              <a:latin typeface="Gill Sans MT" panose="020B0502020104020203" pitchFamily="34" charset="77"/>
            </a:endParaRPr>
          </a:p>
        </p:txBody>
      </p:sp>
      <p:sp>
        <p:nvSpPr>
          <p:cNvPr id="46" name="Oval 45">
            <a:extLst>
              <a:ext uri="{FF2B5EF4-FFF2-40B4-BE49-F238E27FC236}">
                <a16:creationId xmlns:a16="http://schemas.microsoft.com/office/drawing/2014/main" id="{8B3FF8F4-8337-194F-890B-1FED95F88E34}"/>
              </a:ext>
            </a:extLst>
          </p:cNvPr>
          <p:cNvSpPr/>
          <p:nvPr/>
        </p:nvSpPr>
        <p:spPr>
          <a:xfrm>
            <a:off x="1622016" y="1493916"/>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3</a:t>
            </a:r>
          </a:p>
        </p:txBody>
      </p:sp>
      <p:sp>
        <p:nvSpPr>
          <p:cNvPr id="47" name="Oval 46">
            <a:extLst>
              <a:ext uri="{FF2B5EF4-FFF2-40B4-BE49-F238E27FC236}">
                <a16:creationId xmlns:a16="http://schemas.microsoft.com/office/drawing/2014/main" id="{F6EC1B5A-2D18-C644-BF4B-3EA0928A48E2}"/>
              </a:ext>
            </a:extLst>
          </p:cNvPr>
          <p:cNvSpPr/>
          <p:nvPr/>
        </p:nvSpPr>
        <p:spPr>
          <a:xfrm>
            <a:off x="2854127" y="5620829"/>
            <a:ext cx="245328" cy="245328"/>
          </a:xfrm>
          <a:prstGeom prst="ellipse">
            <a:avLst/>
          </a:prstGeom>
          <a:solidFill>
            <a:srgbClr val="EC4E8C"/>
          </a:solidFill>
          <a:ln>
            <a:solidFill>
              <a:srgbClr val="EC4E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Gill Sans MT" panose="020B0502020104020203" pitchFamily="34" charset="77"/>
              </a:rPr>
              <a:t>4</a:t>
            </a:r>
          </a:p>
        </p:txBody>
      </p:sp>
      <p:sp>
        <p:nvSpPr>
          <p:cNvPr id="49" name="TextBox 48">
            <a:extLst>
              <a:ext uri="{FF2B5EF4-FFF2-40B4-BE49-F238E27FC236}">
                <a16:creationId xmlns:a16="http://schemas.microsoft.com/office/drawing/2014/main" id="{4241DE0C-08F6-B54D-A360-B6305344CB9A}"/>
              </a:ext>
            </a:extLst>
          </p:cNvPr>
          <p:cNvSpPr txBox="1"/>
          <p:nvPr/>
        </p:nvSpPr>
        <p:spPr>
          <a:xfrm>
            <a:off x="3214681" y="5481883"/>
            <a:ext cx="7129347" cy="523220"/>
          </a:xfrm>
          <a:prstGeom prst="rect">
            <a:avLst/>
          </a:prstGeom>
          <a:noFill/>
        </p:spPr>
        <p:txBody>
          <a:bodyPr wrap="square" rtlCol="0">
            <a:spAutoFit/>
          </a:bodyPr>
          <a:lstStyle/>
          <a:p>
            <a:r>
              <a:rPr lang="en-US" sz="1400" dirty="0">
                <a:latin typeface="Gill Sans MT" panose="020B0502020104020203" pitchFamily="34" charset="77"/>
              </a:rPr>
              <a:t>This is where the API Key for the Display Copy is inserted into. #3 is for copy over all frames #4 is for frame specific copy.</a:t>
            </a:r>
          </a:p>
        </p:txBody>
      </p:sp>
      <p:pic>
        <p:nvPicPr>
          <p:cNvPr id="4" name="Picture 3">
            <a:extLst>
              <a:ext uri="{FF2B5EF4-FFF2-40B4-BE49-F238E27FC236}">
                <a16:creationId xmlns:a16="http://schemas.microsoft.com/office/drawing/2014/main" id="{B0E92224-FE00-4640-B21E-FE9E39839CEC}"/>
              </a:ext>
            </a:extLst>
          </p:cNvPr>
          <p:cNvPicPr>
            <a:picLocks noChangeAspect="1"/>
          </p:cNvPicPr>
          <p:nvPr/>
        </p:nvPicPr>
        <p:blipFill rotWithShape="1">
          <a:blip r:embed="rId4"/>
          <a:srcRect b="33252"/>
          <a:stretch/>
        </p:blipFill>
        <p:spPr>
          <a:xfrm>
            <a:off x="3496426" y="1757263"/>
            <a:ext cx="8641781" cy="1533407"/>
          </a:xfrm>
          <a:prstGeom prst="rect">
            <a:avLst/>
          </a:prstGeom>
        </p:spPr>
      </p:pic>
      <p:pic>
        <p:nvPicPr>
          <p:cNvPr id="5" name="Picture 4">
            <a:extLst>
              <a:ext uri="{FF2B5EF4-FFF2-40B4-BE49-F238E27FC236}">
                <a16:creationId xmlns:a16="http://schemas.microsoft.com/office/drawing/2014/main" id="{06510832-E28F-D04D-9781-3B3B20008EB1}"/>
              </a:ext>
            </a:extLst>
          </p:cNvPr>
          <p:cNvPicPr>
            <a:picLocks noChangeAspect="1"/>
          </p:cNvPicPr>
          <p:nvPr/>
        </p:nvPicPr>
        <p:blipFill>
          <a:blip r:embed="rId5"/>
          <a:stretch>
            <a:fillRect/>
          </a:stretch>
        </p:blipFill>
        <p:spPr>
          <a:xfrm>
            <a:off x="7974932" y="1771158"/>
            <a:ext cx="3397217" cy="1712883"/>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78CFE6D0-F997-8540-854C-D749FEE03919}"/>
              </a:ext>
            </a:extLst>
          </p:cNvPr>
          <p:cNvPicPr>
            <a:picLocks noChangeAspect="1"/>
          </p:cNvPicPr>
          <p:nvPr/>
        </p:nvPicPr>
        <p:blipFill>
          <a:blip r:embed="rId6"/>
          <a:stretch>
            <a:fillRect/>
          </a:stretch>
        </p:blipFill>
        <p:spPr>
          <a:xfrm>
            <a:off x="15098" y="1748080"/>
            <a:ext cx="2246117" cy="1533407"/>
          </a:xfrm>
          <a:prstGeom prst="rect">
            <a:avLst/>
          </a:prstGeom>
        </p:spPr>
      </p:pic>
      <p:sp>
        <p:nvSpPr>
          <p:cNvPr id="22" name="TextBox 21">
            <a:extLst>
              <a:ext uri="{FF2B5EF4-FFF2-40B4-BE49-F238E27FC236}">
                <a16:creationId xmlns:a16="http://schemas.microsoft.com/office/drawing/2014/main" id="{501FFAAF-2827-A44A-8CE2-7F9968DADB1B}"/>
              </a:ext>
            </a:extLst>
          </p:cNvPr>
          <p:cNvSpPr txBox="1"/>
          <p:nvPr/>
        </p:nvSpPr>
        <p:spPr>
          <a:xfrm>
            <a:off x="3214681" y="4115271"/>
            <a:ext cx="7129347" cy="523220"/>
          </a:xfrm>
          <a:prstGeom prst="rect">
            <a:avLst/>
          </a:prstGeom>
          <a:noFill/>
        </p:spPr>
        <p:txBody>
          <a:bodyPr wrap="square" rtlCol="0">
            <a:spAutoFit/>
          </a:bodyPr>
          <a:lstStyle/>
          <a:p>
            <a:r>
              <a:rPr lang="en-US" sz="1400" dirty="0">
                <a:latin typeface="Gill Sans MT" panose="020B0502020104020203" pitchFamily="34" charset="77"/>
              </a:rPr>
              <a:t>This is where the API functionality is switched on or off and determines if the API key will be pulled in or not. </a:t>
            </a:r>
            <a:r>
              <a:rPr lang="en-US" sz="1200" i="1" dirty="0">
                <a:latin typeface="Gill Sans MT" panose="020B0502020104020203" pitchFamily="34" charset="77"/>
              </a:rPr>
              <a:t>*Please note when on anything pulled in from the API will override any manual copy inserted.</a:t>
            </a:r>
          </a:p>
        </p:txBody>
      </p:sp>
    </p:spTree>
    <p:extLst>
      <p:ext uri="{BB962C8B-B14F-4D97-AF65-F5344CB8AC3E}">
        <p14:creationId xmlns:p14="http://schemas.microsoft.com/office/powerpoint/2010/main" val="327846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3E0E5C-9E52-A942-BB89-3F1019EF43E4}"/>
              </a:ext>
            </a:extLst>
          </p:cNvPr>
          <p:cNvSpPr>
            <a:spLocks noGrp="1"/>
          </p:cNvSpPr>
          <p:nvPr>
            <p:ph type="title"/>
          </p:nvPr>
        </p:nvSpPr>
        <p:spPr/>
        <p:txBody>
          <a:bodyPr/>
          <a:lstStyle/>
          <a:p>
            <a:r>
              <a:rPr lang="en-US" dirty="0"/>
              <a:t>CMC DEMO</a:t>
            </a:r>
          </a:p>
        </p:txBody>
      </p:sp>
      <p:sp>
        <p:nvSpPr>
          <p:cNvPr id="7" name="Content Placeholder 6">
            <a:extLst>
              <a:ext uri="{FF2B5EF4-FFF2-40B4-BE49-F238E27FC236}">
                <a16:creationId xmlns:a16="http://schemas.microsoft.com/office/drawing/2014/main" id="{F766FD39-506D-A744-9056-8D9F2E4E0D6D}"/>
              </a:ext>
            </a:extLst>
          </p:cNvPr>
          <p:cNvSpPr>
            <a:spLocks noGrp="1"/>
          </p:cNvSpPr>
          <p:nvPr>
            <p:ph sz="quarter" idx="11"/>
          </p:nvPr>
        </p:nvSpPr>
        <p:spPr/>
        <p:txBody>
          <a:bodyPr/>
          <a:lstStyle/>
          <a:p>
            <a:r>
              <a:rPr lang="en-US" b="1" dirty="0">
                <a:solidFill>
                  <a:srgbClr val="FF8DC1"/>
                </a:solidFill>
                <a:latin typeface="Helvetica Neue"/>
                <a:ea typeface="Gill Sans Light" charset="0"/>
                <a:cs typeface="Helvetica Neue"/>
              </a:rPr>
              <a:t>Content Management Catalogue</a:t>
            </a:r>
          </a:p>
        </p:txBody>
      </p:sp>
      <p:sp>
        <p:nvSpPr>
          <p:cNvPr id="4" name="TextBox 3">
            <a:extLst>
              <a:ext uri="{FF2B5EF4-FFF2-40B4-BE49-F238E27FC236}">
                <a16:creationId xmlns:a16="http://schemas.microsoft.com/office/drawing/2014/main" id="{F8AD3350-BEDF-6E47-B990-5AC1887B526E}"/>
              </a:ext>
            </a:extLst>
          </p:cNvPr>
          <p:cNvSpPr txBox="1"/>
          <p:nvPr/>
        </p:nvSpPr>
        <p:spPr>
          <a:xfrm>
            <a:off x="4174088" y="5582688"/>
            <a:ext cx="3843822" cy="400110"/>
          </a:xfrm>
          <a:prstGeom prst="rect">
            <a:avLst/>
          </a:prstGeom>
          <a:noFill/>
        </p:spPr>
        <p:txBody>
          <a:bodyPr wrap="square" rtlCol="0">
            <a:spAutoFit/>
          </a:bodyPr>
          <a:lstStyle/>
          <a:p>
            <a:pPr algn="ctr"/>
            <a:r>
              <a:rPr lang="en-GB" sz="2000" dirty="0">
                <a:hlinkClick r:id="rId3"/>
              </a:rPr>
              <a:t>https://cmc.adylicorca.com/login</a:t>
            </a:r>
            <a:endParaRPr lang="en-US" sz="2000" dirty="0">
              <a:latin typeface="Gill Sans MT" panose="020B0502020104020203" pitchFamily="34" charset="77"/>
            </a:endParaRPr>
          </a:p>
        </p:txBody>
      </p:sp>
      <p:pic>
        <p:nvPicPr>
          <p:cNvPr id="8" name="Picture 7">
            <a:hlinkClick r:id="rId3"/>
            <a:extLst>
              <a:ext uri="{FF2B5EF4-FFF2-40B4-BE49-F238E27FC236}">
                <a16:creationId xmlns:a16="http://schemas.microsoft.com/office/drawing/2014/main" id="{324E45F3-3EFB-7141-BD0E-647D9EDB4F0C}"/>
              </a:ext>
            </a:extLst>
          </p:cNvPr>
          <p:cNvPicPr>
            <a:picLocks noChangeAspect="1"/>
          </p:cNvPicPr>
          <p:nvPr/>
        </p:nvPicPr>
        <p:blipFill>
          <a:blip r:embed="rId4"/>
          <a:stretch>
            <a:fillRect/>
          </a:stretch>
        </p:blipFill>
        <p:spPr>
          <a:xfrm>
            <a:off x="3986022" y="1075257"/>
            <a:ext cx="4219955" cy="4422147"/>
          </a:xfrm>
          <a:prstGeom prst="rect">
            <a:avLst/>
          </a:prstGeom>
        </p:spPr>
      </p:pic>
    </p:spTree>
    <p:extLst>
      <p:ext uri="{BB962C8B-B14F-4D97-AF65-F5344CB8AC3E}">
        <p14:creationId xmlns:p14="http://schemas.microsoft.com/office/powerpoint/2010/main" val="2422105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alphaModFix amt="90000"/>
            <a:extLst>
              <a:ext uri="{28A0092B-C50C-407E-A947-70E740481C1C}">
                <a14:useLocalDpi xmlns:a14="http://schemas.microsoft.com/office/drawing/2010/main" val="0"/>
              </a:ext>
            </a:extLst>
          </a:blip>
          <a:srcRect b="3352"/>
          <a:stretch/>
        </p:blipFill>
        <p:spPr>
          <a:xfrm>
            <a:off x="1415328" y="168542"/>
            <a:ext cx="9703047" cy="6689458"/>
          </a:xfrm>
          <a:prstGeom prst="rect">
            <a:avLst/>
          </a:prstGeom>
        </p:spPr>
      </p:pic>
      <p:sp>
        <p:nvSpPr>
          <p:cNvPr id="9" name="Rectangle 8">
            <a:extLst>
              <a:ext uri="{FF2B5EF4-FFF2-40B4-BE49-F238E27FC236}">
                <a16:creationId xmlns:a16="http://schemas.microsoft.com/office/drawing/2014/main" id="{79FF4194-5AEB-4C4F-A35C-3501CA097AAF}"/>
              </a:ext>
            </a:extLst>
          </p:cNvPr>
          <p:cNvSpPr/>
          <p:nvPr/>
        </p:nvSpPr>
        <p:spPr>
          <a:xfrm>
            <a:off x="932551" y="850544"/>
            <a:ext cx="5146494" cy="18824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4800" dirty="0">
                <a:solidFill>
                  <a:srgbClr val="1B3F55"/>
                </a:solidFill>
                <a:latin typeface="Helvetica Neue Thin" panose="020B0403020202020204" pitchFamily="34" charset="0"/>
                <a:ea typeface="Helvetica Neue Thin" panose="020B0403020202020204" pitchFamily="34" charset="0"/>
                <a:cs typeface="Gotham Black"/>
              </a:rPr>
              <a:t>Thank you</a:t>
            </a:r>
            <a:endParaRPr lang="en-US" sz="4800" b="1" dirty="0">
              <a:solidFill>
                <a:srgbClr val="B0B0E9"/>
              </a:solidFill>
              <a:latin typeface="Helvetica Neue"/>
              <a:ea typeface="Gill Sans Light" charset="0"/>
              <a:cs typeface="Helvetica Neue"/>
            </a:endParaRPr>
          </a:p>
        </p:txBody>
      </p:sp>
    </p:spTree>
    <p:extLst>
      <p:ext uri="{BB962C8B-B14F-4D97-AF65-F5344CB8AC3E}">
        <p14:creationId xmlns:p14="http://schemas.microsoft.com/office/powerpoint/2010/main" val="1272612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1099</Words>
  <Application>Microsoft Macintosh PowerPoint</Application>
  <PresentationFormat>Widescreen</PresentationFormat>
  <Paragraphs>104</Paragraphs>
  <Slides>14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Calibri Light</vt:lpstr>
      <vt:lpstr>Gill Sans Light</vt:lpstr>
      <vt:lpstr>Gill Sans MT</vt:lpstr>
      <vt:lpstr>Gill Sans SemiBold</vt:lpstr>
      <vt:lpstr>Helvetica Neue</vt:lpstr>
      <vt:lpstr>Helvetica Neue Thin</vt:lpstr>
      <vt:lpstr>Office Theme</vt:lpstr>
      <vt:lpstr>CMC Template</vt:lpstr>
      <vt:lpstr>What is the CMC?</vt:lpstr>
      <vt:lpstr>What are the Benefits?</vt:lpstr>
      <vt:lpstr>Deployment Process – Existing</vt:lpstr>
      <vt:lpstr>Deployment Process – With CMC</vt:lpstr>
      <vt:lpstr>Key Definitions &amp; Usage Instructions</vt:lpstr>
      <vt:lpstr>Using the CMC</vt:lpstr>
      <vt:lpstr>Content Groups</vt:lpstr>
      <vt:lpstr>Dynamic Content</vt:lpstr>
      <vt:lpstr>Dynamic Content</vt:lpstr>
      <vt:lpstr>Date &amp; Time based offer deployment</vt:lpstr>
      <vt:lpstr>PowerPoint Presentation</vt:lpstr>
      <vt:lpstr>CMC DEMO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Chloe Rea</dc:creator>
  <cp:lastModifiedBy>Chloe Rea (Adylic)</cp:lastModifiedBy>
  <cp:revision>18</cp:revision>
  <dcterms:created xsi:type="dcterms:W3CDTF">2020-04-30T16:01:33Z</dcterms:created>
  <dcterms:modified xsi:type="dcterms:W3CDTF">2020-08-27T13:53:32Z</dcterms:modified>
</cp:coreProperties>
</file>