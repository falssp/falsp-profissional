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97" r:id="rId2"/>
    <p:sldMasterId id="2147483709" r:id="rId3"/>
    <p:sldMasterId id="2147483715" r:id="rId4"/>
  </p:sldMasterIdLst>
  <p:notesMasterIdLst>
    <p:notesMasterId r:id="rId20"/>
  </p:notesMasterIdLst>
  <p:sldIdLst>
    <p:sldId id="257" r:id="rId5"/>
    <p:sldId id="385" r:id="rId6"/>
    <p:sldId id="399" r:id="rId7"/>
    <p:sldId id="401" r:id="rId8"/>
    <p:sldId id="402" r:id="rId9"/>
    <p:sldId id="405" r:id="rId10"/>
    <p:sldId id="406" r:id="rId11"/>
    <p:sldId id="420" r:id="rId12"/>
    <p:sldId id="421" r:id="rId13"/>
    <p:sldId id="422" r:id="rId14"/>
    <p:sldId id="417" r:id="rId15"/>
    <p:sldId id="418" r:id="rId16"/>
    <p:sldId id="413" r:id="rId17"/>
    <p:sldId id="423" r:id="rId18"/>
    <p:sldId id="390" r:id="rId1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E311CB9-29CF-468E-8F3A-02293F75FFB6}">
          <p14:sldIdLst>
            <p14:sldId id="257"/>
            <p14:sldId id="385"/>
            <p14:sldId id="399"/>
            <p14:sldId id="401"/>
            <p14:sldId id="402"/>
            <p14:sldId id="405"/>
            <p14:sldId id="406"/>
            <p14:sldId id="420"/>
            <p14:sldId id="421"/>
            <p14:sldId id="422"/>
            <p14:sldId id="417"/>
            <p14:sldId id="418"/>
            <p14:sldId id="413"/>
            <p14:sldId id="423"/>
            <p14:sldId id="3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0" autoAdjust="0"/>
    <p:restoredTop sz="87670" autoAdjust="0"/>
  </p:normalViewPr>
  <p:slideViewPr>
    <p:cSldViewPr snapToGrid="0">
      <p:cViewPr varScale="1">
        <p:scale>
          <a:sx n="79" d="100"/>
          <a:sy n="79" d="100"/>
        </p:scale>
        <p:origin x="193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D5198-DF91-4E3C-BD44-E5DA865C8A36}" type="datetimeFigureOut">
              <a:rPr lang="pt-BR" smtClean="0"/>
              <a:t>24/04/2019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32726-D83F-48F7-B9EA-4444A7AA11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19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extLst/>
        </p:spPr>
        <p:txBody>
          <a:bodyPr/>
          <a:lstStyle/>
          <a:p>
            <a:pPr>
              <a:defRPr/>
            </a:pPr>
            <a:endParaRPr lang="pt-BR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884382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2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79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3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79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4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79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5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79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6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79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7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79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extLst/>
        </p:spPr>
        <p:txBody>
          <a:bodyPr/>
          <a:lstStyle/>
          <a:p>
            <a:pPr>
              <a:defRPr/>
            </a:pPr>
            <a:endParaRPr lang="pt-BR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691118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9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2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10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748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11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340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12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4648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13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793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14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42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15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79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8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5.png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1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5.png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3" y="3886201"/>
            <a:ext cx="64008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827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64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2" y="4406905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2" y="2906714"/>
            <a:ext cx="7772400" cy="150018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5712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91425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62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75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8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00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336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2" y="1200153"/>
            <a:ext cx="4038599" cy="3394075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3" y="1200153"/>
            <a:ext cx="4038599" cy="3394075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061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42"/>
            <a:ext cx="8229600" cy="1143001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2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26" indent="0">
              <a:buNone/>
              <a:defRPr sz="2100" b="1"/>
            </a:lvl2pPr>
            <a:lvl3pPr marL="914252" indent="0">
              <a:buNone/>
              <a:defRPr sz="1700" b="1"/>
            </a:lvl3pPr>
            <a:lvl4pPr marL="1371378" indent="0">
              <a:buNone/>
              <a:defRPr sz="1600" b="1"/>
            </a:lvl4pPr>
            <a:lvl5pPr marL="1828503" indent="0">
              <a:buNone/>
              <a:defRPr sz="1600" b="1"/>
            </a:lvl5pPr>
            <a:lvl6pPr marL="2285629" indent="0">
              <a:buNone/>
              <a:defRPr sz="1600" b="1"/>
            </a:lvl6pPr>
            <a:lvl7pPr marL="2742755" indent="0">
              <a:buNone/>
              <a:defRPr sz="1600" b="1"/>
            </a:lvl7pPr>
            <a:lvl8pPr marL="3199881" indent="0">
              <a:buNone/>
              <a:defRPr sz="1600" b="1"/>
            </a:lvl8pPr>
            <a:lvl9pPr marL="3657007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2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26" indent="0">
              <a:buNone/>
              <a:defRPr sz="2100" b="1"/>
            </a:lvl2pPr>
            <a:lvl3pPr marL="914252" indent="0">
              <a:buNone/>
              <a:defRPr sz="1700" b="1"/>
            </a:lvl3pPr>
            <a:lvl4pPr marL="1371378" indent="0">
              <a:buNone/>
              <a:defRPr sz="1600" b="1"/>
            </a:lvl4pPr>
            <a:lvl5pPr marL="1828503" indent="0">
              <a:buNone/>
              <a:defRPr sz="1600" b="1"/>
            </a:lvl5pPr>
            <a:lvl6pPr marL="2285629" indent="0">
              <a:buNone/>
              <a:defRPr sz="1600" b="1"/>
            </a:lvl6pPr>
            <a:lvl7pPr marL="2742755" indent="0">
              <a:buNone/>
              <a:defRPr sz="1600" b="1"/>
            </a:lvl7pPr>
            <a:lvl8pPr marL="3199881" indent="0">
              <a:buNone/>
              <a:defRPr sz="1600" b="1"/>
            </a:lvl8pPr>
            <a:lvl9pPr marL="3657007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27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070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564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4" y="273053"/>
            <a:ext cx="3008313" cy="1162051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5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9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4" y="1435104"/>
            <a:ext cx="3008313" cy="4691061"/>
          </a:xfrm>
        </p:spPr>
        <p:txBody>
          <a:bodyPr/>
          <a:lstStyle>
            <a:lvl1pPr marL="0" indent="0">
              <a:buNone/>
              <a:defRPr sz="1400"/>
            </a:lvl1pPr>
            <a:lvl2pPr marL="457126" indent="0">
              <a:buNone/>
              <a:defRPr sz="1300"/>
            </a:lvl2pPr>
            <a:lvl3pPr marL="914252" indent="0">
              <a:buNone/>
              <a:defRPr sz="1000"/>
            </a:lvl3pPr>
            <a:lvl4pPr marL="1371378" indent="0">
              <a:buNone/>
              <a:defRPr sz="1000"/>
            </a:lvl4pPr>
            <a:lvl5pPr marL="1828503" indent="0">
              <a:buNone/>
              <a:defRPr sz="1000"/>
            </a:lvl5pPr>
            <a:lvl6pPr marL="2285629" indent="0">
              <a:buNone/>
              <a:defRPr sz="1000"/>
            </a:lvl6pPr>
            <a:lvl7pPr marL="2742755" indent="0">
              <a:buNone/>
              <a:defRPr sz="1000"/>
            </a:lvl7pPr>
            <a:lvl8pPr marL="3199881" indent="0">
              <a:buNone/>
              <a:defRPr sz="1000"/>
            </a:lvl8pPr>
            <a:lvl9pPr marL="3657007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555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9" y="4800604"/>
            <a:ext cx="5486400" cy="566737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9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26" indent="0">
              <a:buNone/>
              <a:defRPr sz="2900"/>
            </a:lvl2pPr>
            <a:lvl3pPr marL="914252" indent="0">
              <a:buNone/>
              <a:defRPr sz="2400"/>
            </a:lvl3pPr>
            <a:lvl4pPr marL="1371378" indent="0">
              <a:buNone/>
              <a:defRPr sz="2100"/>
            </a:lvl4pPr>
            <a:lvl5pPr marL="1828503" indent="0">
              <a:buNone/>
              <a:defRPr sz="2100"/>
            </a:lvl5pPr>
            <a:lvl6pPr marL="2285629" indent="0">
              <a:buNone/>
              <a:defRPr sz="2100"/>
            </a:lvl6pPr>
            <a:lvl7pPr marL="2742755" indent="0">
              <a:buNone/>
              <a:defRPr sz="2100"/>
            </a:lvl7pPr>
            <a:lvl8pPr marL="3199881" indent="0">
              <a:buNone/>
              <a:defRPr sz="2100"/>
            </a:lvl8pPr>
            <a:lvl9pPr marL="3657007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9" y="5367340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26" indent="0">
              <a:buNone/>
              <a:defRPr sz="1300"/>
            </a:lvl2pPr>
            <a:lvl3pPr marL="914252" indent="0">
              <a:buNone/>
              <a:defRPr sz="1000"/>
            </a:lvl3pPr>
            <a:lvl4pPr marL="1371378" indent="0">
              <a:buNone/>
              <a:defRPr sz="1000"/>
            </a:lvl4pPr>
            <a:lvl5pPr marL="1828503" indent="0">
              <a:buNone/>
              <a:defRPr sz="1000"/>
            </a:lvl5pPr>
            <a:lvl6pPr marL="2285629" indent="0">
              <a:buNone/>
              <a:defRPr sz="1000"/>
            </a:lvl6pPr>
            <a:lvl7pPr marL="2742755" indent="0">
              <a:buNone/>
              <a:defRPr sz="1000"/>
            </a:lvl7pPr>
            <a:lvl8pPr marL="3199881" indent="0">
              <a:buNone/>
              <a:defRPr sz="1000"/>
            </a:lvl8pPr>
            <a:lvl9pPr marL="3657007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557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797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06378"/>
            <a:ext cx="2057401" cy="438785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3" y="206378"/>
            <a:ext cx="6019799" cy="4387851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17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24/04/2019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253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24/04/2019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876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24/04/2019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958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24/04/2019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800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24/04/2019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2214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24/04/2019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1282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24/04/2019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8697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24/04/2019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2772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24/04/2019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744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24/04/2019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7194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24/04/2019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8968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9861609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133479" y="3298827"/>
            <a:ext cx="5872163" cy="739775"/>
          </a:xfrm>
        </p:spPr>
        <p:txBody>
          <a:bodyPr lIns="0"/>
          <a:lstStyle>
            <a:lvl1pPr marL="0" indent="0">
              <a:buFont typeface="Wingdings" pitchFamily="2" charset="2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 bwMode="white">
          <a:xfrm>
            <a:off x="1133477" y="1406525"/>
            <a:ext cx="6048375" cy="1468438"/>
          </a:xfrm>
        </p:spPr>
        <p:txBody>
          <a:bodyPr lIns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293" name="Picture 29" descr="WM_SQ_Scribble_rgb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7" y="6081714"/>
            <a:ext cx="566737" cy="501650"/>
          </a:xfrm>
          <a:prstGeom prst="rect">
            <a:avLst/>
          </a:prstGeom>
          <a:noFill/>
        </p:spPr>
      </p:pic>
      <p:pic>
        <p:nvPicPr>
          <p:cNvPr id="11297" name="Picture 33" descr="WM_logo_PMS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579" y="6362701"/>
            <a:ext cx="1719263" cy="223838"/>
          </a:xfrm>
          <a:prstGeom prst="rect">
            <a:avLst/>
          </a:prstGeom>
          <a:noFill/>
        </p:spPr>
      </p:pic>
      <p:pic>
        <p:nvPicPr>
          <p:cNvPr id="11301" name="Picture 37" descr="wunderman_logo_ko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53" r="-463"/>
          <a:stretch>
            <a:fillRect/>
          </a:stretch>
        </p:blipFill>
        <p:spPr bwMode="auto">
          <a:xfrm>
            <a:off x="6981825" y="6365877"/>
            <a:ext cx="1758950" cy="215900"/>
          </a:xfrm>
          <a:prstGeom prst="rect">
            <a:avLst/>
          </a:prstGeom>
          <a:noFill/>
        </p:spPr>
      </p:pic>
      <p:pic>
        <p:nvPicPr>
          <p:cNvPr id="11302" name="Picture 38" descr="WM_SQ_Scribble_KO"/>
          <p:cNvPicPr>
            <a:picLocks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080125"/>
            <a:ext cx="565150" cy="5032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73782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83153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38474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1281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352800" y="6324600"/>
            <a:ext cx="1905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66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2002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29913" y="6491265"/>
            <a:ext cx="505467" cy="252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750" b="0">
                <a:solidFill>
                  <a:srgbClr val="333333"/>
                </a:solidFill>
                <a:latin typeface="+mn-lt"/>
              </a:defRPr>
            </a:lvl1pPr>
          </a:lstStyle>
          <a:p>
            <a:fld id="{9784CBA3-D598-4B1F-BAA3-EE14B5154290}" type="slidenum">
              <a:rPr lang="en-AU" smtClean="0"/>
              <a:pPr/>
              <a:t>‹nº›</a:t>
            </a:fld>
            <a:endParaRPr lang="en-AU" dirty="0"/>
          </a:p>
        </p:txBody>
      </p:sp>
      <p:cxnSp>
        <p:nvCxnSpPr>
          <p:cNvPr id="5" name="Straight Connector 69"/>
          <p:cNvCxnSpPr/>
          <p:nvPr userDrawn="1">
            <p:custDataLst>
              <p:tags r:id="rId1"/>
            </p:custDataLst>
          </p:nvPr>
        </p:nvCxnSpPr>
        <p:spPr>
          <a:xfrm>
            <a:off x="282163" y="5946775"/>
            <a:ext cx="8572912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\\PSTUDIOTERM\Clients\TNS Global\TNS_002 Templates\4. Design\4. Active\PPT Files\2. 5th April Redesign\From Client\TNS_logo_72ppi.png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13" y="6071836"/>
            <a:ext cx="504000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 userDrawn="1">
            <p:custDataLst>
              <p:tags r:id="rId3"/>
            </p:custDataLst>
          </p:nvPr>
        </p:nvSpPr>
        <p:spPr>
          <a:xfrm>
            <a:off x="1290880" y="6324879"/>
            <a:ext cx="2540000" cy="530999"/>
          </a:xfrm>
          <a:prstGeom prst="rect">
            <a:avLst/>
          </a:prstGeom>
          <a:noFill/>
        </p:spPr>
        <p:txBody>
          <a:bodyPr vert="horz" wrap="square" lIns="0" tIns="0" rIns="0" bIns="279400" rtlCol="0" anchor="b">
            <a:noAutofit/>
          </a:bodyPr>
          <a:lstStyle/>
          <a:p>
            <a:pPr fontAlgn="base">
              <a:lnSpc>
                <a:spcPct val="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750">
                <a:solidFill>
                  <a:srgbClr val="232323"/>
                </a:solidFill>
                <a:cs typeface="Arial" charset="0"/>
              </a:rPr>
              <a:t>© TNS   </a:t>
            </a:r>
            <a:endParaRPr lang="pt-BR" sz="750" dirty="0" err="1">
              <a:solidFill>
                <a:srgbClr val="232323"/>
              </a:solidFill>
              <a:cs typeface="Arial" charset="0"/>
            </a:endParaRPr>
          </a:p>
        </p:txBody>
      </p:sp>
      <p:sp>
        <p:nvSpPr>
          <p:cNvPr id="8" name="CaixaDeTexto 7"/>
          <p:cNvSpPr txBox="1"/>
          <p:nvPr userDrawn="1">
            <p:custDataLst>
              <p:tags r:id="rId4"/>
            </p:custDataLst>
          </p:nvPr>
        </p:nvSpPr>
        <p:spPr>
          <a:xfrm>
            <a:off x="1284044" y="6298419"/>
            <a:ext cx="1905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sz="750" dirty="0">
                <a:solidFill>
                  <a:srgbClr val="232323"/>
                </a:solidFill>
                <a:cs typeface="Arial" charset="0"/>
              </a:rPr>
              <a:t>C0032002</a:t>
            </a:r>
          </a:p>
        </p:txBody>
      </p:sp>
    </p:spTree>
    <p:extLst>
      <p:ext uri="{BB962C8B-B14F-4D97-AF65-F5344CB8AC3E}">
        <p14:creationId xmlns:p14="http://schemas.microsoft.com/office/powerpoint/2010/main" val="25389794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29913" y="6491265"/>
            <a:ext cx="505467" cy="252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750" b="0">
                <a:solidFill>
                  <a:srgbClr val="333333"/>
                </a:solidFill>
                <a:latin typeface="+mn-lt"/>
              </a:defRPr>
            </a:lvl1pPr>
          </a:lstStyle>
          <a:p>
            <a:fld id="{9784CBA3-D598-4B1F-BAA3-EE14B5154290}" type="slidenum">
              <a:rPr lang="en-AU" smtClean="0"/>
              <a:pPr/>
              <a:t>‹nº›</a:t>
            </a:fld>
            <a:endParaRPr lang="en-AU" dirty="0"/>
          </a:p>
        </p:txBody>
      </p:sp>
      <p:cxnSp>
        <p:nvCxnSpPr>
          <p:cNvPr id="3" name="Straight Connector 69"/>
          <p:cNvCxnSpPr/>
          <p:nvPr userDrawn="1">
            <p:custDataLst>
              <p:tags r:id="rId1"/>
            </p:custDataLst>
          </p:nvPr>
        </p:nvCxnSpPr>
        <p:spPr>
          <a:xfrm>
            <a:off x="282163" y="5946775"/>
            <a:ext cx="8572912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\\PSTUDIOTERM\Clients\TNS Global\TNS_002 Templates\4. Design\4. Active\PPT Files\2. 5th April Redesign\From Client\TNS_logo_72ppi.png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13" y="6071836"/>
            <a:ext cx="504000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 userDrawn="1">
            <p:custDataLst>
              <p:tags r:id="rId3"/>
            </p:custDataLst>
          </p:nvPr>
        </p:nvSpPr>
        <p:spPr>
          <a:xfrm>
            <a:off x="1290880" y="6324879"/>
            <a:ext cx="2540000" cy="530999"/>
          </a:xfrm>
          <a:prstGeom prst="rect">
            <a:avLst/>
          </a:prstGeom>
          <a:noFill/>
        </p:spPr>
        <p:txBody>
          <a:bodyPr vert="horz" wrap="square" lIns="0" tIns="0" rIns="0" bIns="279400" rtlCol="0" anchor="b">
            <a:noAutofit/>
          </a:bodyPr>
          <a:lstStyle/>
          <a:p>
            <a:pPr fontAlgn="base">
              <a:lnSpc>
                <a:spcPct val="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750">
                <a:solidFill>
                  <a:srgbClr val="232323"/>
                </a:solidFill>
                <a:cs typeface="Arial" charset="0"/>
              </a:rPr>
              <a:t>© TNS   </a:t>
            </a:r>
            <a:endParaRPr lang="pt-BR" sz="750" dirty="0" err="1">
              <a:solidFill>
                <a:srgbClr val="232323"/>
              </a:solidFill>
              <a:cs typeface="Arial" charset="0"/>
            </a:endParaRPr>
          </a:p>
        </p:txBody>
      </p:sp>
      <p:sp>
        <p:nvSpPr>
          <p:cNvPr id="6" name="CaixaDeTexto 5"/>
          <p:cNvSpPr txBox="1"/>
          <p:nvPr userDrawn="1">
            <p:custDataLst>
              <p:tags r:id="rId4"/>
            </p:custDataLst>
          </p:nvPr>
        </p:nvSpPr>
        <p:spPr>
          <a:xfrm>
            <a:off x="1284044" y="6298419"/>
            <a:ext cx="1905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sz="750" dirty="0">
                <a:solidFill>
                  <a:srgbClr val="232323"/>
                </a:solidFill>
                <a:cs typeface="Arial" charset="0"/>
              </a:rPr>
              <a:t>C0032002</a:t>
            </a:r>
          </a:p>
        </p:txBody>
      </p:sp>
    </p:spTree>
    <p:extLst>
      <p:ext uri="{BB962C8B-B14F-4D97-AF65-F5344CB8AC3E}">
        <p14:creationId xmlns:p14="http://schemas.microsoft.com/office/powerpoint/2010/main" val="34994181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29913" y="6491265"/>
            <a:ext cx="505467" cy="252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750" b="0">
                <a:solidFill>
                  <a:srgbClr val="333333"/>
                </a:solidFill>
                <a:latin typeface="+mn-lt"/>
              </a:defRPr>
            </a:lvl1pPr>
          </a:lstStyle>
          <a:p>
            <a:fld id="{9784CBA3-D598-4B1F-BAA3-EE14B5154290}" type="slidenum">
              <a:rPr lang="en-AU" smtClean="0"/>
              <a:pPr/>
              <a:t>‹nº›</a:t>
            </a:fld>
            <a:endParaRPr lang="en-AU" dirty="0"/>
          </a:p>
        </p:txBody>
      </p:sp>
      <p:cxnSp>
        <p:nvCxnSpPr>
          <p:cNvPr id="3" name="Straight Connector 69"/>
          <p:cNvCxnSpPr/>
          <p:nvPr userDrawn="1">
            <p:custDataLst>
              <p:tags r:id="rId1"/>
            </p:custDataLst>
          </p:nvPr>
        </p:nvCxnSpPr>
        <p:spPr>
          <a:xfrm>
            <a:off x="282163" y="5946775"/>
            <a:ext cx="8572912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\\PSTUDIOTERM\Clients\TNS Global\TNS_002 Templates\4. Design\4. Active\PPT Files\2. 5th April Redesign\From Client\TNS_logo_72ppi.png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13" y="6071836"/>
            <a:ext cx="504000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 userDrawn="1">
            <p:custDataLst>
              <p:tags r:id="rId3"/>
            </p:custDataLst>
          </p:nvPr>
        </p:nvSpPr>
        <p:spPr>
          <a:xfrm>
            <a:off x="1290880" y="6324879"/>
            <a:ext cx="2540000" cy="530999"/>
          </a:xfrm>
          <a:prstGeom prst="rect">
            <a:avLst/>
          </a:prstGeom>
          <a:noFill/>
        </p:spPr>
        <p:txBody>
          <a:bodyPr vert="horz" wrap="square" lIns="0" tIns="0" rIns="0" bIns="279400" rtlCol="0" anchor="b">
            <a:noAutofit/>
          </a:bodyPr>
          <a:lstStyle/>
          <a:p>
            <a:pPr fontAlgn="base">
              <a:lnSpc>
                <a:spcPct val="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750">
                <a:solidFill>
                  <a:srgbClr val="232323"/>
                </a:solidFill>
                <a:cs typeface="Arial" charset="0"/>
              </a:rPr>
              <a:t>© TNS   </a:t>
            </a:r>
            <a:endParaRPr lang="pt-BR" sz="750" dirty="0" err="1">
              <a:solidFill>
                <a:srgbClr val="232323"/>
              </a:solidFill>
              <a:cs typeface="Arial" charset="0"/>
            </a:endParaRPr>
          </a:p>
        </p:txBody>
      </p:sp>
      <p:sp>
        <p:nvSpPr>
          <p:cNvPr id="6" name="CaixaDeTexto 5"/>
          <p:cNvSpPr txBox="1"/>
          <p:nvPr userDrawn="1">
            <p:custDataLst>
              <p:tags r:id="rId4"/>
            </p:custDataLst>
          </p:nvPr>
        </p:nvSpPr>
        <p:spPr>
          <a:xfrm>
            <a:off x="1284044" y="6298419"/>
            <a:ext cx="1905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sz="750" dirty="0">
                <a:solidFill>
                  <a:srgbClr val="232323"/>
                </a:solidFill>
                <a:cs typeface="Arial" charset="0"/>
              </a:rPr>
              <a:t>C0032002</a:t>
            </a:r>
          </a:p>
        </p:txBody>
      </p:sp>
    </p:spTree>
    <p:extLst>
      <p:ext uri="{BB962C8B-B14F-4D97-AF65-F5344CB8AC3E}">
        <p14:creationId xmlns:p14="http://schemas.microsoft.com/office/powerpoint/2010/main" val="2244635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3" Type="http://schemas.openxmlformats.org/officeDocument/2006/relationships/slideLayout" Target="../slideLayouts/slideLayout31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10" Type="http://schemas.openxmlformats.org/officeDocument/2006/relationships/image" Target="../media/image6.png"/><Relationship Id="rId4" Type="http://schemas.openxmlformats.org/officeDocument/2006/relationships/theme" Target="../theme/theme4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42"/>
            <a:ext cx="8229600" cy="1143001"/>
          </a:xfrm>
          <a:prstGeom prst="rect">
            <a:avLst/>
          </a:prstGeom>
        </p:spPr>
        <p:txBody>
          <a:bodyPr vert="horz" lIns="91426" tIns="45713" rIns="91426" bIns="45713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3"/>
            <a:ext cx="8229600" cy="4525963"/>
          </a:xfrm>
          <a:prstGeom prst="rect">
            <a:avLst/>
          </a:prstGeom>
        </p:spPr>
        <p:txBody>
          <a:bodyPr vert="horz" lIns="91426" tIns="45713" rIns="91426" bIns="45713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426" tIns="45713" rIns="91426" bIns="45713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26"/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126"/>
              <a:t>4/24/2019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2" y="6356353"/>
            <a:ext cx="2895600" cy="365125"/>
          </a:xfrm>
          <a:prstGeom prst="rect">
            <a:avLst/>
          </a:prstGeom>
        </p:spPr>
        <p:txBody>
          <a:bodyPr vert="horz" lIns="91426" tIns="45713" rIns="91426" bIns="45713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26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26" tIns="45713" rIns="91426" bIns="45713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26"/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126"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40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457126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44" indent="-342844" algn="l" defTabSz="457126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30" indent="-285704" algn="l" defTabSz="457126" rtl="0" eaLnBrk="1" latinLnBrk="0" hangingPunct="1">
        <a:spcBef>
          <a:spcPct val="20000"/>
        </a:spcBef>
        <a:buFont typeface="Arial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14" indent="-228562" algn="l" defTabSz="4571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40" indent="-228562" algn="l" defTabSz="457126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066" indent="-228562" algn="l" defTabSz="457126" rtl="0" eaLnBrk="1" latinLnBrk="0" hangingPunct="1">
        <a:spcBef>
          <a:spcPct val="20000"/>
        </a:spcBef>
        <a:buFont typeface="Arial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92" indent="-228562" algn="l" defTabSz="457126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17" indent="-228562" algn="l" defTabSz="457126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43" indent="-228562" algn="l" defTabSz="457126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9" indent="-228562" algn="l" defTabSz="457126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6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2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8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03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9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55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81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07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24/04/2019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239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5" name="Picture 25" descr="WM_SQ_Scribble_rgb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7" y="6081714"/>
            <a:ext cx="566737" cy="501650"/>
          </a:xfrm>
          <a:prstGeom prst="rect">
            <a:avLst/>
          </a:prstGeom>
          <a:noFill/>
        </p:spPr>
      </p:pic>
      <p:pic>
        <p:nvPicPr>
          <p:cNvPr id="10267" name="Picture 27" descr="WM_logo_PMS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579" y="6362701"/>
            <a:ext cx="1719263" cy="223838"/>
          </a:xfrm>
          <a:prstGeom prst="rect">
            <a:avLst/>
          </a:prstGeom>
          <a:noFill/>
        </p:spPr>
      </p:pic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2592" y="150814"/>
            <a:ext cx="7340385" cy="1271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2588" y="1716091"/>
            <a:ext cx="8362950" cy="417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566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</p:sldLayoutIdLst>
  <p:hf hdr="0" ftr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9pPr>
    </p:titleStyle>
    <p:bodyStyle>
      <a:lvl1pPr marL="342900" indent="-342900" algn="l" rtl="0" fontAlgn="base">
        <a:spcBef>
          <a:spcPct val="25000"/>
        </a:spcBef>
        <a:spcAft>
          <a:spcPct val="0"/>
        </a:spcAft>
        <a:buFont typeface="Wingdings" pitchFamily="2" charset="2"/>
        <a:buChar char="§"/>
        <a:defRPr sz="2000">
          <a:solidFill>
            <a:srgbClr val="666666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5000"/>
        </a:spcBef>
        <a:spcAft>
          <a:spcPct val="0"/>
        </a:spcAft>
        <a:buFont typeface="Arial" pitchFamily="34" charset="0"/>
        <a:buChar char="–"/>
        <a:defRPr>
          <a:solidFill>
            <a:srgbClr val="666666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5000"/>
        </a:spcBef>
        <a:spcAft>
          <a:spcPct val="0"/>
        </a:spcAft>
        <a:buFont typeface="Arial" pitchFamily="34" charset="0"/>
        <a:buChar char="–"/>
        <a:defRPr>
          <a:solidFill>
            <a:srgbClr val="666666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5000"/>
        </a:spcBef>
        <a:spcAft>
          <a:spcPct val="0"/>
        </a:spcAft>
        <a:buFont typeface="Arial" pitchFamily="34" charset="0"/>
        <a:buChar char="–"/>
        <a:defRPr>
          <a:solidFill>
            <a:srgbClr val="666666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5000"/>
        </a:spcBef>
        <a:spcAft>
          <a:spcPct val="0"/>
        </a:spcAft>
        <a:buChar char="»"/>
        <a:defRPr>
          <a:solidFill>
            <a:srgbClr val="666666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5000"/>
        </a:spcBef>
        <a:spcAft>
          <a:spcPct val="0"/>
        </a:spcAft>
        <a:buChar char="»"/>
        <a:defRPr>
          <a:solidFill>
            <a:srgbClr val="666666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5000"/>
        </a:spcBef>
        <a:spcAft>
          <a:spcPct val="0"/>
        </a:spcAft>
        <a:buChar char="»"/>
        <a:defRPr>
          <a:solidFill>
            <a:srgbClr val="666666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5000"/>
        </a:spcBef>
        <a:spcAft>
          <a:spcPct val="0"/>
        </a:spcAft>
        <a:buChar char="»"/>
        <a:defRPr>
          <a:solidFill>
            <a:srgbClr val="666666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5000"/>
        </a:spcBef>
        <a:spcAft>
          <a:spcPct val="0"/>
        </a:spcAft>
        <a:buChar char="»"/>
        <a:defRPr>
          <a:solidFill>
            <a:srgbClr val="666666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29913" y="6491265"/>
            <a:ext cx="505467" cy="252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750" b="0">
                <a:solidFill>
                  <a:srgbClr val="333333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784CBA3-D598-4B1F-BAA3-EE14B5154290}" type="slidenum">
              <a:rPr lang="en-AU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n-AU" dirty="0">
              <a:cs typeface="Arial" charset="0"/>
            </a:endParaRPr>
          </a:p>
        </p:txBody>
      </p:sp>
      <p:cxnSp>
        <p:nvCxnSpPr>
          <p:cNvPr id="11" name="Straight Connector 69"/>
          <p:cNvCxnSpPr/>
          <p:nvPr>
            <p:custDataLst>
              <p:tags r:id="rId5"/>
            </p:custDataLst>
          </p:nvPr>
        </p:nvCxnSpPr>
        <p:spPr>
          <a:xfrm>
            <a:off x="282163" y="5946775"/>
            <a:ext cx="8572912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\\PSTUDIOTERM\Clients\TNS Global\TNS_002 Templates\4. Design\4. Active\PPT Files\2. 5th April Redesign\From Client\TNS_logo_72ppi.pn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13" y="6071836"/>
            <a:ext cx="504000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/>
          <p:cNvSpPr txBox="1"/>
          <p:nvPr>
            <p:custDataLst>
              <p:tags r:id="rId7"/>
            </p:custDataLst>
          </p:nvPr>
        </p:nvSpPr>
        <p:spPr>
          <a:xfrm>
            <a:off x="1290880" y="6324879"/>
            <a:ext cx="2540000" cy="530999"/>
          </a:xfrm>
          <a:prstGeom prst="rect">
            <a:avLst/>
          </a:prstGeom>
          <a:noFill/>
        </p:spPr>
        <p:txBody>
          <a:bodyPr vert="horz" wrap="square" lIns="0" tIns="0" rIns="0" bIns="279400" rtlCol="0" anchor="b">
            <a:noAutofit/>
          </a:bodyPr>
          <a:lstStyle/>
          <a:p>
            <a:pPr fontAlgn="base">
              <a:lnSpc>
                <a:spcPct val="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750">
                <a:solidFill>
                  <a:srgbClr val="232323"/>
                </a:solidFill>
                <a:cs typeface="Arial" charset="0"/>
              </a:rPr>
              <a:t>© TNS   </a:t>
            </a:r>
            <a:endParaRPr lang="pt-BR" sz="750" dirty="0" err="1">
              <a:solidFill>
                <a:srgbClr val="232323"/>
              </a:solidFill>
              <a:cs typeface="Arial" charset="0"/>
            </a:endParaRPr>
          </a:p>
        </p:txBody>
      </p:sp>
      <p:sp>
        <p:nvSpPr>
          <p:cNvPr id="14" name="CaixaDeTexto 13"/>
          <p:cNvSpPr txBox="1"/>
          <p:nvPr>
            <p:custDataLst>
              <p:tags r:id="rId8"/>
            </p:custDataLst>
          </p:nvPr>
        </p:nvSpPr>
        <p:spPr>
          <a:xfrm>
            <a:off x="1284044" y="6298419"/>
            <a:ext cx="1905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sz="750" dirty="0">
                <a:solidFill>
                  <a:srgbClr val="232323"/>
                </a:solidFill>
                <a:cs typeface="Arial" charset="0"/>
              </a:rPr>
              <a:t>C0032002</a:t>
            </a:r>
          </a:p>
        </p:txBody>
      </p:sp>
      <p:pic>
        <p:nvPicPr>
          <p:cNvPr id="15" name="Picture 2" descr="X:\Consumo\C, D\Catho\C0033001 – Emprego Online 3ª Onda\8 - Diversos (modelos, referências, etc)\LogoCatho_NovoAzul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067183" y="6152076"/>
            <a:ext cx="741430" cy="6672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69276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33333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1600" b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252413" indent="-252413" algn="l" defTabSz="914400" rtl="0" eaLnBrk="1" latinLnBrk="0" hangingPunct="1">
        <a:spcBef>
          <a:spcPct val="20000"/>
        </a:spcBef>
        <a:buFont typeface="Wingdings" pitchFamily="2" charset="2"/>
        <a:buChar char="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508000" indent="-255588" algn="l" defTabSz="914400" rtl="0" eaLnBrk="1" latinLnBrk="0" hangingPunct="1">
        <a:spcBef>
          <a:spcPct val="20000"/>
        </a:spcBef>
        <a:buFont typeface="Wingdings" pitchFamily="2" charset="2"/>
        <a:buChar char="n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760413" indent="-252413" algn="l" defTabSz="914400" rtl="0" eaLnBrk="1" latinLnBrk="0" hangingPunct="1">
        <a:spcBef>
          <a:spcPct val="20000"/>
        </a:spcBef>
        <a:buFont typeface="Wingdings" pitchFamily="2" charset="2"/>
        <a:buChar char="n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78"/>
          <a:stretch/>
        </p:blipFill>
        <p:spPr bwMode="auto">
          <a:xfrm>
            <a:off x="-19050" y="-11040"/>
            <a:ext cx="10725150" cy="690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4580" name="Rectangle 3"/>
          <p:cNvSpPr>
            <a:spLocks/>
          </p:cNvSpPr>
          <p:nvPr/>
        </p:nvSpPr>
        <p:spPr bwMode="auto">
          <a:xfrm>
            <a:off x="1102603" y="1571170"/>
            <a:ext cx="37909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r" eaLnBrk="1" hangingPunct="1">
              <a:lnSpc>
                <a:spcPct val="80000"/>
              </a:lnSpc>
            </a:pPr>
            <a:r>
              <a:rPr lang="pt-BR" sz="3200" b="1" dirty="0">
                <a:solidFill>
                  <a:srgbClr val="FFFFFF"/>
                </a:solidFill>
                <a:latin typeface="+mn-lt"/>
                <a:cs typeface="Calibri" panose="020F0502020204030204" pitchFamily="34" charset="0"/>
              </a:rPr>
              <a:t>Jan/19</a:t>
            </a:r>
          </a:p>
        </p:txBody>
      </p:sp>
      <p:sp>
        <p:nvSpPr>
          <p:cNvPr id="5" name="Rectangle 3"/>
          <p:cNvSpPr>
            <a:spLocks/>
          </p:cNvSpPr>
          <p:nvPr/>
        </p:nvSpPr>
        <p:spPr bwMode="auto">
          <a:xfrm>
            <a:off x="1981200" y="2364921"/>
            <a:ext cx="2912354" cy="73479"/>
          </a:xfrm>
          <a:prstGeom prst="rect">
            <a:avLst/>
          </a:prstGeom>
          <a:solidFill>
            <a:srgbClr val="FFFAF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1pPr>
            <a:lvl2pPr marL="742950" indent="-285750"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2pPr>
            <a:lvl3pPr marL="1143000" indent="-228600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pt-BR" sz="4200">
              <a:solidFill>
                <a:srgbClr val="000000"/>
              </a:solidFill>
              <a:latin typeface="Gill Sans" charset="0"/>
              <a:sym typeface="Gill Sans" charset="0"/>
            </a:endParaRPr>
          </a:p>
        </p:txBody>
      </p:sp>
      <p:sp>
        <p:nvSpPr>
          <p:cNvPr id="6" name="Rectangle 3"/>
          <p:cNvSpPr>
            <a:spLocks/>
          </p:cNvSpPr>
          <p:nvPr/>
        </p:nvSpPr>
        <p:spPr bwMode="auto">
          <a:xfrm>
            <a:off x="664029" y="2449285"/>
            <a:ext cx="4229524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r" eaLnBrk="1" hangingPunct="1">
              <a:lnSpc>
                <a:spcPct val="80000"/>
              </a:lnSpc>
            </a:pPr>
            <a:r>
              <a:rPr lang="pt-BR" sz="4400" b="1" dirty="0" err="1">
                <a:solidFill>
                  <a:srgbClr val="FFFFFF"/>
                </a:solidFill>
                <a:latin typeface="+mn-lt"/>
                <a:cs typeface="Calibri" panose="020F0502020204030204" pitchFamily="34" charset="0"/>
              </a:rPr>
              <a:t>AdServer</a:t>
            </a:r>
            <a:r>
              <a:rPr lang="pt-BR" sz="4400" b="1" dirty="0">
                <a:solidFill>
                  <a:srgbClr val="FFFFFF"/>
                </a:solidFill>
                <a:latin typeface="+mn-lt"/>
                <a:cs typeface="Calibri" panose="020F0502020204030204" pitchFamily="34" charset="0"/>
              </a:rPr>
              <a:t>/</a:t>
            </a:r>
            <a:r>
              <a:rPr lang="pt-BR" sz="4400" b="1" dirty="0" err="1">
                <a:solidFill>
                  <a:srgbClr val="FFFFFF"/>
                </a:solidFill>
                <a:latin typeface="+mn-lt"/>
                <a:cs typeface="Calibri" panose="020F0502020204030204" pitchFamily="34" charset="0"/>
              </a:rPr>
              <a:t>AdOps</a:t>
            </a:r>
            <a:endParaRPr lang="en-US" sz="4400" b="1" dirty="0">
              <a:solidFill>
                <a:srgbClr val="FFFFFF"/>
              </a:solidFill>
              <a:latin typeface="+mn-lt"/>
              <a:ea typeface="MS PGothic" panose="020B0600070205080204" pitchFamily="34" charset="-128"/>
              <a:cs typeface="Calibri" panose="020F0502020204030204" pitchFamily="34" charset="0"/>
              <a:sym typeface="Century Gothic" panose="020B0502020202020204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7310" r="22942" b="6345"/>
          <a:stretch/>
        </p:blipFill>
        <p:spPr bwMode="auto">
          <a:xfrm>
            <a:off x="5050971" y="-29030"/>
            <a:ext cx="5646058" cy="689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882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3910" y="12169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15938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400" b="1" spc="-150" dirty="0" err="1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AdServer</a:t>
            </a:r>
            <a:r>
              <a:rPr lang="pt-BR" sz="2400" b="1" spc="-150" dirty="0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 - O que é?</a:t>
            </a:r>
            <a:endParaRPr lang="en-US" sz="2400" b="1" spc="-150" dirty="0">
              <a:solidFill>
                <a:schemeClr val="bg1"/>
              </a:solidFill>
              <a:ea typeface="ＭＳ Ｐゴシック" charset="0"/>
              <a:cs typeface="Calibri" panose="020F0502020204030204" pitchFamily="34" charset="0"/>
              <a:sym typeface="Century Gothic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81891" y="1935678"/>
            <a:ext cx="79445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cs typeface="LilyUPC" pitchFamily="34" charset="-34"/>
              </a:rPr>
              <a:t>Plataforma de publicidade que realiza a entrega de banners em sites requisitados em um determinado espaço na página</a:t>
            </a:r>
            <a:r>
              <a:rPr lang="pt-BR" sz="2400" dirty="0">
                <a:latin typeface="+mj-lt"/>
                <a:cs typeface="LilyUPC" pitchFamily="34" charset="-34"/>
              </a:rPr>
              <a:t>.</a:t>
            </a:r>
            <a:endParaRPr lang="pt-BR" sz="2400" dirty="0">
              <a:latin typeface="+mj-lt"/>
            </a:endParaRPr>
          </a:p>
        </p:txBody>
      </p:sp>
      <p:pic>
        <p:nvPicPr>
          <p:cNvPr id="10" name="Picture 38" descr="http://t0.gstatic.com/images?q=tbn:ANd9GcQ5MWppd8sszxgv00Gkx-hEiu-jfRiBS6Paq4jCH9n_SD0q9JIZ"/>
          <p:cNvPicPr>
            <a:picLocks noChangeAspect="1" noChangeArrowheads="1"/>
          </p:cNvPicPr>
          <p:nvPr/>
        </p:nvPicPr>
        <p:blipFill>
          <a:blip r:embed="rId3" cstate="print"/>
          <a:srcRect t="10126"/>
          <a:stretch>
            <a:fillRect/>
          </a:stretch>
        </p:blipFill>
        <p:spPr bwMode="auto">
          <a:xfrm>
            <a:off x="6050425" y="3940879"/>
            <a:ext cx="1265783" cy="1138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726" y="4081521"/>
            <a:ext cx="857250" cy="857250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1258773" y="4367830"/>
            <a:ext cx="1223159" cy="2846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ight Arrow 15"/>
          <p:cNvSpPr/>
          <p:nvPr/>
        </p:nvSpPr>
        <p:spPr>
          <a:xfrm rot="10800000">
            <a:off x="4285002" y="4114675"/>
            <a:ext cx="1223159" cy="2846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ight Arrow 16"/>
          <p:cNvSpPr/>
          <p:nvPr/>
        </p:nvSpPr>
        <p:spPr>
          <a:xfrm>
            <a:off x="4370106" y="4551709"/>
            <a:ext cx="1223159" cy="28463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Box 6"/>
          <p:cNvSpPr txBox="1"/>
          <p:nvPr/>
        </p:nvSpPr>
        <p:spPr>
          <a:xfrm>
            <a:off x="2694905" y="3657204"/>
            <a:ext cx="974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err="1"/>
              <a:t>AdServer</a:t>
            </a:r>
            <a:endParaRPr lang="pt-BR" sz="1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6050425" y="3608464"/>
            <a:ext cx="974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8773" y="4059166"/>
            <a:ext cx="974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Cadastro de banners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4239" y="3665361"/>
            <a:ext cx="974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Requisição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4238" y="4937407"/>
            <a:ext cx="974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Banner</a:t>
            </a:r>
          </a:p>
        </p:txBody>
      </p:sp>
    </p:spTree>
    <p:extLst>
      <p:ext uri="{BB962C8B-B14F-4D97-AF65-F5344CB8AC3E}">
        <p14:creationId xmlns:p14="http://schemas.microsoft.com/office/powerpoint/2010/main" val="390452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17" grpId="0" animBg="1"/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3910" y="12169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15938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en-US" sz="2400" b="1" spc="-150" dirty="0" err="1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AdServer</a:t>
            </a:r>
            <a:r>
              <a:rPr lang="en-US" sz="2400" b="1" spc="-150" dirty="0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 para </a:t>
            </a:r>
            <a:r>
              <a:rPr lang="en-US" sz="2400" b="1" spc="-150" dirty="0" err="1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Anunciantes</a:t>
            </a:r>
            <a:endParaRPr lang="en-US" sz="2400" b="1" spc="-150" dirty="0">
              <a:solidFill>
                <a:schemeClr val="bg1"/>
              </a:solidFill>
              <a:ea typeface="ＭＳ Ｐゴシック" charset="0"/>
              <a:cs typeface="Calibri" panose="020F0502020204030204" pitchFamily="34" charset="0"/>
              <a:sym typeface="Century Gothic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5579"/>
              </p:ext>
            </p:extLst>
          </p:nvPr>
        </p:nvGraphicFramePr>
        <p:xfrm>
          <a:off x="1274250" y="1157589"/>
          <a:ext cx="6409250" cy="4414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50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Com </a:t>
                      </a:r>
                      <a:r>
                        <a:rPr lang="en-US" sz="1600" u="none" strike="noStrike" dirty="0" err="1">
                          <a:effectLst/>
                        </a:rPr>
                        <a:t>AdServer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10" marR="9810" marT="981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5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 err="1">
                          <a:effectLst/>
                        </a:rPr>
                        <a:t>Métricas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10" marR="9810" marT="981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Impressões, Cliques, Interações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10" marR="9810" marT="981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50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u="none" strike="noStrike">
                          <a:effectLst/>
                        </a:rPr>
                        <a:t>Controle de entrega de criativo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10" marR="9810" marT="981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horário, período, quantidade, prioridade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10" marR="9810" marT="981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5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Segmentação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10" marR="9810" marT="981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Geográfica, Browsing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10" marR="9810" marT="981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5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Unificação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10" marR="9810" marT="981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u="none" strike="noStrike">
                          <a:effectLst/>
                        </a:rPr>
                        <a:t>Métricas consolidadas da campanha em relação a todos os veículos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10" marR="9810" marT="981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5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Sobreposição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10" marR="9810" marT="981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u="none" strike="noStrike">
                          <a:effectLst/>
                        </a:rPr>
                        <a:t>Cruzar usuários únicos em diferentes veículos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10" marR="9810" marT="981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5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Acompanhamento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10" marR="9810" marT="981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u="none" strike="noStrike">
                          <a:effectLst/>
                        </a:rPr>
                        <a:t>Permite que você acompanhe em tempo real a entrega da sua campanha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10" marR="9810" marT="981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5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Conversão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10" marR="9810" marT="981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u="none" strike="noStrike">
                          <a:effectLst/>
                        </a:rPr>
                        <a:t>Cruzamento com tags de conversão;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10" marR="9810" marT="981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05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Auditoria*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10" marR="9810" marT="981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u="none" strike="noStrike" dirty="0">
                          <a:effectLst/>
                        </a:rPr>
                        <a:t>Comparar seus resultados com os resultados de veículos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10" marR="9810" marT="981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5930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3910" y="12169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15938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en-US" sz="2400" b="1" spc="-150" dirty="0" err="1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AdServer</a:t>
            </a:r>
            <a:r>
              <a:rPr lang="en-US" sz="2400" b="1" spc="-150" dirty="0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 para </a:t>
            </a:r>
            <a:r>
              <a:rPr lang="en-US" sz="2400" b="1" spc="-150" dirty="0" err="1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Anunciantes</a:t>
            </a:r>
            <a:endParaRPr lang="en-US" sz="2400" b="1" spc="-150" dirty="0">
              <a:solidFill>
                <a:schemeClr val="bg1"/>
              </a:solidFill>
              <a:ea typeface="ＭＳ Ｐゴシック" charset="0"/>
              <a:cs typeface="Calibri" panose="020F0502020204030204" pitchFamily="34" charset="0"/>
              <a:sym typeface="Century Gothic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609712"/>
              </p:ext>
            </p:extLst>
          </p:nvPr>
        </p:nvGraphicFramePr>
        <p:xfrm>
          <a:off x="1436451" y="1628505"/>
          <a:ext cx="676396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1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1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algn="ctr" defTabSz="457126" rtl="0" eaLnBrk="1" latinLnBrk="0" hangingPunct="1"/>
                      <a:r>
                        <a:rPr lang="pt-BR" sz="1600" kern="1200" dirty="0"/>
                        <a:t>Formatos Básicos</a:t>
                      </a:r>
                      <a:endParaRPr lang="pt-B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Standard Display*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Utiliza</a:t>
                      </a:r>
                      <a:r>
                        <a:rPr lang="pt-BR" sz="1600" baseline="0" dirty="0"/>
                        <a:t> imagem para vender</a:t>
                      </a:r>
                      <a:endParaRPr lang="pt-BR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Criativos Dinâmicos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A partir de um mesmo </a:t>
                      </a:r>
                      <a:r>
                        <a:rPr lang="pt-BR" sz="1600" dirty="0" err="1"/>
                        <a:t>template</a:t>
                      </a:r>
                      <a:r>
                        <a:rPr lang="pt-BR" sz="1600" dirty="0"/>
                        <a:t>, permite trocar</a:t>
                      </a:r>
                      <a:r>
                        <a:rPr lang="pt-BR" sz="1600" baseline="0" dirty="0"/>
                        <a:t> as informações de forma dinâmica.</a:t>
                      </a:r>
                      <a:endParaRPr lang="pt-BR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/>
                        <a:t>Rich</a:t>
                      </a:r>
                      <a:r>
                        <a:rPr lang="pt-BR" sz="1600" dirty="0"/>
                        <a:t> Media*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Permite</a:t>
                      </a:r>
                      <a:r>
                        <a:rPr lang="pt-BR" sz="1600" baseline="0" dirty="0"/>
                        <a:t> uma maior interação.</a:t>
                      </a:r>
                      <a:br>
                        <a:rPr lang="pt-BR" sz="1600" baseline="0" dirty="0"/>
                      </a:br>
                      <a:r>
                        <a:rPr lang="pt-BR" sz="1600" baseline="0" dirty="0"/>
                        <a:t>Formatos Expansíveis ou Flutuantes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/>
                        <a:t>Tracking</a:t>
                      </a:r>
                      <a:r>
                        <a:rPr lang="pt-BR" sz="1600" dirty="0"/>
                        <a:t> Pixel e Click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Linhas de código que permitem a contabilização de impressões e clicks. Acompanha</a:t>
                      </a:r>
                      <a:r>
                        <a:rPr lang="pt-BR" sz="1600" baseline="0" dirty="0"/>
                        <a:t> o criativo.</a:t>
                      </a:r>
                      <a:endParaRPr lang="pt-BR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49667" y="4717145"/>
            <a:ext cx="1526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*Definição do Google</a:t>
            </a:r>
          </a:p>
        </p:txBody>
      </p:sp>
    </p:spTree>
    <p:extLst>
      <p:ext uri="{BB962C8B-B14F-4D97-AF65-F5344CB8AC3E}">
        <p14:creationId xmlns:p14="http://schemas.microsoft.com/office/powerpoint/2010/main" val="1225970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3910" y="12169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15938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en-US" sz="2400" b="1" spc="-150" dirty="0" err="1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AdServer</a:t>
            </a:r>
            <a:r>
              <a:rPr lang="en-US" sz="2400" b="1" spc="-150" dirty="0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 para </a:t>
            </a:r>
            <a:r>
              <a:rPr lang="en-US" sz="2400" b="1" spc="-150" dirty="0" err="1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Anunciantes</a:t>
            </a:r>
            <a:endParaRPr lang="en-US" sz="2400" b="1" spc="-150" dirty="0">
              <a:solidFill>
                <a:schemeClr val="bg1"/>
              </a:solidFill>
              <a:ea typeface="ＭＳ Ｐゴシック" charset="0"/>
              <a:cs typeface="Calibri" panose="020F0502020204030204" pitchFamily="34" charset="0"/>
              <a:sym typeface="Century Gothic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996575"/>
              </p:ext>
            </p:extLst>
          </p:nvPr>
        </p:nvGraphicFramePr>
        <p:xfrm>
          <a:off x="428017" y="1759896"/>
          <a:ext cx="8229598" cy="3609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9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94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03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 err="1">
                          <a:effectLst/>
                        </a:rPr>
                        <a:t>Adserver</a:t>
                      </a:r>
                      <a:r>
                        <a:rPr lang="en-US" sz="1500" u="none" strike="noStrike" dirty="0">
                          <a:effectLst/>
                        </a:rPr>
                        <a:t> para </a:t>
                      </a:r>
                      <a:r>
                        <a:rPr lang="en-US" sz="1500" u="none" strike="noStrike" dirty="0" err="1">
                          <a:effectLst/>
                        </a:rPr>
                        <a:t>anunciantes</a:t>
                      </a:r>
                      <a:endParaRPr lang="en-US" sz="15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Standard Display</a:t>
                      </a:r>
                      <a:endParaRPr lang="en-US" sz="15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Criativos </a:t>
                      </a:r>
                      <a:endParaRPr lang="en-US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Rich</a:t>
                      </a:r>
                      <a:endParaRPr lang="en-US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Tracking</a:t>
                      </a:r>
                      <a:endParaRPr lang="en-US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Tracking</a:t>
                      </a:r>
                      <a:endParaRPr lang="en-US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0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Dinâmicos</a:t>
                      </a:r>
                      <a:endParaRPr lang="en-US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Media</a:t>
                      </a:r>
                      <a:endParaRPr lang="en-US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Pixel + Click</a:t>
                      </a:r>
                      <a:endParaRPr lang="en-US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Click</a:t>
                      </a:r>
                      <a:endParaRPr lang="en-US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Métricas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Sim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Somente Impressão e Clique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Somente Clique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1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 err="1">
                          <a:effectLst/>
                        </a:rPr>
                        <a:t>Controle</a:t>
                      </a:r>
                      <a:r>
                        <a:rPr lang="en-US" sz="1500" u="none" strike="noStrike" dirty="0">
                          <a:effectLst/>
                        </a:rPr>
                        <a:t> de </a:t>
                      </a:r>
                      <a:r>
                        <a:rPr lang="en-US" sz="1500" u="none" strike="noStrike" dirty="0" err="1">
                          <a:effectLst/>
                        </a:rPr>
                        <a:t>entrega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Sim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Sim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Não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Não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Segmentação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Sim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Não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Não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Unificação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Sobreposição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Acompanhamento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Conversão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Auditoria*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Sim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Sim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Sim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0" marR="9090" marT="909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541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3910" y="95003"/>
            <a:ext cx="9156194" cy="65554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15938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en-US" sz="2400" b="1" spc="-150" dirty="0" err="1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AdOps</a:t>
            </a:r>
            <a:endParaRPr lang="en-US" sz="2400" b="1" spc="-150" dirty="0">
              <a:solidFill>
                <a:schemeClr val="bg1"/>
              </a:solidFill>
              <a:ea typeface="ＭＳ Ｐゴシック" charset="0"/>
              <a:cs typeface="Calibri" panose="020F0502020204030204" pitchFamily="34" charset="0"/>
              <a:sym typeface="Century Gothic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1891" y="1122894"/>
            <a:ext cx="7944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+mj-lt"/>
                <a:cs typeface="LilyUPC" pitchFamily="34" charset="-34"/>
              </a:rPr>
              <a:t>Funções </a:t>
            </a:r>
            <a:r>
              <a:rPr lang="pt-BR" sz="2400" dirty="0" err="1">
                <a:latin typeface="+mj-lt"/>
                <a:cs typeface="LilyUPC" pitchFamily="34" charset="-34"/>
              </a:rPr>
              <a:t>AdOps</a:t>
            </a:r>
            <a:r>
              <a:rPr lang="pt-BR" sz="2400" dirty="0">
                <a:latin typeface="+mj-lt"/>
                <a:cs typeface="LilyUPC" pitchFamily="34" charset="-34"/>
              </a:rPr>
              <a:t>/</a:t>
            </a:r>
            <a:r>
              <a:rPr lang="pt-BR" sz="2400" dirty="0" err="1">
                <a:latin typeface="+mj-lt"/>
                <a:cs typeface="LilyUPC" pitchFamily="34" charset="-34"/>
              </a:rPr>
              <a:t>Adserver</a:t>
            </a:r>
            <a:endParaRPr lang="pt-BR" sz="2400" dirty="0">
              <a:latin typeface="+mj-lt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529751"/>
              </p:ext>
            </p:extLst>
          </p:nvPr>
        </p:nvGraphicFramePr>
        <p:xfrm>
          <a:off x="2504331" y="2202279"/>
          <a:ext cx="4013200" cy="2700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1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197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>
                          <a:effectLst/>
                        </a:rPr>
                        <a:t>Configurar AdServer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066" marR="11066" marT="11066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97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>
                          <a:effectLst/>
                        </a:rPr>
                        <a:t>Cadastramento das peças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066" marR="11066" marT="11066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97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>
                          <a:effectLst/>
                        </a:rPr>
                        <a:t>Interface técnica com veículos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066" marR="11066" marT="11066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97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>
                          <a:effectLst/>
                        </a:rPr>
                        <a:t>Suporte para discrepâncias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066" marR="11066" marT="11066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0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>
                          <a:effectLst/>
                        </a:rPr>
                        <a:t>Disparo de materiais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066" marR="11066" marT="11066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0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>
                          <a:effectLst/>
                        </a:rPr>
                        <a:t>Controle de Under e Over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066" marR="11066" marT="11066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0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>
                          <a:effectLst/>
                        </a:rPr>
                        <a:t>Checking de veiculações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066" marR="11066" marT="11066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0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</a:rPr>
                        <a:t>Interface com </a:t>
                      </a:r>
                      <a:r>
                        <a:rPr lang="en-US" sz="2000" u="none" strike="noStrike" dirty="0" err="1">
                          <a:effectLst/>
                        </a:rPr>
                        <a:t>veículo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066" marR="11066" marT="11066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1541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3910" y="12169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15938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en-US" sz="2400" b="1" spc="-150" dirty="0" err="1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AdOps</a:t>
            </a:r>
            <a:r>
              <a:rPr lang="en-US" sz="2400" b="1" spc="-150" dirty="0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 + </a:t>
            </a:r>
            <a:r>
              <a:rPr lang="en-US" sz="2400" b="1" spc="-150" dirty="0" err="1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AdServer</a:t>
            </a:r>
            <a:endParaRPr lang="en-US" sz="2400" b="1" spc="-150" dirty="0">
              <a:solidFill>
                <a:schemeClr val="bg1"/>
              </a:solidFill>
              <a:ea typeface="ＭＳ Ｐゴシック" charset="0"/>
              <a:cs typeface="Calibri" panose="020F0502020204030204" pitchFamily="34" charset="0"/>
              <a:sym typeface="Century Gothic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11105" y="1937641"/>
            <a:ext cx="8141065" cy="3362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2"/>
                </a:solidFill>
              </a:rPr>
              <a:t>Dados em tempo real unificados por campanha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2"/>
                </a:solidFill>
              </a:rPr>
              <a:t>Cruzamentos com dados de conversão e entre veículos (sobreposição)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2"/>
                </a:solidFill>
              </a:rPr>
              <a:t>Imediatismo. Menor tempo de resposta em ajustes da campanha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2"/>
                </a:solidFill>
              </a:rPr>
              <a:t>Melhor qualidade de dados para tomada de decisão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2"/>
                </a:solidFill>
              </a:rPr>
              <a:t>Facilitando a melhor analise de BI</a:t>
            </a:r>
          </a:p>
        </p:txBody>
      </p:sp>
      <p:sp>
        <p:nvSpPr>
          <p:cNvPr id="8" name="Rectangle 7"/>
          <p:cNvSpPr/>
          <p:nvPr/>
        </p:nvSpPr>
        <p:spPr>
          <a:xfrm>
            <a:off x="901182" y="1675459"/>
            <a:ext cx="1799773" cy="478971"/>
          </a:xfrm>
          <a:prstGeom prst="rect">
            <a:avLst/>
          </a:prstGeom>
          <a:solidFill>
            <a:schemeClr val="tx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Benefícios:</a:t>
            </a:r>
          </a:p>
        </p:txBody>
      </p:sp>
    </p:spTree>
    <p:extLst>
      <p:ext uri="{BB962C8B-B14F-4D97-AF65-F5344CB8AC3E}">
        <p14:creationId xmlns:p14="http://schemas.microsoft.com/office/powerpoint/2010/main" val="1638303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78"/>
          <a:stretch/>
        </p:blipFill>
        <p:spPr bwMode="auto">
          <a:xfrm>
            <a:off x="-19050" y="-11040"/>
            <a:ext cx="10725150" cy="690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7310" r="22942" b="6345"/>
          <a:stretch/>
        </p:blipFill>
        <p:spPr bwMode="auto">
          <a:xfrm>
            <a:off x="5050971" y="-29030"/>
            <a:ext cx="5646058" cy="689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4580" name="Rectangle 3"/>
          <p:cNvSpPr>
            <a:spLocks/>
          </p:cNvSpPr>
          <p:nvPr/>
        </p:nvSpPr>
        <p:spPr bwMode="auto">
          <a:xfrm>
            <a:off x="1102603" y="1571170"/>
            <a:ext cx="37909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r" eaLnBrk="1" hangingPunct="1">
              <a:lnSpc>
                <a:spcPct val="80000"/>
              </a:lnSpc>
            </a:pPr>
            <a:endParaRPr lang="en-US" sz="2400" b="1" dirty="0">
              <a:solidFill>
                <a:srgbClr val="FFFFFF"/>
              </a:solidFill>
              <a:latin typeface="Century Gothic" panose="020B0502020202020204" pitchFamily="34" charset="0"/>
              <a:ea typeface="MS PGothic" panose="020B0600070205080204" pitchFamily="34" charset="-128"/>
              <a:sym typeface="Century Gothic" panose="020B0502020202020204" pitchFamily="34" charset="0"/>
            </a:endParaRPr>
          </a:p>
        </p:txBody>
      </p:sp>
      <p:sp>
        <p:nvSpPr>
          <p:cNvPr id="5" name="Rectangle 3"/>
          <p:cNvSpPr>
            <a:spLocks/>
          </p:cNvSpPr>
          <p:nvPr/>
        </p:nvSpPr>
        <p:spPr bwMode="auto">
          <a:xfrm>
            <a:off x="1981200" y="2364921"/>
            <a:ext cx="2912354" cy="73479"/>
          </a:xfrm>
          <a:prstGeom prst="rect">
            <a:avLst/>
          </a:prstGeom>
          <a:solidFill>
            <a:srgbClr val="FFFAF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1pPr>
            <a:lvl2pPr marL="742950" indent="-285750"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2pPr>
            <a:lvl3pPr marL="1143000" indent="-228600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pt-BR" sz="4200">
              <a:solidFill>
                <a:srgbClr val="000000"/>
              </a:solidFill>
              <a:latin typeface="Gill Sans" charset="0"/>
              <a:sym typeface="Gill Sans" charset="0"/>
            </a:endParaRPr>
          </a:p>
        </p:txBody>
      </p:sp>
      <p:sp>
        <p:nvSpPr>
          <p:cNvPr id="9" name="Rectangle 3"/>
          <p:cNvSpPr>
            <a:spLocks/>
          </p:cNvSpPr>
          <p:nvPr/>
        </p:nvSpPr>
        <p:spPr bwMode="auto">
          <a:xfrm>
            <a:off x="1102603" y="2993570"/>
            <a:ext cx="37909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r" eaLnBrk="1" hangingPunct="1">
              <a:lnSpc>
                <a:spcPct val="80000"/>
              </a:lnSpc>
            </a:pPr>
            <a:r>
              <a:rPr lang="pt-BR" sz="2800" b="1" dirty="0">
                <a:solidFill>
                  <a:srgbClr val="FFFFFF"/>
                </a:solidFill>
                <a:latin typeface="+mn-lt"/>
                <a:cs typeface="Calibri" panose="020F0502020204030204" pitchFamily="34" charset="0"/>
              </a:rPr>
              <a:t>Processos</a:t>
            </a:r>
            <a:endParaRPr lang="en-US" sz="2800" b="1" dirty="0">
              <a:solidFill>
                <a:srgbClr val="FFFFFF"/>
              </a:solidFill>
              <a:latin typeface="+mn-lt"/>
              <a:ea typeface="MS PGothic" panose="020B0600070205080204" pitchFamily="34" charset="-128"/>
              <a:cs typeface="Calibri" panose="020F050202020403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2" name="Rectangle 3"/>
          <p:cNvSpPr>
            <a:spLocks/>
          </p:cNvSpPr>
          <p:nvPr/>
        </p:nvSpPr>
        <p:spPr bwMode="auto">
          <a:xfrm>
            <a:off x="664029" y="2449285"/>
            <a:ext cx="4229524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r" eaLnBrk="1" hangingPunct="1">
              <a:lnSpc>
                <a:spcPct val="80000"/>
              </a:lnSpc>
            </a:pPr>
            <a:r>
              <a:rPr lang="pt-BR" sz="4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AdOps</a:t>
            </a:r>
            <a:endParaRPr lang="en-US" sz="4800" b="1" dirty="0">
              <a:solidFill>
                <a:srgbClr val="FFFFFF"/>
              </a:solidFill>
              <a:latin typeface="Calibri" panose="020F0502020204030204" pitchFamily="34" charset="0"/>
              <a:ea typeface="MS PGothic" panose="020B0600070205080204" pitchFamily="34" charset="-128"/>
              <a:cs typeface="Calibri" panose="020F050202020403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334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3910" y="12169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15938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en-US" sz="2400" b="1" spc="-150" dirty="0" err="1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AdOps</a:t>
            </a:r>
            <a:r>
              <a:rPr lang="en-US" sz="2400" b="1" spc="-150" dirty="0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 + </a:t>
            </a:r>
            <a:r>
              <a:rPr lang="en-US" sz="2400" b="1" spc="-150" dirty="0" err="1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Clientes</a:t>
            </a:r>
            <a:endParaRPr lang="en-US" sz="2400" b="1" spc="-150" dirty="0">
              <a:solidFill>
                <a:schemeClr val="bg1"/>
              </a:solidFill>
              <a:ea typeface="ＭＳ Ｐゴシック" charset="0"/>
              <a:cs typeface="Calibri" panose="020F0502020204030204" pitchFamily="34" charset="0"/>
              <a:sym typeface="Century Gothic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5751" y="1081901"/>
            <a:ext cx="1799773" cy="478971"/>
          </a:xfrm>
          <a:prstGeom prst="rect">
            <a:avLst/>
          </a:prstGeom>
          <a:solidFill>
            <a:schemeClr val="tx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Clientes:</a:t>
            </a:r>
          </a:p>
        </p:txBody>
      </p:sp>
      <p:pic>
        <p:nvPicPr>
          <p:cNvPr id="1026" name="Picture 2" descr="Resultado de imagem para gol linhas aereas">
            <a:extLst>
              <a:ext uri="{FF2B5EF4-FFF2-40B4-BE49-F238E27FC236}">
                <a16:creationId xmlns:a16="http://schemas.microsoft.com/office/drawing/2014/main" id="{75203234-F221-4085-8FA9-8BF562CB6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30" y="2347595"/>
            <a:ext cx="2161783" cy="1158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m para Volkswagen">
            <a:extLst>
              <a:ext uri="{FF2B5EF4-FFF2-40B4-BE49-F238E27FC236}">
                <a16:creationId xmlns:a16="http://schemas.microsoft.com/office/drawing/2014/main" id="{7BE290DA-498B-4B1B-9FD5-E33A944AE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683" y="2553547"/>
            <a:ext cx="2730779" cy="2730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12" descr="Resultado de imagem para Visa logo">
            <a:extLst>
              <a:ext uri="{FF2B5EF4-FFF2-40B4-BE49-F238E27FC236}">
                <a16:creationId xmlns:a16="http://schemas.microsoft.com/office/drawing/2014/main" id="{7B591AC7-29ED-437E-AE96-BC6A9E3050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44" name="Picture 20" descr="Resultado de imagem para visa png">
            <a:extLst>
              <a:ext uri="{FF2B5EF4-FFF2-40B4-BE49-F238E27FC236}">
                <a16:creationId xmlns:a16="http://schemas.microsoft.com/office/drawing/2014/main" id="{73D03805-8DCE-4614-987E-32C9CCD14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558" y="2110587"/>
            <a:ext cx="2359987" cy="147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Resultado de imagem para HP logo">
            <a:extLst>
              <a:ext uri="{FF2B5EF4-FFF2-40B4-BE49-F238E27FC236}">
                <a16:creationId xmlns:a16="http://schemas.microsoft.com/office/drawing/2014/main" id="{C94B199A-6206-4AC9-AF7A-C2D645B64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93" y="4271070"/>
            <a:ext cx="1720785" cy="1720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Resultado de imagem para elmas chips">
            <a:extLst>
              <a:ext uri="{FF2B5EF4-FFF2-40B4-BE49-F238E27FC236}">
                <a16:creationId xmlns:a16="http://schemas.microsoft.com/office/drawing/2014/main" id="{793CB4C4-946B-41AF-AFC5-AF6C24360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8152" y="3937513"/>
            <a:ext cx="3610762" cy="231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m para logo alpargatas png">
            <a:extLst>
              <a:ext uri="{FF2B5EF4-FFF2-40B4-BE49-F238E27FC236}">
                <a16:creationId xmlns:a16="http://schemas.microsoft.com/office/drawing/2014/main" id="{2792F08C-43D1-4A9E-ACDC-9297A8D81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085" y="1161540"/>
            <a:ext cx="4467549" cy="977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609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3910" y="12169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15938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en-US" sz="2400" b="1" spc="-150" dirty="0" err="1">
                <a:solidFill>
                  <a:schemeClr val="bg1"/>
                </a:solidFill>
                <a:ea typeface="ＭＳ Ｐゴシック" charset="0"/>
                <a:sym typeface="Century Gothic" charset="0"/>
              </a:rPr>
              <a:t>AdOps</a:t>
            </a:r>
            <a:r>
              <a:rPr lang="en-US" sz="2400" b="1" spc="-150" dirty="0">
                <a:solidFill>
                  <a:schemeClr val="bg1"/>
                </a:solidFill>
                <a:ea typeface="ＭＳ Ｐゴシック" charset="0"/>
                <a:sym typeface="Century Gothic" charset="0"/>
              </a:rPr>
              <a:t> + </a:t>
            </a:r>
            <a:r>
              <a:rPr lang="en-US" sz="2400" b="1" spc="-150" dirty="0" err="1">
                <a:solidFill>
                  <a:schemeClr val="bg1"/>
                </a:solidFill>
                <a:ea typeface="ＭＳ Ｐゴシック" charset="0"/>
                <a:sym typeface="Century Gothic" charset="0"/>
              </a:rPr>
              <a:t>Equipe</a:t>
            </a:r>
            <a:endParaRPr lang="en-US" sz="2400" b="1" spc="-150" dirty="0">
              <a:solidFill>
                <a:schemeClr val="bg1"/>
              </a:solidFill>
              <a:ea typeface="ＭＳ Ｐゴシック" charset="0"/>
              <a:sym typeface="Century Gothic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11105" y="1937641"/>
            <a:ext cx="8141065" cy="3362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2"/>
                </a:solidFill>
              </a:rPr>
              <a:t>Simone Fernandes - Gerente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2"/>
                </a:solidFill>
              </a:rPr>
              <a:t>Wilson Silva - Supervisor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2"/>
                </a:solidFill>
              </a:rPr>
              <a:t>Rayza Soares - Coordenadora</a:t>
            </a:r>
          </a:p>
        </p:txBody>
      </p:sp>
      <p:sp>
        <p:nvSpPr>
          <p:cNvPr id="8" name="Rectangle 7"/>
          <p:cNvSpPr/>
          <p:nvPr/>
        </p:nvSpPr>
        <p:spPr>
          <a:xfrm>
            <a:off x="901182" y="1675459"/>
            <a:ext cx="1799773" cy="478971"/>
          </a:xfrm>
          <a:prstGeom prst="rect">
            <a:avLst/>
          </a:prstGeom>
          <a:solidFill>
            <a:schemeClr val="tx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Equipe:</a:t>
            </a:r>
          </a:p>
        </p:txBody>
      </p:sp>
    </p:spTree>
    <p:extLst>
      <p:ext uri="{BB962C8B-B14F-4D97-AF65-F5344CB8AC3E}">
        <p14:creationId xmlns:p14="http://schemas.microsoft.com/office/powerpoint/2010/main" val="198532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3910" y="12169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15938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en-US" sz="2400" b="1" spc="-150" dirty="0" err="1">
                <a:solidFill>
                  <a:schemeClr val="bg1"/>
                </a:solidFill>
                <a:latin typeface="+mj-lt"/>
                <a:ea typeface="ＭＳ Ｐゴシック" charset="0"/>
                <a:sym typeface="Century Gothic" charset="0"/>
              </a:rPr>
              <a:t>AdOps</a:t>
            </a:r>
            <a:r>
              <a:rPr lang="en-US" sz="2400" b="1" spc="-150" dirty="0">
                <a:solidFill>
                  <a:schemeClr val="bg1"/>
                </a:solidFill>
                <a:latin typeface="+mj-lt"/>
                <a:ea typeface="ＭＳ Ｐゴシック" charset="0"/>
                <a:sym typeface="Century Gothic" charset="0"/>
              </a:rPr>
              <a:t> + </a:t>
            </a:r>
            <a:r>
              <a:rPr lang="en-US" sz="2400" b="1" spc="-150" dirty="0" err="1">
                <a:solidFill>
                  <a:schemeClr val="bg1"/>
                </a:solidFill>
                <a:latin typeface="+mj-lt"/>
                <a:ea typeface="ＭＳ Ｐゴシック" charset="0"/>
                <a:sym typeface="Century Gothic" charset="0"/>
              </a:rPr>
              <a:t>Midia</a:t>
            </a:r>
            <a:r>
              <a:rPr lang="en-US" sz="2400" b="1" spc="-150" dirty="0">
                <a:solidFill>
                  <a:schemeClr val="bg1"/>
                </a:solidFill>
                <a:latin typeface="+mj-lt"/>
                <a:ea typeface="ＭＳ Ｐゴシック" charset="0"/>
                <a:sym typeface="Century Gothic" charset="0"/>
              </a:rPr>
              <a:t> + Atendimento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422" y="1831419"/>
            <a:ext cx="1799773" cy="478971"/>
          </a:xfrm>
          <a:prstGeom prst="rect">
            <a:avLst/>
          </a:prstGeom>
          <a:solidFill>
            <a:schemeClr val="tx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Plano da Campanha é Aprovado</a:t>
            </a:r>
          </a:p>
          <a:p>
            <a:pPr algn="ctr"/>
            <a:endParaRPr lang="pt-BR" sz="13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668347" y="956720"/>
            <a:ext cx="2046299" cy="478971"/>
          </a:xfrm>
          <a:prstGeom prst="rect">
            <a:avLst/>
          </a:prstGeom>
          <a:solidFill>
            <a:schemeClr val="tx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AdOps é avisado que terá uma campanha “X”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915" y="2690388"/>
            <a:ext cx="1799773" cy="643959"/>
          </a:xfrm>
          <a:prstGeom prst="rect">
            <a:avLst/>
          </a:prstGeom>
          <a:solidFill>
            <a:schemeClr val="tx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Midia monta o Planilha de </a:t>
            </a:r>
            <a:r>
              <a:rPr lang="pt-BR" sz="13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Specs</a:t>
            </a:r>
            <a:r>
              <a:rPr lang="pt-B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repassa para atendimento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2990" y="3849338"/>
            <a:ext cx="2153303" cy="597319"/>
          </a:xfrm>
          <a:prstGeom prst="rect">
            <a:avLst/>
          </a:prstGeom>
          <a:solidFill>
            <a:schemeClr val="tx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Atendimento envia para produtora criar as peças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2887" y="4961649"/>
            <a:ext cx="2153303" cy="696011"/>
          </a:xfrm>
          <a:prstGeom prst="rect">
            <a:avLst/>
          </a:prstGeom>
          <a:solidFill>
            <a:schemeClr val="tx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Produtora envia as peças para o atendimento que repassa para Mídia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3518" y="5630383"/>
            <a:ext cx="2255502" cy="687627"/>
          </a:xfrm>
          <a:prstGeom prst="rect">
            <a:avLst/>
          </a:prstGeom>
          <a:solidFill>
            <a:schemeClr val="tx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Mídia cria o ADP e envia para </a:t>
            </a:r>
            <a:r>
              <a:rPr lang="pt-BR" sz="13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AdOps</a:t>
            </a:r>
            <a:r>
              <a:rPr lang="pt-B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com as peças</a:t>
            </a:r>
          </a:p>
          <a:p>
            <a:pPr algn="ctr"/>
            <a:endParaRPr lang="pt-BR" sz="13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45953" y="4906955"/>
            <a:ext cx="2255502" cy="687627"/>
          </a:xfrm>
          <a:prstGeom prst="rect">
            <a:avLst/>
          </a:prstGeom>
          <a:solidFill>
            <a:schemeClr val="tx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13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pt-BR" sz="13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AdOps</a:t>
            </a:r>
            <a:r>
              <a:rPr lang="pt-B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Valida ADP + Peças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49182" y="3796254"/>
            <a:ext cx="2255502" cy="650403"/>
          </a:xfrm>
          <a:prstGeom prst="rect">
            <a:avLst/>
          </a:prstGeom>
          <a:solidFill>
            <a:schemeClr val="tx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Validação Ok, </a:t>
            </a:r>
            <a:r>
              <a:rPr lang="pt-BR" sz="13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AdOps</a:t>
            </a:r>
            <a:r>
              <a:rPr lang="pt-B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gera as </a:t>
            </a:r>
            <a:r>
              <a:rPr lang="pt-BR" sz="13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Tags</a:t>
            </a:r>
            <a:r>
              <a:rPr lang="pt-B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contadores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8480" y="2729371"/>
            <a:ext cx="2255502" cy="565992"/>
          </a:xfrm>
          <a:prstGeom prst="rect">
            <a:avLst/>
          </a:prstGeom>
          <a:solidFill>
            <a:schemeClr val="tx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AdOps  faz os envios de materiais para os portais.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9076" y="1650557"/>
            <a:ext cx="2255502" cy="565992"/>
          </a:xfrm>
          <a:prstGeom prst="rect">
            <a:avLst/>
          </a:prstGeom>
          <a:solidFill>
            <a:schemeClr val="tx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AdOps  checa a contabilização dos banners encaminhados.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2041142" y="1527124"/>
            <a:ext cx="88862" cy="177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7680431" y="2317699"/>
            <a:ext cx="158228" cy="238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cxnSpLocks/>
          </p:cNvCxnSpPr>
          <p:nvPr/>
        </p:nvCxnSpPr>
        <p:spPr>
          <a:xfrm flipH="1" flipV="1">
            <a:off x="7865303" y="3420831"/>
            <a:ext cx="53424" cy="15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7675009" y="4578292"/>
            <a:ext cx="122445" cy="168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6183960" y="5758773"/>
            <a:ext cx="124776" cy="68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1293779" y="2436745"/>
            <a:ext cx="64408" cy="198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>
            <a:off x="1293779" y="3441165"/>
            <a:ext cx="64408" cy="317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1627408" y="4635793"/>
            <a:ext cx="84660" cy="1779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115913" y="5784538"/>
            <a:ext cx="120277" cy="120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http://mensagens.culturamix.com/blog/wp-content/gallery/5-213/frases-sobre-o-trabalho-em-equipe-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898" y="2052083"/>
            <a:ext cx="2664488" cy="2664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 18">
            <a:extLst>
              <a:ext uri="{FF2B5EF4-FFF2-40B4-BE49-F238E27FC236}">
                <a16:creationId xmlns:a16="http://schemas.microsoft.com/office/drawing/2014/main" id="{0AA40FEB-9DF0-4955-B625-F2548B02E076}"/>
              </a:ext>
            </a:extLst>
          </p:cNvPr>
          <p:cNvSpPr/>
          <p:nvPr/>
        </p:nvSpPr>
        <p:spPr>
          <a:xfrm>
            <a:off x="4950471" y="884399"/>
            <a:ext cx="2097274" cy="497578"/>
          </a:xfrm>
          <a:prstGeom prst="rect">
            <a:avLst/>
          </a:prstGeom>
          <a:solidFill>
            <a:schemeClr val="tx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precise, </a:t>
            </a:r>
            <a:r>
              <a:rPr lang="pt-BR" sz="13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AdOps</a:t>
            </a:r>
            <a:r>
              <a:rPr lang="pt-B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faz o acompanhamento de U x O</a:t>
            </a:r>
          </a:p>
        </p:txBody>
      </p:sp>
      <p:cxnSp>
        <p:nvCxnSpPr>
          <p:cNvPr id="33" name="Straight Arrow Connector 20">
            <a:extLst>
              <a:ext uri="{FF2B5EF4-FFF2-40B4-BE49-F238E27FC236}">
                <a16:creationId xmlns:a16="http://schemas.microsoft.com/office/drawing/2014/main" id="{5348BE69-D0A4-48D6-82DF-4AC85C916238}"/>
              </a:ext>
            </a:extLst>
          </p:cNvPr>
          <p:cNvCxnSpPr/>
          <p:nvPr/>
        </p:nvCxnSpPr>
        <p:spPr>
          <a:xfrm flipH="1" flipV="1">
            <a:off x="6838543" y="1397221"/>
            <a:ext cx="158228" cy="238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33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1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3910" y="12169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15938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en-US" sz="2400" b="1" spc="-150" dirty="0" err="1">
                <a:solidFill>
                  <a:schemeClr val="bg1"/>
                </a:solidFill>
                <a:ea typeface="ＭＳ Ｐゴシック" charset="0"/>
                <a:sym typeface="Century Gothic" charset="0"/>
              </a:rPr>
              <a:t>Importante</a:t>
            </a:r>
            <a:endParaRPr lang="en-US" sz="2400" b="1" spc="-150" dirty="0">
              <a:solidFill>
                <a:schemeClr val="bg1"/>
              </a:solidFill>
              <a:ea typeface="ＭＳ Ｐゴシック" charset="0"/>
              <a:sym typeface="Century Gothic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-11955" y="2905043"/>
            <a:ext cx="9167910" cy="12759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2"/>
                </a:solidFill>
              </a:rPr>
              <a:t>AdOps tem o prazo de até 48h para a implementação do material após recebido corretamente.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2642" y="1091799"/>
            <a:ext cx="1799773" cy="406261"/>
          </a:xfrm>
          <a:prstGeom prst="rect">
            <a:avLst/>
          </a:prstGeom>
          <a:solidFill>
            <a:schemeClr val="tx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Prazos</a:t>
            </a:r>
          </a:p>
        </p:txBody>
      </p:sp>
    </p:spTree>
    <p:extLst>
      <p:ext uri="{BB962C8B-B14F-4D97-AF65-F5344CB8AC3E}">
        <p14:creationId xmlns:p14="http://schemas.microsoft.com/office/powerpoint/2010/main" val="2308469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3910" y="12169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15938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en-US" sz="2400" b="1" spc="-150" dirty="0" err="1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Equipe</a:t>
            </a:r>
            <a:r>
              <a:rPr lang="en-US" sz="2400" b="1" spc="-150" dirty="0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 </a:t>
            </a:r>
            <a:r>
              <a:rPr lang="en-US" sz="2400" b="1" spc="-150" dirty="0" err="1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AdOps</a:t>
            </a:r>
            <a:endParaRPr lang="en-US" sz="2400" b="1" spc="-150" dirty="0">
              <a:solidFill>
                <a:schemeClr val="bg1"/>
              </a:solidFill>
              <a:ea typeface="ＭＳ Ｐゴシック" charset="0"/>
              <a:cs typeface="Calibri" panose="020F0502020204030204" pitchFamily="34" charset="0"/>
              <a:sym typeface="Century Gothic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972" y="972457"/>
            <a:ext cx="1691297" cy="584775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3543" y="972457"/>
            <a:ext cx="1376274" cy="584775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Padrão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114" y="972457"/>
            <a:ext cx="1652247" cy="584775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090029" y="1915874"/>
            <a:ext cx="1001486" cy="493486"/>
          </a:xfrm>
          <a:prstGeom prst="rightArrow">
            <a:avLst/>
          </a:prstGeom>
          <a:solidFill>
            <a:schemeClr val="tx2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512430" y="1962562"/>
            <a:ext cx="6168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PC Padronizado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12430" y="2514102"/>
            <a:ext cx="6168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Recebimento Centralizado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12430" y="3203837"/>
            <a:ext cx="6168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Indicadores de 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12430" y="3806185"/>
            <a:ext cx="6168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Controle de Erros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12430" y="4423048"/>
            <a:ext cx="6168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Automação</a:t>
            </a:r>
          </a:p>
        </p:txBody>
      </p:sp>
      <p:sp>
        <p:nvSpPr>
          <p:cNvPr id="6" name="Plus 5"/>
          <p:cNvSpPr/>
          <p:nvPr/>
        </p:nvSpPr>
        <p:spPr>
          <a:xfrm>
            <a:off x="1364323" y="5355770"/>
            <a:ext cx="1117600" cy="1059543"/>
          </a:xfrm>
          <a:prstGeom prst="mathPlus">
            <a:avLst/>
          </a:prstGeom>
          <a:solidFill>
            <a:schemeClr val="tx2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710834" y="5593153"/>
            <a:ext cx="1841723" cy="584775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Completo</a:t>
            </a:r>
          </a:p>
        </p:txBody>
      </p:sp>
      <p:sp>
        <p:nvSpPr>
          <p:cNvPr id="47" name="Plus 46"/>
          <p:cNvSpPr/>
          <p:nvPr/>
        </p:nvSpPr>
        <p:spPr>
          <a:xfrm>
            <a:off x="5011367" y="5355770"/>
            <a:ext cx="1117600" cy="1059543"/>
          </a:xfrm>
          <a:prstGeom prst="mathPlus">
            <a:avLst/>
          </a:prstGeom>
          <a:solidFill>
            <a:schemeClr val="tx2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TextBox 47"/>
          <p:cNvSpPr txBox="1"/>
          <p:nvPr/>
        </p:nvSpPr>
        <p:spPr>
          <a:xfrm>
            <a:off x="6357878" y="5593153"/>
            <a:ext cx="1644425" cy="584775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Eficiente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090029" y="2569151"/>
            <a:ext cx="1001486" cy="493486"/>
          </a:xfrm>
          <a:prstGeom prst="rightArrow">
            <a:avLst/>
          </a:prstGeom>
          <a:solidFill>
            <a:schemeClr val="tx2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2090029" y="3173320"/>
            <a:ext cx="1001486" cy="493486"/>
          </a:xfrm>
          <a:prstGeom prst="rightArrow">
            <a:avLst/>
          </a:prstGeom>
          <a:solidFill>
            <a:schemeClr val="tx2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2086457" y="3759497"/>
            <a:ext cx="1001486" cy="493486"/>
          </a:xfrm>
          <a:prstGeom prst="rightArrow">
            <a:avLst/>
          </a:prstGeom>
          <a:solidFill>
            <a:schemeClr val="tx2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2086457" y="4389737"/>
            <a:ext cx="1001486" cy="493486"/>
          </a:xfrm>
          <a:prstGeom prst="rightArrow">
            <a:avLst/>
          </a:prstGeom>
          <a:solidFill>
            <a:schemeClr val="tx2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24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6" grpId="0" animBg="1"/>
      <p:bldP spid="47" grpId="0" animBg="1"/>
      <p:bldP spid="23" grpId="0" animBg="1"/>
      <p:bldP spid="24" grpId="0" animBg="1"/>
      <p:bldP spid="25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2194" y="0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15938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en-US" sz="2400" b="1" spc="-150" dirty="0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Custos – </a:t>
            </a:r>
            <a:r>
              <a:rPr lang="en-US" sz="2400" b="1" spc="-150" dirty="0" err="1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Plataforma</a:t>
            </a:r>
            <a:r>
              <a:rPr lang="en-US" sz="2400" b="1" spc="-150" dirty="0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 </a:t>
            </a:r>
            <a:r>
              <a:rPr lang="en-US" sz="2400" b="1" spc="-150" dirty="0" err="1">
                <a:solidFill>
                  <a:schemeClr val="bg1"/>
                </a:solidFill>
                <a:ea typeface="ＭＳ Ｐゴシック" charset="0"/>
                <a:cs typeface="Calibri" panose="020F0502020204030204" pitchFamily="34" charset="0"/>
                <a:sym typeface="Century Gothic" charset="0"/>
              </a:rPr>
              <a:t>Cliente</a:t>
            </a:r>
            <a:endParaRPr lang="en-US" sz="2400" b="1" spc="-150" dirty="0">
              <a:solidFill>
                <a:schemeClr val="bg1"/>
              </a:solidFill>
              <a:ea typeface="ＭＳ Ｐゴシック" charset="0"/>
              <a:cs typeface="Calibri" panose="020F0502020204030204" pitchFamily="34" charset="0"/>
              <a:sym typeface="Century Gothic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2642" y="1091799"/>
            <a:ext cx="1799773" cy="406261"/>
          </a:xfrm>
          <a:prstGeom prst="rect">
            <a:avLst/>
          </a:prstGeom>
          <a:solidFill>
            <a:schemeClr val="tx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Almap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9A95A6F-5003-458A-950B-78AABF55CFBE}"/>
              </a:ext>
            </a:extLst>
          </p:cNvPr>
          <p:cNvSpPr/>
          <p:nvPr/>
        </p:nvSpPr>
        <p:spPr>
          <a:xfrm>
            <a:off x="712642" y="3472429"/>
            <a:ext cx="1799773" cy="406261"/>
          </a:xfrm>
          <a:prstGeom prst="rect">
            <a:avLst/>
          </a:prstGeom>
          <a:solidFill>
            <a:schemeClr val="tx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Terceiros</a:t>
            </a:r>
          </a:p>
          <a:p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75B0A93-1557-405B-824A-40C10AF6A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316640"/>
              </p:ext>
            </p:extLst>
          </p:nvPr>
        </p:nvGraphicFramePr>
        <p:xfrm>
          <a:off x="804082" y="1746678"/>
          <a:ext cx="6812279" cy="14963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2252">
                  <a:extLst>
                    <a:ext uri="{9D8B030D-6E8A-4147-A177-3AD203B41FA5}">
                      <a16:colId xmlns:a16="http://schemas.microsoft.com/office/drawing/2014/main" val="2941131871"/>
                    </a:ext>
                  </a:extLst>
                </a:gridCol>
                <a:gridCol w="1605397">
                  <a:extLst>
                    <a:ext uri="{9D8B030D-6E8A-4147-A177-3AD203B41FA5}">
                      <a16:colId xmlns:a16="http://schemas.microsoft.com/office/drawing/2014/main" val="2592541515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4033492402"/>
                    </a:ext>
                  </a:extLst>
                </a:gridCol>
                <a:gridCol w="1747467">
                  <a:extLst>
                    <a:ext uri="{9D8B030D-6E8A-4147-A177-3AD203B41FA5}">
                      <a16:colId xmlns:a16="http://schemas.microsoft.com/office/drawing/2014/main" val="1269523825"/>
                    </a:ext>
                  </a:extLst>
                </a:gridCol>
                <a:gridCol w="397797">
                  <a:extLst>
                    <a:ext uri="{9D8B030D-6E8A-4147-A177-3AD203B41FA5}">
                      <a16:colId xmlns:a16="http://schemas.microsoft.com/office/drawing/2014/main" val="1118228834"/>
                    </a:ext>
                  </a:extLst>
                </a:gridCol>
                <a:gridCol w="1676432">
                  <a:extLst>
                    <a:ext uri="{9D8B030D-6E8A-4147-A177-3AD203B41FA5}">
                      <a16:colId xmlns:a16="http://schemas.microsoft.com/office/drawing/2014/main" val="1846828061"/>
                    </a:ext>
                  </a:extLst>
                </a:gridCol>
              </a:tblGrid>
              <a:tr h="2963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Custo DCM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effectLst/>
                        </a:rPr>
                        <a:t>+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Custo Operacional AdOps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>
                          <a:effectLst/>
                        </a:rPr>
                        <a:t>=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Custo Adops -&gt; Cliente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95299833"/>
                  </a:ext>
                </a:extLst>
              </a:tr>
              <a:tr h="2963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CPM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0,04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0,09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0,13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9261610"/>
                  </a:ext>
                </a:extLst>
              </a:tr>
              <a:tr h="2963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CPV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0,60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0,70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1,30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7995484"/>
                  </a:ext>
                </a:extLst>
              </a:tr>
              <a:tr h="2963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Rich Media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0,91</a:t>
                      </a: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0,35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77068927"/>
                  </a:ext>
                </a:extLst>
              </a:tr>
              <a:tr h="31112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CPC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0,0035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0,02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0,0235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19924338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EA8CD80-407A-4143-BD84-4995521F2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057807"/>
              </p:ext>
            </p:extLst>
          </p:nvPr>
        </p:nvGraphicFramePr>
        <p:xfrm>
          <a:off x="804082" y="4141829"/>
          <a:ext cx="6812279" cy="13159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2252">
                  <a:extLst>
                    <a:ext uri="{9D8B030D-6E8A-4147-A177-3AD203B41FA5}">
                      <a16:colId xmlns:a16="http://schemas.microsoft.com/office/drawing/2014/main" val="2404581531"/>
                    </a:ext>
                  </a:extLst>
                </a:gridCol>
                <a:gridCol w="1605397">
                  <a:extLst>
                    <a:ext uri="{9D8B030D-6E8A-4147-A177-3AD203B41FA5}">
                      <a16:colId xmlns:a16="http://schemas.microsoft.com/office/drawing/2014/main" val="2033080086"/>
                    </a:ext>
                  </a:extLst>
                </a:gridCol>
                <a:gridCol w="372935">
                  <a:extLst>
                    <a:ext uri="{9D8B030D-6E8A-4147-A177-3AD203B41FA5}">
                      <a16:colId xmlns:a16="http://schemas.microsoft.com/office/drawing/2014/main" val="2926269836"/>
                    </a:ext>
                  </a:extLst>
                </a:gridCol>
                <a:gridCol w="1747467">
                  <a:extLst>
                    <a:ext uri="{9D8B030D-6E8A-4147-A177-3AD203B41FA5}">
                      <a16:colId xmlns:a16="http://schemas.microsoft.com/office/drawing/2014/main" val="363174933"/>
                    </a:ext>
                  </a:extLst>
                </a:gridCol>
                <a:gridCol w="397797">
                  <a:extLst>
                    <a:ext uri="{9D8B030D-6E8A-4147-A177-3AD203B41FA5}">
                      <a16:colId xmlns:a16="http://schemas.microsoft.com/office/drawing/2014/main" val="831635171"/>
                    </a:ext>
                  </a:extLst>
                </a:gridCol>
                <a:gridCol w="1676431">
                  <a:extLst>
                    <a:ext uri="{9D8B030D-6E8A-4147-A177-3AD203B41FA5}">
                      <a16:colId xmlns:a16="http://schemas.microsoft.com/office/drawing/2014/main" val="954859086"/>
                    </a:ext>
                  </a:extLst>
                </a:gridCol>
              </a:tblGrid>
              <a:tr h="260593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Custo DCM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Custo Predicta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Custo Reamp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57858225"/>
                  </a:ext>
                </a:extLst>
              </a:tr>
              <a:tr h="26059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CPM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0,04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0,10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0,15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19330178"/>
                  </a:ext>
                </a:extLst>
              </a:tr>
              <a:tr h="26059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CPV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0,60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0,90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1,50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98831003"/>
                  </a:ext>
                </a:extLst>
              </a:tr>
              <a:tr h="26059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Rich Media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0,91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0,40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0,80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6718505"/>
                  </a:ext>
                </a:extLst>
              </a:tr>
              <a:tr h="27362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CPC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0,0035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0,02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0,05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7482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88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http://i1-news.softpedia-static.com/images/news2/Microsoft-Overhauls-MSN-Logo-and-Portal-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1070" y="1196190"/>
            <a:ext cx="1525108" cy="1525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12194" y="1174039"/>
            <a:ext cx="9144000" cy="5393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457200" y="2636912"/>
            <a:ext cx="8229600" cy="1143000"/>
          </a:xfrm>
        </p:spPr>
        <p:txBody>
          <a:bodyPr>
            <a:normAutofit/>
          </a:bodyPr>
          <a:lstStyle/>
          <a:p>
            <a:r>
              <a:rPr lang="pt-BR" sz="5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296679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OTER" val="LIN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001"/>
  <p:tag name="FOOTER" val="LOGO"/>
  <p:tag name="DESIGN" val="CHAPT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OTER" val="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001"/>
  <p:tag name="FOOTER" val="LOGO"/>
  <p:tag name="DESIGN" val="CHAPT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OTER" val="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001"/>
  <p:tag name="FOOTER" val="LOGO"/>
  <p:tag name="DESIGN" val="CHAPT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OTER" val="LIN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001"/>
  <p:tag name="FOOTER" val="LOGO"/>
  <p:tag name="DESIGN" val="CHAPT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heme/theme1.xml><?xml version="1.0" encoding="utf-8"?>
<a:theme xmlns:a="http://schemas.openxmlformats.org/drawingml/2006/main" name="Guide_Mediamin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Square Scribble">
  <a:themeElements>
    <a:clrScheme name="">
      <a:dk1>
        <a:srgbClr val="666666"/>
      </a:dk1>
      <a:lt1>
        <a:srgbClr val="FFFFFF"/>
      </a:lt1>
      <a:dk2>
        <a:srgbClr val="C50084"/>
      </a:dk2>
      <a:lt2>
        <a:srgbClr val="000000"/>
      </a:lt2>
      <a:accent1>
        <a:srgbClr val="6600A7"/>
      </a:accent1>
      <a:accent2>
        <a:srgbClr val="4C5CC5"/>
      </a:accent2>
      <a:accent3>
        <a:srgbClr val="FFFFFF"/>
      </a:accent3>
      <a:accent4>
        <a:srgbClr val="565656"/>
      </a:accent4>
      <a:accent5>
        <a:srgbClr val="B8AAD0"/>
      </a:accent5>
      <a:accent6>
        <a:srgbClr val="4453B2"/>
      </a:accent6>
      <a:hlink>
        <a:srgbClr val="F3D311"/>
      </a:hlink>
      <a:folHlink>
        <a:srgbClr val="61C250"/>
      </a:folHlink>
    </a:clrScheme>
    <a:fontScheme name="1_Square Scribble">
      <a:majorFont>
        <a:latin typeface="Century Gothic"/>
        <a:ea typeface=""/>
        <a:cs typeface=""/>
      </a:majorFont>
      <a:minorFont>
        <a:latin typeface="Century Gothic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entury Gothic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entury Gothic" pitchFamily="34" charset="0"/>
          </a:defRPr>
        </a:defPPr>
      </a:lstStyle>
    </a:lnDef>
  </a:objectDefaults>
  <a:extraClrSchemeLst>
    <a:extraClrScheme>
      <a:clrScheme name="1_Square Scribb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73BB8"/>
        </a:accent1>
        <a:accent2>
          <a:srgbClr val="C50084"/>
        </a:accent2>
        <a:accent3>
          <a:srgbClr val="FFFFFF"/>
        </a:accent3>
        <a:accent4>
          <a:srgbClr val="000000"/>
        </a:accent4>
        <a:accent5>
          <a:srgbClr val="B8AFD8"/>
        </a:accent5>
        <a:accent6>
          <a:srgbClr val="B20077"/>
        </a:accent6>
        <a:hlink>
          <a:srgbClr val="4C5CC5"/>
        </a:hlink>
        <a:folHlink>
          <a:srgbClr val="9A9B9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14">
        <a:dk1>
          <a:srgbClr val="9A9B9D"/>
        </a:dk1>
        <a:lt1>
          <a:srgbClr val="FFFFFF"/>
        </a:lt1>
        <a:dk2>
          <a:srgbClr val="000000"/>
        </a:dk2>
        <a:lt2>
          <a:srgbClr val="808080"/>
        </a:lt2>
        <a:accent1>
          <a:srgbClr val="673BB8"/>
        </a:accent1>
        <a:accent2>
          <a:srgbClr val="C50084"/>
        </a:accent2>
        <a:accent3>
          <a:srgbClr val="FFFFFF"/>
        </a:accent3>
        <a:accent4>
          <a:srgbClr val="838485"/>
        </a:accent4>
        <a:accent5>
          <a:srgbClr val="B8AFD8"/>
        </a:accent5>
        <a:accent6>
          <a:srgbClr val="B20077"/>
        </a:accent6>
        <a:hlink>
          <a:srgbClr val="4C5CC5"/>
        </a:hlink>
        <a:folHlink>
          <a:srgbClr val="9A9B9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15">
        <a:dk1>
          <a:srgbClr val="C50084"/>
        </a:dk1>
        <a:lt1>
          <a:srgbClr val="FFFFFF"/>
        </a:lt1>
        <a:dk2>
          <a:srgbClr val="000000"/>
        </a:dk2>
        <a:lt2>
          <a:srgbClr val="808080"/>
        </a:lt2>
        <a:accent1>
          <a:srgbClr val="673BB8"/>
        </a:accent1>
        <a:accent2>
          <a:srgbClr val="4C5CC5"/>
        </a:accent2>
        <a:accent3>
          <a:srgbClr val="FFFFFF"/>
        </a:accent3>
        <a:accent4>
          <a:srgbClr val="A80070"/>
        </a:accent4>
        <a:accent5>
          <a:srgbClr val="B8AFD8"/>
        </a:accent5>
        <a:accent6>
          <a:srgbClr val="4453B2"/>
        </a:accent6>
        <a:hlink>
          <a:srgbClr val="FFB60F"/>
        </a:hlink>
        <a:folHlink>
          <a:srgbClr val="5CC15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16">
        <a:dk1>
          <a:srgbClr val="C50084"/>
        </a:dk1>
        <a:lt1>
          <a:srgbClr val="FFFFFF"/>
        </a:lt1>
        <a:dk2>
          <a:srgbClr val="000000"/>
        </a:dk2>
        <a:lt2>
          <a:srgbClr val="808080"/>
        </a:lt2>
        <a:accent1>
          <a:srgbClr val="6600A7"/>
        </a:accent1>
        <a:accent2>
          <a:srgbClr val="4C5CC5"/>
        </a:accent2>
        <a:accent3>
          <a:srgbClr val="FFFFFF"/>
        </a:accent3>
        <a:accent4>
          <a:srgbClr val="A80070"/>
        </a:accent4>
        <a:accent5>
          <a:srgbClr val="B8AAD0"/>
        </a:accent5>
        <a:accent6>
          <a:srgbClr val="4453B2"/>
        </a:accent6>
        <a:hlink>
          <a:srgbClr val="FFB60F"/>
        </a:hlink>
        <a:folHlink>
          <a:srgbClr val="5CC15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itle">
  <a:themeElements>
    <a:clrScheme name="TNS Colours">
      <a:dk1>
        <a:sysClr val="windowText" lastClr="000000"/>
      </a:dk1>
      <a:lt1>
        <a:sysClr val="window" lastClr="FFFFFF"/>
      </a:lt1>
      <a:dk2>
        <a:srgbClr val="131C6B"/>
      </a:dk2>
      <a:lt2>
        <a:srgbClr val="3EB1CC"/>
      </a:lt2>
      <a:accent1>
        <a:srgbClr val="C50017"/>
      </a:accent1>
      <a:accent2>
        <a:srgbClr val="F7911E"/>
      </a:accent2>
      <a:accent3>
        <a:srgbClr val="EF5205"/>
      </a:accent3>
      <a:accent4>
        <a:srgbClr val="7A2280"/>
      </a:accent4>
      <a:accent5>
        <a:srgbClr val="4C1D52"/>
      </a:accent5>
      <a:accent6>
        <a:srgbClr val="4655A5"/>
      </a:accent6>
      <a:hlink>
        <a:srgbClr val="4F6128"/>
      </a:hlink>
      <a:folHlink>
        <a:srgbClr val="4F6128"/>
      </a:folHlink>
    </a:clrScheme>
    <a:fontScheme name="TNS Master Font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 w="12700">
          <a:solidFill>
            <a:schemeClr val="accent3"/>
          </a:solidFill>
        </a:ln>
      </a:spPr>
      <a:bodyPr rtlCol="0" anchor="t"/>
      <a:lstStyle>
        <a:defPPr>
          <a:defRPr sz="13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600" b="0" dirty="0" err="1" smtClean="0">
            <a:solidFill>
              <a:srgbClr val="333333"/>
            </a:solidFill>
            <a:latin typeface="+mn-lt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Guide_Mediamind</Template>
  <TotalTime>3388</TotalTime>
  <Words>560</Words>
  <Application>Microsoft Office PowerPoint</Application>
  <PresentationFormat>Apresentação na tela (4:3)</PresentationFormat>
  <Paragraphs>216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15</vt:i4>
      </vt:variant>
    </vt:vector>
  </HeadingPairs>
  <TitlesOfParts>
    <vt:vector size="30" baseType="lpstr">
      <vt:lpstr>MS PGothic</vt:lpstr>
      <vt:lpstr>MS PGothic</vt:lpstr>
      <vt:lpstr>Arial</vt:lpstr>
      <vt:lpstr>Calibri</vt:lpstr>
      <vt:lpstr>Calibri Light</vt:lpstr>
      <vt:lpstr>Century Gothic</vt:lpstr>
      <vt:lpstr>Gill Sans</vt:lpstr>
      <vt:lpstr>LilyUPC</vt:lpstr>
      <vt:lpstr>Verdana</vt:lpstr>
      <vt:lpstr>Wingdings</vt:lpstr>
      <vt:lpstr>ヒラギノ角ゴ ProN W3</vt:lpstr>
      <vt:lpstr>Guide_Mediamind</vt:lpstr>
      <vt:lpstr>1_Office Theme</vt:lpstr>
      <vt:lpstr>1_Square Scribble</vt:lpstr>
      <vt:lpstr>Title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Costa</dc:creator>
  <cp:lastModifiedBy>Wilson Santos Silva - Almap BBDO</cp:lastModifiedBy>
  <cp:revision>118</cp:revision>
  <cp:lastPrinted>2014-01-21T17:37:06Z</cp:lastPrinted>
  <dcterms:created xsi:type="dcterms:W3CDTF">2014-04-07T21:32:56Z</dcterms:created>
  <dcterms:modified xsi:type="dcterms:W3CDTF">2019-04-24T14:49:17Z</dcterms:modified>
</cp:coreProperties>
</file>