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24387175" cy="13716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Lobster"/>
      <p:regular r:id="rId22"/>
    </p:embeddedFont>
    <p:embeddedFont>
      <p:font typeface="Montserrat" panose="020B0604020202020204" charset="0"/>
      <p:bold r:id="rId23"/>
      <p:boldItalic r:id="rId24"/>
    </p:embeddedFont>
    <p:embeddedFont>
      <p:font typeface="Montserrat Medium" panose="020B0604020202020204" charset="0"/>
      <p:regular r:id="rId25"/>
      <p:bold r:id="rId26"/>
      <p:italic r:id="rId27"/>
      <p:boldItalic r:id="rId28"/>
    </p:embeddedFont>
    <p:embeddedFont>
      <p:font typeface="Varela Round" panose="020B0604020202020204" charset="-79"/>
      <p:regular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685">
          <p15:clr>
            <a:srgbClr val="A4A3A4"/>
          </p15:clr>
        </p15:guide>
        <p15:guide id="2" orient="horz" pos="6543">
          <p15:clr>
            <a:srgbClr val="A4A3A4"/>
          </p15:clr>
        </p15:guide>
        <p15:guide id="3" orient="horz" pos="468">
          <p15:clr>
            <a:srgbClr val="A4A3A4"/>
          </p15:clr>
        </p15:guide>
        <p15:guide id="4" orient="horz" pos="8203">
          <p15:clr>
            <a:srgbClr val="A4A3A4"/>
          </p15:clr>
        </p15:guide>
        <p15:guide id="5" pos="4755">
          <p15:clr>
            <a:srgbClr val="A4A3A4"/>
          </p15:clr>
        </p15:guide>
        <p15:guide id="6" pos="7770">
          <p15:clr>
            <a:srgbClr val="A4A3A4"/>
          </p15:clr>
        </p15:guide>
        <p15:guide id="7" pos="13545">
          <p15:clr>
            <a:srgbClr val="A4A3A4"/>
          </p15:clr>
        </p15:guide>
        <p15:guide id="8" pos="2102">
          <p15:clr>
            <a:srgbClr val="A4A3A4"/>
          </p15:clr>
        </p15:guide>
        <p15:guide id="9" pos="1489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13DE56-4CA3-4EE8-8356-59048889EC3C}">
  <a:tblStyle styleId="{AC13DE56-4CA3-4EE8-8356-59048889EC3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4" d="100"/>
          <a:sy n="34" d="100"/>
        </p:scale>
        <p:origin x="834" y="96"/>
      </p:cViewPr>
      <p:guideLst>
        <p:guide orient="horz" pos="3685"/>
        <p:guide orient="horz" pos="6543"/>
        <p:guide orient="horz" pos="468"/>
        <p:guide orient="horz" pos="8203"/>
        <p:guide pos="4755"/>
        <p:guide pos="7770"/>
        <p:guide pos="13545"/>
        <p:guide pos="2102"/>
        <p:guide pos="148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/>
          <a:lstStyle>
            <a:lvl1pPr marL="457200" marR="0" lvl="0" indent="-228600" algn="l" rtl="0">
              <a:spcBef>
                <a:spcPts val="96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96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96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96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96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54" name="Google Shape;5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5788211277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7" name="Google Shape;67;g5788211277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5788211277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4c840a1f7f_0_5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g4c840a1f7f_0_5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5788211277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g5788211277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5788211277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5788211277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5788211277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23" name="Google Shape;123;g5788211277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5788211277_0_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5788211277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g5788211277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5788211277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5788211277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5788211277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70" name="Google Shape;170;g5788211277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5788211277_0_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5788211277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5788211277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5788211277_0_2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g5788211277_0_2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5788211277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5788211277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5788211277_0_3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g5788211277_0_3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499f17820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280" name="Google Shape;280;g499f17820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g499f178202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29038" y="4260855"/>
            <a:ext cx="20729098" cy="2940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3658076" y="7772400"/>
            <a:ext cx="17071023" cy="35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R="0" lvl="0" algn="ctr" rtl="0">
              <a:spcBef>
                <a:spcPts val="1200"/>
              </a:spcBef>
              <a:spcAft>
                <a:spcPts val="0"/>
              </a:spcAft>
              <a:buClr>
                <a:srgbClr val="888888"/>
              </a:buClr>
              <a:buSzPts val="6000"/>
              <a:buFont typeface="Arial"/>
              <a:buNone/>
              <a:defRPr sz="6000" b="1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spcBef>
                <a:spcPts val="760"/>
              </a:spcBef>
              <a:spcAft>
                <a:spcPts val="0"/>
              </a:spcAft>
              <a:buClr>
                <a:srgbClr val="888888"/>
              </a:buClr>
              <a:buSzPts val="3800"/>
              <a:buFont typeface="Arial"/>
              <a:buNone/>
              <a:defRPr sz="3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spcBef>
                <a:spcPts val="760"/>
              </a:spcBef>
              <a:spcAft>
                <a:spcPts val="0"/>
              </a:spcAft>
              <a:buClr>
                <a:srgbClr val="888888"/>
              </a:buClr>
              <a:buSzPts val="3800"/>
              <a:buFont typeface="Arial"/>
              <a:buNone/>
              <a:defRPr sz="3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spcBef>
                <a:spcPts val="760"/>
              </a:spcBef>
              <a:spcAft>
                <a:spcPts val="0"/>
              </a:spcAft>
              <a:buClr>
                <a:srgbClr val="888888"/>
              </a:buClr>
              <a:buSzPts val="3800"/>
              <a:buFont typeface="Arial"/>
              <a:buNone/>
              <a:defRPr sz="3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spcBef>
                <a:spcPts val="760"/>
              </a:spcBef>
              <a:spcAft>
                <a:spcPts val="0"/>
              </a:spcAft>
              <a:buClr>
                <a:srgbClr val="888888"/>
              </a:buClr>
              <a:buSzPts val="3800"/>
              <a:buFont typeface="Arial"/>
              <a:buNone/>
              <a:defRPr sz="3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spcBef>
                <a:spcPts val="1060"/>
              </a:spcBef>
              <a:spcAft>
                <a:spcPts val="0"/>
              </a:spcAft>
              <a:buClr>
                <a:srgbClr val="888888"/>
              </a:buClr>
              <a:buSzPts val="5300"/>
              <a:buFont typeface="Arial"/>
              <a:buNone/>
              <a:defRPr sz="53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spcBef>
                <a:spcPts val="1060"/>
              </a:spcBef>
              <a:spcAft>
                <a:spcPts val="0"/>
              </a:spcAft>
              <a:buClr>
                <a:srgbClr val="888888"/>
              </a:buClr>
              <a:buSzPts val="5300"/>
              <a:buFont typeface="Arial"/>
              <a:buNone/>
              <a:defRPr sz="53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spcBef>
                <a:spcPts val="1060"/>
              </a:spcBef>
              <a:spcAft>
                <a:spcPts val="0"/>
              </a:spcAft>
              <a:buClr>
                <a:srgbClr val="888888"/>
              </a:buClr>
              <a:buSzPts val="5300"/>
              <a:buFont typeface="Arial"/>
              <a:buNone/>
              <a:defRPr sz="53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spcBef>
                <a:spcPts val="1060"/>
              </a:spcBef>
              <a:spcAft>
                <a:spcPts val="0"/>
              </a:spcAft>
              <a:buClr>
                <a:srgbClr val="888888"/>
              </a:buClr>
              <a:buSzPts val="5300"/>
              <a:buFont typeface="Arial"/>
              <a:buNone/>
              <a:defRPr sz="53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1219200" y="12712700"/>
            <a:ext cx="5691188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8332788" y="12712700"/>
            <a:ext cx="7721600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7476788" y="12712700"/>
            <a:ext cx="5691187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219200" y="549275"/>
            <a:ext cx="219487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12193588" y="5954713"/>
            <a:ext cx="10974387" cy="6297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1219200" y="12712700"/>
            <a:ext cx="5691188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8332788" y="12712700"/>
            <a:ext cx="7721600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17476788" y="12712700"/>
            <a:ext cx="5691187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1219200" y="12712700"/>
            <a:ext cx="5691188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8332788" y="12712700"/>
            <a:ext cx="7721600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17476788" y="12712700"/>
            <a:ext cx="5691187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96995" y="13071176"/>
            <a:ext cx="23426808" cy="64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420"/>
              </a:spcBef>
              <a:spcAft>
                <a:spcPts val="0"/>
              </a:spcAft>
              <a:buSzPts val="1400"/>
              <a:buNone/>
              <a:defRPr sz="2100" b="0" i="0" u="none" strike="noStrike" cap="none">
                <a:solidFill>
                  <a:srgbClr val="FFFF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>
            <a:spLocks noGrp="1"/>
          </p:cNvSpPr>
          <p:nvPr>
            <p:ph type="media" idx="2"/>
          </p:nvPr>
        </p:nvSpPr>
        <p:spPr>
          <a:xfrm>
            <a:off x="720725" y="719139"/>
            <a:ext cx="22940964" cy="12250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R="0" lvl="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193588" y="5954889"/>
            <a:ext cx="11468101" cy="704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720725" cy="13716000"/>
          </a:xfrm>
          <a:prstGeom prst="rect">
            <a:avLst/>
          </a:prstGeom>
          <a:solidFill>
            <a:srgbClr val="C0C1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7"/>
          <p:cNvSpPr/>
          <p:nvPr/>
        </p:nvSpPr>
        <p:spPr>
          <a:xfrm>
            <a:off x="23661688" y="0"/>
            <a:ext cx="720725" cy="13716000"/>
          </a:xfrm>
          <a:prstGeom prst="rect">
            <a:avLst/>
          </a:prstGeom>
          <a:solidFill>
            <a:srgbClr val="C0C1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7"/>
          <p:cNvSpPr/>
          <p:nvPr/>
        </p:nvSpPr>
        <p:spPr>
          <a:xfrm rot="-5400000">
            <a:off x="11474450" y="1528762"/>
            <a:ext cx="712787" cy="23661688"/>
          </a:xfrm>
          <a:prstGeom prst="rect">
            <a:avLst/>
          </a:prstGeom>
          <a:solidFill>
            <a:srgbClr val="C0C1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7"/>
          <p:cNvSpPr/>
          <p:nvPr/>
        </p:nvSpPr>
        <p:spPr>
          <a:xfrm rot="-5400000">
            <a:off x="11839575" y="-11834812"/>
            <a:ext cx="712788" cy="24382413"/>
          </a:xfrm>
          <a:prstGeom prst="rect">
            <a:avLst/>
          </a:prstGeom>
          <a:solidFill>
            <a:srgbClr val="C0C1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7"/>
          <p:cNvSpPr>
            <a:spLocks noGrp="1"/>
          </p:cNvSpPr>
          <p:nvPr>
            <p:ph type="media" idx="2"/>
          </p:nvPr>
        </p:nvSpPr>
        <p:spPr>
          <a:xfrm>
            <a:off x="720725" y="719139"/>
            <a:ext cx="22940964" cy="12250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R="0" lvl="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ustom Layout">
  <p:cSld name="3_Custom Layou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46133" y="5406102"/>
            <a:ext cx="23215556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ustom Layout">
  <p:cSld name="4_Custom Layou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722313" y="719138"/>
            <a:ext cx="22942550" cy="12250737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1"/>
          </p:nvPr>
        </p:nvSpPr>
        <p:spPr>
          <a:xfrm>
            <a:off x="11987644" y="5972376"/>
            <a:ext cx="11470482" cy="1097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rgbClr val="FFFFF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28600" algn="l" rtl="0">
              <a:spcBef>
                <a:spcPts val="64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FFFFF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11987644" y="7070689"/>
            <a:ext cx="11470482" cy="754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64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FFFF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64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FFFFF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ustom Layout">
  <p:cSld name="5_Custom Layou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2193588" y="12201525"/>
            <a:ext cx="685800" cy="7874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11933802" y="6575871"/>
            <a:ext cx="11168064" cy="907821"/>
          </a:xfrm>
          <a:prstGeom prst="rect">
            <a:avLst/>
          </a:prstGeom>
          <a:solidFill>
            <a:srgbClr val="D01E20"/>
          </a:solidFill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84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rgbClr val="FFFFFE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body" idx="2"/>
          </p:nvPr>
        </p:nvSpPr>
        <p:spPr>
          <a:xfrm>
            <a:off x="11920281" y="7562138"/>
            <a:ext cx="11181586" cy="809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840"/>
              </a:spcBef>
              <a:spcAft>
                <a:spcPts val="0"/>
              </a:spcAft>
              <a:buSzPts val="1400"/>
              <a:buNone/>
              <a:defRPr sz="4200" b="0" i="0" u="none" strike="noStrike" cap="none">
                <a:solidFill>
                  <a:srgbClr val="FFFFF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dk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219200" y="549275"/>
            <a:ext cx="219487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2193588" y="5954713"/>
            <a:ext cx="10974387" cy="6297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t" anchorCtr="0"/>
          <a:lstStyle>
            <a:lvl1pPr marL="457200" marR="0" lvl="0" indent="-228600" algn="l" rtl="0">
              <a:spcBef>
                <a:spcPts val="1200"/>
              </a:spcBef>
              <a:spcAft>
                <a:spcPts val="0"/>
              </a:spcAft>
              <a:buSzPts val="1400"/>
              <a:buNone/>
              <a:defRPr sz="60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rgbClr val="3C3C3B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760"/>
              </a:spcBef>
              <a:spcAft>
                <a:spcPts val="0"/>
              </a:spcAft>
              <a:buSzPts val="1400"/>
              <a:buNone/>
              <a:defRPr sz="3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65150" algn="l" rtl="0">
              <a:spcBef>
                <a:spcPts val="1060"/>
              </a:spcBef>
              <a:spcAft>
                <a:spcPts val="0"/>
              </a:spcAft>
              <a:buClr>
                <a:schemeClr val="lt1"/>
              </a:buClr>
              <a:buSzPts val="5300"/>
              <a:buFont typeface="Arial"/>
              <a:buChar char="•"/>
              <a:defRPr sz="53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1219200" y="12712700"/>
            <a:ext cx="5691188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8332788" y="12712700"/>
            <a:ext cx="7721600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7476788" y="12712700"/>
            <a:ext cx="5691187" cy="730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43850" tIns="121925" rIns="243850" bIns="12192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3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09125" y="6542350"/>
            <a:ext cx="5368924" cy="6313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1"/>
          <p:cNvSpPr/>
          <p:nvPr/>
        </p:nvSpPr>
        <p:spPr>
          <a:xfrm>
            <a:off x="13716000" y="4645450"/>
            <a:ext cx="2666100" cy="1204500"/>
          </a:xfrm>
          <a:prstGeom prst="wedgeRoundRectCallout">
            <a:avLst>
              <a:gd name="adj1" fmla="val -36747"/>
              <a:gd name="adj2" fmla="val 79020"/>
              <a:gd name="adj3" fmla="val 0"/>
            </a:avLst>
          </a:prstGeom>
          <a:solidFill>
            <a:srgbClr val="F3F3F3"/>
          </a:solidFill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434343"/>
                </a:solidFill>
                <a:latin typeface="Lobster"/>
                <a:ea typeface="Lobster"/>
                <a:cs typeface="Lobster"/>
                <a:sym typeface="Lobster"/>
              </a:rPr>
              <a:t>ad.ops</a:t>
            </a:r>
            <a:endParaRPr sz="4800" b="1">
              <a:solidFill>
                <a:srgbClr val="43434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F402E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2"/>
          <p:cNvSpPr txBox="1"/>
          <p:nvPr/>
        </p:nvSpPr>
        <p:spPr>
          <a:xfrm>
            <a:off x="2448713" y="5778000"/>
            <a:ext cx="18000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pt-BR" sz="6000">
                <a:solidFill>
                  <a:schemeClr val="dk1"/>
                </a:solidFill>
                <a:latin typeface="Varela Round"/>
                <a:ea typeface="Varela Round"/>
                <a:cs typeface="Varela Round"/>
                <a:sym typeface="Varela Round"/>
              </a:rPr>
              <a:t>Processos e estrutura</a:t>
            </a:r>
            <a:endParaRPr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4000">
                <a:solidFill>
                  <a:schemeClr val="dk1"/>
                </a:solidFill>
                <a:latin typeface="Varela Round"/>
                <a:ea typeface="Varela Round"/>
                <a:cs typeface="Varela Round"/>
                <a:sym typeface="Varela Round"/>
              </a:rPr>
              <a:t>de Ad.Ops na Almap BBDO</a:t>
            </a:r>
            <a:endParaRPr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 txBox="1"/>
          <p:nvPr/>
        </p:nvSpPr>
        <p:spPr>
          <a:xfrm>
            <a:off x="2448713" y="5778000"/>
            <a:ext cx="18000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Sobre o funcionamento</a:t>
            </a:r>
            <a:endParaRPr sz="6000"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de um Ad.Server</a:t>
            </a:r>
            <a:endParaRPr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RAZÕES PARA UTILIZAR UM ADSERVER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</a:t>
            </a:r>
            <a:r>
              <a:rPr lang="pt-BR" sz="6000">
                <a:solidFill>
                  <a:srgbClr val="EFEFEF"/>
                </a:solidFill>
                <a:latin typeface="Varela Round"/>
                <a:ea typeface="Varela Round"/>
                <a:cs typeface="Varela Round"/>
                <a:sym typeface="Varela Round"/>
              </a:rPr>
              <a:t> + ad.ops</a:t>
            </a:r>
            <a:endParaRPr sz="6000">
              <a:solidFill>
                <a:srgbClr val="EFEFE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77" name="Google Shape;77;p14"/>
          <p:cNvSpPr/>
          <p:nvPr/>
        </p:nvSpPr>
        <p:spPr>
          <a:xfrm>
            <a:off x="1705513" y="3161362"/>
            <a:ext cx="7575000" cy="83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Métricas: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impressões, cliques, interações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Controle de entrega do criativo: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horário, período, quantidade, prioridade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Segmentação: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geográfica, browsing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Unificação: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métricas consolidadas da campanha em relação a todos os veículos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Sobreposição: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cruzar usuários únicos em diferentes veículos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Acompanhamento: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permite que você acompanhe em tempo real a entrega da sua campanha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Conversão: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cruzamento com tags de conversão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444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None/>
            </a:pPr>
            <a:endParaRPr sz="24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571500" marR="0" lvl="0" indent="-520700" algn="l" rtl="0">
              <a:spcBef>
                <a:spcPts val="0"/>
              </a:spcBef>
              <a:spcAft>
                <a:spcPts val="0"/>
              </a:spcAft>
              <a:buClr>
                <a:srgbClr val="DF402E"/>
              </a:buClr>
              <a:buSzPts val="2400"/>
              <a:buFont typeface="Varela Round"/>
              <a:buChar char="▪"/>
            </a:pPr>
            <a:r>
              <a:rPr lang="pt-BR" sz="24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Auditoria: </a:t>
            </a: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comparar seus resultados com os resultados de veículos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grpSp>
        <p:nvGrpSpPr>
          <p:cNvPr id="78" name="Google Shape;78;p14"/>
          <p:cNvGrpSpPr/>
          <p:nvPr/>
        </p:nvGrpSpPr>
        <p:grpSpPr>
          <a:xfrm>
            <a:off x="10496129" y="1229342"/>
            <a:ext cx="12185562" cy="11257298"/>
            <a:chOff x="10439041" y="1202192"/>
            <a:chExt cx="12185562" cy="11257298"/>
          </a:xfrm>
        </p:grpSpPr>
        <p:pic>
          <p:nvPicPr>
            <p:cNvPr id="79" name="Google Shape;79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 flipH="1">
              <a:off x="10790392" y="1462748"/>
              <a:ext cx="11834211" cy="10996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0" name="Google Shape;80;p14"/>
            <p:cNvSpPr/>
            <p:nvPr/>
          </p:nvSpPr>
          <p:spPr>
            <a:xfrm>
              <a:off x="10439041" y="7380182"/>
              <a:ext cx="1354200" cy="13542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1" name="Google Shape;81;p1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828148" y="7752074"/>
              <a:ext cx="648000" cy="64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2" name="Google Shape;82;p14"/>
            <p:cNvSpPr/>
            <p:nvPr/>
          </p:nvSpPr>
          <p:spPr>
            <a:xfrm>
              <a:off x="11799194" y="5353582"/>
              <a:ext cx="1354200" cy="13542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14"/>
            <p:cNvSpPr/>
            <p:nvPr/>
          </p:nvSpPr>
          <p:spPr>
            <a:xfrm>
              <a:off x="13237747" y="3155556"/>
              <a:ext cx="1354200" cy="13542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14"/>
            <p:cNvSpPr/>
            <p:nvPr/>
          </p:nvSpPr>
          <p:spPr>
            <a:xfrm>
              <a:off x="14520370" y="1202192"/>
              <a:ext cx="1354200" cy="13542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5" name="Google Shape;85;p1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2081335" y="5617672"/>
              <a:ext cx="867224" cy="8672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3440284" y="3338688"/>
              <a:ext cx="963274" cy="96327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7" name="Google Shape;87;p1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14847902" y="1513344"/>
              <a:ext cx="769944" cy="76994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8" name="Google Shape;88;p14"/>
            <p:cNvSpPr/>
            <p:nvPr/>
          </p:nvSpPr>
          <p:spPr>
            <a:xfrm rot="3007761">
              <a:off x="17401347" y="5207090"/>
              <a:ext cx="3618401" cy="15390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000">
                  <a:solidFill>
                    <a:srgbClr val="FFFFFF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Site</a:t>
              </a:r>
              <a:endParaRPr sz="40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endParaRPr>
            </a:p>
          </p:txBody>
        </p:sp>
        <p:sp>
          <p:nvSpPr>
            <p:cNvPr id="89" name="Google Shape;89;p14"/>
            <p:cNvSpPr/>
            <p:nvPr/>
          </p:nvSpPr>
          <p:spPr>
            <a:xfrm rot="3007679">
              <a:off x="13568299" y="6802468"/>
              <a:ext cx="6524354" cy="15390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000">
                  <a:solidFill>
                    <a:srgbClr val="FFFFFF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Requisição / Banner</a:t>
              </a:r>
              <a:endParaRPr sz="40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endParaRPr>
            </a:p>
          </p:txBody>
        </p:sp>
        <p:sp>
          <p:nvSpPr>
            <p:cNvPr id="90" name="Google Shape;90;p14"/>
            <p:cNvSpPr/>
            <p:nvPr/>
          </p:nvSpPr>
          <p:spPr>
            <a:xfrm rot="3007634">
              <a:off x="12242192" y="8279144"/>
              <a:ext cx="4683311" cy="15390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000">
                  <a:solidFill>
                    <a:srgbClr val="FFFFFF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AdServer</a:t>
              </a:r>
              <a:endParaRPr sz="40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endParaRPr>
            </a:p>
          </p:txBody>
        </p:sp>
        <p:sp>
          <p:nvSpPr>
            <p:cNvPr id="91" name="Google Shape;91;p14"/>
            <p:cNvSpPr/>
            <p:nvPr/>
          </p:nvSpPr>
          <p:spPr>
            <a:xfrm rot="3007576">
              <a:off x="10467103" y="9477765"/>
              <a:ext cx="4197487" cy="15390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2875" tIns="91400" rIns="182875" bIns="914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000">
                  <a:solidFill>
                    <a:srgbClr val="FFFFFF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Cadastro</a:t>
              </a:r>
              <a:endParaRPr sz="40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000">
                  <a:solidFill>
                    <a:srgbClr val="FFFFFF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de banners</a:t>
              </a:r>
              <a:endParaRPr sz="40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FORMATOS SUPORTADOS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grpSp>
        <p:nvGrpSpPr>
          <p:cNvPr id="97" name="Google Shape;97;p15"/>
          <p:cNvGrpSpPr/>
          <p:nvPr/>
        </p:nvGrpSpPr>
        <p:grpSpPr>
          <a:xfrm>
            <a:off x="2204681" y="3811036"/>
            <a:ext cx="3554239" cy="4081484"/>
            <a:chOff x="1448990" y="4007438"/>
            <a:chExt cx="1776853" cy="2040742"/>
          </a:xfrm>
        </p:grpSpPr>
        <p:pic>
          <p:nvPicPr>
            <p:cNvPr id="98" name="Google Shape;98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" name="Google Shape;99;p15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STANDARD</a:t>
              </a:r>
              <a:endParaRPr sz="2400">
                <a:latin typeface="Varela Round"/>
                <a:ea typeface="Varela Round"/>
                <a:cs typeface="Varela Round"/>
                <a:sym typeface="Varela Round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DISPLAY</a:t>
              </a:r>
              <a:endParaRPr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5"/>
          <p:cNvGrpSpPr/>
          <p:nvPr/>
        </p:nvGrpSpPr>
        <p:grpSpPr>
          <a:xfrm>
            <a:off x="7679256" y="3811036"/>
            <a:ext cx="3554239" cy="4081484"/>
            <a:chOff x="1448990" y="4007438"/>
            <a:chExt cx="1776853" cy="2040742"/>
          </a:xfrm>
        </p:grpSpPr>
        <p:pic>
          <p:nvPicPr>
            <p:cNvPr id="101" name="Google Shape;101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2" name="Google Shape;102;p15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CRIATIVOS</a:t>
              </a:r>
              <a:endParaRPr sz="2400">
                <a:latin typeface="Varela Round"/>
                <a:ea typeface="Varela Round"/>
                <a:cs typeface="Varela Round"/>
                <a:sym typeface="Varela Round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DINÂMICOS</a:t>
              </a:r>
              <a:endParaRPr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5"/>
          <p:cNvGrpSpPr/>
          <p:nvPr/>
        </p:nvGrpSpPr>
        <p:grpSpPr>
          <a:xfrm>
            <a:off x="13153831" y="3811036"/>
            <a:ext cx="3554239" cy="4081484"/>
            <a:chOff x="1448990" y="4007438"/>
            <a:chExt cx="1776853" cy="2040742"/>
          </a:xfrm>
        </p:grpSpPr>
        <p:pic>
          <p:nvPicPr>
            <p:cNvPr id="104" name="Google Shape;104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" name="Google Shape;105;p15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RICH</a:t>
              </a:r>
              <a:endParaRPr sz="2400">
                <a:latin typeface="Varela Round"/>
                <a:ea typeface="Varela Round"/>
                <a:cs typeface="Varela Round"/>
                <a:sym typeface="Varela Round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MEDIA</a:t>
              </a:r>
              <a:endParaRPr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5"/>
          <p:cNvGrpSpPr/>
          <p:nvPr/>
        </p:nvGrpSpPr>
        <p:grpSpPr>
          <a:xfrm>
            <a:off x="18628403" y="3811036"/>
            <a:ext cx="3554239" cy="4081484"/>
            <a:chOff x="1448990" y="4007438"/>
            <a:chExt cx="1776853" cy="2040742"/>
          </a:xfrm>
        </p:grpSpPr>
        <p:pic>
          <p:nvPicPr>
            <p:cNvPr id="107" name="Google Shape;107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448990" y="4007438"/>
              <a:ext cx="1776853" cy="204074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8" name="Google Shape;108;p15"/>
            <p:cNvSpPr/>
            <p:nvPr/>
          </p:nvSpPr>
          <p:spPr>
            <a:xfrm>
              <a:off x="1572592" y="4135272"/>
              <a:ext cx="1529700" cy="1529100"/>
            </a:xfrm>
            <a:prstGeom prst="ellipse">
              <a:avLst/>
            </a:prstGeom>
            <a:solidFill>
              <a:srgbClr val="DF40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TRACKING PIXEL </a:t>
              </a:r>
              <a:endParaRPr sz="2400">
                <a:latin typeface="Varela Round"/>
                <a:ea typeface="Varela Round"/>
                <a:cs typeface="Varela Round"/>
                <a:sym typeface="Varela Round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400" b="1">
                  <a:solidFill>
                    <a:srgbClr val="F2F2F2"/>
                  </a:solidFill>
                  <a:latin typeface="Varela Round"/>
                  <a:ea typeface="Varela Round"/>
                  <a:cs typeface="Varela Round"/>
                  <a:sym typeface="Varela Round"/>
                </a:rPr>
                <a:t>&amp; CLICK</a:t>
              </a:r>
              <a:endParaRPr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1821425" y="8827213"/>
            <a:ext cx="4320600" cy="16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Utiliza imagem </a:t>
            </a:r>
            <a:endParaRPr sz="2400" b="1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para vender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10" name="Google Shape;110;p15"/>
          <p:cNvSpPr/>
          <p:nvPr/>
        </p:nvSpPr>
        <p:spPr>
          <a:xfrm>
            <a:off x="7296001" y="8827212"/>
            <a:ext cx="4320600" cy="16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A partir de um mesmo template, permite trocar as informações de forma dinâmica.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12770576" y="8833368"/>
            <a:ext cx="4320600" cy="16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Permite uma maior interação.</a:t>
            </a:r>
            <a:b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</a:b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Formatos Expansíveis ou Flutuantes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18245150" y="8827212"/>
            <a:ext cx="4320600" cy="16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Linhas de código que permitem a contabilização de impressões e clicks. Acompanha o criativo.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</a:t>
            </a:r>
            <a:r>
              <a:rPr lang="pt-BR" sz="6000">
                <a:solidFill>
                  <a:srgbClr val="EFEFEF"/>
                </a:solidFill>
                <a:latin typeface="Varela Round"/>
                <a:ea typeface="Varela Round"/>
                <a:cs typeface="Varela Round"/>
                <a:sym typeface="Varela Round"/>
              </a:rPr>
              <a:t> + ad.ops</a:t>
            </a:r>
            <a:endParaRPr sz="6000">
              <a:solidFill>
                <a:srgbClr val="EFEFE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REPORTS POR FORMATO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graphicFrame>
        <p:nvGraphicFramePr>
          <p:cNvPr id="119" name="Google Shape;119;p16"/>
          <p:cNvGraphicFramePr/>
          <p:nvPr/>
        </p:nvGraphicFramePr>
        <p:xfrm>
          <a:off x="1424487" y="2753596"/>
          <a:ext cx="21538150" cy="8605500"/>
        </p:xfrm>
        <a:graphic>
          <a:graphicData uri="http://schemas.openxmlformats.org/drawingml/2006/table">
            <a:tbl>
              <a:tblPr firstRow="1" bandRow="1">
                <a:noFill/>
                <a:tableStyleId>{AC13DE56-4CA3-4EE8-8356-59048889EC3C}</a:tableStyleId>
              </a:tblPr>
              <a:tblGrid>
                <a:gridCol w="422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3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63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63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634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3089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Adserver para </a:t>
                      </a:r>
                      <a:endParaRPr sz="2200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anunciantes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Standard </a:t>
                      </a:r>
                      <a:endParaRPr sz="220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Display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Criativos 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Dinâmicos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Rich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Media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Tracking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Pixel + Click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Tracking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FFFFFF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Click</a:t>
                      </a:r>
                      <a:endParaRPr sz="2200" i="0" u="none" strike="noStrike" cap="none">
                        <a:solidFill>
                          <a:srgbClr val="FFFFFF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F4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Métricas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Impressão e Clique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Clique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Controle de entrega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Não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Não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Segmentação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Não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Não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Unificação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Sobreposição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Acompanhamento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Conversão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7B7B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12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Auditoria*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200" u="none" strike="noStrike" cap="none">
                          <a:solidFill>
                            <a:srgbClr val="000000"/>
                          </a:solidFill>
                          <a:latin typeface="Varela Round"/>
                          <a:ea typeface="Varela Round"/>
                          <a:cs typeface="Varela Round"/>
                          <a:sym typeface="Varela Round"/>
                        </a:rPr>
                        <a:t>Sim</a:t>
                      </a:r>
                      <a:endParaRPr sz="2200" i="0" u="none" strike="noStrike" cap="none">
                        <a:solidFill>
                          <a:srgbClr val="000000"/>
                        </a:solidFill>
                        <a:latin typeface="Varela Round"/>
                        <a:ea typeface="Varela Round"/>
                        <a:cs typeface="Varela Round"/>
                        <a:sym typeface="Varela Round"/>
                      </a:endParaRPr>
                    </a:p>
                  </a:txBody>
                  <a:tcPr marL="18200" marR="18200" marT="18200" marB="0" anchor="ctr">
                    <a:lnL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20" name="Google Shape;120;p16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</a:t>
            </a:r>
            <a:r>
              <a:rPr lang="pt-BR" sz="6000">
                <a:solidFill>
                  <a:srgbClr val="EFEFEF"/>
                </a:solidFill>
                <a:latin typeface="Varela Round"/>
                <a:ea typeface="Varela Round"/>
                <a:cs typeface="Varela Round"/>
                <a:sym typeface="Varela Round"/>
              </a:rPr>
              <a:t> + ad.ops</a:t>
            </a:r>
            <a:endParaRPr sz="6000">
              <a:solidFill>
                <a:srgbClr val="EFEFE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/>
          <p:nvPr/>
        </p:nvSpPr>
        <p:spPr>
          <a:xfrm>
            <a:off x="2448713" y="5778000"/>
            <a:ext cx="18000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Sobre o processo</a:t>
            </a:r>
            <a:endParaRPr sz="6000"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de Ad.Ops</a:t>
            </a:r>
            <a:endParaRPr sz="6000"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PAPEL DA ÁREA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361" y="2899100"/>
            <a:ext cx="8940800" cy="881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8"/>
          <p:cNvSpPr/>
          <p:nvPr/>
        </p:nvSpPr>
        <p:spPr>
          <a:xfrm>
            <a:off x="13935940" y="3074661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CONFIGURAR ADSERVER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cxnSp>
        <p:nvCxnSpPr>
          <p:cNvPr id="134" name="Google Shape;134;p18"/>
          <p:cNvCxnSpPr/>
          <p:nvPr/>
        </p:nvCxnSpPr>
        <p:spPr>
          <a:xfrm>
            <a:off x="7334353" y="3474710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35" name="Google Shape;135;p18"/>
          <p:cNvCxnSpPr/>
          <p:nvPr/>
        </p:nvCxnSpPr>
        <p:spPr>
          <a:xfrm>
            <a:off x="7334341" y="4812255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36" name="Google Shape;136;p18"/>
          <p:cNvCxnSpPr/>
          <p:nvPr/>
        </p:nvCxnSpPr>
        <p:spPr>
          <a:xfrm>
            <a:off x="7334341" y="6395401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37" name="Google Shape;137;p18"/>
          <p:cNvCxnSpPr/>
          <p:nvPr/>
        </p:nvCxnSpPr>
        <p:spPr>
          <a:xfrm>
            <a:off x="7334341" y="7814765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38" name="Google Shape;138;p18"/>
          <p:cNvCxnSpPr/>
          <p:nvPr/>
        </p:nvCxnSpPr>
        <p:spPr>
          <a:xfrm>
            <a:off x="7334341" y="9070365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39" name="Google Shape;139;p18"/>
          <p:cNvCxnSpPr/>
          <p:nvPr/>
        </p:nvCxnSpPr>
        <p:spPr>
          <a:xfrm>
            <a:off x="7334341" y="10162183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cxnSp>
        <p:nvCxnSpPr>
          <p:cNvPr id="140" name="Google Shape;140;p18"/>
          <p:cNvCxnSpPr/>
          <p:nvPr/>
        </p:nvCxnSpPr>
        <p:spPr>
          <a:xfrm>
            <a:off x="7334341" y="11144815"/>
            <a:ext cx="5844900" cy="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76200" dir="2700000" algn="tl" rotWithShape="0">
              <a:srgbClr val="000000">
                <a:alpha val="40000"/>
              </a:srgbClr>
            </a:outerShdw>
          </a:effectLst>
        </p:spPr>
      </p:cxnSp>
      <p:sp>
        <p:nvSpPr>
          <p:cNvPr id="141" name="Google Shape;141;p18"/>
          <p:cNvSpPr/>
          <p:nvPr/>
        </p:nvSpPr>
        <p:spPr>
          <a:xfrm>
            <a:off x="13935943" y="4409673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CADASTRAMENTO DAS PEÇAS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13935943" y="6000007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INTERFACE TÉCNICA COM VEÍCULOS</a:t>
            </a:r>
            <a:endParaRPr sz="3000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13935945" y="7414652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SUPORTE PARA DISCREPÂNCIAS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13935945" y="8670252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DISPARO DE MATERIAIS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13935945" y="9762070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CONTROLE DE UNDER E OVER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6" name="Google Shape;146;p18"/>
          <p:cNvSpPr/>
          <p:nvPr/>
        </p:nvSpPr>
        <p:spPr>
          <a:xfrm>
            <a:off x="13935945" y="10744702"/>
            <a:ext cx="75879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454545"/>
                </a:solidFill>
                <a:latin typeface="Varela Round"/>
                <a:ea typeface="Varela Round"/>
                <a:cs typeface="Varela Round"/>
                <a:sym typeface="Varela Round"/>
              </a:rPr>
              <a:t>CHECKING DE VEICULAÇÃO</a:t>
            </a:r>
            <a:endParaRPr sz="3000">
              <a:solidFill>
                <a:srgbClr val="454545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EFEFEF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</a:t>
            </a: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EFICIÊNCIA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EFEFEF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</a:t>
            </a: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cxnSp>
        <p:nvCxnSpPr>
          <p:cNvPr id="154" name="Google Shape;154;p19"/>
          <p:cNvCxnSpPr/>
          <p:nvPr/>
        </p:nvCxnSpPr>
        <p:spPr>
          <a:xfrm>
            <a:off x="15088384" y="3701928"/>
            <a:ext cx="74961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5" name="Google Shape;155;p19"/>
          <p:cNvCxnSpPr/>
          <p:nvPr/>
        </p:nvCxnSpPr>
        <p:spPr>
          <a:xfrm>
            <a:off x="13054450" y="6165312"/>
            <a:ext cx="63390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6" name="Google Shape;156;p19"/>
          <p:cNvCxnSpPr/>
          <p:nvPr/>
        </p:nvCxnSpPr>
        <p:spPr>
          <a:xfrm>
            <a:off x="9461341" y="8688656"/>
            <a:ext cx="63390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57" name="Google Shape;157;p19"/>
          <p:cNvCxnSpPr/>
          <p:nvPr/>
        </p:nvCxnSpPr>
        <p:spPr>
          <a:xfrm>
            <a:off x="8147034" y="11212000"/>
            <a:ext cx="97116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8" name="Google Shape;15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69697" y="-29980"/>
            <a:ext cx="13609122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9"/>
          <p:cNvSpPr/>
          <p:nvPr/>
        </p:nvSpPr>
        <p:spPr>
          <a:xfrm>
            <a:off x="13210599" y="2724025"/>
            <a:ext cx="3734700" cy="11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Dados em tempo real unificados por campanha</a:t>
            </a:r>
            <a:endParaRPr sz="22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9830750" y="5238375"/>
            <a:ext cx="5627700" cy="11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Cruzamentos com dados de conversão e entre veículos (sobreposição)</a:t>
            </a:r>
            <a:endParaRPr sz="22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7638689" y="7774477"/>
            <a:ext cx="5304300" cy="11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Imediatismo. Menor tempo de resposta em ajustes da campanha</a:t>
            </a:r>
            <a:endParaRPr sz="22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5690900" y="10283300"/>
            <a:ext cx="4400100" cy="11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Melhor qualidade de dados para tomada de decisão</a:t>
            </a:r>
            <a:endParaRPr sz="22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3" name="Google Shape;163;p19"/>
          <p:cNvSpPr txBox="1"/>
          <p:nvPr/>
        </p:nvSpPr>
        <p:spPr>
          <a:xfrm>
            <a:off x="15900219" y="5429760"/>
            <a:ext cx="54132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PC/ADP padronizado</a:t>
            </a:r>
            <a:endParaRPr sz="26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18278501" y="2944750"/>
            <a:ext cx="45393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Recebimento centralizado</a:t>
            </a:r>
            <a:endParaRPr sz="26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11202066" y="10468616"/>
            <a:ext cx="72072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Indicadores de status / controle de erros</a:t>
            </a:r>
            <a:endParaRPr sz="26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13573065" y="7883718"/>
            <a:ext cx="54132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Automação</a:t>
            </a:r>
            <a:endParaRPr sz="26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167" name="Google Shape;167;p19"/>
          <p:cNvPicPr preferRelativeResize="0"/>
          <p:nvPr/>
        </p:nvPicPr>
        <p:blipFill rotWithShape="1">
          <a:blip r:embed="rId4">
            <a:alphaModFix/>
          </a:blip>
          <a:srcRect l="20205" t="20224" r="12976" b="7027"/>
          <a:stretch/>
        </p:blipFill>
        <p:spPr>
          <a:xfrm>
            <a:off x="2471200" y="3391100"/>
            <a:ext cx="3583350" cy="351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0"/>
          <p:cNvSpPr txBox="1"/>
          <p:nvPr/>
        </p:nvSpPr>
        <p:spPr>
          <a:xfrm>
            <a:off x="2448713" y="5778000"/>
            <a:ext cx="18000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Estrutura</a:t>
            </a:r>
            <a:endParaRPr sz="6000"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6000" i="1">
                <a:solidFill>
                  <a:srgbClr val="434343"/>
                </a:solidFill>
                <a:latin typeface="Varela Round"/>
                <a:ea typeface="Varela Round"/>
                <a:cs typeface="Varela Round"/>
                <a:sym typeface="Varela Round"/>
              </a:rPr>
              <a:t>Almap BBDO</a:t>
            </a:r>
            <a:endParaRPr sz="6000" i="1">
              <a:solidFill>
                <a:srgbClr val="434343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1"/>
          <p:cNvSpPr/>
          <p:nvPr/>
        </p:nvSpPr>
        <p:spPr>
          <a:xfrm>
            <a:off x="17402025" y="3891538"/>
            <a:ext cx="4833900" cy="1260000"/>
          </a:xfrm>
          <a:prstGeom prst="roundRect">
            <a:avLst>
              <a:gd name="adj" fmla="val 50000"/>
            </a:avLst>
          </a:prstGeom>
          <a:solidFill>
            <a:srgbClr val="999999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6000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RAYZA SOARES</a:t>
            </a:r>
            <a:endParaRPr sz="2400" b="1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COORDENADORA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DE AD.OPS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79" name="Google Shape;179;p21"/>
          <p:cNvSpPr/>
          <p:nvPr/>
        </p:nvSpPr>
        <p:spPr>
          <a:xfrm>
            <a:off x="12318425" y="3891538"/>
            <a:ext cx="4833900" cy="1260000"/>
          </a:xfrm>
          <a:prstGeom prst="roundRect">
            <a:avLst>
              <a:gd name="adj" fmla="val 50000"/>
            </a:avLst>
          </a:prstGeom>
          <a:solidFill>
            <a:srgbClr val="999999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6000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WILSON SILVA</a:t>
            </a:r>
            <a:endParaRPr sz="2400" b="1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SUPERVISOR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DE AD.OPS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80" name="Google Shape;180;p21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EQUIPE E CLIENTES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181" name="Google Shape;181;p21"/>
          <p:cNvSpPr/>
          <p:nvPr/>
        </p:nvSpPr>
        <p:spPr>
          <a:xfrm>
            <a:off x="2151225" y="3891538"/>
            <a:ext cx="4833900" cy="1260000"/>
          </a:xfrm>
          <a:prstGeom prst="roundRect">
            <a:avLst>
              <a:gd name="adj" fmla="val 50000"/>
            </a:avLst>
          </a:prstGeom>
          <a:solidFill>
            <a:srgbClr val="999999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6000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PÁRIS PIEDADE</a:t>
            </a:r>
            <a:endParaRPr sz="2400" b="1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VP DE PERFORMANCE 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E DADOS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182" name="Google Shape;18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1225" y="3891538"/>
            <a:ext cx="1260000" cy="126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83" name="Google Shape;183;p21"/>
          <p:cNvSpPr/>
          <p:nvPr/>
        </p:nvSpPr>
        <p:spPr>
          <a:xfrm>
            <a:off x="7234825" y="3891538"/>
            <a:ext cx="4833900" cy="1260000"/>
          </a:xfrm>
          <a:prstGeom prst="roundRect">
            <a:avLst>
              <a:gd name="adj" fmla="val 50000"/>
            </a:avLst>
          </a:prstGeom>
          <a:solidFill>
            <a:srgbClr val="999999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6000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SIMONE HENRIQUE</a:t>
            </a:r>
            <a:endParaRPr sz="2400" b="1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GERENTE DE OPERAÇÕES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FFFFFF"/>
                </a:solidFill>
                <a:latin typeface="Varela Round"/>
                <a:ea typeface="Varela Round"/>
                <a:cs typeface="Varela Round"/>
                <a:sym typeface="Varela Round"/>
              </a:rPr>
              <a:t>DE MÍDIA</a:t>
            </a:r>
            <a:endParaRPr>
              <a:solidFill>
                <a:srgbClr val="FFFFFF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184" name="Google Shape;184;p21"/>
          <p:cNvPicPr preferRelativeResize="0"/>
          <p:nvPr/>
        </p:nvPicPr>
        <p:blipFill rotWithShape="1">
          <a:blip r:embed="rId4">
            <a:alphaModFix/>
          </a:blip>
          <a:srcRect l="10115" t="16929" r="47683" b="26694"/>
          <a:stretch/>
        </p:blipFill>
        <p:spPr>
          <a:xfrm>
            <a:off x="7234838" y="3891538"/>
            <a:ext cx="1260000" cy="1260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85" name="Google Shape;185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334863" y="3891538"/>
            <a:ext cx="1260000" cy="1260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86" name="Google Shape;186;p21"/>
          <p:cNvPicPr preferRelativeResize="0"/>
          <p:nvPr/>
        </p:nvPicPr>
        <p:blipFill rotWithShape="1">
          <a:blip r:embed="rId6">
            <a:alphaModFix/>
          </a:blip>
          <a:srcRect l="19582" r="19582" b="39165"/>
          <a:stretch/>
        </p:blipFill>
        <p:spPr>
          <a:xfrm>
            <a:off x="17402038" y="3891538"/>
            <a:ext cx="1260000" cy="1260000"/>
          </a:xfrm>
          <a:prstGeom prst="ellipse">
            <a:avLst/>
          </a:prstGeom>
          <a:noFill/>
          <a:ln>
            <a:noFill/>
          </a:ln>
        </p:spPr>
      </p:pic>
      <p:cxnSp>
        <p:nvCxnSpPr>
          <p:cNvPr id="187" name="Google Shape;187;p21"/>
          <p:cNvCxnSpPr>
            <a:stCxn id="181" idx="2"/>
            <a:endCxn id="183" idx="2"/>
          </p:cNvCxnSpPr>
          <p:nvPr/>
        </p:nvCxnSpPr>
        <p:spPr>
          <a:xfrm rot="-5400000" flipH="1">
            <a:off x="7109625" y="2610088"/>
            <a:ext cx="600" cy="5083500"/>
          </a:xfrm>
          <a:prstGeom prst="bentConnector3">
            <a:avLst>
              <a:gd name="adj1" fmla="val 39687500"/>
            </a:avLst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1"/>
          <p:cNvCxnSpPr/>
          <p:nvPr/>
        </p:nvCxnSpPr>
        <p:spPr>
          <a:xfrm rot="-5400000" flipH="1">
            <a:off x="12193275" y="2610088"/>
            <a:ext cx="600" cy="5083500"/>
          </a:xfrm>
          <a:prstGeom prst="bentConnector3">
            <a:avLst>
              <a:gd name="adj1" fmla="val 39687500"/>
            </a:avLst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89;p21"/>
          <p:cNvCxnSpPr/>
          <p:nvPr/>
        </p:nvCxnSpPr>
        <p:spPr>
          <a:xfrm rot="-5400000" flipH="1">
            <a:off x="17276775" y="2610088"/>
            <a:ext cx="600" cy="5083500"/>
          </a:xfrm>
          <a:prstGeom prst="bentConnector3">
            <a:avLst>
              <a:gd name="adj1" fmla="val 39687500"/>
            </a:avLst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0" name="Google Shape;190;p21"/>
          <p:cNvSpPr/>
          <p:nvPr/>
        </p:nvSpPr>
        <p:spPr>
          <a:xfrm>
            <a:off x="2151238" y="7202988"/>
            <a:ext cx="3517500" cy="3517500"/>
          </a:xfrm>
          <a:prstGeom prst="ellipse">
            <a:avLst/>
          </a:prstGeom>
          <a:solidFill>
            <a:srgbClr val="F3F3F3"/>
          </a:solidFill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6293038" y="7202988"/>
            <a:ext cx="3517500" cy="3517500"/>
          </a:xfrm>
          <a:prstGeom prst="ellipse">
            <a:avLst/>
          </a:prstGeom>
          <a:solidFill>
            <a:srgbClr val="F3F3F3"/>
          </a:solidFill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21"/>
          <p:cNvSpPr/>
          <p:nvPr/>
        </p:nvSpPr>
        <p:spPr>
          <a:xfrm>
            <a:off x="10434838" y="7202988"/>
            <a:ext cx="3517500" cy="3517500"/>
          </a:xfrm>
          <a:prstGeom prst="ellipse">
            <a:avLst/>
          </a:prstGeom>
          <a:solidFill>
            <a:srgbClr val="F3F3F3"/>
          </a:solidFill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14576638" y="7202988"/>
            <a:ext cx="3517500" cy="3517500"/>
          </a:xfrm>
          <a:prstGeom prst="ellipse">
            <a:avLst/>
          </a:prstGeom>
          <a:solidFill>
            <a:srgbClr val="F3F3F3"/>
          </a:solidFill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21"/>
          <p:cNvSpPr/>
          <p:nvPr/>
        </p:nvSpPr>
        <p:spPr>
          <a:xfrm>
            <a:off x="18718438" y="7202988"/>
            <a:ext cx="3517500" cy="3517500"/>
          </a:xfrm>
          <a:prstGeom prst="ellipse">
            <a:avLst/>
          </a:prstGeom>
          <a:solidFill>
            <a:srgbClr val="F3F3F3"/>
          </a:solidFill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5" name="Google Shape;195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04800" y="8601738"/>
            <a:ext cx="2210400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172950" y="8601738"/>
            <a:ext cx="1757701" cy="7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795400" y="8421738"/>
            <a:ext cx="1080000" cy="108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1" descr="Resultado de imagem para elmas chips"/>
          <p:cNvPicPr preferRelativeResize="0"/>
          <p:nvPr/>
        </p:nvPicPr>
        <p:blipFill rotWithShape="1">
          <a:blip r:embed="rId10">
            <a:alphaModFix/>
          </a:blip>
          <a:srcRect l="10530" t="10216" r="11296" b="13372"/>
          <a:stretch/>
        </p:blipFill>
        <p:spPr>
          <a:xfrm>
            <a:off x="19613875" y="8421738"/>
            <a:ext cx="172665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1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cxnSp>
        <p:nvCxnSpPr>
          <p:cNvPr id="201" name="Google Shape;201;p21"/>
          <p:cNvCxnSpPr>
            <a:stCxn id="190" idx="0"/>
          </p:cNvCxnSpPr>
          <p:nvPr/>
        </p:nvCxnSpPr>
        <p:spPr>
          <a:xfrm rot="10800000" flipH="1">
            <a:off x="3909988" y="5396688"/>
            <a:ext cx="8280900" cy="1806300"/>
          </a:xfrm>
          <a:prstGeom prst="straightConnector1">
            <a:avLst/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1"/>
          <p:cNvCxnSpPr>
            <a:stCxn id="191" idx="0"/>
          </p:cNvCxnSpPr>
          <p:nvPr/>
        </p:nvCxnSpPr>
        <p:spPr>
          <a:xfrm rot="10800000" flipH="1">
            <a:off x="8051788" y="5398488"/>
            <a:ext cx="4138500" cy="1804500"/>
          </a:xfrm>
          <a:prstGeom prst="straightConnector1">
            <a:avLst/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21"/>
          <p:cNvCxnSpPr>
            <a:stCxn id="192" idx="0"/>
          </p:cNvCxnSpPr>
          <p:nvPr/>
        </p:nvCxnSpPr>
        <p:spPr>
          <a:xfrm rot="10800000">
            <a:off x="12193588" y="5381088"/>
            <a:ext cx="0" cy="1821900"/>
          </a:xfrm>
          <a:prstGeom prst="straightConnector1">
            <a:avLst/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4" name="Google Shape;204;p21"/>
          <p:cNvCxnSpPr>
            <a:stCxn id="193" idx="0"/>
          </p:cNvCxnSpPr>
          <p:nvPr/>
        </p:nvCxnSpPr>
        <p:spPr>
          <a:xfrm rot="10800000">
            <a:off x="12193888" y="5397888"/>
            <a:ext cx="4141500" cy="1805100"/>
          </a:xfrm>
          <a:prstGeom prst="straightConnector1">
            <a:avLst/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5" name="Google Shape;205;p21"/>
          <p:cNvCxnSpPr>
            <a:stCxn id="194" idx="0"/>
          </p:cNvCxnSpPr>
          <p:nvPr/>
        </p:nvCxnSpPr>
        <p:spPr>
          <a:xfrm rot="10800000">
            <a:off x="12194488" y="5397288"/>
            <a:ext cx="8282700" cy="1805700"/>
          </a:xfrm>
          <a:prstGeom prst="straightConnector1">
            <a:avLst/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Imagem 2">
            <a:extLst>
              <a:ext uri="{FF2B5EF4-FFF2-40B4-BE49-F238E27FC236}">
                <a16:creationId xmlns:a16="http://schemas.microsoft.com/office/drawing/2014/main" id="{FB0DF5E8-9B1E-4740-9B76-3A84CB7236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18914" y="8217438"/>
            <a:ext cx="2742747" cy="14789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2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PROCESSOS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1" name="Google Shape;211;p22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2" name="Google Shape;212;p22"/>
          <p:cNvSpPr/>
          <p:nvPr/>
        </p:nvSpPr>
        <p:spPr>
          <a:xfrm>
            <a:off x="3061355" y="40786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plano da campanha é aprovado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3" name="Google Shape;213;p22"/>
          <p:cNvSpPr/>
          <p:nvPr/>
        </p:nvSpPr>
        <p:spPr>
          <a:xfrm>
            <a:off x="9182152" y="22870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ad.ops é sinalizada sobre nova campanha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4" name="Google Shape;214;p22"/>
          <p:cNvSpPr/>
          <p:nvPr/>
        </p:nvSpPr>
        <p:spPr>
          <a:xfrm>
            <a:off x="1949312" y="5870216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mídia preenche PC e envia ao ad.ops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5" name="Google Shape;215;p22"/>
          <p:cNvSpPr/>
          <p:nvPr/>
        </p:nvSpPr>
        <p:spPr>
          <a:xfrm>
            <a:off x="1949312" y="76618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mídia monta e envia planilha de produção ao atendimento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6" name="Google Shape;216;p22"/>
          <p:cNvSpPr/>
          <p:nvPr/>
        </p:nvSpPr>
        <p:spPr>
          <a:xfrm>
            <a:off x="9182152" y="11245016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atendimento recebe as peças nomeadas conforme a planilha de produção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3061355" y="94534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atendimento solicita produção de peças para criação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8" name="Google Shape;218;p22"/>
          <p:cNvSpPr/>
          <p:nvPr/>
        </p:nvSpPr>
        <p:spPr>
          <a:xfrm>
            <a:off x="15302948" y="94534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mídia organiza a entrega na rede de acordo com formato/veículo e encaminha para ad.ops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19" name="Google Shape;219;p22"/>
          <p:cNvSpPr/>
          <p:nvPr/>
        </p:nvSpPr>
        <p:spPr>
          <a:xfrm>
            <a:off x="16316971" y="76618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ad.ops checa as peças recebidas e as implementa no ad.sever, gerando as tags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16316971" y="5870216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ad.ops faz os envios de materiais para os portais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21" name="Google Shape;221;p22"/>
          <p:cNvSpPr/>
          <p:nvPr/>
        </p:nvSpPr>
        <p:spPr>
          <a:xfrm>
            <a:off x="15302948" y="4078620"/>
            <a:ext cx="6120900" cy="10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360025" tIns="360025" rIns="360025" bIns="3600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00" b="1">
                <a:latin typeface="Varela Round"/>
                <a:ea typeface="Varela Round"/>
                <a:cs typeface="Varela Round"/>
                <a:sym typeface="Varela Round"/>
              </a:rPr>
              <a:t>ad.ops checa a contabilização dos banners e faz o controle da campanha</a:t>
            </a:r>
            <a:endParaRPr sz="1900" b="1"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222" name="Google Shape;22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24542" y="3738159"/>
            <a:ext cx="7035100" cy="703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6789957" flipH="1">
            <a:off x="7329342" y="3070695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635906" flipH="1">
            <a:off x="5727929" y="5220671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4009553" flipH="1">
            <a:off x="5072589" y="7020151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36168" flipH="1">
            <a:off x="5659662" y="8902100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297896" flipH="1">
            <a:off x="7285188" y="10982704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8668174" flipH="1">
            <a:off x="18093318" y="5220669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7416583" flipH="1">
            <a:off x="18817134" y="7020151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6307478" flipH="1">
            <a:off x="18084617" y="8902097"/>
            <a:ext cx="672180" cy="592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3957572" flipH="1">
            <a:off x="16527752" y="10982703"/>
            <a:ext cx="672180" cy="5926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/>
          <p:nvPr/>
        </p:nvSpPr>
        <p:spPr>
          <a:xfrm>
            <a:off x="1033588" y="12584249"/>
            <a:ext cx="2232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BENEFÍCIOS ALMAP BBDO E OBSERVAÇÕES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37" name="Google Shape;237;p23"/>
          <p:cNvSpPr txBox="1"/>
          <p:nvPr/>
        </p:nvSpPr>
        <p:spPr>
          <a:xfrm>
            <a:off x="2960050" y="5588050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Dados de mídia em tempo real unificados por campanha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38" name="Google Shape;238;p23"/>
          <p:cNvSpPr txBox="1"/>
          <p:nvPr/>
        </p:nvSpPr>
        <p:spPr>
          <a:xfrm>
            <a:off x="10138150" y="5658100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Cruzamentos com dados de conversão e entre veículos (sobreposição)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39" name="Google Shape;239;p23"/>
          <p:cNvSpPr txBox="1"/>
          <p:nvPr/>
        </p:nvSpPr>
        <p:spPr>
          <a:xfrm>
            <a:off x="17391800" y="5658100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Imediatismo. Menor tempo de resposta em ajustes da campanha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40" name="Google Shape;240;p23"/>
          <p:cNvSpPr txBox="1"/>
          <p:nvPr/>
        </p:nvSpPr>
        <p:spPr>
          <a:xfrm>
            <a:off x="2922263" y="10539425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Melhor qualidade de dados para tomada de decisão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10100363" y="10609475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Visão integrada entre mídia, ad.ops e BI para melhores análises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17354013" y="10609475"/>
            <a:ext cx="4110900" cy="12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SLA reduzido. 48hs após o recebimento do material dentro do padrão</a:t>
            </a:r>
            <a:endParaRPr sz="24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>
          <a:blip r:embed="rId3">
            <a:alphaModFix amt="42000"/>
          </a:blip>
          <a:stretch>
            <a:fillRect/>
          </a:stretch>
        </p:blipFill>
        <p:spPr>
          <a:xfrm>
            <a:off x="3755500" y="2678500"/>
            <a:ext cx="2520000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3"/>
          <p:cNvPicPr preferRelativeResize="0"/>
          <p:nvPr/>
        </p:nvPicPr>
        <p:blipFill>
          <a:blip r:embed="rId4">
            <a:alphaModFix amt="42000"/>
          </a:blip>
          <a:stretch>
            <a:fillRect/>
          </a:stretch>
        </p:blipFill>
        <p:spPr>
          <a:xfrm>
            <a:off x="10815050" y="2678500"/>
            <a:ext cx="2520000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/>
          <p:cNvPicPr preferRelativeResize="0"/>
          <p:nvPr/>
        </p:nvPicPr>
        <p:blipFill>
          <a:blip r:embed="rId5">
            <a:alphaModFix amt="42000"/>
          </a:blip>
          <a:stretch>
            <a:fillRect/>
          </a:stretch>
        </p:blipFill>
        <p:spPr>
          <a:xfrm>
            <a:off x="18203575" y="2858500"/>
            <a:ext cx="2160000" cy="216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/>
          <p:cNvPicPr preferRelativeResize="0"/>
          <p:nvPr/>
        </p:nvPicPr>
        <p:blipFill>
          <a:blip r:embed="rId6">
            <a:alphaModFix amt="42000"/>
          </a:blip>
          <a:stretch>
            <a:fillRect/>
          </a:stretch>
        </p:blipFill>
        <p:spPr>
          <a:xfrm>
            <a:off x="3755500" y="7558675"/>
            <a:ext cx="2520000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/>
          <p:cNvPicPr preferRelativeResize="0"/>
          <p:nvPr/>
        </p:nvPicPr>
        <p:blipFill>
          <a:blip r:embed="rId7">
            <a:alphaModFix amt="42000"/>
          </a:blip>
          <a:stretch>
            <a:fillRect/>
          </a:stretch>
        </p:blipFill>
        <p:spPr>
          <a:xfrm>
            <a:off x="10933600" y="7558675"/>
            <a:ext cx="2520000" cy="252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3"/>
          <p:cNvPicPr preferRelativeResize="0"/>
          <p:nvPr/>
        </p:nvPicPr>
        <p:blipFill>
          <a:blip r:embed="rId8">
            <a:alphaModFix amt="42000"/>
          </a:blip>
          <a:stretch>
            <a:fillRect/>
          </a:stretch>
        </p:blipFill>
        <p:spPr>
          <a:xfrm>
            <a:off x="18023575" y="7558675"/>
            <a:ext cx="2520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3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4"/>
          <p:cNvSpPr txBox="1"/>
          <p:nvPr/>
        </p:nvSpPr>
        <p:spPr>
          <a:xfrm>
            <a:off x="1033590" y="12584250"/>
            <a:ext cx="362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 b="1">
                <a:solidFill>
                  <a:schemeClr val="lt1"/>
                </a:solidFill>
                <a:latin typeface="Varela Round"/>
                <a:ea typeface="Varela Round"/>
                <a:cs typeface="Varela Round"/>
                <a:sym typeface="Varela Round"/>
              </a:rPr>
              <a:t>NOSSOS CUSTOS</a:t>
            </a:r>
            <a:endParaRPr sz="2400" b="1" i="0" u="none" strike="noStrike" cap="none">
              <a:solidFill>
                <a:schemeClr val="lt1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55" name="Google Shape;255;p24"/>
          <p:cNvSpPr/>
          <p:nvPr/>
        </p:nvSpPr>
        <p:spPr>
          <a:xfrm>
            <a:off x="1033588" y="865875"/>
            <a:ext cx="22320000" cy="11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 + ad.ops</a:t>
            </a:r>
            <a:endParaRPr sz="6000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pic>
        <p:nvPicPr>
          <p:cNvPr id="256" name="Google Shape;2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2525" y="4534388"/>
            <a:ext cx="1806073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78863" y="4544213"/>
            <a:ext cx="20955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327163" y="4667038"/>
            <a:ext cx="1241008" cy="44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882088" y="4742000"/>
            <a:ext cx="2468001" cy="2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434113" y="4667048"/>
            <a:ext cx="1806050" cy="44013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24"/>
          <p:cNvCxnSpPr/>
          <p:nvPr/>
        </p:nvCxnSpPr>
        <p:spPr>
          <a:xfrm>
            <a:off x="1515225" y="5749125"/>
            <a:ext cx="2135670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2" name="Google Shape;262;p24"/>
          <p:cNvCxnSpPr/>
          <p:nvPr/>
        </p:nvCxnSpPr>
        <p:spPr>
          <a:xfrm>
            <a:off x="1515225" y="7093219"/>
            <a:ext cx="2135670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3" name="Google Shape;263;p24"/>
          <p:cNvCxnSpPr/>
          <p:nvPr/>
        </p:nvCxnSpPr>
        <p:spPr>
          <a:xfrm>
            <a:off x="1515225" y="8437313"/>
            <a:ext cx="2135670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4"/>
          <p:cNvCxnSpPr/>
          <p:nvPr/>
        </p:nvCxnSpPr>
        <p:spPr>
          <a:xfrm>
            <a:off x="1515225" y="9781406"/>
            <a:ext cx="2135670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1515225" y="11125500"/>
            <a:ext cx="2135670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p24"/>
          <p:cNvSpPr/>
          <p:nvPr/>
        </p:nvSpPr>
        <p:spPr>
          <a:xfrm>
            <a:off x="1757388" y="5645863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l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CPM	</a:t>
            </a:r>
            <a:endParaRPr sz="30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CPV</a:t>
            </a:r>
            <a:endParaRPr sz="30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RICH MEDIA</a:t>
            </a:r>
            <a:endParaRPr sz="30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l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>
                <a:solidFill>
                  <a:srgbClr val="666666"/>
                </a:solidFill>
                <a:latin typeface="Varela Round"/>
                <a:ea typeface="Varela Round"/>
                <a:cs typeface="Varela Round"/>
                <a:sym typeface="Varela Round"/>
              </a:rPr>
              <a:t>CPC</a:t>
            </a:r>
            <a:endParaRPr sz="3000">
              <a:solidFill>
                <a:srgbClr val="666666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67" name="Google Shape;267;p24"/>
          <p:cNvSpPr/>
          <p:nvPr/>
        </p:nvSpPr>
        <p:spPr>
          <a:xfrm>
            <a:off x="4823463" y="5560138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BF9000"/>
                </a:solidFill>
                <a:latin typeface="Varela Round"/>
                <a:ea typeface="Varela Round"/>
                <a:cs typeface="Varela Round"/>
                <a:sym typeface="Varela Round"/>
              </a:rPr>
              <a:t>R$ 0,04</a:t>
            </a:r>
            <a:endParaRPr sz="3000" dirty="0">
              <a:solidFill>
                <a:srgbClr val="BF9000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BF9000"/>
                </a:solidFill>
                <a:latin typeface="Varela Round"/>
                <a:ea typeface="Varela Round"/>
                <a:cs typeface="Varela Round"/>
                <a:sym typeface="Varela Round"/>
              </a:rPr>
              <a:t>R$ 0,60</a:t>
            </a:r>
            <a:endParaRPr sz="3000" dirty="0">
              <a:solidFill>
                <a:srgbClr val="BF9000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BF9000"/>
                </a:solidFill>
                <a:latin typeface="Varela Round"/>
                <a:ea typeface="Varela Round"/>
                <a:cs typeface="Varela Round"/>
                <a:sym typeface="Varela Round"/>
              </a:rPr>
              <a:t>R$ 0,91</a:t>
            </a:r>
            <a:endParaRPr sz="3000" dirty="0">
              <a:solidFill>
                <a:srgbClr val="BF9000"/>
              </a:solidFill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BF9000"/>
                </a:solidFill>
                <a:latin typeface="Varela Round"/>
                <a:ea typeface="Varela Round"/>
                <a:cs typeface="Varela Round"/>
                <a:sym typeface="Varela Round"/>
              </a:rPr>
              <a:t>R$ 0,0035</a:t>
            </a:r>
            <a:endParaRPr sz="3000" dirty="0">
              <a:solidFill>
                <a:srgbClr val="BF9000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68" name="Google Shape;268;p24"/>
          <p:cNvSpPr/>
          <p:nvPr/>
        </p:nvSpPr>
        <p:spPr>
          <a:xfrm>
            <a:off x="8433988" y="5560138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R$ 0,09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R$ 0,70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R$ 0,35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R$ 0,02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69" name="Google Shape;269;p24"/>
          <p:cNvSpPr/>
          <p:nvPr/>
        </p:nvSpPr>
        <p:spPr>
          <a:xfrm>
            <a:off x="12044513" y="5560138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R$ 0,10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R$ 0,90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R$ 0,40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R$ 0,02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70" name="Google Shape;270;p24"/>
          <p:cNvSpPr/>
          <p:nvPr/>
        </p:nvSpPr>
        <p:spPr>
          <a:xfrm>
            <a:off x="15655038" y="5617288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R$ 0,16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R$ 0,95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R$ 0,68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R$ 0,05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71" name="Google Shape;271;p24"/>
          <p:cNvSpPr/>
          <p:nvPr/>
        </p:nvSpPr>
        <p:spPr>
          <a:xfrm>
            <a:off x="19265563" y="5645863"/>
            <a:ext cx="3364200" cy="50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R$ 0,15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R$ 1,50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R$ 0,80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  <a:p>
            <a:pPr marL="0" marR="0" lvl="0" indent="0" algn="ctr" rtl="0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latin typeface="Varela Round"/>
                <a:ea typeface="Varela Round"/>
                <a:cs typeface="Varela Round"/>
                <a:sym typeface="Varela Round"/>
              </a:rPr>
              <a:t>R$ 0,05</a:t>
            </a:r>
            <a:endParaRPr sz="3000" dirty="0"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72" name="Google Shape;272;p24"/>
          <p:cNvSpPr/>
          <p:nvPr/>
        </p:nvSpPr>
        <p:spPr>
          <a:xfrm>
            <a:off x="8532765" y="4261163"/>
            <a:ext cx="3174600" cy="7125000"/>
          </a:xfrm>
          <a:prstGeom prst="rect">
            <a:avLst/>
          </a:prstGeom>
          <a:solidFill>
            <a:srgbClr val="38761D">
              <a:alpha val="96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4"/>
          <p:cNvSpPr/>
          <p:nvPr/>
        </p:nvSpPr>
        <p:spPr>
          <a:xfrm>
            <a:off x="5457813" y="3134163"/>
            <a:ext cx="2095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i="1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ad.server</a:t>
            </a:r>
            <a:endParaRPr sz="2000" i="1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74" name="Google Shape;274;p24"/>
          <p:cNvSpPr/>
          <p:nvPr/>
        </p:nvSpPr>
        <p:spPr>
          <a:xfrm rot="5400000">
            <a:off x="6350763" y="2667588"/>
            <a:ext cx="270300" cy="2056200"/>
          </a:xfrm>
          <a:prstGeom prst="rightBrace">
            <a:avLst>
              <a:gd name="adj1" fmla="val 47387"/>
              <a:gd name="adj2" fmla="val 50000"/>
            </a:avLst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24"/>
          <p:cNvSpPr/>
          <p:nvPr/>
        </p:nvSpPr>
        <p:spPr>
          <a:xfrm>
            <a:off x="8369588" y="3134163"/>
            <a:ext cx="1374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91400" rIns="182875" bIns="914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i="1">
                <a:solidFill>
                  <a:srgbClr val="DF402E"/>
                </a:solidFill>
                <a:latin typeface="Varela Round"/>
                <a:ea typeface="Varela Round"/>
                <a:cs typeface="Varela Round"/>
                <a:sym typeface="Varela Round"/>
              </a:rPr>
              <a:t>ad.ops</a:t>
            </a:r>
            <a:endParaRPr sz="2000" i="1">
              <a:solidFill>
                <a:srgbClr val="DF402E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76" name="Google Shape;276;p24"/>
          <p:cNvSpPr/>
          <p:nvPr/>
        </p:nvSpPr>
        <p:spPr>
          <a:xfrm rot="5400000">
            <a:off x="15106838" y="-3176712"/>
            <a:ext cx="270300" cy="13744800"/>
          </a:xfrm>
          <a:prstGeom prst="rightBrace">
            <a:avLst>
              <a:gd name="adj1" fmla="val 47387"/>
              <a:gd name="adj2" fmla="val 50000"/>
            </a:avLst>
          </a:prstGeom>
          <a:noFill/>
          <a:ln w="19050" cap="flat" cmpd="sng">
            <a:solidFill>
              <a:srgbClr val="DF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6186972" y="12584250"/>
            <a:ext cx="1716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1500" b="1">
                <a:latin typeface="Varela Round"/>
                <a:ea typeface="Varela Round"/>
                <a:cs typeface="Varela Round"/>
                <a:sym typeface="Varela Round"/>
              </a:rPr>
              <a:t>Custo total com Almap BBDO (ad.server + ad.ops) = </a:t>
            </a:r>
            <a:r>
              <a:rPr lang="pt-BR" sz="1500" b="1">
                <a:solidFill>
                  <a:srgbClr val="999999"/>
                </a:solidFill>
                <a:latin typeface="Varela Round"/>
                <a:ea typeface="Varela Round"/>
                <a:cs typeface="Varela Round"/>
                <a:sym typeface="Varela Round"/>
              </a:rPr>
              <a:t>CPM R$ 0,13 / CPV R$ 1,30 / RICH MEDIA R$ 1,26 / CPC R$ 0,0235</a:t>
            </a:r>
            <a:endParaRPr sz="1500" b="1" i="0" u="none" strike="noStrike" cap="none">
              <a:solidFill>
                <a:srgbClr val="999999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09125" y="6542350"/>
            <a:ext cx="5368924" cy="63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5"/>
          <p:cNvSpPr txBox="1"/>
          <p:nvPr/>
        </p:nvSpPr>
        <p:spPr>
          <a:xfrm>
            <a:off x="10328252" y="7264575"/>
            <a:ext cx="37308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04B4B"/>
              </a:buClr>
              <a:buSzPts val="6000"/>
              <a:buFont typeface="Arial"/>
              <a:buNone/>
            </a:pPr>
            <a:r>
              <a:rPr lang="pt-BR" sz="4000" b="1">
                <a:solidFill>
                  <a:srgbClr val="504B4B"/>
                </a:solidFill>
                <a:latin typeface="Varela Round"/>
                <a:ea typeface="Varela Round"/>
                <a:cs typeface="Varela Round"/>
                <a:sym typeface="Varela Round"/>
              </a:rPr>
              <a:t>Obrigado.</a:t>
            </a:r>
            <a:endParaRPr sz="4000" b="1">
              <a:solidFill>
                <a:srgbClr val="C3C3C3"/>
              </a:solidFill>
              <a:latin typeface="Varela Round"/>
              <a:ea typeface="Varela Round"/>
              <a:cs typeface="Varela Round"/>
              <a:sym typeface="Varela Round"/>
            </a:endParaRPr>
          </a:p>
        </p:txBody>
      </p:sp>
      <p:sp>
        <p:nvSpPr>
          <p:cNvPr id="285" name="Google Shape;285;p25"/>
          <p:cNvSpPr/>
          <p:nvPr/>
        </p:nvSpPr>
        <p:spPr>
          <a:xfrm>
            <a:off x="13716000" y="4645450"/>
            <a:ext cx="2666100" cy="1204500"/>
          </a:xfrm>
          <a:prstGeom prst="wedgeRoundRectCallout">
            <a:avLst>
              <a:gd name="adj1" fmla="val -36747"/>
              <a:gd name="adj2" fmla="val 79020"/>
              <a:gd name="adj3" fmla="val 0"/>
            </a:avLst>
          </a:prstGeom>
          <a:solidFill>
            <a:srgbClr val="F3F3F3"/>
          </a:solidFill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>
                <a:solidFill>
                  <a:srgbClr val="434343"/>
                </a:solidFill>
                <a:latin typeface="Lobster"/>
                <a:ea typeface="Lobster"/>
                <a:cs typeface="Lobster"/>
                <a:sym typeface="Lobster"/>
              </a:rPr>
              <a:t>ad.ops</a:t>
            </a:r>
            <a:endParaRPr sz="4800" b="1">
              <a:solidFill>
                <a:srgbClr val="434343"/>
              </a:solidFill>
              <a:latin typeface="Lobster"/>
              <a:ea typeface="Lobster"/>
              <a:cs typeface="Lobster"/>
              <a:sym typeface="Lobs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MAP">
  <a:themeElements>
    <a:clrScheme name="ALMAP">
      <a:dk1>
        <a:srgbClr val="FFFFFE"/>
      </a:dk1>
      <a:lt1>
        <a:srgbClr val="141313"/>
      </a:lt1>
      <a:dk2>
        <a:srgbClr val="D01E20"/>
      </a:dk2>
      <a:lt2>
        <a:srgbClr val="141313"/>
      </a:lt2>
      <a:accent1>
        <a:srgbClr val="E8E0C8"/>
      </a:accent1>
      <a:accent2>
        <a:srgbClr val="E47B60"/>
      </a:accent2>
      <a:accent3>
        <a:srgbClr val="777877"/>
      </a:accent3>
      <a:accent4>
        <a:srgbClr val="D01E20"/>
      </a:accent4>
      <a:accent5>
        <a:srgbClr val="4BACC6"/>
      </a:accent5>
      <a:accent6>
        <a:srgbClr val="141313"/>
      </a:accent6>
      <a:hlink>
        <a:srgbClr val="FFFFFE"/>
      </a:hlink>
      <a:folHlink>
        <a:srgbClr val="E8E0C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707</Words>
  <Application>Microsoft Office PowerPoint</Application>
  <PresentationFormat>Personalizar</PresentationFormat>
  <Paragraphs>202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3" baseType="lpstr">
      <vt:lpstr>Noto Sans Symbols</vt:lpstr>
      <vt:lpstr>Montserrat</vt:lpstr>
      <vt:lpstr>Arial</vt:lpstr>
      <vt:lpstr>Montserrat Medium</vt:lpstr>
      <vt:lpstr>Calibri</vt:lpstr>
      <vt:lpstr>Varela Round</vt:lpstr>
      <vt:lpstr>Lobster</vt:lpstr>
      <vt:lpstr>ALMAP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Simone Fernandes da Costa Henrique - Almap BBDO</dc:creator>
  <cp:lastModifiedBy>Simone Fernandes da Costa Henrique - Almap BBDO</cp:lastModifiedBy>
  <cp:revision>2</cp:revision>
  <dcterms:modified xsi:type="dcterms:W3CDTF">2019-05-24T20:40:16Z</dcterms:modified>
</cp:coreProperties>
</file>