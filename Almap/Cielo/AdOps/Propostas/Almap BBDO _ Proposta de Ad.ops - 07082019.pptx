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2.xml"/>
  <Override ContentType="application/vnd.openxmlformats-officedocument.themeOverride+xml" PartName="/ppt/theme/themeOverr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3716000" cx="24387175"/>
  <p:notesSz cx="6858000" cy="9144000"/>
  <p:embeddedFontLst>
    <p:embeddedFont>
      <p:font typeface="Lobster"/>
      <p:regular r:id="rId23"/>
    </p:embeddedFont>
    <p:embeddedFont>
      <p:font typeface="Montserrat"/>
      <p:bold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  <p:embeddedFont>
      <p:font typeface="Varela Round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685">
          <p15:clr>
            <a:srgbClr val="A4A3A4"/>
          </p15:clr>
        </p15:guide>
        <p15:guide id="2" orient="horz" pos="6543">
          <p15:clr>
            <a:srgbClr val="A4A3A4"/>
          </p15:clr>
        </p15:guide>
        <p15:guide id="3" orient="horz" pos="468">
          <p15:clr>
            <a:srgbClr val="A4A3A4"/>
          </p15:clr>
        </p15:guide>
        <p15:guide id="4" orient="horz" pos="8203">
          <p15:clr>
            <a:srgbClr val="A4A3A4"/>
          </p15:clr>
        </p15:guide>
        <p15:guide id="5" pos="4755">
          <p15:clr>
            <a:srgbClr val="A4A3A4"/>
          </p15:clr>
        </p15:guide>
        <p15:guide id="6" pos="7770">
          <p15:clr>
            <a:srgbClr val="A4A3A4"/>
          </p15:clr>
        </p15:guide>
        <p15:guide id="7" pos="13545">
          <p15:clr>
            <a:srgbClr val="A4A3A4"/>
          </p15:clr>
        </p15:guide>
        <p15:guide id="8" pos="2102">
          <p15:clr>
            <a:srgbClr val="A4A3A4"/>
          </p15:clr>
        </p15:guide>
        <p15:guide id="9" pos="148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BD1429B9-0DFD-490D-8E6F-D46A8C192C7E}">
  <a:tblStyle styleId="{BD1429B9-0DFD-490D-8E6F-D46A8C192C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85" orient="horz"/>
        <p:guide pos="6543" orient="horz"/>
        <p:guide pos="468" orient="horz"/>
        <p:guide pos="8203" orient="horz"/>
        <p:guide pos="4755"/>
        <p:guide pos="7770"/>
        <p:guide pos="13545"/>
        <p:guide pos="2102"/>
        <p:guide pos="148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-bold.fntdata"/><Relationship Id="rId23" Type="http://schemas.openxmlformats.org/officeDocument/2006/relationships/font" Target="fonts/Lobs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VarelaRoun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788211277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" name="Google Shape;67;g578821127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5788211277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4c840a1f7f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4c840a1f7f_0_5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78821127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5788211277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78821127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5788211277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788211277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3" name="Google Shape;123;g578821127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5788211277_0_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78821127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5788211277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5788211277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5788211277_0_2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5788211277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0" name="Google Shape;170;g578821127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5788211277_0_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788211277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5788211277_0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5788211277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5788211277_0_2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578821127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5788211277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5788211277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5788211277_0_3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59424cb1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59424cb1f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499f178202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0" name="Google Shape;310;g499f1782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499f178202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829038" y="4260855"/>
            <a:ext cx="20729098" cy="2940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658076" y="7772400"/>
            <a:ext cx="17071023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6000"/>
              <a:buFont typeface="Arial"/>
              <a:buNone/>
              <a:defRPr b="1" i="0" sz="60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219200" y="549275"/>
            <a:ext cx="2194877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2193588" y="5954713"/>
            <a:ext cx="10974387" cy="62976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">
  <p:cSld name="Custom Layou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96995" y="13071176"/>
            <a:ext cx="23426808" cy="6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42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/>
          <p:nvPr>
            <p:ph idx="2" type="media"/>
          </p:nvPr>
        </p:nvSpPr>
        <p:spPr>
          <a:xfrm>
            <a:off x="720725" y="719139"/>
            <a:ext cx="22940964" cy="1225073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Custom Layout">
  <p:cSld name="1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2193588" y="5954889"/>
            <a:ext cx="11468101" cy="704832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2_Custom Layout">
  <p:cSld name="2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720725" cy="13716000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7"/>
          <p:cNvSpPr/>
          <p:nvPr/>
        </p:nvSpPr>
        <p:spPr>
          <a:xfrm>
            <a:off x="23661688" y="0"/>
            <a:ext cx="720725" cy="13716000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"/>
          <p:cNvSpPr/>
          <p:nvPr/>
        </p:nvSpPr>
        <p:spPr>
          <a:xfrm rot="-5400000">
            <a:off x="11474450" y="1528762"/>
            <a:ext cx="712787" cy="23661688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"/>
          <p:cNvSpPr/>
          <p:nvPr/>
        </p:nvSpPr>
        <p:spPr>
          <a:xfrm rot="-5400000">
            <a:off x="11839575" y="-11834812"/>
            <a:ext cx="712788" cy="24382413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/>
          <p:nvPr>
            <p:ph idx="2" type="media"/>
          </p:nvPr>
        </p:nvSpPr>
        <p:spPr>
          <a:xfrm>
            <a:off x="720725" y="719139"/>
            <a:ext cx="22940964" cy="1225073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_Custom Layout">
  <p:cSld name="3_Custom Layou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46133" y="5406102"/>
            <a:ext cx="2321555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4_Custom Layout">
  <p:cSld name="4_Custom Layou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722313" y="719138"/>
            <a:ext cx="22942550" cy="122507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11987644" y="5972376"/>
            <a:ext cx="11470482" cy="109799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rgbClr val="FFFFF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11987644" y="7070689"/>
            <a:ext cx="11470482" cy="75477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5_Custom Layout">
  <p:cSld name="5_Custom Layou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93588" y="12201525"/>
            <a:ext cx="6858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11933802" y="6575871"/>
            <a:ext cx="11168064" cy="907821"/>
          </a:xfrm>
          <a:prstGeom prst="rect">
            <a:avLst/>
          </a:prstGeom>
          <a:solidFill>
            <a:srgbClr val="D01E20"/>
          </a:solidFill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FFFFFE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11920281" y="7562138"/>
            <a:ext cx="11181586" cy="8092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219200" y="549275"/>
            <a:ext cx="2194877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2193588" y="5954713"/>
            <a:ext cx="10974387" cy="62976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5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9" Type="http://schemas.openxmlformats.org/officeDocument/2006/relationships/image" Target="../media/image26.png"/><Relationship Id="rId1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31.png"/><Relationship Id="rId7" Type="http://schemas.openxmlformats.org/officeDocument/2006/relationships/image" Target="../media/image15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.png"/><Relationship Id="rId7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9125" y="6542350"/>
            <a:ext cx="5368924" cy="6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/>
          <p:nvPr/>
        </p:nvSpPr>
        <p:spPr>
          <a:xfrm>
            <a:off x="13716000" y="4645450"/>
            <a:ext cx="2666100" cy="1204500"/>
          </a:xfrm>
          <a:prstGeom prst="wedgeRoundRectCallout">
            <a:avLst>
              <a:gd fmla="val -36747" name="adj1"/>
              <a:gd fmla="val 79020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800">
                <a:solidFill>
                  <a:srgbClr val="434343"/>
                </a:solidFill>
                <a:latin typeface="Lobster"/>
                <a:ea typeface="Lobster"/>
                <a:cs typeface="Lobster"/>
                <a:sym typeface="Lobster"/>
              </a:rPr>
              <a:t>ad.ops</a:t>
            </a:r>
            <a:endParaRPr b="1" sz="4800">
              <a:solidFill>
                <a:srgbClr val="43434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F402E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pt-BR" sz="60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Processos e estrutura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40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 na Almap BBDO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9D9D9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Sobre o funcionamento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de um Ad.Server</a:t>
            </a:r>
            <a:endParaRPr i="1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RAZÕES PARA UTILIZAR UM ADSERVER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1705513" y="3161362"/>
            <a:ext cx="7575000" cy="83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Métricas: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impressões, cliques, interações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Controle de entrega do criativo: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horário, período, quantidade, prioridade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Segmentação: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geográfica, browsing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Unificação: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métricas consolidadas da campanha em relação a todos os veículos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Sobreposição: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cruzar usuários únicos em diferentes veículos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Acompanhamento: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permite que você acompanhe em tempo real a entrega da sua campanha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Conversão: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cruzamento com tags de conversão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Auditoria: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comparar seus resultados com os resultados de veículos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78" name="Google Shape;78;p14"/>
          <p:cNvGrpSpPr/>
          <p:nvPr/>
        </p:nvGrpSpPr>
        <p:grpSpPr>
          <a:xfrm>
            <a:off x="10496129" y="1229342"/>
            <a:ext cx="12185562" cy="11257298"/>
            <a:chOff x="10439041" y="1202192"/>
            <a:chExt cx="12185562" cy="11257298"/>
          </a:xfrm>
        </p:grpSpPr>
        <p:pic>
          <p:nvPicPr>
            <p:cNvPr id="79" name="Google Shape;7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10790392" y="1462748"/>
              <a:ext cx="11834211" cy="10996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4"/>
            <p:cNvSpPr/>
            <p:nvPr/>
          </p:nvSpPr>
          <p:spPr>
            <a:xfrm>
              <a:off x="10439041" y="738018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" name="Google Shape;81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828148" y="7752074"/>
              <a:ext cx="648000" cy="6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14"/>
            <p:cNvSpPr/>
            <p:nvPr/>
          </p:nvSpPr>
          <p:spPr>
            <a:xfrm>
              <a:off x="11799194" y="535358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13237747" y="3155556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14520370" y="120219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5" name="Google Shape;85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081335" y="5617672"/>
              <a:ext cx="867224" cy="867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440284" y="3338688"/>
              <a:ext cx="963274" cy="963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847902" y="1513344"/>
              <a:ext cx="769944" cy="7699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4"/>
            <p:cNvSpPr/>
            <p:nvPr/>
          </p:nvSpPr>
          <p:spPr>
            <a:xfrm rot="3007761">
              <a:off x="17401347" y="5207090"/>
              <a:ext cx="3618401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Site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3007679">
              <a:off x="13568299" y="6802468"/>
              <a:ext cx="6524354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Requisição / Banner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3007634">
              <a:off x="12242192" y="8279144"/>
              <a:ext cx="4683311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AdServer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3007576">
              <a:off x="10467103" y="9477765"/>
              <a:ext cx="4197487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Cadastro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de banners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FORMATOS SUPORTADOS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2204681" y="3811036"/>
            <a:ext cx="3554239" cy="4081484"/>
            <a:chOff x="1448990" y="4007438"/>
            <a:chExt cx="1776853" cy="2040742"/>
          </a:xfrm>
        </p:grpSpPr>
        <p:pic>
          <p:nvPicPr>
            <p:cNvPr id="98" name="Google Shape;9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STANDARD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DISPLAY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7679256" y="3811036"/>
            <a:ext cx="3554239" cy="4081484"/>
            <a:chOff x="1448990" y="4007438"/>
            <a:chExt cx="1776853" cy="2040742"/>
          </a:xfrm>
        </p:grpSpPr>
        <p:pic>
          <p:nvPicPr>
            <p:cNvPr id="101" name="Google Shape;10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CRIATIVOS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DINÂMICOS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13153831" y="3811036"/>
            <a:ext cx="3554239" cy="4081484"/>
            <a:chOff x="1448990" y="4007438"/>
            <a:chExt cx="1776853" cy="2040742"/>
          </a:xfrm>
        </p:grpSpPr>
        <p:pic>
          <p:nvPicPr>
            <p:cNvPr id="104" name="Google Shape;10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RICH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MEDIA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18628403" y="3811036"/>
            <a:ext cx="3554239" cy="4081484"/>
            <a:chOff x="1448990" y="4007438"/>
            <a:chExt cx="1776853" cy="2040742"/>
          </a:xfrm>
        </p:grpSpPr>
        <p:pic>
          <p:nvPicPr>
            <p:cNvPr id="107" name="Google Shape;10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TRACKING PIXEL 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&amp; CLICK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/>
          <p:nvPr/>
        </p:nvSpPr>
        <p:spPr>
          <a:xfrm>
            <a:off x="1821425" y="8827213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Utiliza imagem </a:t>
            </a:r>
            <a:endParaRPr b="1"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para vender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296001" y="8827212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A partir de um mesmo template, permite trocar as informações de forma dinâmica.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2770576" y="8833368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Permite uma maior interação.</a:t>
            </a:r>
            <a:b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</a:b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Formatos Expansíveis ou Flutuantes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8245150" y="8827212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Linhas de código que permitem a contabilização de impressões e clicks. Acompanha o criativo.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REPORTS POR FORMATO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aphicFrame>
        <p:nvGraphicFramePr>
          <p:cNvPr id="119" name="Google Shape;119;p16"/>
          <p:cNvGraphicFramePr/>
          <p:nvPr/>
        </p:nvGraphicFramePr>
        <p:xfrm>
          <a:off x="1424487" y="27535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{BD1429B9-0DFD-490D-8E6F-D46A8C192C7E}</a:tableStyleId>
              </a:tblPr>
              <a:tblGrid>
                <a:gridCol w="4221025"/>
                <a:gridCol w="3463425"/>
                <a:gridCol w="3463425"/>
                <a:gridCol w="3463425"/>
                <a:gridCol w="3463425"/>
                <a:gridCol w="3463425"/>
              </a:tblGrid>
              <a:tr h="130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Adserver para </a:t>
                      </a:r>
                      <a:endParaRPr sz="2200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anunciantes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Standard </a:t>
                      </a:r>
                      <a:endParaRPr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Display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Criativos 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Dinâmicos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Rich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Media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Tracking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Pixel + Click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Tracking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Click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Métricas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Impressão e Clique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Clique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Controle de entrega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Segmentação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Unificação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Sobreposição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Acompanhamento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Conversão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Auditoria*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16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9D9D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Sobre o processo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PAPEL DA ÁREA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3361" y="2899100"/>
            <a:ext cx="8940800" cy="8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13935940" y="3074661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CONFIGURAR ADSERVER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134" name="Google Shape;134;p18"/>
          <p:cNvCxnSpPr/>
          <p:nvPr/>
        </p:nvCxnSpPr>
        <p:spPr>
          <a:xfrm>
            <a:off x="7334353" y="3474710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5" name="Google Shape;135;p18"/>
          <p:cNvCxnSpPr/>
          <p:nvPr/>
        </p:nvCxnSpPr>
        <p:spPr>
          <a:xfrm>
            <a:off x="7334341" y="481225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6" name="Google Shape;136;p18"/>
          <p:cNvCxnSpPr/>
          <p:nvPr/>
        </p:nvCxnSpPr>
        <p:spPr>
          <a:xfrm>
            <a:off x="7334341" y="6395401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7" name="Google Shape;137;p18"/>
          <p:cNvCxnSpPr/>
          <p:nvPr/>
        </p:nvCxnSpPr>
        <p:spPr>
          <a:xfrm>
            <a:off x="7334341" y="781476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8" name="Google Shape;138;p18"/>
          <p:cNvCxnSpPr/>
          <p:nvPr/>
        </p:nvCxnSpPr>
        <p:spPr>
          <a:xfrm>
            <a:off x="7334341" y="907036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9" name="Google Shape;139;p18"/>
          <p:cNvCxnSpPr/>
          <p:nvPr/>
        </p:nvCxnSpPr>
        <p:spPr>
          <a:xfrm>
            <a:off x="7334341" y="10162183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40" name="Google Shape;140;p18"/>
          <p:cNvCxnSpPr/>
          <p:nvPr/>
        </p:nvCxnSpPr>
        <p:spPr>
          <a:xfrm>
            <a:off x="7334341" y="1114481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sp>
        <p:nvSpPr>
          <p:cNvPr id="141" name="Google Shape;141;p18"/>
          <p:cNvSpPr/>
          <p:nvPr/>
        </p:nvSpPr>
        <p:spPr>
          <a:xfrm>
            <a:off x="13935943" y="4409673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CADASTRAMENTO DAS PEÇAS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3935943" y="6000007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INTERFACE TÉCNICA COM VEÍCULOS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3935945" y="7414652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SUPORTE PARA DISCREPÂNCIAS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3935945" y="8670252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DISPARO DE MATERIAIS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3935945" y="9762070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CONTROLE DE UNDER E OVER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3935945" y="10744702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CHECKING DE </a:t>
            </a: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VEICULAÇÃO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</a:t>
            </a: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EFICIÊNCIA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</a:t>
            </a: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154" name="Google Shape;154;p19"/>
          <p:cNvCxnSpPr/>
          <p:nvPr/>
        </p:nvCxnSpPr>
        <p:spPr>
          <a:xfrm>
            <a:off x="15088384" y="3701928"/>
            <a:ext cx="7496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" name="Google Shape;155;p19"/>
          <p:cNvCxnSpPr/>
          <p:nvPr/>
        </p:nvCxnSpPr>
        <p:spPr>
          <a:xfrm>
            <a:off x="13054450" y="6165312"/>
            <a:ext cx="6339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" name="Google Shape;156;p19"/>
          <p:cNvCxnSpPr/>
          <p:nvPr/>
        </p:nvCxnSpPr>
        <p:spPr>
          <a:xfrm>
            <a:off x="9461341" y="8688656"/>
            <a:ext cx="6339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" name="Google Shape;157;p19"/>
          <p:cNvCxnSpPr/>
          <p:nvPr/>
        </p:nvCxnSpPr>
        <p:spPr>
          <a:xfrm>
            <a:off x="8147034" y="11212000"/>
            <a:ext cx="971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9697" y="-29980"/>
            <a:ext cx="13609122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/>
          <p:nvPr/>
        </p:nvSpPr>
        <p:spPr>
          <a:xfrm>
            <a:off x="13210599" y="2724025"/>
            <a:ext cx="37347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Dados em tempo real unificados por campanha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9830750" y="5238375"/>
            <a:ext cx="56277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Cruzamentos com dados de conversão e entre veículos (sobreposição)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638689" y="7774477"/>
            <a:ext cx="5304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Imediatismo. Menor tempo de resposta em ajustes da campanha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690900" y="10283300"/>
            <a:ext cx="44001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Melhor qualidade de dados para tomada de decisão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5900219" y="5429760"/>
            <a:ext cx="54132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PC/ADP padronizado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8278501" y="2944750"/>
            <a:ext cx="4539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Recebimento centralizado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1202066" y="10468616"/>
            <a:ext cx="72072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Indicadores de status / controle de erros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13573065" y="7883718"/>
            <a:ext cx="5413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Automação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4">
            <a:alphaModFix/>
          </a:blip>
          <a:srcRect b="7027" l="20205" r="12976" t="20224"/>
          <a:stretch/>
        </p:blipFill>
        <p:spPr>
          <a:xfrm>
            <a:off x="2471200" y="3391100"/>
            <a:ext cx="3583350" cy="351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9D9D9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Estrutura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Almap BBDO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9837125" y="3883913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DOUGLAS SILVA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COORDENADOR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003225" y="3891538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WILSON SILVA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SUPERVISOR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EQUIPE E CLIENTES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9776650" y="1671188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PÁRIS PIEDADE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VP DE PERFORMANCE 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E DADOS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550" y="1671188"/>
            <a:ext cx="1260000" cy="126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3" name="Google Shape;183;p21"/>
          <p:cNvSpPr/>
          <p:nvPr/>
        </p:nvSpPr>
        <p:spPr>
          <a:xfrm>
            <a:off x="72025" y="3891538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SIMONE HENRIQUE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GERENTE DE OPERAÇÕES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MÍDIA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 rotWithShape="1">
          <a:blip r:embed="rId4">
            <a:alphaModFix/>
          </a:blip>
          <a:srcRect b="26694" l="10115" r="47683" t="16929"/>
          <a:stretch/>
        </p:blipFill>
        <p:spPr>
          <a:xfrm>
            <a:off x="72038" y="3891538"/>
            <a:ext cx="1260000" cy="1260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9663" y="3891538"/>
            <a:ext cx="1260000" cy="12600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86" name="Google Shape;186;p21"/>
          <p:cNvCxnSpPr>
            <a:stCxn id="184" idx="4"/>
          </p:cNvCxnSpPr>
          <p:nvPr/>
        </p:nvCxnSpPr>
        <p:spPr>
          <a:xfrm flipH="1" rot="-5400000">
            <a:off x="7604138" y="-1750562"/>
            <a:ext cx="229200" cy="14033400"/>
          </a:xfrm>
          <a:prstGeom prst="bentConnector2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1"/>
          <p:cNvSpPr/>
          <p:nvPr/>
        </p:nvSpPr>
        <p:spPr>
          <a:xfrm>
            <a:off x="19988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61406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102824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144242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185660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0550" y="8601738"/>
            <a:ext cx="1757701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7">
            <a:alphaModFix/>
          </a:blip>
          <a:srcRect b="27251" l="11324" r="11324" t="0"/>
          <a:stretch/>
        </p:blipFill>
        <p:spPr>
          <a:xfrm>
            <a:off x="11476900" y="8421738"/>
            <a:ext cx="11286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elmas chips" id="194" name="Google Shape;194;p21"/>
          <p:cNvPicPr preferRelativeResize="0"/>
          <p:nvPr/>
        </p:nvPicPr>
        <p:blipFill rotWithShape="1">
          <a:blip r:embed="rId8">
            <a:alphaModFix/>
          </a:blip>
          <a:srcRect b="13372" l="10530" r="11296" t="10216"/>
          <a:stretch/>
        </p:blipFill>
        <p:spPr>
          <a:xfrm>
            <a:off x="19461475" y="8421738"/>
            <a:ext cx="172665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/>
          <p:nvPr/>
        </p:nvSpPr>
        <p:spPr>
          <a:xfrm>
            <a:off x="8811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72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196" name="Google Shape;196;p21"/>
          <p:cNvCxnSpPr>
            <a:stCxn id="187" idx="0"/>
          </p:cNvCxnSpPr>
          <p:nvPr/>
        </p:nvCxnSpPr>
        <p:spPr>
          <a:xfrm flipH="1" rot="10800000">
            <a:off x="3757588" y="5396688"/>
            <a:ext cx="8280900" cy="18063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1"/>
          <p:cNvCxnSpPr>
            <a:stCxn id="188" idx="0"/>
          </p:cNvCxnSpPr>
          <p:nvPr/>
        </p:nvCxnSpPr>
        <p:spPr>
          <a:xfrm flipH="1" rot="10800000">
            <a:off x="7899388" y="5398488"/>
            <a:ext cx="4138500" cy="18045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1"/>
          <p:cNvCxnSpPr>
            <a:stCxn id="189" idx="0"/>
          </p:cNvCxnSpPr>
          <p:nvPr/>
        </p:nvCxnSpPr>
        <p:spPr>
          <a:xfrm rot="10800000">
            <a:off x="12041188" y="5381088"/>
            <a:ext cx="0" cy="18219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1"/>
          <p:cNvCxnSpPr>
            <a:stCxn id="190" idx="0"/>
          </p:cNvCxnSpPr>
          <p:nvPr/>
        </p:nvCxnSpPr>
        <p:spPr>
          <a:xfrm rot="10800000">
            <a:off x="12041488" y="5397888"/>
            <a:ext cx="4141500" cy="18051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1"/>
          <p:cNvCxnSpPr>
            <a:stCxn id="191" idx="0"/>
          </p:cNvCxnSpPr>
          <p:nvPr/>
        </p:nvCxnSpPr>
        <p:spPr>
          <a:xfrm rot="10800000">
            <a:off x="12042088" y="5397288"/>
            <a:ext cx="8282700" cy="18057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1" name="Google Shape;20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37125" y="3909188"/>
            <a:ext cx="1324500" cy="1260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316724" y="8205650"/>
            <a:ext cx="1441175" cy="14411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1"/>
          <p:cNvCxnSpPr/>
          <p:nvPr/>
        </p:nvCxnSpPr>
        <p:spPr>
          <a:xfrm>
            <a:off x="14610550" y="5380138"/>
            <a:ext cx="8882100" cy="12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1"/>
          <p:cNvSpPr/>
          <p:nvPr/>
        </p:nvSpPr>
        <p:spPr>
          <a:xfrm>
            <a:off x="14702975" y="3909175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FELIPE LIME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ASSISTENTE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9568825" y="3909175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CÉSAR AUGUSTO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ASSISTENTE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678425" y="3817925"/>
            <a:ext cx="1260000" cy="1350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693575" y="3880813"/>
            <a:ext cx="1324500" cy="1329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363788" y="8177213"/>
            <a:ext cx="27432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413350" y="8284175"/>
            <a:ext cx="1441175" cy="13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PROCESSOS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061355" y="40786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plano da campanha é aprovado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9182152" y="22870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é sinalizada sobre nova campanha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949312" y="58702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mídia preenche PC e envia ao ad.ops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949312" y="76618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mídia monta e envia planilha de produção ao atendimento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9182152" y="112450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atendimento recebe as peças nomeadas conforme a planilha de produção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061355" y="94534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atendimento solicita produção de peças para criação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5302948" y="94534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mídia organiza a entrega na rede de acordo com formato/veículo e encaminha para ad.ops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16316971" y="76618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checa as peças recebidas e as implementa no ad.sever, gerando as tags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16316971" y="58702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faz os envios de materiais para os portais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15302948" y="40786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checa a contabilização dos banners e faz o controle da campanha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542" y="3738159"/>
            <a:ext cx="7035100" cy="70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6789957">
            <a:off x="7329342" y="3070695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5635906">
            <a:off x="5727929" y="522067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4009553">
            <a:off x="5072589" y="702015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936168">
            <a:off x="5659662" y="8902100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297896">
            <a:off x="7285188" y="10982704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8668174">
            <a:off x="18093318" y="5220669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7416583">
            <a:off x="18817134" y="702015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6307478">
            <a:off x="18084617" y="8902097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3957572">
            <a:off x="16527752" y="10982703"/>
            <a:ext cx="672180" cy="592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BENEFÍCIOS ALMAP BBDO E OBSERVAÇÕES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2960050" y="558805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Dados de mídia em tempo real unificados por campanha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10138150" y="565810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Cruzamentos com dados de conversão e entre veículos (sobreposição)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17391800" y="565810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Imediatismo. Menor tempo de resposta em ajustes da campanha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2922263" y="1053942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Melhor qualidade de dados para tomada de decisão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10100363" y="1060947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Visão integrada entre mídia, ad.ops e BI para melhores análises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17354013" y="1060947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SLA reduzido. 48hs após o recebimento do material dentro do padrão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47" name="Google Shape;247;p23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3755500" y="2678500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10815050" y="2678500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>
          <a:blip r:embed="rId5">
            <a:alphaModFix amt="42000"/>
          </a:blip>
          <a:stretch>
            <a:fillRect/>
          </a:stretch>
        </p:blipFill>
        <p:spPr>
          <a:xfrm>
            <a:off x="18203575" y="2858500"/>
            <a:ext cx="216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>
          <a:blip r:embed="rId6">
            <a:alphaModFix amt="42000"/>
          </a:blip>
          <a:stretch>
            <a:fillRect/>
          </a:stretch>
        </p:blipFill>
        <p:spPr>
          <a:xfrm>
            <a:off x="3755500" y="7558675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>
          <a:blip r:embed="rId7">
            <a:alphaModFix amt="42000"/>
          </a:blip>
          <a:stretch>
            <a:fillRect/>
          </a:stretch>
        </p:blipFill>
        <p:spPr>
          <a:xfrm>
            <a:off x="10933600" y="7558675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>
          <a:blip r:embed="rId8">
            <a:alphaModFix amt="42000"/>
          </a:blip>
          <a:stretch>
            <a:fillRect/>
          </a:stretch>
        </p:blipFill>
        <p:spPr>
          <a:xfrm>
            <a:off x="18023575" y="7558675"/>
            <a:ext cx="2520000" cy="2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59" name="Google Shape;2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525" y="4534388"/>
            <a:ext cx="1806073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8863" y="4544213"/>
            <a:ext cx="20955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27163" y="4667038"/>
            <a:ext cx="1241008" cy="4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82088" y="4742000"/>
            <a:ext cx="2468001" cy="2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434113" y="4667048"/>
            <a:ext cx="1806050" cy="4401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24"/>
          <p:cNvCxnSpPr/>
          <p:nvPr/>
        </p:nvCxnSpPr>
        <p:spPr>
          <a:xfrm>
            <a:off x="1515225" y="5749125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1515225" y="7093219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4"/>
          <p:cNvCxnSpPr/>
          <p:nvPr/>
        </p:nvCxnSpPr>
        <p:spPr>
          <a:xfrm>
            <a:off x="1515225" y="8437313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4"/>
          <p:cNvCxnSpPr/>
          <p:nvPr/>
        </p:nvCxnSpPr>
        <p:spPr>
          <a:xfrm>
            <a:off x="1515225" y="9781406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4"/>
          <p:cNvCxnSpPr/>
          <p:nvPr/>
        </p:nvCxnSpPr>
        <p:spPr>
          <a:xfrm>
            <a:off x="1515225" y="11125500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24"/>
          <p:cNvSpPr/>
          <p:nvPr/>
        </p:nvSpPr>
        <p:spPr>
          <a:xfrm>
            <a:off x="1757388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CPM	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CPV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RICH MEDIA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CPC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4823463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R$ 0,04</a:t>
            </a:r>
            <a:endParaRPr sz="300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R$ 0,60</a:t>
            </a:r>
            <a:endParaRPr sz="300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R$ 0,91</a:t>
            </a:r>
            <a:endParaRPr sz="300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R$ 0,0035</a:t>
            </a:r>
            <a:endParaRPr sz="300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8433988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R$ 0,10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R$ 0,70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R$ 0,35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R$ 0,025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12044513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R$ 0,10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R$ 0,90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R$ 0,40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R$ 0,02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15655038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R$ 0,16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R$ 0,95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R$ 0,68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19265563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R$ 0,15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R$ 1,50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R$ 0,80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8528788" y="4352863"/>
            <a:ext cx="3174600" cy="71250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5457813" y="3134163"/>
            <a:ext cx="20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endParaRPr i="1" sz="2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7" name="Google Shape;277;p24"/>
          <p:cNvSpPr/>
          <p:nvPr/>
        </p:nvSpPr>
        <p:spPr>
          <a:xfrm rot="5400000">
            <a:off x="6350763" y="2667588"/>
            <a:ext cx="270300" cy="2056200"/>
          </a:xfrm>
          <a:prstGeom prst="rightBrace">
            <a:avLst>
              <a:gd fmla="val 47387" name="adj1"/>
              <a:gd fmla="val 50000" name="adj2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8369588" y="3134163"/>
            <a:ext cx="137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i="1" sz="2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9" name="Google Shape;279;p24"/>
          <p:cNvSpPr/>
          <p:nvPr/>
        </p:nvSpPr>
        <p:spPr>
          <a:xfrm rot="5400000">
            <a:off x="15106838" y="-3176712"/>
            <a:ext cx="270300" cy="13744800"/>
          </a:xfrm>
          <a:prstGeom prst="rightBrace">
            <a:avLst>
              <a:gd fmla="val 47387" name="adj1"/>
              <a:gd fmla="val 50000" name="adj2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187010" y="12584250"/>
            <a:ext cx="171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1500">
                <a:latin typeface="Varela Round"/>
                <a:ea typeface="Varela Round"/>
                <a:cs typeface="Varela Round"/>
                <a:sym typeface="Varela Round"/>
              </a:rPr>
              <a:t>Custo total com Almap BBDO (ad.server + ad.ops) = </a:t>
            </a:r>
            <a:r>
              <a:rPr b="1" lang="pt-BR" sz="1500">
                <a:solidFill>
                  <a:srgbClr val="999999"/>
                </a:solidFill>
                <a:latin typeface="Varela Round"/>
                <a:ea typeface="Varela Round"/>
                <a:cs typeface="Varela Round"/>
                <a:sym typeface="Varela Round"/>
              </a:rPr>
              <a:t>CPM R$ 0,14 / CPV R$ 1,30 / RICH MEDIA R$ 1,26 / CPC R$ 0,0285</a:t>
            </a:r>
            <a:endParaRPr b="1" sz="1500">
              <a:solidFill>
                <a:srgbClr val="999999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Valores confidenciais. Cotações realizadas no início de 2019 sujeitas à variação de mercado, propostas à disposição para consulta.</a:t>
            </a:r>
            <a:endParaRPr b="1" sz="15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1033597" y="12584250"/>
            <a:ext cx="4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NOSSOS CUSTOS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18120875" y="12605825"/>
            <a:ext cx="103140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88" name="Google Shape;2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0463" y="4544213"/>
            <a:ext cx="20955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12563" y="4667038"/>
            <a:ext cx="1241008" cy="4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7488" y="4742000"/>
            <a:ext cx="2468001" cy="2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19513" y="4667048"/>
            <a:ext cx="1806050" cy="4401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5"/>
          <p:cNvCxnSpPr/>
          <p:nvPr/>
        </p:nvCxnSpPr>
        <p:spPr>
          <a:xfrm>
            <a:off x="1515225" y="5749125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5"/>
          <p:cNvCxnSpPr/>
          <p:nvPr/>
        </p:nvCxnSpPr>
        <p:spPr>
          <a:xfrm>
            <a:off x="1515225" y="7093219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5"/>
          <p:cNvCxnSpPr/>
          <p:nvPr/>
        </p:nvCxnSpPr>
        <p:spPr>
          <a:xfrm>
            <a:off x="1515225" y="8437313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5"/>
          <p:cNvCxnSpPr/>
          <p:nvPr/>
        </p:nvCxnSpPr>
        <p:spPr>
          <a:xfrm>
            <a:off x="1515225" y="9781406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5"/>
          <p:cNvCxnSpPr/>
          <p:nvPr/>
        </p:nvCxnSpPr>
        <p:spPr>
          <a:xfrm>
            <a:off x="1515225" y="11125500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25"/>
          <p:cNvSpPr/>
          <p:nvPr/>
        </p:nvSpPr>
        <p:spPr>
          <a:xfrm>
            <a:off x="1757388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CPM	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CPV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RICH MEDIA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CPC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919388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R$ 0,14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R$ 1,30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R$ 1,26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R$ 0,0285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9529913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R$ 0,14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R$ 1,50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R$ 1,31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R$ 0,02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13216638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R$ 0,20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R$ 1,55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R$ 1,59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16827163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R$ 0,19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R$ 2,10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R$ 1,71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6003663" y="4380613"/>
            <a:ext cx="3174600" cy="71250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6986188" y="3116550"/>
            <a:ext cx="137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Serviços </a:t>
            </a:r>
            <a:r>
              <a:rPr i="1" lang="pt-BR" sz="2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 + Adserver</a:t>
            </a:r>
            <a:endParaRPr i="1" sz="2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4" name="Google Shape;304;p25"/>
          <p:cNvSpPr/>
          <p:nvPr/>
        </p:nvSpPr>
        <p:spPr>
          <a:xfrm rot="5400000">
            <a:off x="13689953" y="-4593729"/>
            <a:ext cx="177900" cy="16671000"/>
          </a:xfrm>
          <a:prstGeom prst="rightBrace">
            <a:avLst>
              <a:gd fmla="val 47387" name="adj1"/>
              <a:gd fmla="val 50000" name="adj2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6187010" y="12584250"/>
            <a:ext cx="171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1" sz="1500">
              <a:solidFill>
                <a:srgbClr val="999999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Valores confidenciais. Cotações realizadas no início de 2019 sujeitas à variação de mercado, propostas à disposição para consulta.</a:t>
            </a:r>
            <a:endParaRPr b="1" sz="15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1033597" y="12584250"/>
            <a:ext cx="4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NOSSOS CUSTOS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14557575" y="12659550"/>
            <a:ext cx="51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9125" y="6542350"/>
            <a:ext cx="5368924" cy="6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6"/>
          <p:cNvSpPr txBox="1"/>
          <p:nvPr/>
        </p:nvSpPr>
        <p:spPr>
          <a:xfrm>
            <a:off x="10328252" y="7264575"/>
            <a:ext cx="373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4B4B"/>
              </a:buClr>
              <a:buSzPts val="6000"/>
              <a:buFont typeface="Arial"/>
              <a:buNone/>
            </a:pPr>
            <a:r>
              <a:rPr b="1" lang="pt-BR" sz="4000">
                <a:solidFill>
                  <a:srgbClr val="504B4B"/>
                </a:solidFill>
                <a:latin typeface="Varela Round"/>
                <a:ea typeface="Varela Round"/>
                <a:cs typeface="Varela Round"/>
                <a:sym typeface="Varela Round"/>
              </a:rPr>
              <a:t>Obrigado.</a:t>
            </a:r>
            <a:endParaRPr b="1" sz="4000">
              <a:solidFill>
                <a:srgbClr val="C3C3C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13716000" y="4645450"/>
            <a:ext cx="2666100" cy="1204500"/>
          </a:xfrm>
          <a:prstGeom prst="wedgeRoundRectCallout">
            <a:avLst>
              <a:gd fmla="val -36747" name="adj1"/>
              <a:gd fmla="val 79020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800">
                <a:solidFill>
                  <a:srgbClr val="434343"/>
                </a:solidFill>
                <a:latin typeface="Lobster"/>
                <a:ea typeface="Lobster"/>
                <a:cs typeface="Lobster"/>
                <a:sym typeface="Lobster"/>
              </a:rPr>
              <a:t>ad.ops</a:t>
            </a:r>
            <a:endParaRPr b="1" sz="4800">
              <a:solidFill>
                <a:srgbClr val="43434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LMAP">
  <a:themeElements>
    <a:clrScheme name="ALMAP">
      <a:dk1>
        <a:srgbClr val="FFFFFE"/>
      </a:dk1>
      <a:lt1>
        <a:srgbClr val="141313"/>
      </a:lt1>
      <a:dk2>
        <a:srgbClr val="D01E20"/>
      </a:dk2>
      <a:lt2>
        <a:srgbClr val="141313"/>
      </a:lt2>
      <a:accent1>
        <a:srgbClr val="E8E0C8"/>
      </a:accent1>
      <a:accent2>
        <a:srgbClr val="E47B60"/>
      </a:accent2>
      <a:accent3>
        <a:srgbClr val="777877"/>
      </a:accent3>
      <a:accent4>
        <a:srgbClr val="D01E20"/>
      </a:accent4>
      <a:accent5>
        <a:srgbClr val="4BACC6"/>
      </a:accent5>
      <a:accent6>
        <a:srgbClr val="141313"/>
      </a:accent6>
      <a:hlink>
        <a:srgbClr val="FFFFFE"/>
      </a:hlink>
      <a:folHlink>
        <a:srgbClr val="E8E0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 xmlns:r="http://schemas.openxmlformats.org/officeDocument/2006/relationships">
  <a:clrScheme name="ALMAP">
    <a:dk1>
      <a:srgbClr val="FFFFFE"/>
    </a:dk1>
    <a:lt1>
      <a:srgbClr val="141313"/>
    </a:lt1>
    <a:dk2>
      <a:srgbClr val="D01E20"/>
    </a:dk2>
    <a:lt2>
      <a:srgbClr val="141313"/>
    </a:lt2>
    <a:accent1>
      <a:srgbClr val="E8E0C8"/>
    </a:accent1>
    <a:accent2>
      <a:srgbClr val="E47B60"/>
    </a:accent2>
    <a:accent3>
      <a:srgbClr val="777877"/>
    </a:accent3>
    <a:accent4>
      <a:srgbClr val="D01E20"/>
    </a:accent4>
    <a:accent5>
      <a:srgbClr val="4BACC6"/>
    </a:accent5>
    <a:accent6>
      <a:srgbClr val="141313"/>
    </a:accent6>
    <a:hlink>
      <a:srgbClr val="FFFFFE"/>
    </a:hlink>
    <a:folHlink>
      <a:srgbClr val="E8E0C8"/>
    </a:folHlink>
  </a:clrScheme>
</a:themeOverride>
</file>

<file path=ppt/theme/themeOverride2.xml><?xml version="1.0" encoding="utf-8"?>
<a:themeOverride xmlns:a="http://schemas.openxmlformats.org/drawingml/2006/main" xmlns:r="http://schemas.openxmlformats.org/officeDocument/2006/relationships">
  <a:clrScheme name="ALMAP">
    <a:dk1>
      <a:srgbClr val="FFFFFE"/>
    </a:dk1>
    <a:lt1>
      <a:srgbClr val="141313"/>
    </a:lt1>
    <a:dk2>
      <a:srgbClr val="D01E20"/>
    </a:dk2>
    <a:lt2>
      <a:srgbClr val="141313"/>
    </a:lt2>
    <a:accent1>
      <a:srgbClr val="E8E0C8"/>
    </a:accent1>
    <a:accent2>
      <a:srgbClr val="E47B60"/>
    </a:accent2>
    <a:accent3>
      <a:srgbClr val="777877"/>
    </a:accent3>
    <a:accent4>
      <a:srgbClr val="D01E20"/>
    </a:accent4>
    <a:accent5>
      <a:srgbClr val="4BACC6"/>
    </a:accent5>
    <a:accent6>
      <a:srgbClr val="141313"/>
    </a:accent6>
    <a:hlink>
      <a:srgbClr val="FFFFFE"/>
    </a:hlink>
    <a:folHlink>
      <a:srgbClr val="E8E0C8"/>
    </a:folHlink>
  </a:clrScheme>
</a:themeOverride>
</file>