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97" r:id="rId2"/>
    <p:sldMasterId id="2147483709" r:id="rId3"/>
    <p:sldMasterId id="2147483715" r:id="rId4"/>
  </p:sldMasterIdLst>
  <p:notesMasterIdLst>
    <p:notesMasterId r:id="rId48"/>
  </p:notesMasterIdLst>
  <p:sldIdLst>
    <p:sldId id="257" r:id="rId5"/>
    <p:sldId id="385" r:id="rId6"/>
    <p:sldId id="391" r:id="rId7"/>
    <p:sldId id="412" r:id="rId8"/>
    <p:sldId id="419" r:id="rId9"/>
    <p:sldId id="392" r:id="rId10"/>
    <p:sldId id="444" r:id="rId11"/>
    <p:sldId id="445" r:id="rId12"/>
    <p:sldId id="394" r:id="rId13"/>
    <p:sldId id="413" r:id="rId14"/>
    <p:sldId id="414" r:id="rId15"/>
    <p:sldId id="415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16" r:id="rId26"/>
    <p:sldId id="417" r:id="rId27"/>
    <p:sldId id="418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41" r:id="rId36"/>
    <p:sldId id="427" r:id="rId37"/>
    <p:sldId id="428" r:id="rId38"/>
    <p:sldId id="429" r:id="rId39"/>
    <p:sldId id="430" r:id="rId40"/>
    <p:sldId id="442" r:id="rId41"/>
    <p:sldId id="443" r:id="rId42"/>
    <p:sldId id="431" r:id="rId43"/>
    <p:sldId id="446" r:id="rId44"/>
    <p:sldId id="447" r:id="rId45"/>
    <p:sldId id="448" r:id="rId46"/>
    <p:sldId id="390" r:id="rId4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311CB9-29CF-468E-8F3A-02293F75FFB6}">
          <p14:sldIdLst>
            <p14:sldId id="257"/>
            <p14:sldId id="385"/>
            <p14:sldId id="391"/>
            <p14:sldId id="412"/>
            <p14:sldId id="419"/>
            <p14:sldId id="392"/>
            <p14:sldId id="444"/>
            <p14:sldId id="445"/>
            <p14:sldId id="394"/>
            <p14:sldId id="413"/>
            <p14:sldId id="414"/>
            <p14:sldId id="415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16"/>
            <p14:sldId id="417"/>
            <p14:sldId id="418"/>
            <p14:sldId id="420"/>
            <p14:sldId id="421"/>
            <p14:sldId id="422"/>
            <p14:sldId id="423"/>
            <p14:sldId id="424"/>
            <p14:sldId id="425"/>
            <p14:sldId id="426"/>
            <p14:sldId id="441"/>
            <p14:sldId id="427"/>
            <p14:sldId id="428"/>
            <p14:sldId id="429"/>
            <p14:sldId id="430"/>
            <p14:sldId id="442"/>
            <p14:sldId id="443"/>
            <p14:sldId id="431"/>
            <p14:sldId id="446"/>
            <p14:sldId id="447"/>
            <p14:sldId id="448"/>
            <p14:sldId id="3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343"/>
    <a:srgbClr val="FF3300"/>
    <a:srgbClr val="99FF99"/>
    <a:srgbClr val="AEC87A"/>
    <a:srgbClr val="BED393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48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D5198-DF91-4E3C-BD44-E5DA865C8A36}" type="datetimeFigureOut">
              <a:rPr lang="pt-BR" smtClean="0"/>
              <a:t>30/07/2019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32726-D83F-48F7-B9EA-4444A7AA11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1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extLst/>
        </p:spPr>
        <p:txBody>
          <a:bodyPr/>
          <a:lstStyle/>
          <a:p>
            <a:pPr>
              <a:defRPr/>
            </a:pPr>
            <a:endParaRPr lang="pt-BR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84382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768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102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7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496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8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16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9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10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969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911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134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203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680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899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917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17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5582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18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567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19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445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20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704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163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46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42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290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8770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50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27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5458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28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9279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29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5869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30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8231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525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8565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6220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5214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35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5096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36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7678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37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9630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38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8460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39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4266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40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1587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41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3926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42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0339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Entender profundamente o comportamento do consumidor nos permite extrair insights mais profundos e trazer maior impacto para os negócios.</a:t>
            </a:r>
          </a:p>
          <a:p>
            <a:pPr algn="ctr" eaLnBrk="1" hangingPunct="1"/>
            <a:r>
              <a:rPr lang="pt-BR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BENEFÍCIO PARA O CONSUMIDOR E RESULTADOS PARA A COMPANHIA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7AFAA-4B27-4835-9345-512ABA295532}" type="slidenum">
              <a:rPr lang="pt-BR">
                <a:solidFill>
                  <a:prstClr val="black"/>
                </a:solidFill>
              </a:rPr>
              <a:pPr/>
              <a:t>43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79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3" y="3886201"/>
            <a:ext cx="64008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2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64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2906714"/>
            <a:ext cx="7772400" cy="150018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5712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9142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0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3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1200153"/>
            <a:ext cx="4038599" cy="3394075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3" y="1200153"/>
            <a:ext cx="4038599" cy="3394075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06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1143001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2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6" indent="0">
              <a:buNone/>
              <a:defRPr sz="2100" b="1"/>
            </a:lvl2pPr>
            <a:lvl3pPr marL="914252" indent="0">
              <a:buNone/>
              <a:defRPr sz="1700" b="1"/>
            </a:lvl3pPr>
            <a:lvl4pPr marL="1371378" indent="0">
              <a:buNone/>
              <a:defRPr sz="1600" b="1"/>
            </a:lvl4pPr>
            <a:lvl5pPr marL="1828503" indent="0">
              <a:buNone/>
              <a:defRPr sz="1600" b="1"/>
            </a:lvl5pPr>
            <a:lvl6pPr marL="2285629" indent="0">
              <a:buNone/>
              <a:defRPr sz="1600" b="1"/>
            </a:lvl6pPr>
            <a:lvl7pPr marL="2742755" indent="0">
              <a:buNone/>
              <a:defRPr sz="1600" b="1"/>
            </a:lvl7pPr>
            <a:lvl8pPr marL="3199881" indent="0">
              <a:buNone/>
              <a:defRPr sz="1600" b="1"/>
            </a:lvl8pPr>
            <a:lvl9pPr marL="3657007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2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6" indent="0">
              <a:buNone/>
              <a:defRPr sz="2100" b="1"/>
            </a:lvl2pPr>
            <a:lvl3pPr marL="914252" indent="0">
              <a:buNone/>
              <a:defRPr sz="1700" b="1"/>
            </a:lvl3pPr>
            <a:lvl4pPr marL="1371378" indent="0">
              <a:buNone/>
              <a:defRPr sz="1600" b="1"/>
            </a:lvl4pPr>
            <a:lvl5pPr marL="1828503" indent="0">
              <a:buNone/>
              <a:defRPr sz="1600" b="1"/>
            </a:lvl5pPr>
            <a:lvl6pPr marL="2285629" indent="0">
              <a:buNone/>
              <a:defRPr sz="1600" b="1"/>
            </a:lvl6pPr>
            <a:lvl7pPr marL="2742755" indent="0">
              <a:buNone/>
              <a:defRPr sz="1600" b="1"/>
            </a:lvl7pPr>
            <a:lvl8pPr marL="3199881" indent="0">
              <a:buNone/>
              <a:defRPr sz="1600" b="1"/>
            </a:lvl8pPr>
            <a:lvl9pPr marL="3657007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27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07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6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73053"/>
            <a:ext cx="3008313" cy="1162051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435104"/>
            <a:ext cx="3008313" cy="4691061"/>
          </a:xfrm>
        </p:spPr>
        <p:txBody>
          <a:bodyPr/>
          <a:lstStyle>
            <a:lvl1pPr marL="0" indent="0">
              <a:buNone/>
              <a:defRPr sz="1400"/>
            </a:lvl1pPr>
            <a:lvl2pPr marL="457126" indent="0">
              <a:buNone/>
              <a:defRPr sz="1300"/>
            </a:lvl2pPr>
            <a:lvl3pPr marL="914252" indent="0">
              <a:buNone/>
              <a:defRPr sz="1000"/>
            </a:lvl3pPr>
            <a:lvl4pPr marL="1371378" indent="0">
              <a:buNone/>
              <a:defRPr sz="1000"/>
            </a:lvl4pPr>
            <a:lvl5pPr marL="1828503" indent="0">
              <a:buNone/>
              <a:defRPr sz="1000"/>
            </a:lvl5pPr>
            <a:lvl6pPr marL="2285629" indent="0">
              <a:buNone/>
              <a:defRPr sz="1000"/>
            </a:lvl6pPr>
            <a:lvl7pPr marL="2742755" indent="0">
              <a:buNone/>
              <a:defRPr sz="1000"/>
            </a:lvl7pPr>
            <a:lvl8pPr marL="3199881" indent="0">
              <a:buNone/>
              <a:defRPr sz="1000"/>
            </a:lvl8pPr>
            <a:lvl9pPr marL="3657007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55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9" y="4800604"/>
            <a:ext cx="5486400" cy="566737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9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26" indent="0">
              <a:buNone/>
              <a:defRPr sz="2900"/>
            </a:lvl2pPr>
            <a:lvl3pPr marL="914252" indent="0">
              <a:buNone/>
              <a:defRPr sz="2400"/>
            </a:lvl3pPr>
            <a:lvl4pPr marL="1371378" indent="0">
              <a:buNone/>
              <a:defRPr sz="2100"/>
            </a:lvl4pPr>
            <a:lvl5pPr marL="1828503" indent="0">
              <a:buNone/>
              <a:defRPr sz="2100"/>
            </a:lvl5pPr>
            <a:lvl6pPr marL="2285629" indent="0">
              <a:buNone/>
              <a:defRPr sz="2100"/>
            </a:lvl6pPr>
            <a:lvl7pPr marL="2742755" indent="0">
              <a:buNone/>
              <a:defRPr sz="2100"/>
            </a:lvl7pPr>
            <a:lvl8pPr marL="3199881" indent="0">
              <a:buNone/>
              <a:defRPr sz="2100"/>
            </a:lvl8pPr>
            <a:lvl9pPr marL="3657007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9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26" indent="0">
              <a:buNone/>
              <a:defRPr sz="1300"/>
            </a:lvl2pPr>
            <a:lvl3pPr marL="914252" indent="0">
              <a:buNone/>
              <a:defRPr sz="1000"/>
            </a:lvl3pPr>
            <a:lvl4pPr marL="1371378" indent="0">
              <a:buNone/>
              <a:defRPr sz="1000"/>
            </a:lvl4pPr>
            <a:lvl5pPr marL="1828503" indent="0">
              <a:buNone/>
              <a:defRPr sz="1000"/>
            </a:lvl5pPr>
            <a:lvl6pPr marL="2285629" indent="0">
              <a:buNone/>
              <a:defRPr sz="1000"/>
            </a:lvl6pPr>
            <a:lvl7pPr marL="2742755" indent="0">
              <a:buNone/>
              <a:defRPr sz="1000"/>
            </a:lvl7pPr>
            <a:lvl8pPr marL="3199881" indent="0">
              <a:buNone/>
              <a:defRPr sz="1000"/>
            </a:lvl8pPr>
            <a:lvl9pPr marL="3657007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55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79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6378"/>
            <a:ext cx="2057401" cy="438785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206378"/>
            <a:ext cx="6019799" cy="4387851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17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253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76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958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800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221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128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8697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2772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74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71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896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86160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133479" y="3298827"/>
            <a:ext cx="5872163" cy="739775"/>
          </a:xfrm>
        </p:spPr>
        <p:txBody>
          <a:bodyPr lIns="0"/>
          <a:lstStyle>
            <a:lvl1pPr marL="0" indent="0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 bwMode="white">
          <a:xfrm>
            <a:off x="1133477" y="1406525"/>
            <a:ext cx="6048375" cy="1468438"/>
          </a:xfrm>
        </p:spPr>
        <p:txBody>
          <a:bodyPr lIns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293" name="Picture 29" descr="WM_SQ_Scribble_rgb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7" y="6081714"/>
            <a:ext cx="566737" cy="501650"/>
          </a:xfrm>
          <a:prstGeom prst="rect">
            <a:avLst/>
          </a:prstGeom>
          <a:noFill/>
        </p:spPr>
      </p:pic>
      <p:pic>
        <p:nvPicPr>
          <p:cNvPr id="11297" name="Picture 33" descr="WM_logo_PMS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79" y="6362701"/>
            <a:ext cx="1719263" cy="223838"/>
          </a:xfrm>
          <a:prstGeom prst="rect">
            <a:avLst/>
          </a:prstGeom>
          <a:noFill/>
        </p:spPr>
      </p:pic>
      <p:pic>
        <p:nvPicPr>
          <p:cNvPr id="11301" name="Picture 37" descr="wunderman_logo_ko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53" r="-463"/>
          <a:stretch>
            <a:fillRect/>
          </a:stretch>
        </p:blipFill>
        <p:spPr bwMode="auto">
          <a:xfrm>
            <a:off x="6981825" y="6365877"/>
            <a:ext cx="1758950" cy="215900"/>
          </a:xfrm>
          <a:prstGeom prst="rect">
            <a:avLst/>
          </a:prstGeom>
          <a:noFill/>
        </p:spPr>
      </p:pic>
      <p:pic>
        <p:nvPicPr>
          <p:cNvPr id="11302" name="Picture 38" descr="WM_SQ_Scribble_KO"/>
          <p:cNvPicPr>
            <a:picLocks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080125"/>
            <a:ext cx="565150" cy="5032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7378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8315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847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28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52800" y="6324600"/>
            <a:ext cx="1905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2002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‹nº›</a:t>
            </a:fld>
            <a:endParaRPr lang="en-AU" dirty="0"/>
          </a:p>
        </p:txBody>
      </p:sp>
      <p:cxnSp>
        <p:nvCxnSpPr>
          <p:cNvPr id="5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8" name="CaixaDeTexto 7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25389794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‹nº›</a:t>
            </a:fld>
            <a:endParaRPr lang="en-AU" dirty="0"/>
          </a:p>
        </p:txBody>
      </p:sp>
      <p:cxnSp>
        <p:nvCxnSpPr>
          <p:cNvPr id="3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6" name="CaixaDeTexto 5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3499418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fld id="{9784CBA3-D598-4B1F-BAA3-EE14B5154290}" type="slidenum">
              <a:rPr lang="en-AU" smtClean="0"/>
              <a:pPr/>
              <a:t>‹nº›</a:t>
            </a:fld>
            <a:endParaRPr lang="en-AU" dirty="0"/>
          </a:p>
        </p:txBody>
      </p:sp>
      <p:cxnSp>
        <p:nvCxnSpPr>
          <p:cNvPr id="3" name="Straight Connector 69"/>
          <p:cNvCxnSpPr/>
          <p:nvPr userDrawn="1">
            <p:custDataLst>
              <p:tags r:id="rId1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 userDrawn="1">
            <p:custDataLst>
              <p:tags r:id="rId3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6" name="CaixaDeTexto 5"/>
          <p:cNvSpPr txBox="1"/>
          <p:nvPr userDrawn="1">
            <p:custDataLst>
              <p:tags r:id="rId4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</p:spTree>
    <p:extLst>
      <p:ext uri="{BB962C8B-B14F-4D97-AF65-F5344CB8AC3E}">
        <p14:creationId xmlns:p14="http://schemas.microsoft.com/office/powerpoint/2010/main" val="2244635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3" Type="http://schemas.openxmlformats.org/officeDocument/2006/relationships/slideLayout" Target="../slideLayouts/slideLayout31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10" Type="http://schemas.openxmlformats.org/officeDocument/2006/relationships/image" Target="../media/image6.png"/><Relationship Id="rId4" Type="http://schemas.openxmlformats.org/officeDocument/2006/relationships/theme" Target="../theme/theme4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23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1143001"/>
          </a:xfrm>
          <a:prstGeom prst="rect">
            <a:avLst/>
          </a:prstGeom>
        </p:spPr>
        <p:txBody>
          <a:bodyPr vert="horz" lIns="91426" tIns="45713" rIns="91426" bIns="45713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26" tIns="45713" rIns="91426" bIns="45713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fld id="{704CA71A-33EA-B940-AF60-B7622460976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26"/>
              <a:t>7/30/2019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3"/>
            <a:ext cx="2895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26"/>
            <a:fld id="{DC12B671-1D0D-624C-841A-DCE160930F8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26"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40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12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4" indent="-342844" algn="l" defTabSz="457126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30" indent="-285704" algn="l" defTabSz="457126" rtl="0" eaLnBrk="1" latinLnBrk="0" hangingPunct="1">
        <a:spcBef>
          <a:spcPct val="20000"/>
        </a:spcBef>
        <a:buFont typeface="Arial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4" indent="-228562" algn="l" defTabSz="457126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40" indent="-228562" algn="l" defTabSz="457126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66" indent="-228562" algn="l" defTabSz="457126" rtl="0" eaLnBrk="1" latinLnBrk="0" hangingPunct="1">
        <a:spcBef>
          <a:spcPct val="20000"/>
        </a:spcBef>
        <a:buFont typeface="Arial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92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17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43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9" indent="-228562" algn="l" defTabSz="45712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6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2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8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3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9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5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1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07" algn="l" defTabSz="45712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23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17FDA-76E3-48A8-B096-3947A2226C4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30/07/2019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4F068-3652-4EEA-B653-56043058216F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23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623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5" name="Picture 25" descr="WM_SQ_Scribble_rgb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7" y="6081714"/>
            <a:ext cx="566737" cy="501650"/>
          </a:xfrm>
          <a:prstGeom prst="rect">
            <a:avLst/>
          </a:prstGeom>
          <a:noFill/>
        </p:spPr>
      </p:pic>
      <p:pic>
        <p:nvPicPr>
          <p:cNvPr id="10267" name="Picture 27" descr="WM_logo_PMS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79" y="6362701"/>
            <a:ext cx="1719263" cy="223838"/>
          </a:xfrm>
          <a:prstGeom prst="rect">
            <a:avLst/>
          </a:prstGeom>
          <a:noFill/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592" y="150814"/>
            <a:ext cx="7340385" cy="127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1716091"/>
            <a:ext cx="8362950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56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 ftr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entury Gothic" pitchFamily="34" charset="0"/>
        </a:defRPr>
      </a:lvl9pPr>
    </p:titleStyle>
    <p:bodyStyle>
      <a:lvl1pPr marL="342900" indent="-342900" algn="l" rtl="0" fontAlgn="base">
        <a:spcBef>
          <a:spcPct val="25000"/>
        </a:spcBef>
        <a:spcAft>
          <a:spcPct val="0"/>
        </a:spcAft>
        <a:buFont typeface="Wingdings" pitchFamily="2" charset="2"/>
        <a:buChar char="§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5000"/>
        </a:spcBef>
        <a:spcAft>
          <a:spcPct val="0"/>
        </a:spcAft>
        <a:buFont typeface="Arial" pitchFamily="34" charset="0"/>
        <a:buChar char="–"/>
        <a:defRPr>
          <a:solidFill>
            <a:srgbClr val="666666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5000"/>
        </a:spcBef>
        <a:spcAft>
          <a:spcPct val="0"/>
        </a:spcAft>
        <a:buChar char="»"/>
        <a:defRPr>
          <a:solidFill>
            <a:srgbClr val="666666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623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529913" y="6491265"/>
            <a:ext cx="505467" cy="25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50" b="0">
                <a:solidFill>
                  <a:srgbClr val="333333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84CBA3-D598-4B1F-BAA3-EE14B5154290}" type="slidenum">
              <a:rPr lang="en-AU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n-AU" dirty="0">
              <a:cs typeface="Arial" charset="0"/>
            </a:endParaRPr>
          </a:p>
        </p:txBody>
      </p:sp>
      <p:cxnSp>
        <p:nvCxnSpPr>
          <p:cNvPr id="11" name="Straight Connector 69"/>
          <p:cNvCxnSpPr/>
          <p:nvPr>
            <p:custDataLst>
              <p:tags r:id="rId5"/>
            </p:custDataLst>
          </p:nvPr>
        </p:nvCxnSpPr>
        <p:spPr>
          <a:xfrm>
            <a:off x="282163" y="5946775"/>
            <a:ext cx="8572912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\\PSTUDIOTERM\Clients\TNS Global\TNS_002 Templates\4. Design\4. Active\PPT Files\2. 5th April Redesign\From Client\TNS_logo_72ppi.pn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13" y="6071836"/>
            <a:ext cx="504000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/>
          <p:cNvSpPr txBox="1"/>
          <p:nvPr>
            <p:custDataLst>
              <p:tags r:id="rId7"/>
            </p:custDataLst>
          </p:nvPr>
        </p:nvSpPr>
        <p:spPr>
          <a:xfrm>
            <a:off x="1290880" y="6324879"/>
            <a:ext cx="2540000" cy="530999"/>
          </a:xfrm>
          <a:prstGeom prst="rect">
            <a:avLst/>
          </a:prstGeom>
          <a:noFill/>
        </p:spPr>
        <p:txBody>
          <a:bodyPr vert="horz" wrap="square" lIns="0" tIns="0" rIns="0" bIns="279400" rtlCol="0" anchor="b">
            <a:noAutofit/>
          </a:bodyPr>
          <a:lstStyle/>
          <a:p>
            <a:pPr fontAlgn="base">
              <a:lnSpc>
                <a:spcPct val="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750">
                <a:solidFill>
                  <a:srgbClr val="232323"/>
                </a:solidFill>
                <a:cs typeface="Arial" charset="0"/>
              </a:rPr>
              <a:t>© TNS   </a:t>
            </a:r>
            <a:endParaRPr lang="pt-BR" sz="750" dirty="0" err="1">
              <a:solidFill>
                <a:srgbClr val="232323"/>
              </a:solidFill>
              <a:cs typeface="Arial" charset="0"/>
            </a:endParaRPr>
          </a:p>
        </p:txBody>
      </p:sp>
      <p:sp>
        <p:nvSpPr>
          <p:cNvPr id="14" name="CaixaDeTexto 13"/>
          <p:cNvSpPr txBox="1"/>
          <p:nvPr>
            <p:custDataLst>
              <p:tags r:id="rId8"/>
            </p:custDataLst>
          </p:nvPr>
        </p:nvSpPr>
        <p:spPr>
          <a:xfrm>
            <a:off x="1284044" y="6298419"/>
            <a:ext cx="1905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750" dirty="0">
                <a:solidFill>
                  <a:srgbClr val="232323"/>
                </a:solidFill>
                <a:cs typeface="Arial" charset="0"/>
              </a:rPr>
              <a:t>C0032002</a:t>
            </a:r>
          </a:p>
        </p:txBody>
      </p:sp>
      <p:pic>
        <p:nvPicPr>
          <p:cNvPr id="15" name="Picture 2" descr="X:\Consumo\C, D\Catho\C0033001 – Emprego Online 3ª Onda\8 - Diversos (modelos, referências, etc)\LogoCatho_NovoAzul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67183" y="6152076"/>
            <a:ext cx="741430" cy="667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927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600" b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52413" indent="-252413" algn="l" defTabSz="914400" rtl="0" eaLnBrk="1" latinLnBrk="0" hangingPunct="1">
        <a:spcBef>
          <a:spcPct val="20000"/>
        </a:spcBef>
        <a:buFont typeface="Wingdings" pitchFamily="2" charset="2"/>
        <a:buChar char="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508000" indent="-255588" algn="l" defTabSz="914400" rtl="0" eaLnBrk="1" latinLnBrk="0" hangingPunct="1">
        <a:spcBef>
          <a:spcPct val="20000"/>
        </a:spcBef>
        <a:buFont typeface="Wingdings" pitchFamily="2" charset="2"/>
        <a:buChar char="n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760413" indent="-252413" algn="l" defTabSz="914400" rtl="0" eaLnBrk="1" latinLnBrk="0" hangingPunct="1">
        <a:spcBef>
          <a:spcPct val="20000"/>
        </a:spcBef>
        <a:buFont typeface="Wingdings" pitchFamily="2" charset="2"/>
        <a:buChar char="n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8"/>
          <a:stretch/>
        </p:blipFill>
        <p:spPr bwMode="auto">
          <a:xfrm>
            <a:off x="-19050" y="-11040"/>
            <a:ext cx="10725150" cy="690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4580" name="Rectangle 3"/>
          <p:cNvSpPr>
            <a:spLocks/>
          </p:cNvSpPr>
          <p:nvPr/>
        </p:nvSpPr>
        <p:spPr bwMode="auto">
          <a:xfrm>
            <a:off x="1102603" y="1571170"/>
            <a:ext cx="3790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2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2019</a:t>
            </a:r>
          </a:p>
        </p:txBody>
      </p:sp>
      <p:sp>
        <p:nvSpPr>
          <p:cNvPr id="5" name="Rectangle 3"/>
          <p:cNvSpPr>
            <a:spLocks/>
          </p:cNvSpPr>
          <p:nvPr/>
        </p:nvSpPr>
        <p:spPr bwMode="auto">
          <a:xfrm>
            <a:off x="1981200" y="2364921"/>
            <a:ext cx="2912354" cy="73479"/>
          </a:xfrm>
          <a:prstGeom prst="rect">
            <a:avLst/>
          </a:prstGeom>
          <a:solidFill>
            <a:srgbClr val="FFFA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ヒラギノ角ゴ ProN W3" charset="-128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pt-BR" sz="420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6" name="Rectangle 3"/>
          <p:cNvSpPr>
            <a:spLocks/>
          </p:cNvSpPr>
          <p:nvPr/>
        </p:nvSpPr>
        <p:spPr bwMode="auto">
          <a:xfrm>
            <a:off x="324852" y="2313096"/>
            <a:ext cx="4717047" cy="1337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r" eaLnBrk="1" hangingPunct="1">
              <a:lnSpc>
                <a:spcPct val="80000"/>
              </a:lnSpc>
            </a:pPr>
            <a:r>
              <a:rPr lang="pt-BR" sz="3400" b="1" dirty="0" err="1">
                <a:solidFill>
                  <a:srgbClr val="FFFFFF"/>
                </a:solidFill>
                <a:latin typeface="Century Gothic" panose="020B0502020202020204" pitchFamily="34" charset="0"/>
              </a:rPr>
              <a:t>Campaign</a:t>
            </a:r>
            <a:r>
              <a:rPr lang="pt-BR" sz="3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 Manager</a:t>
            </a:r>
            <a:br>
              <a:rPr lang="pt-BR" sz="3400" b="1" dirty="0">
                <a:solidFill>
                  <a:srgbClr val="FFFFFF"/>
                </a:solidFill>
                <a:latin typeface="Century Gothic" panose="020B0502020202020204" pitchFamily="34" charset="0"/>
              </a:rPr>
            </a:br>
            <a:r>
              <a:rPr lang="pt-BR" sz="3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(CM)</a:t>
            </a:r>
            <a:endParaRPr lang="en-US" sz="3400" b="1" dirty="0">
              <a:solidFill>
                <a:srgbClr val="FFFFFF"/>
              </a:solidFill>
              <a:latin typeface="Century Gothic" panose="020B0502020202020204" pitchFamily="34" charset="0"/>
              <a:ea typeface="MS PGothic" panose="020B0600070205080204" pitchFamily="34" charset="-128"/>
              <a:sym typeface="Century Gothic" panose="020B0502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7310" r="22942" b="6345"/>
          <a:stretch/>
        </p:blipFill>
        <p:spPr bwMode="auto">
          <a:xfrm>
            <a:off x="5050971" y="-29030"/>
            <a:ext cx="5646058" cy="68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882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A Plataforma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18" y="760728"/>
            <a:ext cx="7162800" cy="3524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1379916" y="803959"/>
            <a:ext cx="425611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https://www.google.com/dfa/trafficking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75" y="1144906"/>
            <a:ext cx="8691313" cy="50024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452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A Plataforma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75" y="1144906"/>
            <a:ext cx="8691313" cy="50024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CaixaDeTexto 7"/>
          <p:cNvSpPr txBox="1"/>
          <p:nvPr/>
        </p:nvSpPr>
        <p:spPr>
          <a:xfrm>
            <a:off x="979136" y="1637217"/>
            <a:ext cx="2286412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Visão geral das Campanhas</a:t>
            </a:r>
          </a:p>
        </p:txBody>
      </p:sp>
      <p:pic>
        <p:nvPicPr>
          <p:cNvPr id="1033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3098070" y="1462984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7"/>
          <p:cNvSpPr txBox="1"/>
          <p:nvPr/>
        </p:nvSpPr>
        <p:spPr>
          <a:xfrm>
            <a:off x="3874444" y="1526233"/>
            <a:ext cx="3416479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Cadastro e Gerenciamento de Advertisers</a:t>
            </a:r>
          </a:p>
        </p:txBody>
      </p:sp>
      <p:pic>
        <p:nvPicPr>
          <p:cNvPr id="13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3965676" y="1368369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15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2" grpId="0" animBg="1"/>
      <p:bldP spid="1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A Plataforma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325" r="1"/>
          <a:stretch/>
        </p:blipFill>
        <p:spPr>
          <a:xfrm>
            <a:off x="175255" y="853837"/>
            <a:ext cx="8776846" cy="1508089"/>
          </a:xfrm>
          <a:prstGeom prst="rect">
            <a:avLst/>
          </a:prstGeom>
        </p:spPr>
      </p:pic>
      <p:pic>
        <p:nvPicPr>
          <p:cNvPr id="15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7293157" y="1673506"/>
            <a:ext cx="175090" cy="18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/>
          <p:cNvSpPr txBox="1"/>
          <p:nvPr/>
        </p:nvSpPr>
        <p:spPr>
          <a:xfrm>
            <a:off x="5710137" y="1863419"/>
            <a:ext cx="3241964" cy="2923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300" dirty="0"/>
              <a:t>Verifique se já não existe o advertiser criado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583" y="2594801"/>
            <a:ext cx="3713227" cy="375111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54652" y="3818995"/>
            <a:ext cx="2184994" cy="154153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4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A Plataforma – Estrutura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58" y="2153546"/>
            <a:ext cx="6339178" cy="2515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25" b="30251"/>
          <a:stretch/>
        </p:blipFill>
        <p:spPr>
          <a:xfrm>
            <a:off x="175255" y="853837"/>
            <a:ext cx="8776846" cy="10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6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Criando Campanha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7471"/>
          <a:stretch/>
        </p:blipFill>
        <p:spPr>
          <a:xfrm>
            <a:off x="1719705" y="1597659"/>
            <a:ext cx="5578678" cy="4898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94" y="820045"/>
            <a:ext cx="6362700" cy="723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r="10009"/>
          <a:stretch/>
        </p:blipFill>
        <p:spPr>
          <a:xfrm>
            <a:off x="2118940" y="5910924"/>
            <a:ext cx="6622081" cy="585285"/>
          </a:xfrm>
          <a:prstGeom prst="rect">
            <a:avLst/>
          </a:prstGeom>
        </p:spPr>
      </p:pic>
      <p:sp>
        <p:nvSpPr>
          <p:cNvPr id="13" name="CaixaDeTexto 7"/>
          <p:cNvSpPr txBox="1"/>
          <p:nvPr/>
        </p:nvSpPr>
        <p:spPr>
          <a:xfrm>
            <a:off x="5151836" y="2292655"/>
            <a:ext cx="1498346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Nome da Campanha</a:t>
            </a:r>
          </a:p>
        </p:txBody>
      </p:sp>
      <p:sp>
        <p:nvSpPr>
          <p:cNvPr id="16" name="CaixaDeTexto 7"/>
          <p:cNvSpPr txBox="1"/>
          <p:nvPr/>
        </p:nvSpPr>
        <p:spPr>
          <a:xfrm>
            <a:off x="4927193" y="2785498"/>
            <a:ext cx="1498346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Nome do Advertiser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5190" y="2581203"/>
            <a:ext cx="2184994" cy="154153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65190" y="2887795"/>
            <a:ext cx="1631748" cy="20548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940252" y="3223420"/>
            <a:ext cx="958417" cy="20548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4937698" y="2531489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4487640" y="2969807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7"/>
          <p:cNvSpPr txBox="1"/>
          <p:nvPr/>
        </p:nvSpPr>
        <p:spPr>
          <a:xfrm>
            <a:off x="4120028" y="3179639"/>
            <a:ext cx="1498346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Status da Campanha</a:t>
            </a:r>
          </a:p>
        </p:txBody>
      </p:sp>
      <p:pic>
        <p:nvPicPr>
          <p:cNvPr id="20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3871160" y="3346734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3244985" y="6305065"/>
            <a:ext cx="2640425" cy="134105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ixaDeTexto 7"/>
          <p:cNvSpPr txBox="1"/>
          <p:nvPr/>
        </p:nvSpPr>
        <p:spPr>
          <a:xfrm>
            <a:off x="3851921" y="4790624"/>
            <a:ext cx="1809786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Data de veiculação da campanha.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716" y="5919837"/>
            <a:ext cx="3067597" cy="553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accent4">
                    <a:lumMod val="50000"/>
                  </a:schemeClr>
                </a:solidFill>
              </a:rPr>
              <a:t>* Normalmente utilizamos a URL Crua do cliente/campanha. </a:t>
            </a:r>
            <a:br>
              <a:rPr lang="pt-BR" sz="1000" b="1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pt-BR" sz="1000" b="1" dirty="0">
                <a:solidFill>
                  <a:schemeClr val="accent4">
                    <a:lumMod val="50000"/>
                  </a:schemeClr>
                </a:solidFill>
              </a:rPr>
              <a:t>Essa URL é utilizada apenas se entregar a peça Default. </a:t>
            </a:r>
            <a:endParaRPr lang="en-US" sz="1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CaixaDeTexto 7"/>
          <p:cNvSpPr txBox="1"/>
          <p:nvPr/>
        </p:nvSpPr>
        <p:spPr>
          <a:xfrm>
            <a:off x="3478635" y="5749728"/>
            <a:ext cx="1809786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Cadastro de URL Default</a:t>
            </a:r>
          </a:p>
        </p:txBody>
      </p:sp>
      <p:pic>
        <p:nvPicPr>
          <p:cNvPr id="26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2967381" y="6023925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2965190" y="4918512"/>
            <a:ext cx="726855" cy="20548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965189" y="5259325"/>
            <a:ext cx="726855" cy="20548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3668676" y="5066573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15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6" grpId="0" animBg="1"/>
      <p:bldP spid="16" grpId="1" animBg="1"/>
      <p:bldP spid="19" grpId="0" animBg="1"/>
      <p:bldP spid="19" grpId="1" animBg="1"/>
      <p:bldP spid="22" grpId="0" animBg="1"/>
      <p:bldP spid="22" grpId="1" animBg="1"/>
      <p:bldP spid="25" grpId="0" animBg="1"/>
      <p:bldP spid="2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2194" y="-1322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Recebendo as informações da Midia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2297" y="914400"/>
            <a:ext cx="3576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poder dar inicio na criação de uma campanha, sempre recebemos a solicitação da midia com as informações da campanha e o PC. Geralmente temos o PC atualizado. Porém existem casos de um PC provisório apenas para adiantar a produção do material e criação da campanha e contadores.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901" y="998476"/>
            <a:ext cx="5010360" cy="5263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32274" y="967665"/>
            <a:ext cx="5065614" cy="5294018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2297" y="4083233"/>
            <a:ext cx="34776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Recebendo o email da midia, utilizamos o PC como base para a criação da campanha inteira dentro da DCM. É importantissimo que o PC sempre esteja atualizado, assim minimizamos ao maximo quaisquer eventuais erros.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75968" y="3778216"/>
            <a:ext cx="3414957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0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2194" y="-1322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Recebendo as </a:t>
            </a:r>
            <a:r>
              <a:rPr lang="pt-BR" sz="2800" b="1" spc="-15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informações do Atendimento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0061" y="1720881"/>
            <a:ext cx="3576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vez que recebemos o PC da midia, criamos a planilha de produção, que encaminhamos o quanto antes para a equipe de atendimento dar sequencia na locação e criação dos materiais.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56564" y="1689841"/>
            <a:ext cx="5368952" cy="3539692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2745" y="3475207"/>
            <a:ext cx="34776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a produção desse material, recebemos do atendimento um email com o caminho para a pasta onde o material esta salvo, para que possamos iniciar o setup da campanha no AdServer.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778" y="1712537"/>
            <a:ext cx="5271134" cy="34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8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Criativos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CaixaDeTexto 15"/>
          <p:cNvSpPr txBox="1"/>
          <p:nvPr/>
        </p:nvSpPr>
        <p:spPr>
          <a:xfrm>
            <a:off x="226940" y="872907"/>
            <a:ext cx="8643927" cy="615553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1700" b="1" dirty="0">
                <a:ln/>
                <a:solidFill>
                  <a:schemeClr val="accent4">
                    <a:lumMod val="50000"/>
                  </a:schemeClr>
                </a:solidFill>
              </a:rPr>
              <a:t>Antes de criar os Placements de preferência para sempre subir os criativos primeiro para facilitar o processo.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51" y="1726485"/>
            <a:ext cx="7910097" cy="4652231"/>
          </a:xfrm>
          <a:prstGeom prst="rect">
            <a:avLst/>
          </a:prstGeom>
        </p:spPr>
      </p:pic>
      <p:sp>
        <p:nvSpPr>
          <p:cNvPr id="11" name="CaixaDeTexto 7"/>
          <p:cNvSpPr txBox="1"/>
          <p:nvPr/>
        </p:nvSpPr>
        <p:spPr>
          <a:xfrm>
            <a:off x="1546260" y="4267269"/>
            <a:ext cx="3588407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Selecione “Batch upload” para subir em massa.</a:t>
            </a:r>
          </a:p>
        </p:txBody>
      </p:sp>
      <p:pic>
        <p:nvPicPr>
          <p:cNvPr id="12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1431110" y="4430745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26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Criativos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CaixaDeTexto 15"/>
          <p:cNvSpPr txBox="1"/>
          <p:nvPr/>
        </p:nvSpPr>
        <p:spPr>
          <a:xfrm>
            <a:off x="226940" y="783895"/>
            <a:ext cx="8643927" cy="615553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700" b="1" dirty="0">
                <a:ln/>
                <a:solidFill>
                  <a:schemeClr val="accent4">
                    <a:lumMod val="50000"/>
                  </a:schemeClr>
                </a:solidFill>
              </a:rPr>
              <a:t>Sempre deixe o HTML5 e a peça backup( gif. png ou jpg.) com a mesma nomenclatura.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700" b="1" dirty="0">
                <a:ln/>
                <a:solidFill>
                  <a:schemeClr val="accent4">
                    <a:lumMod val="50000"/>
                  </a:schemeClr>
                </a:solidFill>
              </a:rPr>
              <a:t>Zipe os arquivos HTML5, depois faça o Upload do mesmo, acompanhado da peça Backup.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68" y="1660723"/>
            <a:ext cx="8091292" cy="44234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1742" y="3198861"/>
            <a:ext cx="4849125" cy="3146572"/>
          </a:xfrm>
          <a:prstGeom prst="rect">
            <a:avLst/>
          </a:prstGeom>
        </p:spPr>
      </p:pic>
      <p:pic>
        <p:nvPicPr>
          <p:cNvPr id="13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-533903" y="5272519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6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2986 C 3.05556E-6 -0.02199 0.03264 -0.06204 0.07205 -0.06204 C 0.11284 -0.06204 0.14531 -0.02199 0.14531 0.02986 C 0.14531 0.08171 0.17777 0.12199 0.21857 0.12199 C 0.25816 0.12199 0.2908 0.08171 0.2908 0.0298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Criativos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CaixaDeTexto 15"/>
          <p:cNvSpPr txBox="1"/>
          <p:nvPr/>
        </p:nvSpPr>
        <p:spPr>
          <a:xfrm>
            <a:off x="226940" y="872907"/>
            <a:ext cx="8643927" cy="615553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pt-BR" sz="1700" b="1" dirty="0">
                <a:ln/>
                <a:solidFill>
                  <a:schemeClr val="accent4"/>
                </a:solidFill>
              </a:rPr>
              <a:t>Antes de criar os Placements de preferência para sempre subir os criativos primeiro para facilitar o processo.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40" y="1660723"/>
            <a:ext cx="8719127" cy="284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95512" y="4144709"/>
            <a:ext cx="5777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FF0000"/>
                </a:solidFill>
              </a:rPr>
              <a:t>Obs: O peso máximo de peças standart é de 70kb cada.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839" y="4428413"/>
            <a:ext cx="7163650" cy="2142746"/>
          </a:xfrm>
          <a:prstGeom prst="rect">
            <a:avLst/>
          </a:prstGeom>
        </p:spPr>
      </p:pic>
      <p:pic>
        <p:nvPicPr>
          <p:cNvPr id="15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 flipH="1">
            <a:off x="-773184" y="3330903"/>
            <a:ext cx="192382" cy="20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28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05 0.11135 L 0.0783 0.04862 C 0.09063 0.03565 0.10295 0.01274 0.11285 -0.01319 C 0.12379 -0.04328 0.12899 -0.06921 0.12934 -0.09004 L 0.13143 -0.18796 " pathEditMode="relative" rAng="17760000" ptsTypes="AAAAA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-1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143 -0.1875 L 0.18646 -0.09537 C 0.19705 -0.07592 0.20886 -0.04444 0.21563 -0.01088 C 0.22414 0.02825 0.22848 0.06158 0.22674 0.08542 L 0.21372 0.20348 " pathEditMode="relative" rAng="15240000" ptsTypes="AAAAA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8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Ad Default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CaixaDeTexto 15"/>
          <p:cNvSpPr txBox="1"/>
          <p:nvPr/>
        </p:nvSpPr>
        <p:spPr>
          <a:xfrm>
            <a:off x="250036" y="799720"/>
            <a:ext cx="8643927" cy="830997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A DCM exige que para a tag entregar os criativos todo Placement tenha um Ad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O Ad Default é uma peça estática( jpg. Ou gif.) que devemos subir na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Precisamos ter um JPG de cada size de placement (tag).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07" y="1769518"/>
            <a:ext cx="7858115" cy="1957171"/>
          </a:xfrm>
          <a:prstGeom prst="rect">
            <a:avLst/>
          </a:prstGeom>
        </p:spPr>
      </p:pic>
      <p:sp>
        <p:nvSpPr>
          <p:cNvPr id="11" name="CaixaDeTexto 15"/>
          <p:cNvSpPr txBox="1"/>
          <p:nvPr/>
        </p:nvSpPr>
        <p:spPr>
          <a:xfrm>
            <a:off x="250035" y="3760068"/>
            <a:ext cx="8643927" cy="1323439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O Ad Default só é veiculado se todos os outros Ads já estiverem com a data final encerrada ou se estiver com a mesma prioridade.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A prioridade do Ad Default é padrão 16. Os outros ads devem sempre ter uma prioridade de entrega menor( 15 para baixo).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Ele só ficará ativo se ele estiver atachado num placement com outro Ad.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28" y="5313019"/>
            <a:ext cx="8873380" cy="113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76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Manuais_Package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9" y="863865"/>
            <a:ext cx="4664716" cy="2816958"/>
          </a:xfrm>
          <a:prstGeom prst="rect">
            <a:avLst/>
          </a:prstGeom>
        </p:spPr>
      </p:pic>
      <p:pic>
        <p:nvPicPr>
          <p:cNvPr id="10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697511" y="1799884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920039" y="2435373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90768" y="2366958"/>
            <a:ext cx="697122" cy="177628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ixaDeTexto 7"/>
          <p:cNvSpPr txBox="1"/>
          <p:nvPr/>
        </p:nvSpPr>
        <p:spPr>
          <a:xfrm>
            <a:off x="995539" y="1746412"/>
            <a:ext cx="912421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NEW</a:t>
            </a:r>
          </a:p>
        </p:txBody>
      </p:sp>
      <p:sp>
        <p:nvSpPr>
          <p:cNvPr id="15" name="CaixaDeTexto 7"/>
          <p:cNvSpPr txBox="1"/>
          <p:nvPr/>
        </p:nvSpPr>
        <p:spPr>
          <a:xfrm>
            <a:off x="1084531" y="2250714"/>
            <a:ext cx="912421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Package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569" y="2425786"/>
            <a:ext cx="6277577" cy="383448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197259" y="3141526"/>
            <a:ext cx="1016709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ixaDeTexto 7"/>
          <p:cNvSpPr txBox="1"/>
          <p:nvPr/>
        </p:nvSpPr>
        <p:spPr>
          <a:xfrm>
            <a:off x="5063459" y="1810679"/>
            <a:ext cx="3657323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Procurar o veículo no campo de busca, caso não encontre na tela “Campaign” clicar em “Site Directory” e pesquisar o veículo por nome, url ou país.</a:t>
            </a:r>
          </a:p>
        </p:txBody>
      </p:sp>
      <p:pic>
        <p:nvPicPr>
          <p:cNvPr id="18" name="Picture 17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4574022">
            <a:off x="4968341" y="2513372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4655119" y="2894953"/>
            <a:ext cx="823334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1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5" grpId="0" animBg="1"/>
      <p:bldP spid="15" grpId="1" animBg="1"/>
      <p:bldP spid="17" grpId="0" animBg="1"/>
      <p:bldP spid="1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Manuais_Package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136" y="874892"/>
            <a:ext cx="4282117" cy="45724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8" y="874892"/>
            <a:ext cx="3836130" cy="34626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64466" y="1851718"/>
            <a:ext cx="823334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94128" y="2500578"/>
            <a:ext cx="823334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656651" y="3262196"/>
            <a:ext cx="823334" cy="192067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697205" y="2125255"/>
            <a:ext cx="823334" cy="782067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97205" y="2975932"/>
            <a:ext cx="992764" cy="853605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660324" y="4797088"/>
            <a:ext cx="3188048" cy="650235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ixaDeTexto 7"/>
          <p:cNvSpPr txBox="1"/>
          <p:nvPr/>
        </p:nvSpPr>
        <p:spPr>
          <a:xfrm>
            <a:off x="2835058" y="1713218"/>
            <a:ext cx="1383090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Inserir o nome do Pacote</a:t>
            </a:r>
          </a:p>
        </p:txBody>
      </p:sp>
      <p:sp>
        <p:nvSpPr>
          <p:cNvPr id="17" name="CaixaDeTexto 7"/>
          <p:cNvSpPr txBox="1"/>
          <p:nvPr/>
        </p:nvSpPr>
        <p:spPr>
          <a:xfrm>
            <a:off x="2679412" y="2424179"/>
            <a:ext cx="1695041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Sempre criar como Package</a:t>
            </a:r>
          </a:p>
        </p:txBody>
      </p:sp>
      <p:sp>
        <p:nvSpPr>
          <p:cNvPr id="18" name="CaixaDeTexto 7"/>
          <p:cNvSpPr txBox="1"/>
          <p:nvPr/>
        </p:nvSpPr>
        <p:spPr>
          <a:xfrm>
            <a:off x="2817569" y="3219729"/>
            <a:ext cx="1541252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Sempre como “Ativo”</a:t>
            </a:r>
          </a:p>
        </p:txBody>
      </p:sp>
      <p:sp>
        <p:nvSpPr>
          <p:cNvPr id="19" name="CaixaDeTexto 7"/>
          <p:cNvSpPr txBox="1"/>
          <p:nvPr/>
        </p:nvSpPr>
        <p:spPr>
          <a:xfrm>
            <a:off x="6649380" y="1756352"/>
            <a:ext cx="1865398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Automaticamente o pacote puxa a data de início e fim da campanha, mas pode ser alterado.</a:t>
            </a:r>
          </a:p>
        </p:txBody>
      </p:sp>
      <p:sp>
        <p:nvSpPr>
          <p:cNvPr id="20" name="CaixaDeTexto 7"/>
          <p:cNvSpPr txBox="1"/>
          <p:nvPr/>
        </p:nvSpPr>
        <p:spPr>
          <a:xfrm>
            <a:off x="6814034" y="2663154"/>
            <a:ext cx="1810296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Selecionar o Cost Structure de acordo com a informação do PC.</a:t>
            </a:r>
          </a:p>
        </p:txBody>
      </p:sp>
      <p:sp>
        <p:nvSpPr>
          <p:cNvPr id="21" name="CaixaDeTexto 7"/>
          <p:cNvSpPr txBox="1"/>
          <p:nvPr/>
        </p:nvSpPr>
        <p:spPr>
          <a:xfrm>
            <a:off x="6750885" y="3363694"/>
            <a:ext cx="2352431" cy="13849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Os valores do pacote devem ser inseridos em “Units”. Sendo eles os valores de Impressoes ou cliques, dependendo do seu tipo de compra. Na opçao Rate(BRL), inserimos o valor unitario, também especificado no PC.</a:t>
            </a:r>
          </a:p>
        </p:txBody>
      </p:sp>
      <p:sp>
        <p:nvSpPr>
          <p:cNvPr id="22" name="CaixaDeTexto 15"/>
          <p:cNvSpPr txBox="1"/>
          <p:nvPr/>
        </p:nvSpPr>
        <p:spPr>
          <a:xfrm>
            <a:off x="382018" y="4474329"/>
            <a:ext cx="3357683" cy="1815882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just"/>
            <a:r>
              <a:rPr lang="pt-BR" sz="1400" b="1" dirty="0">
                <a:ln/>
                <a:solidFill>
                  <a:schemeClr val="accent4">
                    <a:lumMod val="50000"/>
                  </a:schemeClr>
                </a:solidFill>
              </a:rPr>
              <a:t>O pacote é considerado como um tipo de placement pela plataforma, por isso o campo onde se insere o nome do pacote se chama “Placement Name”. É possível criar o pacote via Bulk, como se ele fosse um placement de Tag comum. O pacote também gera um ID, assim como os placements, ads e criativos.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376" y="5679102"/>
            <a:ext cx="2673072" cy="6012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" r="69152" b="86604"/>
          <a:stretch/>
        </p:blipFill>
        <p:spPr>
          <a:xfrm>
            <a:off x="4202573" y="5696619"/>
            <a:ext cx="1320930" cy="58904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86997" y="5979721"/>
            <a:ext cx="574930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7123751" y="5256763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2527935" y="3337785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2482194" y="2577568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2590833" y="1871985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6570894" y="2464573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6113672" y="3104633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53602">
            <a:off x="5676452" y="5934542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43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Manuais_Site Directory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92" y="795646"/>
            <a:ext cx="5947508" cy="3596885"/>
          </a:xfrm>
          <a:prstGeom prst="rect">
            <a:avLst/>
          </a:prstGeom>
        </p:spPr>
      </p:pic>
      <p:pic>
        <p:nvPicPr>
          <p:cNvPr id="15" name="Picture 14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2851496" y="1082832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1914559" y="1242118"/>
            <a:ext cx="823334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30343" y="3676610"/>
            <a:ext cx="2403442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7882451">
            <a:off x="2521232" y="3647786"/>
            <a:ext cx="633673" cy="48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/>
        </p:nvSpPr>
        <p:spPr>
          <a:xfrm>
            <a:off x="4060665" y="2040504"/>
            <a:ext cx="3140035" cy="3600718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ixaDeTexto 7"/>
          <p:cNvSpPr txBox="1"/>
          <p:nvPr/>
        </p:nvSpPr>
        <p:spPr>
          <a:xfrm>
            <a:off x="304728" y="4662450"/>
            <a:ext cx="3657323" cy="13849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Se o veículo procurado não existir no diretório da DCM, você poderá criá-lo.</a:t>
            </a:r>
            <a:br>
              <a:rPr lang="pt-BR" sz="1200" dirty="0"/>
            </a:br>
            <a:r>
              <a:rPr lang="pt-BR" sz="1200" dirty="0"/>
              <a:t>Clique em “ Click here to add it to the Site Directory”, irá abrir uma janela onde devem ser inseridos: o nome do veículo e a URL do site.</a:t>
            </a:r>
            <a:br>
              <a:rPr lang="pt-BR" sz="1200" dirty="0"/>
            </a:br>
            <a:r>
              <a:rPr lang="pt-BR" sz="1200" dirty="0"/>
              <a:t>O veículo será criado no diretório e no mesmo instante aparecerá o numero do ID do site.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708" y="2069628"/>
            <a:ext cx="3026034" cy="348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4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Manuais_Criando Placement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6" y="851876"/>
            <a:ext cx="1562120" cy="40726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34" y="851876"/>
            <a:ext cx="3779649" cy="36359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721" y="1463958"/>
            <a:ext cx="3336728" cy="4388338"/>
          </a:xfrm>
          <a:prstGeom prst="rect">
            <a:avLst/>
          </a:prstGeom>
        </p:spPr>
      </p:pic>
      <p:pic>
        <p:nvPicPr>
          <p:cNvPr id="10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9198642">
            <a:off x="6382158" y="2135495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838252" y="2320641"/>
            <a:ext cx="823334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7063313">
            <a:off x="2568842" y="3941066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969264" y="4240309"/>
            <a:ext cx="620696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3124417" y="3180189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2018972" y="3247927"/>
            <a:ext cx="1029555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1157255" y="1444761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220318" y="1604047"/>
            <a:ext cx="823334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801467" y="2888211"/>
            <a:ext cx="1138963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791795" y="3575186"/>
            <a:ext cx="1429989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91796" y="4404304"/>
            <a:ext cx="1078296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761248" y="4931964"/>
            <a:ext cx="1108844" cy="211274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731385" y="4713272"/>
            <a:ext cx="823334" cy="155713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ixaDeTexto 7"/>
          <p:cNvSpPr txBox="1"/>
          <p:nvPr/>
        </p:nvSpPr>
        <p:spPr>
          <a:xfrm>
            <a:off x="7886423" y="4628341"/>
            <a:ext cx="1215764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Status Sempre como Ativo</a:t>
            </a:r>
          </a:p>
        </p:txBody>
      </p:sp>
      <p:sp>
        <p:nvSpPr>
          <p:cNvPr id="25" name="CaixaDeTexto 7"/>
          <p:cNvSpPr txBox="1"/>
          <p:nvPr/>
        </p:nvSpPr>
        <p:spPr>
          <a:xfrm>
            <a:off x="7182338" y="5210713"/>
            <a:ext cx="1919849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O SSL precisa estar sempre ativo para as Tags.</a:t>
            </a:r>
          </a:p>
        </p:txBody>
      </p:sp>
      <p:sp>
        <p:nvSpPr>
          <p:cNvPr id="26" name="CaixaDeTexto 7"/>
          <p:cNvSpPr txBox="1"/>
          <p:nvPr/>
        </p:nvSpPr>
        <p:spPr>
          <a:xfrm>
            <a:off x="7182338" y="2026159"/>
            <a:ext cx="1835111" cy="2462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Inserir o nome do Placement</a:t>
            </a:r>
          </a:p>
        </p:txBody>
      </p:sp>
      <p:sp>
        <p:nvSpPr>
          <p:cNvPr id="27" name="CaixaDeTexto 7"/>
          <p:cNvSpPr txBox="1"/>
          <p:nvPr/>
        </p:nvSpPr>
        <p:spPr>
          <a:xfrm>
            <a:off x="7912005" y="2476675"/>
            <a:ext cx="1215764" cy="10156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In-Page é utilizado para todos os placements MENOS MOBILE. Para mobile usa-se In-APP.</a:t>
            </a:r>
          </a:p>
        </p:txBody>
      </p:sp>
      <p:sp>
        <p:nvSpPr>
          <p:cNvPr id="28" name="CaixaDeTexto 7"/>
          <p:cNvSpPr txBox="1"/>
          <p:nvPr/>
        </p:nvSpPr>
        <p:spPr>
          <a:xfrm>
            <a:off x="7871058" y="3568365"/>
            <a:ext cx="1215764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Selecione a dimensão do placement</a:t>
            </a:r>
          </a:p>
        </p:txBody>
      </p:sp>
      <p:sp>
        <p:nvSpPr>
          <p:cNvPr id="29" name="CaixaDeTexto 7"/>
          <p:cNvSpPr txBox="1"/>
          <p:nvPr/>
        </p:nvSpPr>
        <p:spPr>
          <a:xfrm>
            <a:off x="4223666" y="4362069"/>
            <a:ext cx="1601519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Em Placement group deve ser selecionado o pacote que foi criado.</a:t>
            </a:r>
          </a:p>
        </p:txBody>
      </p:sp>
      <p:pic>
        <p:nvPicPr>
          <p:cNvPr id="30" name="Picture 29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5148379">
            <a:off x="5734623" y="4549737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7643789" y="4586536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60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Manuais_Criando Placement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54" y="875323"/>
            <a:ext cx="4277646" cy="42945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67692" y="1695938"/>
            <a:ext cx="789354" cy="883138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33712" y="2648117"/>
            <a:ext cx="992514" cy="845360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564" y="3067389"/>
            <a:ext cx="2037330" cy="3832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66" b="86385"/>
          <a:stretch/>
        </p:blipFill>
        <p:spPr>
          <a:xfrm>
            <a:off x="5770564" y="2457942"/>
            <a:ext cx="1237682" cy="584692"/>
          </a:xfrm>
          <a:prstGeom prst="rect">
            <a:avLst/>
          </a:prstGeom>
        </p:spPr>
      </p:pic>
      <p:pic>
        <p:nvPicPr>
          <p:cNvPr id="12" name="Picture 11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1157255" y="1444761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0396783">
            <a:off x="5317880" y="2526592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2406066" y="2790415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2230593" y="1827012"/>
            <a:ext cx="366759" cy="2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5725900" y="2697394"/>
            <a:ext cx="618841" cy="227378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7"/>
          <p:cNvSpPr txBox="1"/>
          <p:nvPr/>
        </p:nvSpPr>
        <p:spPr>
          <a:xfrm>
            <a:off x="6344741" y="3558853"/>
            <a:ext cx="1611322" cy="553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Ao salvar o placement, automaticamente irá aparecer o ID do mesmo.</a:t>
            </a:r>
          </a:p>
        </p:txBody>
      </p:sp>
      <p:sp>
        <p:nvSpPr>
          <p:cNvPr id="19" name="CaixaDeTexto 7"/>
          <p:cNvSpPr txBox="1"/>
          <p:nvPr/>
        </p:nvSpPr>
        <p:spPr>
          <a:xfrm>
            <a:off x="2841231" y="2729324"/>
            <a:ext cx="1215764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Selecione o Cost Structure.</a:t>
            </a:r>
          </a:p>
        </p:txBody>
      </p:sp>
      <p:sp>
        <p:nvSpPr>
          <p:cNvPr id="20" name="CaixaDeTexto 7"/>
          <p:cNvSpPr txBox="1"/>
          <p:nvPr/>
        </p:nvSpPr>
        <p:spPr>
          <a:xfrm>
            <a:off x="2589445" y="1585904"/>
            <a:ext cx="1435478" cy="8617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Selecione a data de inicio e fim, que irá definir quando a Tag deverá funcionar e parar.</a:t>
            </a:r>
          </a:p>
        </p:txBody>
      </p:sp>
    </p:spTree>
    <p:extLst>
      <p:ext uri="{BB962C8B-B14F-4D97-AF65-F5344CB8AC3E}">
        <p14:creationId xmlns:p14="http://schemas.microsoft.com/office/powerpoint/2010/main" val="320610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Manuais_Criando Ad Standard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9" y="795646"/>
            <a:ext cx="1697016" cy="4424362"/>
          </a:xfrm>
          <a:prstGeom prst="rect">
            <a:avLst/>
          </a:prstGeom>
        </p:spPr>
      </p:pic>
      <p:pic>
        <p:nvPicPr>
          <p:cNvPr id="8" name="Picture 7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1135070" y="2200243"/>
            <a:ext cx="333417" cy="25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81462" y="2356500"/>
            <a:ext cx="823334" cy="192067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182" y="795646"/>
            <a:ext cx="4196653" cy="31474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332" y="2012419"/>
            <a:ext cx="1943100" cy="1209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998412" y="1989723"/>
            <a:ext cx="1990020" cy="123237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350601" y="2452533"/>
            <a:ext cx="3362814" cy="76956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4904233" y="2409197"/>
            <a:ext cx="333417" cy="25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 rot="18273856">
            <a:off x="6773224" y="2409195"/>
            <a:ext cx="333417" cy="25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7"/>
          <p:cNvSpPr txBox="1"/>
          <p:nvPr/>
        </p:nvSpPr>
        <p:spPr>
          <a:xfrm>
            <a:off x="3158265" y="3965832"/>
            <a:ext cx="4858617" cy="8617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Status:</a:t>
            </a:r>
            <a:br>
              <a:rPr lang="pt-BR" sz="1000" dirty="0"/>
            </a:br>
            <a:r>
              <a:rPr lang="pt-BR" sz="1000" dirty="0"/>
              <a:t>Ativo: quando o ad será utilizado dentro da tag;</a:t>
            </a:r>
            <a:br>
              <a:rPr lang="pt-BR" sz="1000" dirty="0"/>
            </a:br>
            <a:r>
              <a:rPr lang="pt-BR" sz="1000" dirty="0"/>
              <a:t>Inativo: para desativar o ad</a:t>
            </a:r>
            <a:br>
              <a:rPr lang="pt-BR" sz="1000" dirty="0"/>
            </a:br>
            <a:r>
              <a:rPr lang="pt-BR" sz="1000" dirty="0"/>
              <a:t>Arquivado: como a plataforma não exclui nenhum conteúdo, ela apenas arquiva, com o ad o processo é igual e vale para todos os tipos de ad (Tracking, Dynamic clicktracker).</a:t>
            </a:r>
          </a:p>
        </p:txBody>
      </p:sp>
    </p:spTree>
    <p:extLst>
      <p:ext uri="{BB962C8B-B14F-4D97-AF65-F5344CB8AC3E}">
        <p14:creationId xmlns:p14="http://schemas.microsoft.com/office/powerpoint/2010/main" val="66844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Manuais_Criando Ad Standard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97" y="795647"/>
            <a:ext cx="4687885" cy="41280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8909" y="1772595"/>
            <a:ext cx="3566014" cy="76956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/>
          <p:cNvSpPr txBox="1"/>
          <p:nvPr/>
        </p:nvSpPr>
        <p:spPr>
          <a:xfrm>
            <a:off x="4238835" y="1536231"/>
            <a:ext cx="2177596" cy="13234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Start Date e End Date precisam ser iguais aos do placement.</a:t>
            </a:r>
            <a:br>
              <a:rPr lang="pt-BR" sz="1000" dirty="0"/>
            </a:br>
            <a:br>
              <a:rPr lang="pt-BR" sz="1000" dirty="0"/>
            </a:br>
            <a:r>
              <a:rPr lang="pt-BR" sz="1000" dirty="0"/>
              <a:t>O Hard Cut-Off deve ser utilizado somente para a Tag parar de entregar o Ad no End date.</a:t>
            </a:r>
            <a:br>
              <a:rPr lang="pt-BR" sz="1000" dirty="0"/>
            </a:br>
            <a:br>
              <a:rPr lang="pt-BR" sz="1000" dirty="0"/>
            </a:br>
            <a:r>
              <a:rPr lang="pt-BR" sz="1000" dirty="0"/>
              <a:t>A prioridade é sempre 15 ou abaixo.</a:t>
            </a:r>
          </a:p>
        </p:txBody>
      </p:sp>
      <p:sp>
        <p:nvSpPr>
          <p:cNvPr id="10" name="CaixaDeTexto 7"/>
          <p:cNvSpPr txBox="1"/>
          <p:nvPr/>
        </p:nvSpPr>
        <p:spPr>
          <a:xfrm>
            <a:off x="5094619" y="3759708"/>
            <a:ext cx="2177596" cy="16312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Para o Ad ser ativado é preciso ter um criativo dentro do Ad.</a:t>
            </a:r>
            <a:br>
              <a:rPr lang="pt-BR" sz="1000" dirty="0"/>
            </a:br>
            <a:r>
              <a:rPr lang="pt-BR" sz="1000" dirty="0"/>
              <a:t>É possível rodiziar mais de um criativo dentro de um mesmo ad, se todos tiverem a mesma dimensão.</a:t>
            </a:r>
            <a:br>
              <a:rPr lang="pt-BR" sz="1000" dirty="0"/>
            </a:br>
            <a:r>
              <a:rPr lang="pt-BR" sz="1000" dirty="0"/>
              <a:t>Por ex: um Ad 300x250 só pode rodiziar criativos no formato 300x250.</a:t>
            </a:r>
            <a:br>
              <a:rPr lang="pt-BR" sz="1000" dirty="0"/>
            </a:br>
            <a:br>
              <a:rPr lang="pt-BR" sz="1000" dirty="0"/>
            </a:br>
            <a:r>
              <a:rPr lang="pt-BR" sz="1000" dirty="0"/>
              <a:t>Edite o “creative assignments” para dar assign no criativo dentro do 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997" y="3805319"/>
            <a:ext cx="3566014" cy="76956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4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Manuais_Criando Ad Standard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92" y="858704"/>
            <a:ext cx="6525846" cy="3643373"/>
          </a:xfrm>
          <a:prstGeom prst="rect">
            <a:avLst/>
          </a:prstGeom>
        </p:spPr>
      </p:pic>
      <p:sp>
        <p:nvSpPr>
          <p:cNvPr id="7" name="CaixaDeTexto 7"/>
          <p:cNvSpPr txBox="1"/>
          <p:nvPr/>
        </p:nvSpPr>
        <p:spPr>
          <a:xfrm>
            <a:off x="2477522" y="1008693"/>
            <a:ext cx="2177596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Selecione os criativos que irão rodiziar dentro do 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568" y="1593565"/>
            <a:ext cx="2329570" cy="469697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725" y="2915872"/>
            <a:ext cx="4337783" cy="29959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49724" y="2915872"/>
            <a:ext cx="4337784" cy="3086343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7"/>
          <p:cNvSpPr txBox="1"/>
          <p:nvPr/>
        </p:nvSpPr>
        <p:spPr>
          <a:xfrm>
            <a:off x="6822830" y="2327821"/>
            <a:ext cx="2177596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Selecione os criativos que irão rodiziar dentro do Ad + o placement onde o Ad será associado.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528" y="3143783"/>
            <a:ext cx="2454642" cy="439757"/>
          </a:xfrm>
          <a:prstGeom prst="rect">
            <a:avLst/>
          </a:prstGeom>
        </p:spPr>
      </p:pic>
      <p:pic>
        <p:nvPicPr>
          <p:cNvPr id="13" name="Picture 12" descr="http://www.nariguete.com.br/blog/wp-content/uploads/2013/10/mouse-pointer-md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33645" b="-63436"/>
          <a:stretch/>
        </p:blipFill>
        <p:spPr bwMode="auto">
          <a:xfrm>
            <a:off x="4636636" y="3363662"/>
            <a:ext cx="333417" cy="25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5274526" y="3113843"/>
            <a:ext cx="2454643" cy="469697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 animBg="1"/>
      <p:bldP spid="1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Manuais_Criando Dynamic Click Tracker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43" y="1042095"/>
            <a:ext cx="3735357" cy="4206200"/>
          </a:xfrm>
          <a:prstGeom prst="rect">
            <a:avLst/>
          </a:prstGeom>
        </p:spPr>
      </p:pic>
      <p:sp>
        <p:nvSpPr>
          <p:cNvPr id="15" name="CaixaDeTexto 7"/>
          <p:cNvSpPr txBox="1"/>
          <p:nvPr/>
        </p:nvSpPr>
        <p:spPr>
          <a:xfrm>
            <a:off x="4844800" y="1999575"/>
            <a:ext cx="2177596" cy="28623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000" dirty="0"/>
              <a:t>Para contadores, o ideal é sempre utilizar o Dynamic Click Tracker.</a:t>
            </a:r>
            <a:br>
              <a:rPr lang="pt-BR" sz="1000" dirty="0"/>
            </a:br>
            <a:r>
              <a:rPr lang="pt-BR" sz="1000" dirty="0"/>
              <a:t>Manter sempre ativo.</a:t>
            </a:r>
            <a:br>
              <a:rPr lang="pt-BR" sz="1000" dirty="0"/>
            </a:br>
            <a:br>
              <a:rPr lang="pt-BR" sz="1000" dirty="0"/>
            </a:br>
            <a:r>
              <a:rPr lang="pt-BR" sz="1000" dirty="0"/>
              <a:t>A URL deve ser customizada, de acordo com o exemplo. No Bulk é possível aplicar a url diretamente, da mesma forma.</a:t>
            </a:r>
            <a:br>
              <a:rPr lang="pt-BR" sz="1000" dirty="0"/>
            </a:br>
            <a:br>
              <a:rPr lang="pt-BR" sz="1000" dirty="0"/>
            </a:br>
            <a:r>
              <a:rPr lang="pt-BR" sz="1000" dirty="0"/>
              <a:t>Só é necessário inserir um criativo dentro do Dynamic Click Tracker, quando será extraído um Contador de Cliques + um contador de impressões. Neste caso, deve inserir um criativo (peça) Pixel 1x1.</a:t>
            </a:r>
            <a:br>
              <a:rPr lang="pt-BR" sz="1000" dirty="0"/>
            </a:br>
            <a:br>
              <a:rPr lang="pt-BR" sz="1000" dirty="0"/>
            </a:br>
            <a:r>
              <a:rPr lang="pt-BR" sz="1000" dirty="0"/>
              <a:t>A data do Ad deve ser a mesma data do placement.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37152" y="1854484"/>
            <a:ext cx="2493986" cy="1154439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109443" y="3937284"/>
            <a:ext cx="2555971" cy="1311011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9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Bulk_Export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1" y="1548996"/>
            <a:ext cx="8963090" cy="2102907"/>
          </a:xfrm>
          <a:prstGeom prst="rect">
            <a:avLst/>
          </a:prstGeom>
        </p:spPr>
      </p:pic>
      <p:sp>
        <p:nvSpPr>
          <p:cNvPr id="13" name="CaixaDeTexto 7"/>
          <p:cNvSpPr txBox="1"/>
          <p:nvPr/>
        </p:nvSpPr>
        <p:spPr>
          <a:xfrm>
            <a:off x="5251485" y="2388536"/>
            <a:ext cx="3588407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Selecione “Export” para extrair o MediaPlan</a:t>
            </a:r>
          </a:p>
        </p:txBody>
      </p:sp>
      <p:pic>
        <p:nvPicPr>
          <p:cNvPr id="15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8184335" y="2285853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5"/>
          <p:cNvSpPr txBox="1"/>
          <p:nvPr/>
        </p:nvSpPr>
        <p:spPr>
          <a:xfrm>
            <a:off x="250036" y="3960421"/>
            <a:ext cx="8643927" cy="338554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Não é possível filtrar e extrair apenas uma informação específica.</a:t>
            </a:r>
          </a:p>
        </p:txBody>
      </p:sp>
      <p:sp>
        <p:nvSpPr>
          <p:cNvPr id="18" name="CaixaDeTexto 15"/>
          <p:cNvSpPr txBox="1"/>
          <p:nvPr/>
        </p:nvSpPr>
        <p:spPr>
          <a:xfrm>
            <a:off x="310265" y="1002126"/>
            <a:ext cx="8643927" cy="338554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O Bulk permite Criar Placements, Ads e criativos ao mesmo tempo.</a:t>
            </a:r>
          </a:p>
        </p:txBody>
      </p:sp>
    </p:spTree>
    <p:extLst>
      <p:ext uri="{BB962C8B-B14F-4D97-AF65-F5344CB8AC3E}">
        <p14:creationId xmlns:p14="http://schemas.microsoft.com/office/powerpoint/2010/main" val="182971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 _MediaPlan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8" name="CaixaDeTexto 15"/>
          <p:cNvSpPr txBox="1"/>
          <p:nvPr/>
        </p:nvSpPr>
        <p:spPr>
          <a:xfrm>
            <a:off x="250035" y="1199531"/>
            <a:ext cx="8643927" cy="338554"/>
          </a:xfrm>
          <a:prstGeom prst="rect">
            <a:avLst/>
          </a:prstGeom>
          <a:gradFill>
            <a:gsLst>
              <a:gs pos="100000">
                <a:srgbClr val="AEC87A"/>
              </a:gs>
              <a:gs pos="10000">
                <a:schemeClr val="accent3">
                  <a:lumMod val="40000"/>
                  <a:lumOff val="60000"/>
                </a:schemeClr>
              </a:gs>
            </a:gsLst>
          </a:gradFill>
          <a:ln w="15875">
            <a:solidFill>
              <a:schemeClr val="accent3">
                <a:lumMod val="60000"/>
                <a:lumOff val="40000"/>
                <a:alpha val="91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n/>
                <a:solidFill>
                  <a:schemeClr val="accent4">
                    <a:lumMod val="50000"/>
                  </a:schemeClr>
                </a:solidFill>
              </a:rPr>
              <a:t>O Bulk permite Criar Placements, Ads e fazer assign de criativos ao mesmo tempo.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4" y="1994158"/>
            <a:ext cx="9098531" cy="10625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80" y="3235343"/>
            <a:ext cx="907960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Site ID - É gerado por campanha. Mesmo sendo do mesmo advertiser.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Site Name - Pegar exatamente como está na plataforma.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Placement Name – Utilizar a coluna nomenclatura de Tag do PC.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Placement Compatibility -  Display ( para tags e contadores em geral)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Placement Group Type -  Utilizado para identifica ou criar pacotes.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Placement Group ID -  colocar o ID do pacote que o placement faz parte. *</a:t>
            </a:r>
            <a:r>
              <a:rPr lang="pt-BR" sz="1000" dirty="0"/>
              <a:t>Preenchimento Opcional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Primary Placement – Sempre colocar “No”   </a:t>
            </a:r>
            <a:r>
              <a:rPr lang="pt-BR" sz="1000" dirty="0"/>
              <a:t>Preenchiment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Payment Source – Agency Paid     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Dimensions -  Dimensão da peça para tags, se for contador utilizar 1x1.   </a:t>
            </a:r>
            <a:r>
              <a:rPr lang="pt-BR" sz="1000" dirty="0"/>
              <a:t>Preenchiment Obrigatório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t="8351" b="14080"/>
          <a:stretch/>
        </p:blipFill>
        <p:spPr>
          <a:xfrm>
            <a:off x="7274295" y="3322268"/>
            <a:ext cx="1776413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216" y="2453152"/>
            <a:ext cx="360434" cy="11714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216" y="2608622"/>
            <a:ext cx="360434" cy="11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0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1008380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Bulk_MediaPlan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  <a:p>
            <a:pPr defTabSz="457126"/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076614"/>
            <a:ext cx="8591550" cy="1152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054" y="2241351"/>
            <a:ext cx="907960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Placement is Archived – Permite arquivar placements que não iremos mais utilizar ou placement que foram criados indevidamente.  Para criar sempre utilizar “No”.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Start Date -  Data de início do placement ( utilizar formato americano MM/DD/AAAA) </a:t>
            </a:r>
            <a:r>
              <a:rPr lang="pt-BR" sz="1000" dirty="0"/>
              <a:t>Preenchimento Obrigatório</a:t>
            </a:r>
            <a:endParaRPr lang="pt-B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End Date -  Data de final do placement ( utilizar formato americano MM/DD/AAAA) </a:t>
            </a:r>
            <a:r>
              <a:rPr lang="pt-BR" sz="1000" dirty="0"/>
              <a:t>Preenchimento Obrigatório</a:t>
            </a:r>
            <a:endParaRPr lang="pt-B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70C0"/>
                </a:solidFill>
              </a:rPr>
              <a:t>Cost Structure </a:t>
            </a:r>
            <a:r>
              <a:rPr lang="pt-BR" sz="1400" dirty="0"/>
              <a:t>– Tipo de custo ( CPM, CPC, CPA, Flat Rate -Impressions, Flat Rate-Clicks) </a:t>
            </a:r>
            <a:r>
              <a:rPr lang="pt-BR" sz="1000" dirty="0"/>
              <a:t>Preenchimento Obrigatório</a:t>
            </a:r>
          </a:p>
          <a:p>
            <a:pPr>
              <a:lnSpc>
                <a:spcPct val="150000"/>
              </a:lnSpc>
            </a:pPr>
            <a:r>
              <a:rPr lang="pt-BR" sz="1400" dirty="0"/>
              <a:t>       </a:t>
            </a:r>
            <a:r>
              <a:rPr lang="pt-BR" sz="1100" dirty="0">
                <a:solidFill>
                  <a:srgbClr val="FF0000"/>
                </a:solidFill>
              </a:rPr>
              <a:t>* Se o placement que você estiver criando estiver dentro de um Package não precisa preencher informações de </a:t>
            </a:r>
            <a:r>
              <a:rPr lang="pt-BR" sz="1100" b="1" dirty="0">
                <a:solidFill>
                  <a:srgbClr val="0070C0"/>
                </a:solidFill>
              </a:rPr>
              <a:t>custos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70C0"/>
                </a:solidFill>
              </a:rPr>
              <a:t>Units</a:t>
            </a:r>
            <a:r>
              <a:rPr lang="pt-BR" sz="1400" dirty="0"/>
              <a:t> – Quantidade de Cliques ou Impressões contratadas.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70C0"/>
                </a:solidFill>
              </a:rPr>
              <a:t>Rate</a:t>
            </a:r>
            <a:r>
              <a:rPr lang="pt-BR" sz="1400" dirty="0"/>
              <a:t> –  Custo por unidade. 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70C0"/>
                </a:solidFill>
              </a:rPr>
              <a:t>Cost</a:t>
            </a:r>
            <a:r>
              <a:rPr lang="pt-BR" sz="1400" dirty="0"/>
              <a:t> –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Placement Coments - 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Content Category - 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Placement Strategy - </a:t>
            </a:r>
            <a:r>
              <a:rPr lang="pt-BR" sz="1000" dirty="0"/>
              <a:t>Preenchimento Opcional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3004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Bulk_MediaPlan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199" y="1930732"/>
            <a:ext cx="907960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Assignment is Active. (Assign de Ad)   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ID -  ID do Ad caso já esteja criado. Se for um novo deixar o campo em branco que cria.  </a:t>
            </a:r>
            <a:r>
              <a:rPr lang="pt-BR" sz="1000" dirty="0"/>
              <a:t>Preenchimento Obrigatório</a:t>
            </a:r>
            <a:endParaRPr lang="pt-B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Name – Utilizamos a mesma nomeclatura do Placement (Nomenclatura da Tag)  </a:t>
            </a:r>
            <a:r>
              <a:rPr lang="pt-BR" sz="1000" dirty="0"/>
              <a:t>Preenchimento Obrigatório</a:t>
            </a:r>
            <a:endParaRPr lang="pt-B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Type – </a:t>
            </a:r>
            <a:r>
              <a:rPr lang="pt-BR" sz="1000" dirty="0"/>
              <a:t>Preenchimento Obrigatório</a:t>
            </a:r>
          </a:p>
          <a:p>
            <a:r>
              <a:rPr lang="pt-BR" sz="1400" dirty="0"/>
              <a:t>      </a:t>
            </a:r>
            <a:r>
              <a:rPr lang="pt-BR" sz="1200" dirty="0"/>
              <a:t>Standard – Utilizado na criação de tags.</a:t>
            </a:r>
          </a:p>
          <a:p>
            <a:r>
              <a:rPr lang="pt-BR" sz="1200" dirty="0"/>
              <a:t>      Dynamic Click Tracker – Utilizado para Contadores de Click.</a:t>
            </a:r>
          </a:p>
          <a:p>
            <a:r>
              <a:rPr lang="pt-BR" sz="1200" dirty="0"/>
              <a:t>      Tracking – Utilizado para contador que exiga algum código específico do veículo na URL.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is Active – Normalmente sempre fica ativo “yes” 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is archived – Permite arquivar o ad que não será mais utilizado. Marcar como “No” 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Start Time – Data de Início de veiculação do Ad (MM/DD/AAAA HH:MM AM/PM)  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End Time – Data do Fim da veiculação do Ad (MM/DD/AAAA HH:MM AM/PM)  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Uses Default Landing Page - </a:t>
            </a:r>
            <a:r>
              <a:rPr lang="en-US" sz="1400" dirty="0" err="1"/>
              <a:t>Marcar</a:t>
            </a:r>
            <a:r>
              <a:rPr lang="en-US" sz="1400" dirty="0"/>
              <a:t> </a:t>
            </a:r>
            <a:r>
              <a:rPr lang="en-US" sz="1400" dirty="0" err="1"/>
              <a:t>como</a:t>
            </a:r>
            <a:r>
              <a:rPr lang="en-US" sz="1400" dirty="0"/>
              <a:t> No 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Ad Landing Page ID -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Ad Landing Page Name – </a:t>
            </a:r>
            <a:r>
              <a:rPr lang="en-US" sz="1000" dirty="0" err="1"/>
              <a:t>Preenchimento</a:t>
            </a:r>
            <a:r>
              <a:rPr lang="en-US" sz="1000" dirty="0"/>
              <a:t> </a:t>
            </a:r>
            <a:r>
              <a:rPr lang="en-US" sz="1000" dirty="0" err="1"/>
              <a:t>Opcional</a:t>
            </a:r>
            <a:endParaRPr lang="en-US" sz="1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Ad Click-Through URL – </a:t>
            </a:r>
            <a:r>
              <a:rPr lang="en-US" sz="1000" dirty="0" err="1"/>
              <a:t>Preenchimento</a:t>
            </a:r>
            <a:r>
              <a:rPr lang="en-US" sz="1000" dirty="0"/>
              <a:t> </a:t>
            </a:r>
            <a:r>
              <a:rPr lang="en-US" sz="1000" dirty="0" err="1"/>
              <a:t>Opcional</a:t>
            </a:r>
            <a:endParaRPr lang="en-US"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9" y="881790"/>
            <a:ext cx="9009251" cy="101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57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1008380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Bulk_MediaPlan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  <a:p>
            <a:pPr defTabSz="457126"/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199" y="2303495"/>
            <a:ext cx="907960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Hard Cut-Off - Preenchimento Opcional</a:t>
            </a:r>
          </a:p>
          <a:p>
            <a:pPr>
              <a:lnSpc>
                <a:spcPct val="150000"/>
              </a:lnSpc>
            </a:pPr>
            <a:r>
              <a:rPr lang="pt-BR" sz="1100" b="1" dirty="0"/>
              <a:t>Yes</a:t>
            </a:r>
            <a:r>
              <a:rPr lang="pt-BR" sz="1100" dirty="0"/>
              <a:t>: para que o anúncio seja entregue apenas de acordo com a data de veiculação mesmo não entregando todo o contratado. </a:t>
            </a:r>
          </a:p>
          <a:p>
            <a:pPr>
              <a:lnSpc>
                <a:spcPct val="150000"/>
              </a:lnSpc>
            </a:pPr>
            <a:r>
              <a:rPr lang="pt-BR" sz="1100" b="1" dirty="0"/>
              <a:t>No</a:t>
            </a:r>
            <a:r>
              <a:rPr lang="pt-BR" sz="1100" dirty="0"/>
              <a:t>: Mesmo a data de termino ter passado o anúncio irá continuar a entregar até atingir o volume de impressão contratada.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Priority – Prioridade de entrega do anúncio ( Padrão standard 15 e Default 16)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Impression Ratio – Tem a possibilidade de limitar impressões para cada Ad/criativo. 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Rotation Type -  Permite determinar uma sequencia de rotação específica </a:t>
            </a:r>
            <a:r>
              <a:rPr lang="pt-BR" sz="1000" dirty="0"/>
              <a:t>Preenchimento Opcional</a:t>
            </a:r>
            <a:endParaRPr lang="pt-BR" sz="14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Weight Calculation Strategy – Especifica o tipo/estratégia de rotação 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Rotation Value – Especificar o valor de cada criativo caso tenha rotação.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Audience Segment Group Name –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Audience Segment Name - </a:t>
            </a:r>
            <a:r>
              <a:rPr lang="pt-BR" sz="1000" dirty="0"/>
              <a:t>Preenchimento Opcional</a:t>
            </a:r>
            <a:endParaRPr lang="pt-BR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99" y="795646"/>
            <a:ext cx="83534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24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1008380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Bulk_MediaPlan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  <a:p>
            <a:pPr defTabSz="457126"/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199" y="2141124"/>
            <a:ext cx="9079602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Creative ID – Colocar o ID do criativo que está na plataforma para fazer o assign    </a:t>
            </a:r>
            <a:r>
              <a:rPr lang="pt-BR" sz="1000" dirty="0"/>
              <a:t>Preenchimento Obrigatório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Creative Name – Nome do Criativo idêntico ao da plataforma.  </a:t>
            </a:r>
            <a:r>
              <a:rPr lang="pt-BR" sz="1000" dirty="0"/>
              <a:t>Preenchimento Opcional</a:t>
            </a:r>
            <a:endParaRPr lang="pt-B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Creative Type -  Informação igual a da plataforma  </a:t>
            </a:r>
            <a:r>
              <a:rPr lang="pt-BR" sz="1000" dirty="0"/>
              <a:t>Preenchimento Opcional</a:t>
            </a:r>
            <a:endParaRPr lang="pt-B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Creative Start Date -  Data de início da veiculação do criativo. (Formato americano Ex:06/10/2015 03:20 PM )  </a:t>
            </a:r>
            <a:r>
              <a:rPr lang="pt-BR" sz="1000" dirty="0"/>
              <a:t>Preenchimento Obrigatório – </a:t>
            </a:r>
            <a:r>
              <a:rPr lang="pt-BR" sz="1000" dirty="0">
                <a:solidFill>
                  <a:srgbClr val="FF0000"/>
                </a:solidFill>
              </a:rPr>
              <a:t>Sempre prestar atençao no FUSO de NY, pois é o horario que a ferramenta esta setada.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Creative End Date -  Data de </a:t>
            </a:r>
            <a:r>
              <a:rPr lang="en-US" sz="1400" dirty="0" err="1"/>
              <a:t>Termino</a:t>
            </a:r>
            <a:r>
              <a:rPr lang="en-US" sz="1400" dirty="0"/>
              <a:t> da </a:t>
            </a:r>
            <a:r>
              <a:rPr lang="en-US" sz="1400" dirty="0" err="1"/>
              <a:t>veiculação</a:t>
            </a:r>
            <a:r>
              <a:rPr lang="en-US" sz="1400" dirty="0"/>
              <a:t> do </a:t>
            </a:r>
            <a:r>
              <a:rPr lang="en-US" sz="1400" dirty="0" err="1"/>
              <a:t>criativo</a:t>
            </a:r>
            <a:r>
              <a:rPr lang="en-US" sz="1400" dirty="0"/>
              <a:t> </a:t>
            </a:r>
            <a:r>
              <a:rPr lang="pt-BR" sz="1400" dirty="0"/>
              <a:t>(Formato americano Ex:06/10/2015 03:20 PM ) </a:t>
            </a:r>
            <a:r>
              <a:rPr lang="pt-BR" sz="1000" dirty="0"/>
              <a:t>Preenchimento Obrigatório - </a:t>
            </a:r>
            <a:r>
              <a:rPr lang="pt-BR" sz="1000" dirty="0">
                <a:solidFill>
                  <a:srgbClr val="FF0000"/>
                </a:solidFill>
              </a:rPr>
              <a:t>Sempre prestar atençao no FUSO de NY, pois é o horario que a ferramenta esta setada.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Creative Assignment is Active – </a:t>
            </a:r>
            <a:r>
              <a:rPr lang="en-US" sz="1400" dirty="0" err="1"/>
              <a:t>Marcar</a:t>
            </a:r>
            <a:r>
              <a:rPr lang="en-US" sz="1400" dirty="0"/>
              <a:t> </a:t>
            </a:r>
            <a:r>
              <a:rPr lang="en-US" sz="1400" dirty="0" err="1"/>
              <a:t>como</a:t>
            </a:r>
            <a:r>
              <a:rPr lang="en-US" sz="1400" dirty="0"/>
              <a:t> </a:t>
            </a:r>
            <a:r>
              <a:rPr lang="en-US" sz="1400" b="1" dirty="0"/>
              <a:t>Yes</a:t>
            </a:r>
            <a:r>
              <a:rPr lang="en-US" sz="1400" dirty="0"/>
              <a:t> para </a:t>
            </a:r>
            <a:r>
              <a:rPr lang="en-US" sz="1400" dirty="0" err="1"/>
              <a:t>fazer</a:t>
            </a:r>
            <a:r>
              <a:rPr lang="en-US" sz="1400" dirty="0"/>
              <a:t> o Assign do </a:t>
            </a:r>
            <a:r>
              <a:rPr lang="en-US" sz="1400" dirty="0" err="1"/>
              <a:t>criativo</a:t>
            </a:r>
            <a:r>
              <a:rPr lang="en-US" sz="1400" dirty="0"/>
              <a:t> no Ad, </a:t>
            </a:r>
            <a:r>
              <a:rPr lang="en-US" sz="1400" dirty="0" err="1"/>
              <a:t>ou</a:t>
            </a:r>
            <a:r>
              <a:rPr lang="en-US" sz="1400" dirty="0"/>
              <a:t> </a:t>
            </a:r>
            <a:r>
              <a:rPr lang="en-US" sz="1400" b="1" dirty="0"/>
              <a:t>No</a:t>
            </a:r>
            <a:r>
              <a:rPr lang="en-US" sz="1400" dirty="0"/>
              <a:t> para </a:t>
            </a:r>
            <a:r>
              <a:rPr lang="en-US" sz="1400" dirty="0" err="1"/>
              <a:t>tirar</a:t>
            </a:r>
            <a:r>
              <a:rPr lang="en-US" sz="1400" dirty="0"/>
              <a:t> o assign de um </a:t>
            </a:r>
            <a:r>
              <a:rPr lang="en-US" sz="1400" dirty="0" err="1"/>
              <a:t>criativo</a:t>
            </a:r>
            <a:r>
              <a:rPr lang="en-US" sz="1400" dirty="0"/>
              <a:t> </a:t>
            </a:r>
            <a:r>
              <a:rPr lang="en-US" sz="1400" dirty="0" err="1"/>
              <a:t>já</a:t>
            </a:r>
            <a:r>
              <a:rPr lang="en-US" sz="1400" dirty="0"/>
              <a:t> </a:t>
            </a:r>
            <a:r>
              <a:rPr lang="en-US" sz="1400" dirty="0" err="1"/>
              <a:t>feito</a:t>
            </a:r>
            <a:r>
              <a:rPr lang="en-US" sz="1400" dirty="0"/>
              <a:t>. </a:t>
            </a:r>
            <a:r>
              <a:rPr lang="en-US" sz="1000" dirty="0" err="1"/>
              <a:t>Preenchimento</a:t>
            </a:r>
            <a:r>
              <a:rPr lang="en-US" sz="1000" dirty="0"/>
              <a:t> </a:t>
            </a:r>
            <a:r>
              <a:rPr lang="en-US" sz="1000" dirty="0" err="1"/>
              <a:t>Obrigdatório</a:t>
            </a:r>
            <a:endParaRPr lang="en-US" sz="1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Creative Uses Default Landing Page -  </a:t>
            </a:r>
            <a:r>
              <a:rPr lang="en-US" sz="1400" dirty="0" err="1"/>
              <a:t>Marcar</a:t>
            </a:r>
            <a:r>
              <a:rPr lang="en-US" sz="1400" dirty="0"/>
              <a:t> </a:t>
            </a:r>
            <a:r>
              <a:rPr lang="en-US" sz="1400" dirty="0" err="1"/>
              <a:t>como</a:t>
            </a:r>
            <a:r>
              <a:rPr lang="en-US" sz="1400" dirty="0"/>
              <a:t> No  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Creative Landing Page ID – </a:t>
            </a:r>
            <a:r>
              <a:rPr lang="pt-BR" sz="1000" dirty="0"/>
              <a:t>Preenchimento Opcional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Creative Landing Page Name -  </a:t>
            </a:r>
            <a:r>
              <a:rPr lang="pt-BR" sz="1000" dirty="0"/>
              <a:t>Preenchimento opcional.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Creative Click-Through URL – URL </a:t>
            </a:r>
            <a:r>
              <a:rPr lang="en-US" sz="1400" dirty="0" err="1"/>
              <a:t>parametrizada</a:t>
            </a:r>
            <a:r>
              <a:rPr lang="en-US" sz="1400" dirty="0"/>
              <a:t> do </a:t>
            </a:r>
            <a:r>
              <a:rPr lang="en-US" sz="1400" dirty="0" err="1"/>
              <a:t>Criativo</a:t>
            </a:r>
            <a:r>
              <a:rPr lang="en-US" sz="1400" dirty="0"/>
              <a:t>. </a:t>
            </a:r>
            <a:r>
              <a:rPr lang="en-US" sz="1000" dirty="0" err="1"/>
              <a:t>Preenchimento</a:t>
            </a:r>
            <a:r>
              <a:rPr lang="en-US" sz="1000" dirty="0"/>
              <a:t> </a:t>
            </a:r>
            <a:r>
              <a:rPr lang="en-US" sz="1000" dirty="0" err="1"/>
              <a:t>Obrigatório</a:t>
            </a:r>
            <a:endParaRPr lang="en-US" sz="1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" y="844198"/>
            <a:ext cx="9086850" cy="11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17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Bulk_Upload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560351"/>
            <a:ext cx="9151860" cy="3062926"/>
          </a:xfrm>
          <a:prstGeom prst="rect">
            <a:avLst/>
          </a:prstGeom>
        </p:spPr>
      </p:pic>
      <p:sp>
        <p:nvSpPr>
          <p:cNvPr id="13" name="CaixaDeTexto 7"/>
          <p:cNvSpPr txBox="1"/>
          <p:nvPr/>
        </p:nvSpPr>
        <p:spPr>
          <a:xfrm>
            <a:off x="4965392" y="2338018"/>
            <a:ext cx="3588407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Selecione “Import” para subir o MediaPlan</a:t>
            </a:r>
          </a:p>
        </p:txBody>
      </p:sp>
      <p:pic>
        <p:nvPicPr>
          <p:cNvPr id="15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3602">
            <a:off x="7898242" y="2235335"/>
            <a:ext cx="156973" cy="1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33581" t="19991" r="38280" b="35588"/>
          <a:stretch/>
        </p:blipFill>
        <p:spPr>
          <a:xfrm>
            <a:off x="3140595" y="2779107"/>
            <a:ext cx="2538637" cy="55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1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Bulk_Upload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3" name="CaixaDeTexto 7"/>
          <p:cNvSpPr txBox="1"/>
          <p:nvPr/>
        </p:nvSpPr>
        <p:spPr>
          <a:xfrm>
            <a:off x="416586" y="5614413"/>
            <a:ext cx="8477064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A plataforma ao processar o excel ela manda um email com a mensagem de sucesso caso a planilha esteja correta. Ela manda de volta a mesma planilha que subiu porém ela volta com os ID´s do que foi criado.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3" y="795646"/>
            <a:ext cx="8837050" cy="6659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b="2777"/>
          <a:stretch/>
        </p:blipFill>
        <p:spPr>
          <a:xfrm>
            <a:off x="1527687" y="1556607"/>
            <a:ext cx="5878953" cy="3714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1019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Bulk_Upload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7" name="CaixaDeTexto 7"/>
          <p:cNvSpPr txBox="1"/>
          <p:nvPr/>
        </p:nvSpPr>
        <p:spPr>
          <a:xfrm>
            <a:off x="416586" y="5656603"/>
            <a:ext cx="8477064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Caso a planilha tenha alguma informação errada ela devolve uma mensagem de erro.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467" y="890277"/>
            <a:ext cx="6525302" cy="4401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0293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Bulk_Upload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5650" b="8746"/>
          <a:stretch/>
        </p:blipFill>
        <p:spPr>
          <a:xfrm>
            <a:off x="83119" y="1619479"/>
            <a:ext cx="8753301" cy="11944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05" y="3257758"/>
            <a:ext cx="907960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/>
              <a:t>Quando receber a mensagem de erro o email retorna a planilha informando o que está errado ou faltando na planilha.</a:t>
            </a:r>
          </a:p>
          <a:p>
            <a:pPr algn="just">
              <a:lnSpc>
                <a:spcPct val="150000"/>
              </a:lnSpc>
            </a:pPr>
            <a:r>
              <a:rPr lang="pt-BR" sz="1400" dirty="0"/>
              <a:t>E mesmo com a mensagem de erro as linhas que estiverem em branco na coluna de Error Message foi que o adsever conseguiu criar. Ai é apenas corrigir o que precisa nessa planilha recebida por email excluir a coluna “A” ( Error Message) e subir novamente essa planilha.</a:t>
            </a:r>
          </a:p>
          <a:p>
            <a:pPr algn="just">
              <a:lnSpc>
                <a:spcPct val="150000"/>
              </a:lnSpc>
            </a:pPr>
            <a:r>
              <a:rPr lang="pt-BR" sz="1400" dirty="0"/>
              <a:t>No caso do erro acima, temos o problema ocm a URL. Podem haver espaços no meio dela, ou a URL nao começar com ‘http ou https’</a:t>
            </a:r>
          </a:p>
          <a:p>
            <a:pPr algn="just">
              <a:lnSpc>
                <a:spcPct val="150000"/>
              </a:lnSpc>
            </a:pPr>
            <a:r>
              <a:rPr lang="pt-BR" sz="1400" dirty="0"/>
              <a:t>A solução seria ir até a coluna de URLs e subistituir os erros para poder fazer no novo Upload da planilha.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15914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Funções por Bulk_Upload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4209" y="2576850"/>
            <a:ext cx="90796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/>
              <a:t>Erro causado pela falta de preenchimento da informação “Placement Compatibility”</a:t>
            </a:r>
            <a:r>
              <a:rPr lang="en-US" sz="1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pt-BR" sz="1400" dirty="0"/>
              <a:t>A solução seria preencher com a informação correta.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05" y="769537"/>
            <a:ext cx="280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>
                <a:solidFill>
                  <a:srgbClr val="FF0000"/>
                </a:solidFill>
              </a:rPr>
              <a:t>EXEMPLOS:</a:t>
            </a: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09" y="1253962"/>
            <a:ext cx="8755200" cy="122279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401" y="5247570"/>
            <a:ext cx="90796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/>
              <a:t>Erro causado pelas datas divergentes entre o Ad e seu criativo. Geralmente, a data do criativo passa o limite da data do AD.</a:t>
            </a:r>
          </a:p>
          <a:p>
            <a:pPr algn="just">
              <a:lnSpc>
                <a:spcPct val="150000"/>
              </a:lnSpc>
            </a:pPr>
            <a:r>
              <a:rPr lang="pt-BR" sz="1400" dirty="0"/>
              <a:t>A solução é arrumá-la junto com a data, nao deixando que ambas extrapolem a data setada para o termino da CAMPANHA.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95" y="3843329"/>
            <a:ext cx="8755200" cy="1229640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182095" y="3425379"/>
            <a:ext cx="8856709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82095" y="3501755"/>
            <a:ext cx="8856709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82095" y="3581327"/>
            <a:ext cx="8856709" cy="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612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Visão Geral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3806"/>
            <a:ext cx="9147954" cy="458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2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Extraindo Tags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3806"/>
            <a:ext cx="9147954" cy="4580092"/>
          </a:xfrm>
          <a:prstGeom prst="rect">
            <a:avLst/>
          </a:prstGeom>
        </p:spPr>
      </p:pic>
      <p:sp>
        <p:nvSpPr>
          <p:cNvPr id="7" name="CaixaDeTexto 7"/>
          <p:cNvSpPr txBox="1"/>
          <p:nvPr/>
        </p:nvSpPr>
        <p:spPr>
          <a:xfrm>
            <a:off x="5963830" y="1838201"/>
            <a:ext cx="2188239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Selecione “Download Tags”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t="12615"/>
          <a:stretch/>
        </p:blipFill>
        <p:spPr>
          <a:xfrm>
            <a:off x="8202635" y="1853076"/>
            <a:ext cx="707632" cy="340627"/>
          </a:xfrm>
          <a:prstGeom prst="rect">
            <a:avLst/>
          </a:prstGeom>
        </p:spPr>
      </p:pic>
      <p:pic>
        <p:nvPicPr>
          <p:cNvPr id="8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103042" y="1861964"/>
            <a:ext cx="195156" cy="21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1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Extraindo Tags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6465"/>
            <a:ext cx="9144000" cy="3460470"/>
          </a:xfrm>
          <a:prstGeom prst="rect">
            <a:avLst/>
          </a:prstGeom>
        </p:spPr>
      </p:pic>
      <p:pic>
        <p:nvPicPr>
          <p:cNvPr id="15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413424" y="1582337"/>
            <a:ext cx="201629" cy="21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7"/>
          <p:cNvSpPr txBox="1"/>
          <p:nvPr/>
        </p:nvSpPr>
        <p:spPr>
          <a:xfrm>
            <a:off x="333468" y="4878295"/>
            <a:ext cx="8477064" cy="738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/>
              <a:t>Aqui você seleciona o placement que quer extrair desse placement qual o tipo de código quer.</a:t>
            </a:r>
          </a:p>
          <a:p>
            <a:pPr algn="just">
              <a:lnSpc>
                <a:spcPct val="150000"/>
              </a:lnSpc>
            </a:pPr>
            <a:r>
              <a:rPr lang="pt-BR" sz="1400" dirty="0"/>
              <a:t>É possível utilizar o filtro na parte superior a direita.</a:t>
            </a:r>
          </a:p>
        </p:txBody>
      </p:sp>
    </p:spTree>
    <p:extLst>
      <p:ext uri="{BB962C8B-B14F-4D97-AF65-F5344CB8AC3E}">
        <p14:creationId xmlns:p14="http://schemas.microsoft.com/office/powerpoint/2010/main" val="43798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Extraindo Tags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15" y="864524"/>
            <a:ext cx="8751979" cy="39038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97" y="5138551"/>
            <a:ext cx="8792614" cy="370436"/>
          </a:xfrm>
          <a:prstGeom prst="rect">
            <a:avLst/>
          </a:prstGeom>
        </p:spPr>
      </p:pic>
      <p:sp>
        <p:nvSpPr>
          <p:cNvPr id="12" name="CaixaDeTexto 7"/>
          <p:cNvSpPr txBox="1"/>
          <p:nvPr/>
        </p:nvSpPr>
        <p:spPr>
          <a:xfrm>
            <a:off x="1232106" y="5409147"/>
            <a:ext cx="3481210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/>
              <a:t>Tags e contadores estão em abas separadas.</a:t>
            </a:r>
          </a:p>
        </p:txBody>
      </p:sp>
      <p:pic>
        <p:nvPicPr>
          <p:cNvPr id="13" name="Picture 9" descr="http://www.nariguete.com.br/blog/wp-content/uploads/2013/10/mouse-pointer-m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854245" y="5269993"/>
            <a:ext cx="211651" cy="22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40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2194" y="-12137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Extraindo Tags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05" y="914400"/>
            <a:ext cx="8999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Caso a veiculação seja feita via contadores, extraí-los da mesma forma que as tags, podem excluir o restante das abas para nao ter confusão na implementação, por parte do veiculo.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9" y="1560731"/>
            <a:ext cx="8963777" cy="43622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9" y="6043053"/>
            <a:ext cx="8963777" cy="40671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119" y="5966877"/>
            <a:ext cx="2506332" cy="406719"/>
          </a:xfrm>
          <a:prstGeom prst="rect">
            <a:avLst/>
          </a:prstGeom>
          <a:noFill/>
          <a:ln w="38100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123525" y="5984870"/>
            <a:ext cx="24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i="1" u="sng" dirty="0">
                <a:solidFill>
                  <a:srgbClr val="FF0000"/>
                </a:solidFill>
              </a:rPr>
              <a:t>Excluir outras abas</a:t>
            </a:r>
            <a:endParaRPr lang="en-US" b="1" i="1" u="sng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>
            <a:stCxn id="17" idx="1"/>
          </p:cNvCxnSpPr>
          <p:nvPr/>
        </p:nvCxnSpPr>
        <p:spPr>
          <a:xfrm flipH="1">
            <a:off x="2670372" y="6169536"/>
            <a:ext cx="45315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0064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2194" y="-12137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Extraindo Tags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05" y="914400"/>
            <a:ext cx="899939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Caso a compra tenha sido feita via contadores por CPM, encaminhamos um ‘pixel de impressão’, que </a:t>
            </a:r>
            <a:r>
              <a:rPr lang="en-US" sz="1400" dirty="0" err="1"/>
              <a:t>fazemos</a:t>
            </a:r>
            <a:r>
              <a:rPr lang="en-US" sz="1400" dirty="0"/>
              <a:t> </a:t>
            </a:r>
            <a:r>
              <a:rPr lang="en-US" sz="1400" dirty="0" err="1"/>
              <a:t>manualmente</a:t>
            </a:r>
            <a:r>
              <a:rPr lang="en-US" sz="1400" dirty="0"/>
              <a:t> </a:t>
            </a:r>
            <a:r>
              <a:rPr lang="en-US" sz="1400" dirty="0" err="1"/>
              <a:t>utilizando</a:t>
            </a:r>
            <a:r>
              <a:rPr lang="en-US" sz="1400" dirty="0"/>
              <a:t> a ‘Standard TAG’, </a:t>
            </a:r>
            <a:r>
              <a:rPr lang="en-US" sz="1400" dirty="0" err="1"/>
              <a:t>na</a:t>
            </a:r>
            <a:r>
              <a:rPr lang="en-US" sz="1400" dirty="0"/>
              <a:t> aba de TAGS.</a:t>
            </a:r>
          </a:p>
          <a:p>
            <a:r>
              <a:rPr lang="pt-BR" sz="1400" dirty="0"/>
              <a:t>Ex TAG:</a:t>
            </a:r>
          </a:p>
          <a:p>
            <a:r>
              <a:rPr lang="en-US" sz="1400" dirty="0">
                <a:solidFill>
                  <a:srgbClr val="FF0000"/>
                </a:solidFill>
              </a:rPr>
              <a:t>&lt;A HREF="https://ad.doubleclick.net/</a:t>
            </a:r>
            <a:r>
              <a:rPr lang="en-US" sz="1400" dirty="0" err="1">
                <a:solidFill>
                  <a:srgbClr val="FF0000"/>
                </a:solidFill>
              </a:rPr>
              <a:t>ddm</a:t>
            </a:r>
            <a:r>
              <a:rPr lang="en-US" sz="1400" dirty="0">
                <a:solidFill>
                  <a:srgbClr val="FF0000"/>
                </a:solidFill>
              </a:rPr>
              <a:t>/jump/N50002.2153307CONNECTEDINTERACTI/B9247456.128746802;sz=1x1;ord=[timestamp]?"&gt;</a:t>
            </a:r>
          </a:p>
          <a:p>
            <a:r>
              <a:rPr lang="en-US" sz="1400" dirty="0">
                <a:solidFill>
                  <a:srgbClr val="FF0000"/>
                </a:solidFill>
              </a:rPr>
              <a:t>&lt;IMG SRC="</a:t>
            </a:r>
            <a:r>
              <a:rPr lang="en-US" sz="1400" dirty="0">
                <a:solidFill>
                  <a:srgbClr val="00B050"/>
                </a:solidFill>
              </a:rPr>
              <a:t>https://ad.doubleclick.net/</a:t>
            </a:r>
            <a:r>
              <a:rPr lang="en-US" sz="1400" dirty="0" err="1">
                <a:solidFill>
                  <a:srgbClr val="00B050"/>
                </a:solidFill>
              </a:rPr>
              <a:t>ddm</a:t>
            </a:r>
            <a:r>
              <a:rPr lang="en-US" sz="1400" dirty="0">
                <a:solidFill>
                  <a:srgbClr val="00B050"/>
                </a:solidFill>
              </a:rPr>
              <a:t>/ad/N50002.2153307CONNECTEDINTERACTI/B9247456.128746802;sz=1x1;ord=[timestamp];</a:t>
            </a:r>
            <a:r>
              <a:rPr lang="en-US" sz="1400" dirty="0" err="1">
                <a:solidFill>
                  <a:srgbClr val="00B050"/>
                </a:solidFill>
              </a:rPr>
              <a:t>dc_lat</a:t>
            </a:r>
            <a:r>
              <a:rPr lang="en-US" sz="1400" dirty="0">
                <a:solidFill>
                  <a:srgbClr val="00B050"/>
                </a:solidFill>
              </a:rPr>
              <a:t>=;</a:t>
            </a:r>
            <a:r>
              <a:rPr lang="en-US" sz="1400" dirty="0" err="1">
                <a:solidFill>
                  <a:srgbClr val="00B050"/>
                </a:solidFill>
              </a:rPr>
              <a:t>dc_rdid</a:t>
            </a:r>
            <a:r>
              <a:rPr lang="en-US" sz="1400" dirty="0">
                <a:solidFill>
                  <a:srgbClr val="00B050"/>
                </a:solidFill>
              </a:rPr>
              <a:t>=;</a:t>
            </a:r>
            <a:r>
              <a:rPr lang="en-US" sz="1400" dirty="0" err="1">
                <a:solidFill>
                  <a:srgbClr val="00B050"/>
                </a:solidFill>
              </a:rPr>
              <a:t>tag_for_child_directed_treatment</a:t>
            </a:r>
            <a:r>
              <a:rPr lang="en-US" sz="1400" dirty="0">
                <a:solidFill>
                  <a:srgbClr val="00B050"/>
                </a:solidFill>
              </a:rPr>
              <a:t>=?</a:t>
            </a:r>
            <a:r>
              <a:rPr lang="en-US" sz="1400" dirty="0">
                <a:solidFill>
                  <a:srgbClr val="FF0000"/>
                </a:solidFill>
              </a:rPr>
              <a:t>" BORDER=0 WIDTH=1 HEIGHT=1 ALT="Advertisement"&gt;&lt;/A&gt;</a:t>
            </a:r>
          </a:p>
          <a:p>
            <a:endParaRPr lang="pt-BR" sz="1400" dirty="0">
              <a:solidFill>
                <a:srgbClr val="FF0000"/>
              </a:solidFill>
            </a:endParaRPr>
          </a:p>
          <a:p>
            <a:r>
              <a:rPr lang="pt-BR" sz="1400" dirty="0"/>
              <a:t>Utilizamos a parte da URL IMGSRC. O restante excluimos. Uma vez que fizemos isso com todas as tags, criamos uma coluna na aba de Contadores e damos o nome de “Impression Tracker Tag”.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1" y="4021256"/>
            <a:ext cx="8963777" cy="12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01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577493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Extras</a:t>
            </a:r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799570"/>
              </p:ext>
            </p:extLst>
          </p:nvPr>
        </p:nvGraphicFramePr>
        <p:xfrm>
          <a:off x="218878" y="3982112"/>
          <a:ext cx="3883906" cy="1124512"/>
        </p:xfrm>
        <a:graphic>
          <a:graphicData uri="http://schemas.openxmlformats.org/drawingml/2006/table">
            <a:tbl>
              <a:tblPr/>
              <a:tblGrid>
                <a:gridCol w="388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69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Iframes/JavaScript Tag</a:t>
                      </a:r>
                    </a:p>
                  </a:txBody>
                  <a:tcPr marL="9103" marR="9103" marT="91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5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&lt;ins class='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dcmads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' style='display:inline-block;width:300px;height:250px'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data-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dcm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-placement='N50002.137759BRGLOBO/B8659492.117339535'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data-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dcm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-rendering-mode='iframe'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data-</a:t>
                      </a:r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dcm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-click-tracker=‘PARAMETRO</a:t>
                      </a:r>
                      <a:r>
                        <a:rPr lang="en-US" sz="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_CLICK_VEICULO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'&gt;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&lt;script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src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='//www.googletagservices.com/dcm/dcmads.js'&gt;&lt;/script&gt;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&lt;/ins&gt;</a:t>
                      </a:r>
                    </a:p>
                  </a:txBody>
                  <a:tcPr marL="9103" marR="9103" marT="91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502" y="1556316"/>
            <a:ext cx="4879497" cy="401298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8878" y="1572478"/>
            <a:ext cx="39747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/>
              <a:t>Tem veículo que solicita a implementação do parâmetro de clique deles na tag.</a:t>
            </a:r>
          </a:p>
          <a:p>
            <a:pPr algn="just">
              <a:lnSpc>
                <a:spcPct val="150000"/>
              </a:lnSpc>
            </a:pPr>
            <a:endParaRPr lang="pt-BR" sz="1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/>
              <a:t>A nível de Placement ativar manualmente a opção “</a:t>
            </a:r>
            <a:r>
              <a:rPr lang="en-US" sz="1400" dirty="0"/>
              <a:t>Insert click-tracking string in tags” para Enable e </a:t>
            </a:r>
            <a:r>
              <a:rPr lang="en-US" sz="1400" dirty="0" err="1"/>
              <a:t>após</a:t>
            </a:r>
            <a:r>
              <a:rPr lang="en-US" sz="1400" dirty="0"/>
              <a:t> </a:t>
            </a:r>
            <a:r>
              <a:rPr lang="en-US" sz="1400" dirty="0" err="1"/>
              <a:t>isso</a:t>
            </a:r>
            <a:r>
              <a:rPr lang="en-US" sz="1400" dirty="0"/>
              <a:t> </a:t>
            </a:r>
            <a:r>
              <a:rPr lang="en-US" sz="1400" dirty="0" err="1"/>
              <a:t>extrair</a:t>
            </a:r>
            <a:r>
              <a:rPr lang="en-US" sz="1400" dirty="0"/>
              <a:t> a tag.</a:t>
            </a:r>
          </a:p>
        </p:txBody>
      </p:sp>
    </p:spTree>
    <p:extLst>
      <p:ext uri="{BB962C8B-B14F-4D97-AF65-F5344CB8AC3E}">
        <p14:creationId xmlns:p14="http://schemas.microsoft.com/office/powerpoint/2010/main" val="1109047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-9668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1008380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Criando FloodLights</a:t>
            </a:r>
          </a:p>
          <a:p>
            <a:pPr defTabSz="457126"/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19" name="CaixaDeTexto 7"/>
          <p:cNvSpPr txBox="1"/>
          <p:nvPr/>
        </p:nvSpPr>
        <p:spPr>
          <a:xfrm>
            <a:off x="5362747" y="1554051"/>
            <a:ext cx="1865398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Nomeclatura enviada pelo pessoal de BI.</a:t>
            </a:r>
          </a:p>
        </p:txBody>
      </p:sp>
      <p:sp>
        <p:nvSpPr>
          <p:cNvPr id="20" name="CaixaDeTexto 7"/>
          <p:cNvSpPr txBox="1"/>
          <p:nvPr/>
        </p:nvSpPr>
        <p:spPr>
          <a:xfrm>
            <a:off x="5353612" y="2802331"/>
            <a:ext cx="1810296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URL enviada pelo pessoal de BI.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0" y="960979"/>
            <a:ext cx="4490101" cy="5018742"/>
          </a:xfrm>
          <a:prstGeom prst="rect">
            <a:avLst/>
          </a:prstGeom>
        </p:spPr>
      </p:pic>
      <p:cxnSp>
        <p:nvCxnSpPr>
          <p:cNvPr id="35" name="Straight Arrow Connector 34"/>
          <p:cNvCxnSpPr/>
          <p:nvPr/>
        </p:nvCxnSpPr>
        <p:spPr>
          <a:xfrm flipH="1" flipV="1">
            <a:off x="4241408" y="1825153"/>
            <a:ext cx="1112204" cy="3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4059417" y="3033164"/>
            <a:ext cx="11122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7"/>
          <p:cNvSpPr txBox="1"/>
          <p:nvPr/>
        </p:nvSpPr>
        <p:spPr>
          <a:xfrm>
            <a:off x="5362747" y="3709212"/>
            <a:ext cx="1810296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Manter sempre Type como “Counter”</a:t>
            </a:r>
          </a:p>
          <a:p>
            <a:r>
              <a:rPr lang="pt-BR" sz="1200" dirty="0"/>
              <a:t>As opções de ‘Counting Method’ ficarão visiveis.</a:t>
            </a:r>
          </a:p>
        </p:txBody>
      </p:sp>
      <p:cxnSp>
        <p:nvCxnSpPr>
          <p:cNvPr id="40" name="Elbow Connector 39"/>
          <p:cNvCxnSpPr/>
          <p:nvPr/>
        </p:nvCxnSpPr>
        <p:spPr>
          <a:xfrm rot="10800000">
            <a:off x="2184851" y="3453238"/>
            <a:ext cx="3050697" cy="6656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007237" y="1658146"/>
            <a:ext cx="3163246" cy="381125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12099" y="2888857"/>
            <a:ext cx="3347318" cy="334868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936313" y="3302916"/>
            <a:ext cx="1177613" cy="334868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119" y="4247589"/>
            <a:ext cx="2829322" cy="1557425"/>
          </a:xfrm>
          <a:prstGeom prst="rect">
            <a:avLst/>
          </a:prstGeom>
        </p:spPr>
      </p:pic>
      <p:sp>
        <p:nvSpPr>
          <p:cNvPr id="46" name="CaixaDeTexto 7"/>
          <p:cNvSpPr txBox="1"/>
          <p:nvPr/>
        </p:nvSpPr>
        <p:spPr>
          <a:xfrm>
            <a:off x="5390298" y="5240713"/>
            <a:ext cx="1810296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Selecionar a õpção ‘Per Session’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25119" y="5142711"/>
            <a:ext cx="2829322" cy="604220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4494115" y="5470216"/>
            <a:ext cx="859497" cy="3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39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38" grpId="0" animBg="1"/>
      <p:bldP spid="38" grpId="1" animBg="1"/>
      <p:bldP spid="46" grpId="0" animBg="1"/>
      <p:bldP spid="4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30897" y="-96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1008380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Criando FloodLights</a:t>
            </a:r>
          </a:p>
          <a:p>
            <a:pPr defTabSz="457126"/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34" y="2003198"/>
            <a:ext cx="8699131" cy="26125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505" y="914400"/>
            <a:ext cx="8999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criar e salvar o floodlight, descemos até a opçao ‘Floodlight tag Preview’ e vamos pegar a Tag para enviar ao pessoal de BI.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610314" y="3366434"/>
            <a:ext cx="7031979" cy="226430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ixaDeTexto 7"/>
          <p:cNvSpPr txBox="1"/>
          <p:nvPr/>
        </p:nvSpPr>
        <p:spPr>
          <a:xfrm>
            <a:off x="6105205" y="4107116"/>
            <a:ext cx="1810296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Encaminhamos apenas a parte entre as chaves, que é o codigo necessario.</a:t>
            </a:r>
          </a:p>
        </p:txBody>
      </p:sp>
      <p:cxnSp>
        <p:nvCxnSpPr>
          <p:cNvPr id="6" name="Elbow Connector 5"/>
          <p:cNvCxnSpPr/>
          <p:nvPr/>
        </p:nvCxnSpPr>
        <p:spPr>
          <a:xfrm rot="16200000" flipV="1">
            <a:off x="6293659" y="3678765"/>
            <a:ext cx="438630" cy="34244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0" y="5332676"/>
            <a:ext cx="8999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Inserimos o codigo na planilha encaminhada pelo pessoal de BI e reencaminhamos para a equipe seguir com a implementação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30897" y="-9669"/>
            <a:ext cx="9156194" cy="663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95003"/>
            <a:ext cx="9144000" cy="6056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83119" y="100455"/>
            <a:ext cx="9143999" cy="1008380"/>
          </a:xfrm>
          <a:prstGeom prst="rect">
            <a:avLst/>
          </a:prstGeom>
        </p:spPr>
        <p:txBody>
          <a:bodyPr wrap="square" lIns="145188" tIns="72594" rIns="145188" bIns="72594">
            <a:spAutoFit/>
          </a:bodyPr>
          <a:lstStyle/>
          <a:p>
            <a:pPr defTabSz="457126"/>
            <a:r>
              <a:rPr lang="pt-BR" sz="2800" b="1" spc="-150" dirty="0">
                <a:solidFill>
                  <a:schemeClr val="bg1"/>
                </a:solidFill>
                <a:latin typeface="Century Gothic" charset="0"/>
                <a:ea typeface="ＭＳ Ｐゴシック" charset="0"/>
                <a:sym typeface="Century Gothic" charset="0"/>
              </a:rPr>
              <a:t>Criando Audiencias</a:t>
            </a:r>
          </a:p>
          <a:p>
            <a:pPr defTabSz="457126"/>
            <a:endParaRPr lang="en-US" sz="2800" b="1" spc="-150" dirty="0">
              <a:solidFill>
                <a:schemeClr val="bg1"/>
              </a:solidFill>
              <a:latin typeface="Century Gothic" charset="0"/>
              <a:ea typeface="ＭＳ Ｐゴシック" charset="0"/>
              <a:sym typeface="Century Gothic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505" y="914400"/>
            <a:ext cx="899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criar o Floodlight, criamos também a audiencia.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17" y="1383137"/>
            <a:ext cx="4508235" cy="4796301"/>
          </a:xfrm>
          <a:prstGeom prst="rect">
            <a:avLst/>
          </a:prstGeom>
        </p:spPr>
      </p:pic>
      <p:sp>
        <p:nvSpPr>
          <p:cNvPr id="12" name="CaixaDeTexto 7"/>
          <p:cNvSpPr txBox="1"/>
          <p:nvPr/>
        </p:nvSpPr>
        <p:spPr>
          <a:xfrm>
            <a:off x="6048225" y="2042471"/>
            <a:ext cx="1865398" cy="12003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Nomeclatura enviada pelo pessoal de BI. Utilizar mesma nomeclatura do Floodlight criado para o qual estamos criando a audiencia.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721344" y="2648624"/>
            <a:ext cx="1112204" cy="3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407945" y="2459884"/>
            <a:ext cx="3163246" cy="381125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aixaDeTexto 7"/>
          <p:cNvSpPr txBox="1"/>
          <p:nvPr/>
        </p:nvSpPr>
        <p:spPr>
          <a:xfrm>
            <a:off x="5130130" y="4983170"/>
            <a:ext cx="1810296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Manter selecionada a primeira opção.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952" y="4911893"/>
            <a:ext cx="3003470" cy="604220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4058052" y="5214002"/>
            <a:ext cx="847249" cy="3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947" y="2997147"/>
            <a:ext cx="221483" cy="1344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42806" y="2888857"/>
            <a:ext cx="2521179" cy="517316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ixaDeTexto 7"/>
          <p:cNvSpPr txBox="1"/>
          <p:nvPr/>
        </p:nvSpPr>
        <p:spPr>
          <a:xfrm>
            <a:off x="4818632" y="3329865"/>
            <a:ext cx="1865398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Colocar 540, pois é o maximo aceitado pela plataforma.</a:t>
            </a:r>
          </a:p>
        </p:txBody>
      </p:sp>
      <p:cxnSp>
        <p:nvCxnSpPr>
          <p:cNvPr id="30" name="Elbow Connector 29"/>
          <p:cNvCxnSpPr/>
          <p:nvPr/>
        </p:nvCxnSpPr>
        <p:spPr>
          <a:xfrm rot="10800000">
            <a:off x="3406748" y="3147516"/>
            <a:ext cx="1248371" cy="5055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62952" y="5593012"/>
            <a:ext cx="2330506" cy="362726"/>
          </a:xfrm>
          <a:prstGeom prst="rect">
            <a:avLst/>
          </a:prstGeom>
          <a:noFill/>
          <a:ln w="28575">
            <a:solidFill>
              <a:srgbClr val="FF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aixaDeTexto 7"/>
          <p:cNvSpPr txBox="1"/>
          <p:nvPr/>
        </p:nvSpPr>
        <p:spPr>
          <a:xfrm>
            <a:off x="5130130" y="5594428"/>
            <a:ext cx="1810296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Selecionar o Floodlight que acabamos de criar.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3498345" y="5774375"/>
            <a:ext cx="1529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6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25" grpId="0" animBg="1"/>
      <p:bldP spid="25" grpId="1" animBg="1"/>
      <p:bldP spid="29" grpId="0" animBg="1"/>
      <p:bldP spid="29" grpId="1" animBg="1"/>
      <p:bldP spid="32" grpId="0" animBg="1"/>
      <p:bldP spid="3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http://i1-news.softpedia-static.com/images/news2/Microsoft-Overhauls-MSN-Logo-and-Portal-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1070" y="1196190"/>
            <a:ext cx="1525108" cy="152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194" y="1174039"/>
            <a:ext cx="9144000" cy="5393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2636912"/>
            <a:ext cx="8229600" cy="1143000"/>
          </a:xfrm>
        </p:spPr>
        <p:txBody>
          <a:bodyPr>
            <a:normAutofit/>
          </a:bodyPr>
          <a:lstStyle/>
          <a:p>
            <a:r>
              <a:rPr lang="pt-BR" sz="5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96679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OTER" val="LIN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001"/>
  <p:tag name="FOOTER" val="LOGO"/>
  <p:tag name="DESIGN" val="CHAPT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" val="DOCUMENTDATA"/>
</p:tagLst>
</file>

<file path=ppt/theme/theme1.xml><?xml version="1.0" encoding="utf-8"?>
<a:theme xmlns:a="http://schemas.openxmlformats.org/drawingml/2006/main" name="Guide_Mediamin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quare Scribble">
  <a:themeElements>
    <a:clrScheme name="">
      <a:dk1>
        <a:srgbClr val="666666"/>
      </a:dk1>
      <a:lt1>
        <a:srgbClr val="FFFFFF"/>
      </a:lt1>
      <a:dk2>
        <a:srgbClr val="C50084"/>
      </a:dk2>
      <a:lt2>
        <a:srgbClr val="000000"/>
      </a:lt2>
      <a:accent1>
        <a:srgbClr val="6600A7"/>
      </a:accent1>
      <a:accent2>
        <a:srgbClr val="4C5CC5"/>
      </a:accent2>
      <a:accent3>
        <a:srgbClr val="FFFFFF"/>
      </a:accent3>
      <a:accent4>
        <a:srgbClr val="565656"/>
      </a:accent4>
      <a:accent5>
        <a:srgbClr val="B8AAD0"/>
      </a:accent5>
      <a:accent6>
        <a:srgbClr val="4453B2"/>
      </a:accent6>
      <a:hlink>
        <a:srgbClr val="F3D311"/>
      </a:hlink>
      <a:folHlink>
        <a:srgbClr val="61C250"/>
      </a:folHlink>
    </a:clrScheme>
    <a:fontScheme name="1_Square Scribble">
      <a:majorFont>
        <a:latin typeface="Century Gothic"/>
        <a:ea typeface=""/>
        <a:cs typeface=""/>
      </a:majorFont>
      <a:minorFont>
        <a:latin typeface="Century Gothic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lnDef>
  </a:objectDefaults>
  <a:extraClrSchemeLst>
    <a:extraClrScheme>
      <a:clrScheme name="1_Square Scribb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quare Scribbl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C50084"/>
        </a:accent2>
        <a:accent3>
          <a:srgbClr val="FFFFFF"/>
        </a:accent3>
        <a:accent4>
          <a:srgbClr val="000000"/>
        </a:accent4>
        <a:accent5>
          <a:srgbClr val="B8AFD8"/>
        </a:accent5>
        <a:accent6>
          <a:srgbClr val="B20077"/>
        </a:accent6>
        <a:hlink>
          <a:srgbClr val="4C5CC5"/>
        </a:hlink>
        <a:folHlink>
          <a:srgbClr val="9A9B9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4">
        <a:dk1>
          <a:srgbClr val="9A9B9D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C50084"/>
        </a:accent2>
        <a:accent3>
          <a:srgbClr val="FFFFFF"/>
        </a:accent3>
        <a:accent4>
          <a:srgbClr val="838485"/>
        </a:accent4>
        <a:accent5>
          <a:srgbClr val="B8AFD8"/>
        </a:accent5>
        <a:accent6>
          <a:srgbClr val="B20077"/>
        </a:accent6>
        <a:hlink>
          <a:srgbClr val="4C5CC5"/>
        </a:hlink>
        <a:folHlink>
          <a:srgbClr val="9A9B9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5">
        <a:dk1>
          <a:srgbClr val="C50084"/>
        </a:dk1>
        <a:lt1>
          <a:srgbClr val="FFFFFF"/>
        </a:lt1>
        <a:dk2>
          <a:srgbClr val="000000"/>
        </a:dk2>
        <a:lt2>
          <a:srgbClr val="808080"/>
        </a:lt2>
        <a:accent1>
          <a:srgbClr val="673BB8"/>
        </a:accent1>
        <a:accent2>
          <a:srgbClr val="4C5CC5"/>
        </a:accent2>
        <a:accent3>
          <a:srgbClr val="FFFFFF"/>
        </a:accent3>
        <a:accent4>
          <a:srgbClr val="A80070"/>
        </a:accent4>
        <a:accent5>
          <a:srgbClr val="B8AFD8"/>
        </a:accent5>
        <a:accent6>
          <a:srgbClr val="4453B2"/>
        </a:accent6>
        <a:hlink>
          <a:srgbClr val="FFB60F"/>
        </a:hlink>
        <a:folHlink>
          <a:srgbClr val="5CC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quare Scribble 16">
        <a:dk1>
          <a:srgbClr val="C50084"/>
        </a:dk1>
        <a:lt1>
          <a:srgbClr val="FFFFFF"/>
        </a:lt1>
        <a:dk2>
          <a:srgbClr val="000000"/>
        </a:dk2>
        <a:lt2>
          <a:srgbClr val="808080"/>
        </a:lt2>
        <a:accent1>
          <a:srgbClr val="6600A7"/>
        </a:accent1>
        <a:accent2>
          <a:srgbClr val="4C5CC5"/>
        </a:accent2>
        <a:accent3>
          <a:srgbClr val="FFFFFF"/>
        </a:accent3>
        <a:accent4>
          <a:srgbClr val="A80070"/>
        </a:accent4>
        <a:accent5>
          <a:srgbClr val="B8AAD0"/>
        </a:accent5>
        <a:accent6>
          <a:srgbClr val="4453B2"/>
        </a:accent6>
        <a:hlink>
          <a:srgbClr val="FFB60F"/>
        </a:hlink>
        <a:folHlink>
          <a:srgbClr val="5CC1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">
  <a:themeElements>
    <a:clrScheme name="TNS Colours">
      <a:dk1>
        <a:sysClr val="windowText" lastClr="000000"/>
      </a:dk1>
      <a:lt1>
        <a:sysClr val="window" lastClr="FFFFFF"/>
      </a:lt1>
      <a:dk2>
        <a:srgbClr val="131C6B"/>
      </a:dk2>
      <a:lt2>
        <a:srgbClr val="3EB1CC"/>
      </a:lt2>
      <a:accent1>
        <a:srgbClr val="C50017"/>
      </a:accent1>
      <a:accent2>
        <a:srgbClr val="F7911E"/>
      </a:accent2>
      <a:accent3>
        <a:srgbClr val="EF5205"/>
      </a:accent3>
      <a:accent4>
        <a:srgbClr val="7A2280"/>
      </a:accent4>
      <a:accent5>
        <a:srgbClr val="4C1D52"/>
      </a:accent5>
      <a:accent6>
        <a:srgbClr val="4655A5"/>
      </a:accent6>
      <a:hlink>
        <a:srgbClr val="4F6128"/>
      </a:hlink>
      <a:folHlink>
        <a:srgbClr val="4F6128"/>
      </a:folHlink>
    </a:clrScheme>
    <a:fontScheme name="TNS Master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12700">
          <a:solidFill>
            <a:schemeClr val="accent3"/>
          </a:solidFill>
        </a:ln>
      </a:spPr>
      <a:bodyPr rtlCol="0" anchor="t"/>
      <a:lstStyle>
        <a:defPPr>
          <a:defRPr sz="13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b="0" dirty="0" err="1" smtClean="0">
            <a:solidFill>
              <a:srgbClr val="333333"/>
            </a:solidFill>
            <a:latin typeface="+mn-l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Guide_Mediamind</Template>
  <TotalTime>2611</TotalTime>
  <Words>3775</Words>
  <Application>Microsoft Office PowerPoint</Application>
  <PresentationFormat>Apresentação na tela (4:3)</PresentationFormat>
  <Paragraphs>324</Paragraphs>
  <Slides>43</Slides>
  <Notes>43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43</vt:i4>
      </vt:variant>
    </vt:vector>
  </HeadingPairs>
  <TitlesOfParts>
    <vt:vector size="54" baseType="lpstr">
      <vt:lpstr>Arial</vt:lpstr>
      <vt:lpstr>Calibri</vt:lpstr>
      <vt:lpstr>Calibri Light</vt:lpstr>
      <vt:lpstr>Century Gothic</vt:lpstr>
      <vt:lpstr>Gill Sans</vt:lpstr>
      <vt:lpstr>Verdana</vt:lpstr>
      <vt:lpstr>Wingdings</vt:lpstr>
      <vt:lpstr>Guide_Mediamind</vt:lpstr>
      <vt:lpstr>1_Office Theme</vt:lpstr>
      <vt:lpstr>1_Square Scribble</vt:lpstr>
      <vt:lpstr>Title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Teodoro, Priscila</dc:creator>
  <cp:lastModifiedBy>Wilson Santos Silva - Almap BBDO</cp:lastModifiedBy>
  <cp:revision>142</cp:revision>
  <cp:lastPrinted>2014-01-21T17:37:06Z</cp:lastPrinted>
  <dcterms:created xsi:type="dcterms:W3CDTF">2014-04-07T21:32:56Z</dcterms:created>
  <dcterms:modified xsi:type="dcterms:W3CDTF">2019-07-30T15:28:02Z</dcterms:modified>
</cp:coreProperties>
</file>