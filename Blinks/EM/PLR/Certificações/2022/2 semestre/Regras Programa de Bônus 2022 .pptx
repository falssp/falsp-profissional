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144000"/>
  <p:embeddedFontLst>
    <p:embeddedFont>
      <p:font typeface="Montserrat"/>
      <p:regular r:id="rId25"/>
      <p:bold r:id="rId26"/>
      <p:italic r:id="rId27"/>
      <p:boldItalic r:id="rId28"/>
    </p:embeddedFont>
    <p:embeddedFont>
      <p:font typeface="Montserrat Light"/>
      <p:regular r:id="rId29"/>
      <p:bold r:id="rId30"/>
      <p:italic r:id="rId31"/>
      <p:boldItalic r:id="rId32"/>
    </p:embeddedFont>
    <p:embeddedFont>
      <p:font typeface="Helvetica Neue"/>
      <p:regular r:id="rId33"/>
      <p:bold r:id="rId34"/>
      <p:italic r:id="rId35"/>
      <p:boldItalic r:id="rId36"/>
    </p:embeddedFont>
    <p:embeddedFont>
      <p:font typeface="Spectral"/>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1511">
          <p15:clr>
            <a:srgbClr val="9AA0A6"/>
          </p15:clr>
        </p15:guide>
        <p15:guide id="2" orient="horz" pos="1620">
          <p15:clr>
            <a:srgbClr val="000000"/>
          </p15:clr>
        </p15:guide>
      </p15:sldGuideLst>
    </p:ext>
    <p:ext uri="http://customooxmlschemas.google.com/">
      <go:slidesCustomData xmlns:go="http://customooxmlschemas.google.com/" r:id="rId41" roundtripDataSignature="AMtx7mi+t5YivSexwa/C+fVRCi2zIjwk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F095FD-1155-4E39-9436-0E95A2916E5A}">
  <a:tblStyle styleId="{04F095FD-1155-4E39-9436-0E95A2916E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511"/>
        <p:guide pos="1620"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Spectral-boldItalic.fntdata"/><Relationship Id="rId20" Type="http://schemas.openxmlformats.org/officeDocument/2006/relationships/slide" Target="slides/slide14.xml"/><Relationship Id="rId41" Type="http://customschemas.google.com/relationships/presentationmetadata" Target="meta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Montserrat-bold.fntdata"/><Relationship Id="rId25" Type="http://schemas.openxmlformats.org/officeDocument/2006/relationships/font" Target="fonts/Montserrat-regular.fntdata"/><Relationship Id="rId28" Type="http://schemas.openxmlformats.org/officeDocument/2006/relationships/font" Target="fonts/Montserrat-boldItalic.fntdata"/><Relationship Id="rId27" Type="http://schemas.openxmlformats.org/officeDocument/2006/relationships/font" Target="fonts/Montserrat-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MontserratLight-regular.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MontserratLight-italic.fntdata"/><Relationship Id="rId30" Type="http://schemas.openxmlformats.org/officeDocument/2006/relationships/font" Target="fonts/MontserratLight-bold.fntdata"/><Relationship Id="rId11" Type="http://schemas.openxmlformats.org/officeDocument/2006/relationships/slide" Target="slides/slide5.xml"/><Relationship Id="rId33" Type="http://schemas.openxmlformats.org/officeDocument/2006/relationships/font" Target="fonts/HelveticaNeue-regular.fntdata"/><Relationship Id="rId10" Type="http://schemas.openxmlformats.org/officeDocument/2006/relationships/slide" Target="slides/slide4.xml"/><Relationship Id="rId32" Type="http://schemas.openxmlformats.org/officeDocument/2006/relationships/font" Target="fonts/MontserratLight-boldItalic.fntdata"/><Relationship Id="rId13" Type="http://schemas.openxmlformats.org/officeDocument/2006/relationships/slide" Target="slides/slide7.xml"/><Relationship Id="rId35" Type="http://schemas.openxmlformats.org/officeDocument/2006/relationships/font" Target="fonts/HelveticaNeue-italic.fntdata"/><Relationship Id="rId12" Type="http://schemas.openxmlformats.org/officeDocument/2006/relationships/slide" Target="slides/slide6.xml"/><Relationship Id="rId34" Type="http://schemas.openxmlformats.org/officeDocument/2006/relationships/font" Target="fonts/HelveticaNeue-bold.fntdata"/><Relationship Id="rId15" Type="http://schemas.openxmlformats.org/officeDocument/2006/relationships/slide" Target="slides/slide9.xml"/><Relationship Id="rId37" Type="http://schemas.openxmlformats.org/officeDocument/2006/relationships/font" Target="fonts/Spectral-regular.fntdata"/><Relationship Id="rId14" Type="http://schemas.openxmlformats.org/officeDocument/2006/relationships/slide" Target="slides/slide8.xml"/><Relationship Id="rId36" Type="http://schemas.openxmlformats.org/officeDocument/2006/relationships/font" Target="fonts/HelveticaNeue-boldItalic.fntdata"/><Relationship Id="rId17" Type="http://schemas.openxmlformats.org/officeDocument/2006/relationships/slide" Target="slides/slide11.xml"/><Relationship Id="rId39" Type="http://schemas.openxmlformats.org/officeDocument/2006/relationships/font" Target="fonts/Spectral-italic.fntdata"/><Relationship Id="rId16" Type="http://schemas.openxmlformats.org/officeDocument/2006/relationships/slide" Target="slides/slide10.xml"/><Relationship Id="rId38" Type="http://schemas.openxmlformats.org/officeDocument/2006/relationships/font" Target="fonts/Spectral-bold.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pt-BR"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11fa3052e6c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6" name="Google Shape;76;g11fa3052e6c_0_9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 name="Google Shape;77;g11fa3052e6c_0_9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pt-BR"/>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p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p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p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11fa3052e6c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g11fa3052e6c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11fa3052e6c_0_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g11fa3052e6c_0_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120b71f36fa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g120b71f36fa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120b71f36fa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g120b71f36fa_0_1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fddcd2821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gfddcd28218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pt-BR"/>
              <a:t>Mercado Livre</a:t>
            </a:r>
            <a:endParaRPr/>
          </a:p>
          <a:p>
            <a:pPr indent="0" lvl="0" marL="0" rtl="0" algn="l">
              <a:lnSpc>
                <a:spcPct val="100000"/>
              </a:lnSpc>
              <a:spcBef>
                <a:spcPts val="0"/>
              </a:spcBef>
              <a:spcAft>
                <a:spcPts val="0"/>
              </a:spcAft>
              <a:buClr>
                <a:schemeClr val="dk1"/>
              </a:buClr>
              <a:buSzPts val="1100"/>
              <a:buFont typeface="Arial"/>
              <a:buNone/>
            </a:pPr>
            <a:r>
              <a:rPr lang="pt-BR"/>
              <a:t>Performance: 33</a:t>
            </a:r>
            <a:endParaRPr/>
          </a:p>
          <a:p>
            <a:pPr indent="0" lvl="0" marL="0" rtl="0" algn="l">
              <a:lnSpc>
                <a:spcPct val="100000"/>
              </a:lnSpc>
              <a:spcBef>
                <a:spcPts val="0"/>
              </a:spcBef>
              <a:spcAft>
                <a:spcPts val="0"/>
              </a:spcAft>
              <a:buClr>
                <a:schemeClr val="dk1"/>
              </a:buClr>
              <a:buSzPts val="1100"/>
              <a:buFont typeface="Arial"/>
              <a:buNone/>
            </a:pPr>
            <a:r>
              <a:rPr lang="pt-BR"/>
              <a:t>Brand: 26</a:t>
            </a:r>
            <a:endParaRPr/>
          </a:p>
          <a:p>
            <a:pPr indent="0" lvl="0" marL="0" rtl="0" algn="l">
              <a:lnSpc>
                <a:spcPct val="100000"/>
              </a:lnSpc>
              <a:spcBef>
                <a:spcPts val="0"/>
              </a:spcBef>
              <a:spcAft>
                <a:spcPts val="0"/>
              </a:spcAft>
              <a:buClr>
                <a:schemeClr val="dk1"/>
              </a:buClr>
              <a:buSzPts val="1100"/>
              <a:buFont typeface="Arial"/>
              <a:buNone/>
            </a:pPr>
            <a:r>
              <a:rPr lang="pt-BR"/>
              <a:t>Programatica: 20</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pt-BR"/>
              <a:t>Criteo</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fddcd28218_0_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gfddcd28218_0_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14480e30754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g14480e30754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1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marela" showMasterSp="0">
  <p:cSld name="Orange Blank">
    <p:bg>
      <p:bgPr>
        <a:solidFill>
          <a:srgbClr val="FFCD34"/>
        </a:solidFill>
      </p:bgPr>
    </p:bg>
    <p:spTree>
      <p:nvGrpSpPr>
        <p:cNvPr id="11" name="Shape 11"/>
        <p:cNvGrpSpPr/>
        <p:nvPr/>
      </p:nvGrpSpPr>
      <p:grpSpPr>
        <a:xfrm>
          <a:off x="0" y="0"/>
          <a:ext cx="0" cy="0"/>
          <a:chOff x="0" y="0"/>
          <a:chExt cx="0" cy="0"/>
        </a:xfrm>
      </p:grpSpPr>
      <p:sp>
        <p:nvSpPr>
          <p:cNvPr id="12" name="Google Shape;12;p15"/>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13" name="Google Shape;13;p15"/>
          <p:cNvPicPr preferRelativeResize="0"/>
          <p:nvPr/>
        </p:nvPicPr>
        <p:blipFill rotWithShape="1">
          <a:blip r:embed="rId2">
            <a:alphaModFix/>
          </a:blip>
          <a:srcRect b="0" l="0" r="0" t="0"/>
          <a:stretch/>
        </p:blipFill>
        <p:spPr>
          <a:xfrm>
            <a:off x="343800" y="4691100"/>
            <a:ext cx="356531" cy="136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Título 1" showMasterSp="0">
  <p:cSld name="TITLE_AND_BODY_1_3_1">
    <p:spTree>
      <p:nvGrpSpPr>
        <p:cNvPr id="14" name="Shape 14"/>
        <p:cNvGrpSpPr/>
        <p:nvPr/>
      </p:nvGrpSpPr>
      <p:grpSpPr>
        <a:xfrm>
          <a:off x="0" y="0"/>
          <a:ext cx="0" cy="0"/>
          <a:chOff x="0" y="0"/>
          <a:chExt cx="0" cy="0"/>
        </a:xfrm>
      </p:grpSpPr>
      <p:sp>
        <p:nvSpPr>
          <p:cNvPr id="15" name="Google Shape;15;p16"/>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sp>
        <p:nvSpPr>
          <p:cNvPr id="16" name="Google Shape;16;p16"/>
          <p:cNvSpPr/>
          <p:nvPr/>
        </p:nvSpPr>
        <p:spPr>
          <a:xfrm>
            <a:off x="-8750" y="-25"/>
            <a:ext cx="705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16"/>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anco">
  <p:cSld name="CUSTOM_1">
    <p:spTree>
      <p:nvGrpSpPr>
        <p:cNvPr id="18" name="Shape 18"/>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Título">
  <p:cSld name="CUSTOM">
    <p:spTree>
      <p:nvGrpSpPr>
        <p:cNvPr id="19" name="Shape 19"/>
        <p:cNvGrpSpPr/>
        <p:nvPr/>
      </p:nvGrpSpPr>
      <p:grpSpPr>
        <a:xfrm>
          <a:off x="0" y="0"/>
          <a:ext cx="0" cy="0"/>
          <a:chOff x="0" y="0"/>
          <a:chExt cx="0" cy="0"/>
        </a:xfrm>
      </p:grpSpPr>
      <p:sp>
        <p:nvSpPr>
          <p:cNvPr id="20" name="Google Shape;20;p18"/>
          <p:cNvSpPr/>
          <p:nvPr/>
        </p:nvSpPr>
        <p:spPr>
          <a:xfrm>
            <a:off x="0" y="2800"/>
            <a:ext cx="4572000" cy="51435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p18"/>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corpo" showMasterSp="0" type="tx">
  <p:cSld name="TITLE_AND_BODY">
    <p:spTree>
      <p:nvGrpSpPr>
        <p:cNvPr id="22" name="Shape 22"/>
        <p:cNvGrpSpPr/>
        <p:nvPr/>
      </p:nvGrpSpPr>
      <p:grpSpPr>
        <a:xfrm>
          <a:off x="0" y="0"/>
          <a:ext cx="0" cy="0"/>
          <a:chOff x="0" y="0"/>
          <a:chExt cx="0" cy="0"/>
        </a:xfrm>
      </p:grpSpPr>
      <p:sp>
        <p:nvSpPr>
          <p:cNvPr id="23" name="Google Shape;23;p19"/>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24" name="Google Shape;24;p19"/>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ês colunas" showMasterSp="0">
  <p:cSld name="TITLE_AND_BODY_10">
    <p:spTree>
      <p:nvGrpSpPr>
        <p:cNvPr id="25" name="Shape 25"/>
        <p:cNvGrpSpPr/>
        <p:nvPr/>
      </p:nvGrpSpPr>
      <p:grpSpPr>
        <a:xfrm>
          <a:off x="0" y="0"/>
          <a:ext cx="0" cy="0"/>
          <a:chOff x="0" y="0"/>
          <a:chExt cx="0" cy="0"/>
        </a:xfrm>
      </p:grpSpPr>
      <p:sp>
        <p:nvSpPr>
          <p:cNvPr id="26" name="Google Shape;26;p20"/>
          <p:cNvSpPr/>
          <p:nvPr/>
        </p:nvSpPr>
        <p:spPr>
          <a:xfrm>
            <a:off x="-4200" y="1409325"/>
            <a:ext cx="9148200" cy="3734400"/>
          </a:xfrm>
          <a:prstGeom prst="rect">
            <a:avLst/>
          </a:prstGeom>
          <a:solidFill>
            <a:srgbClr val="F3F3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0"/>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sp>
        <p:nvSpPr>
          <p:cNvPr id="28" name="Google Shape;28;p20"/>
          <p:cNvSpPr/>
          <p:nvPr/>
        </p:nvSpPr>
        <p:spPr>
          <a:xfrm>
            <a:off x="-2100" y="1409325"/>
            <a:ext cx="9148200" cy="514200"/>
          </a:xfrm>
          <a:prstGeom prst="rect">
            <a:avLst/>
          </a:prstGeom>
          <a:solidFill>
            <a:srgbClr val="43434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9" name="Google Shape;29;p20"/>
          <p:cNvCxnSpPr/>
          <p:nvPr/>
        </p:nvCxnSpPr>
        <p:spPr>
          <a:xfrm>
            <a:off x="3048000" y="1327050"/>
            <a:ext cx="0" cy="3898800"/>
          </a:xfrm>
          <a:prstGeom prst="straightConnector1">
            <a:avLst/>
          </a:prstGeom>
          <a:noFill/>
          <a:ln cap="flat" cmpd="sng" w="19050">
            <a:solidFill>
              <a:srgbClr val="FFFFFF"/>
            </a:solidFill>
            <a:prstDash val="solid"/>
            <a:round/>
            <a:headEnd len="sm" w="sm" type="none"/>
            <a:tailEnd len="sm" w="sm" type="none"/>
          </a:ln>
        </p:spPr>
      </p:cxnSp>
      <p:cxnSp>
        <p:nvCxnSpPr>
          <p:cNvPr id="30" name="Google Shape;30;p20"/>
          <p:cNvCxnSpPr/>
          <p:nvPr/>
        </p:nvCxnSpPr>
        <p:spPr>
          <a:xfrm>
            <a:off x="6096000" y="1327050"/>
            <a:ext cx="0" cy="3898800"/>
          </a:xfrm>
          <a:prstGeom prst="straightConnector1">
            <a:avLst/>
          </a:prstGeom>
          <a:noFill/>
          <a:ln cap="flat" cmpd="sng" w="19050">
            <a:solidFill>
              <a:srgbClr val="FFFFFF"/>
            </a:solidFill>
            <a:prstDash val="solid"/>
            <a:round/>
            <a:headEnd len="sm" w="sm" type="none"/>
            <a:tailEnd len="sm" w="sm" type="none"/>
          </a:ln>
        </p:spPr>
      </p:cxnSp>
      <p:pic>
        <p:nvPicPr>
          <p:cNvPr id="31" name="Google Shape;31;p20"/>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ês colunas 1" showMasterSp="0">
  <p:cSld name="TITLE_AND_BODY_10_2">
    <p:spTree>
      <p:nvGrpSpPr>
        <p:cNvPr id="32" name="Shape 32"/>
        <p:cNvGrpSpPr/>
        <p:nvPr/>
      </p:nvGrpSpPr>
      <p:grpSpPr>
        <a:xfrm>
          <a:off x="0" y="0"/>
          <a:ext cx="0" cy="0"/>
          <a:chOff x="0" y="0"/>
          <a:chExt cx="0" cy="0"/>
        </a:xfrm>
      </p:grpSpPr>
      <p:sp>
        <p:nvSpPr>
          <p:cNvPr id="33" name="Google Shape;33;p21"/>
          <p:cNvSpPr/>
          <p:nvPr/>
        </p:nvSpPr>
        <p:spPr>
          <a:xfrm>
            <a:off x="-4200" y="1485525"/>
            <a:ext cx="9148200" cy="3734400"/>
          </a:xfrm>
          <a:prstGeom prst="rect">
            <a:avLst/>
          </a:prstGeom>
          <a:solidFill>
            <a:srgbClr val="F3F3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21"/>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sp>
        <p:nvSpPr>
          <p:cNvPr id="35" name="Google Shape;35;p21"/>
          <p:cNvSpPr/>
          <p:nvPr/>
        </p:nvSpPr>
        <p:spPr>
          <a:xfrm>
            <a:off x="-2100" y="1485525"/>
            <a:ext cx="9148200" cy="3588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36" name="Google Shape;36;p21"/>
          <p:cNvCxnSpPr/>
          <p:nvPr/>
        </p:nvCxnSpPr>
        <p:spPr>
          <a:xfrm>
            <a:off x="3048000" y="1327050"/>
            <a:ext cx="0" cy="3898800"/>
          </a:xfrm>
          <a:prstGeom prst="straightConnector1">
            <a:avLst/>
          </a:prstGeom>
          <a:noFill/>
          <a:ln cap="flat" cmpd="sng" w="19050">
            <a:solidFill>
              <a:srgbClr val="FFFFFF"/>
            </a:solidFill>
            <a:prstDash val="solid"/>
            <a:round/>
            <a:headEnd len="sm" w="sm" type="none"/>
            <a:tailEnd len="sm" w="sm" type="none"/>
          </a:ln>
        </p:spPr>
      </p:cxnSp>
      <p:cxnSp>
        <p:nvCxnSpPr>
          <p:cNvPr id="37" name="Google Shape;37;p21"/>
          <p:cNvCxnSpPr/>
          <p:nvPr/>
        </p:nvCxnSpPr>
        <p:spPr>
          <a:xfrm>
            <a:off x="6096000" y="1327050"/>
            <a:ext cx="0" cy="3898800"/>
          </a:xfrm>
          <a:prstGeom prst="straightConnector1">
            <a:avLst/>
          </a:prstGeom>
          <a:noFill/>
          <a:ln cap="flat" cmpd="sng" w="19050">
            <a:solidFill>
              <a:srgbClr val="FFFFFF"/>
            </a:solidFill>
            <a:prstDash val="solid"/>
            <a:round/>
            <a:headEnd len="sm" w="sm" type="none"/>
            <a:tailEnd len="sm" w="sm" type="none"/>
          </a:ln>
        </p:spPr>
      </p:cxnSp>
      <p:pic>
        <p:nvPicPr>
          <p:cNvPr id="38" name="Google Shape;38;p21"/>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
        <p:nvSpPr>
          <p:cNvPr id="39" name="Google Shape;39;p21"/>
          <p:cNvSpPr/>
          <p:nvPr/>
        </p:nvSpPr>
        <p:spPr>
          <a:xfrm>
            <a:off x="-8750" y="-25"/>
            <a:ext cx="705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po branco" showMasterSp="0">
  <p:cSld name="TITLE_AND_BODY_10_1">
    <p:spTree>
      <p:nvGrpSpPr>
        <p:cNvPr id="40" name="Shape 40"/>
        <p:cNvGrpSpPr/>
        <p:nvPr/>
      </p:nvGrpSpPr>
      <p:grpSpPr>
        <a:xfrm>
          <a:off x="0" y="0"/>
          <a:ext cx="0" cy="0"/>
          <a:chOff x="0" y="0"/>
          <a:chExt cx="0" cy="0"/>
        </a:xfrm>
      </p:grpSpPr>
      <p:sp>
        <p:nvSpPr>
          <p:cNvPr id="41" name="Google Shape;41;p22"/>
          <p:cNvSpPr/>
          <p:nvPr/>
        </p:nvSpPr>
        <p:spPr>
          <a:xfrm>
            <a:off x="-4200" y="1409325"/>
            <a:ext cx="9148200" cy="3734400"/>
          </a:xfrm>
          <a:prstGeom prst="rect">
            <a:avLst/>
          </a:prstGeom>
          <a:solidFill>
            <a:srgbClr val="F3F3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22"/>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43" name="Google Shape;43;p22"/>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ia página escura" showMasterSp="0">
  <p:cSld name="TITLE_AND_BODY_8_4">
    <p:spTree>
      <p:nvGrpSpPr>
        <p:cNvPr id="44" name="Shape 44"/>
        <p:cNvGrpSpPr/>
        <p:nvPr/>
      </p:nvGrpSpPr>
      <p:grpSpPr>
        <a:xfrm>
          <a:off x="0" y="0"/>
          <a:ext cx="0" cy="0"/>
          <a:chOff x="0" y="0"/>
          <a:chExt cx="0" cy="0"/>
        </a:xfrm>
      </p:grpSpPr>
      <p:sp>
        <p:nvSpPr>
          <p:cNvPr id="45" name="Google Shape;45;p23"/>
          <p:cNvSpPr/>
          <p:nvPr/>
        </p:nvSpPr>
        <p:spPr>
          <a:xfrm>
            <a:off x="0" y="0"/>
            <a:ext cx="4572000" cy="5143500"/>
          </a:xfrm>
          <a:prstGeom prst="rect">
            <a:avLst/>
          </a:prstGeom>
          <a:solidFill>
            <a:schemeClr val="accent3"/>
          </a:solidFill>
          <a:ln>
            <a:noFill/>
          </a:ln>
        </p:spPr>
        <p:txBody>
          <a:bodyPr anchorCtr="0" anchor="t" bIns="26775" lIns="26775" spcFirstLastPara="1" rIns="26775" wrap="square" tIns="26775">
            <a:noAutofit/>
          </a:bodyPr>
          <a:lstStyle/>
          <a:p>
            <a:pPr indent="0" lvl="0" marL="0" marR="0" rtl="0" algn="ctr">
              <a:lnSpc>
                <a:spcPct val="100000"/>
              </a:lnSpc>
              <a:spcBef>
                <a:spcPts val="0"/>
              </a:spcBef>
              <a:spcAft>
                <a:spcPts val="0"/>
              </a:spcAft>
              <a:buClr>
                <a:srgbClr val="FFFFFF"/>
              </a:buClr>
              <a:buSzPts val="1100"/>
              <a:buFont typeface="Helvetica Neue"/>
              <a:buNone/>
            </a:pPr>
            <a:r>
              <a:t/>
            </a:r>
            <a:endParaRPr b="0" i="0" sz="1100" u="none" cap="none" strike="noStrike">
              <a:solidFill>
                <a:srgbClr val="FFFFFF"/>
              </a:solidFill>
              <a:latin typeface="Helvetica Neue"/>
              <a:ea typeface="Helvetica Neue"/>
              <a:cs typeface="Helvetica Neue"/>
              <a:sym typeface="Helvetica Neue"/>
            </a:endParaRPr>
          </a:p>
        </p:txBody>
      </p:sp>
      <p:sp>
        <p:nvSpPr>
          <p:cNvPr id="46" name="Google Shape;46;p23"/>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47" name="Google Shape;47;p23"/>
          <p:cNvPicPr preferRelativeResize="0"/>
          <p:nvPr/>
        </p:nvPicPr>
        <p:blipFill rotWithShape="1">
          <a:blip r:embed="rId2">
            <a:alphaModFix/>
          </a:blip>
          <a:srcRect b="0" l="0" r="0" t="0"/>
          <a:stretch/>
        </p:blipFill>
        <p:spPr>
          <a:xfrm>
            <a:off x="343800" y="4691100"/>
            <a:ext cx="356531" cy="136500"/>
          </a:xfrm>
          <a:prstGeom prst="rect">
            <a:avLst/>
          </a:prstGeom>
          <a:noFill/>
          <a:ln>
            <a:noFill/>
          </a:ln>
        </p:spPr>
      </p:pic>
    </p:spTree>
  </p:cSld>
  <p:clrMapOvr>
    <a:masterClrMapping/>
  </p:clrMapOvr>
  <p:extLst>
    <p:ext uri="{DCECCB84-F9BA-43D5-87BE-67443E8EF086}">
      <p15:sldGuideLst>
        <p15:guide id="1" orient="horz" pos="1620">
          <p15:clr>
            <a:srgbClr val="FA7B17"/>
          </p15:clr>
        </p15:guide>
        <p15:guide id="2" pos="2880">
          <p15:clr>
            <a:srgbClr val="FA7B17"/>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ia página 2" showMasterSp="0">
  <p:cSld name="TITLE_AND_BODY_8_3">
    <p:spTree>
      <p:nvGrpSpPr>
        <p:cNvPr id="48" name="Shape 48"/>
        <p:cNvGrpSpPr/>
        <p:nvPr/>
      </p:nvGrpSpPr>
      <p:grpSpPr>
        <a:xfrm>
          <a:off x="0" y="0"/>
          <a:ext cx="0" cy="0"/>
          <a:chOff x="0" y="0"/>
          <a:chExt cx="0" cy="0"/>
        </a:xfrm>
      </p:grpSpPr>
      <p:sp>
        <p:nvSpPr>
          <p:cNvPr id="49" name="Google Shape;49;p24"/>
          <p:cNvSpPr/>
          <p:nvPr/>
        </p:nvSpPr>
        <p:spPr>
          <a:xfrm>
            <a:off x="4572000" y="0"/>
            <a:ext cx="4572000" cy="5143500"/>
          </a:xfrm>
          <a:prstGeom prst="rect">
            <a:avLst/>
          </a:prstGeom>
          <a:solidFill>
            <a:srgbClr val="F3F3F3"/>
          </a:solidFill>
          <a:ln>
            <a:noFill/>
          </a:ln>
        </p:spPr>
        <p:txBody>
          <a:bodyPr anchorCtr="0" anchor="t" bIns="26775" lIns="26775" spcFirstLastPara="1" rIns="26775" wrap="square" tIns="26775">
            <a:noAutofit/>
          </a:bodyPr>
          <a:lstStyle/>
          <a:p>
            <a:pPr indent="0" lvl="0" marL="0" marR="0" rtl="0" algn="ctr">
              <a:lnSpc>
                <a:spcPct val="100000"/>
              </a:lnSpc>
              <a:spcBef>
                <a:spcPts val="0"/>
              </a:spcBef>
              <a:spcAft>
                <a:spcPts val="0"/>
              </a:spcAft>
              <a:buClr>
                <a:srgbClr val="FFFFFF"/>
              </a:buClr>
              <a:buSzPts val="1100"/>
              <a:buFont typeface="Helvetica Neue"/>
              <a:buNone/>
            </a:pPr>
            <a:r>
              <a:t/>
            </a:r>
            <a:endParaRPr b="0" i="0" sz="1100" u="none" cap="none" strike="noStrike">
              <a:solidFill>
                <a:srgbClr val="FFFFFF"/>
              </a:solidFill>
              <a:latin typeface="Helvetica Neue"/>
              <a:ea typeface="Helvetica Neue"/>
              <a:cs typeface="Helvetica Neue"/>
              <a:sym typeface="Helvetica Neue"/>
            </a:endParaRPr>
          </a:p>
        </p:txBody>
      </p:sp>
      <p:sp>
        <p:nvSpPr>
          <p:cNvPr id="50" name="Google Shape;50;p24"/>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51" name="Google Shape;51;p24"/>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extLst>
    <p:ext uri="{DCECCB84-F9BA-43D5-87BE-67443E8EF086}">
      <p15:sldGuideLst>
        <p15:guide id="1" orient="horz" pos="1620">
          <p15:clr>
            <a:srgbClr val="FA7B17"/>
          </p15:clr>
        </p15:guide>
        <p15:guide id="2" pos="2880">
          <p15:clr>
            <a:srgbClr val="FA7B17"/>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terço lateral 2" showMasterSp="0">
  <p:cSld name="TITLE_AND_BODY_6_1_1">
    <p:spTree>
      <p:nvGrpSpPr>
        <p:cNvPr id="52" name="Shape 52"/>
        <p:cNvGrpSpPr/>
        <p:nvPr/>
      </p:nvGrpSpPr>
      <p:grpSpPr>
        <a:xfrm>
          <a:off x="0" y="0"/>
          <a:ext cx="0" cy="0"/>
          <a:chOff x="0" y="0"/>
          <a:chExt cx="0" cy="0"/>
        </a:xfrm>
      </p:grpSpPr>
      <p:sp>
        <p:nvSpPr>
          <p:cNvPr id="53" name="Google Shape;53;p25"/>
          <p:cNvSpPr/>
          <p:nvPr/>
        </p:nvSpPr>
        <p:spPr>
          <a:xfrm flipH="1">
            <a:off x="3069600" y="0"/>
            <a:ext cx="6074400" cy="5143500"/>
          </a:xfrm>
          <a:prstGeom prst="rect">
            <a:avLst/>
          </a:prstGeom>
          <a:solidFill>
            <a:srgbClr val="F3F3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25"/>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55" name="Google Shape;55;p25"/>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em branco escuro" showMasterSp="0">
  <p:cSld name="Black Blank_1_1">
    <p:bg>
      <p:bgPr>
        <a:solidFill>
          <a:schemeClr val="accent3"/>
        </a:solidFill>
      </p:bgPr>
    </p:bg>
    <p:spTree>
      <p:nvGrpSpPr>
        <p:cNvPr id="56" name="Shape 56"/>
        <p:cNvGrpSpPr/>
        <p:nvPr/>
      </p:nvGrpSpPr>
      <p:grpSpPr>
        <a:xfrm>
          <a:off x="0" y="0"/>
          <a:ext cx="0" cy="0"/>
          <a:chOff x="0" y="0"/>
          <a:chExt cx="0" cy="0"/>
        </a:xfrm>
      </p:grpSpPr>
      <p:sp>
        <p:nvSpPr>
          <p:cNvPr id="57" name="Google Shape;57;p26"/>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58" name="Google Shape;58;p26"/>
          <p:cNvPicPr preferRelativeResize="0"/>
          <p:nvPr/>
        </p:nvPicPr>
        <p:blipFill rotWithShape="1">
          <a:blip r:embed="rId2">
            <a:alphaModFix/>
          </a:blip>
          <a:srcRect b="0" l="0" r="0" t="0"/>
          <a:stretch/>
        </p:blipFill>
        <p:spPr>
          <a:xfrm>
            <a:off x="343800" y="4691100"/>
            <a:ext cx="356531" cy="1365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ia página" showMasterSp="0">
  <p:cSld name="TITLE_AND_BODY_8_5">
    <p:spTree>
      <p:nvGrpSpPr>
        <p:cNvPr id="59" name="Shape 59"/>
        <p:cNvGrpSpPr/>
        <p:nvPr/>
      </p:nvGrpSpPr>
      <p:grpSpPr>
        <a:xfrm>
          <a:off x="0" y="0"/>
          <a:ext cx="0" cy="0"/>
          <a:chOff x="0" y="0"/>
          <a:chExt cx="0" cy="0"/>
        </a:xfrm>
      </p:grpSpPr>
      <p:sp>
        <p:nvSpPr>
          <p:cNvPr id="60" name="Google Shape;60;p27"/>
          <p:cNvSpPr/>
          <p:nvPr/>
        </p:nvSpPr>
        <p:spPr>
          <a:xfrm>
            <a:off x="0" y="0"/>
            <a:ext cx="4572000" cy="5143500"/>
          </a:xfrm>
          <a:prstGeom prst="rect">
            <a:avLst/>
          </a:prstGeom>
          <a:solidFill>
            <a:srgbClr val="F3F3F3"/>
          </a:solidFill>
          <a:ln>
            <a:noFill/>
          </a:ln>
        </p:spPr>
        <p:txBody>
          <a:bodyPr anchorCtr="0" anchor="t" bIns="26775" lIns="26775" spcFirstLastPara="1" rIns="26775" wrap="square" tIns="26775">
            <a:noAutofit/>
          </a:bodyPr>
          <a:lstStyle/>
          <a:p>
            <a:pPr indent="0" lvl="0" marL="0" marR="0" rtl="0" algn="ctr">
              <a:lnSpc>
                <a:spcPct val="100000"/>
              </a:lnSpc>
              <a:spcBef>
                <a:spcPts val="0"/>
              </a:spcBef>
              <a:spcAft>
                <a:spcPts val="0"/>
              </a:spcAft>
              <a:buClr>
                <a:srgbClr val="FFFFFF"/>
              </a:buClr>
              <a:buSzPts val="1100"/>
              <a:buFont typeface="Helvetica Neue"/>
              <a:buNone/>
            </a:pPr>
            <a:r>
              <a:t/>
            </a:r>
            <a:endParaRPr b="0" i="0" sz="1100" u="none" cap="none" strike="noStrike">
              <a:solidFill>
                <a:srgbClr val="FFFFFF"/>
              </a:solidFill>
              <a:latin typeface="Helvetica Neue"/>
              <a:ea typeface="Helvetica Neue"/>
              <a:cs typeface="Helvetica Neue"/>
              <a:sym typeface="Helvetica Neue"/>
            </a:endParaRPr>
          </a:p>
        </p:txBody>
      </p:sp>
      <p:sp>
        <p:nvSpPr>
          <p:cNvPr id="61" name="Google Shape;61;p27"/>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62" name="Google Shape;62;p27"/>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extLst>
    <p:ext uri="{DCECCB84-F9BA-43D5-87BE-67443E8EF086}">
      <p15:sldGuideLst>
        <p15:guide id="1" orient="horz" pos="1620">
          <p15:clr>
            <a:srgbClr val="FA7B17"/>
          </p15:clr>
        </p15:guide>
        <p15:guide id="2" pos="2880">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terço lateral" showMasterSp="0">
  <p:cSld name="TITLE_AND_BODY_5_1">
    <p:spTree>
      <p:nvGrpSpPr>
        <p:cNvPr id="63" name="Shape 63"/>
        <p:cNvGrpSpPr/>
        <p:nvPr/>
      </p:nvGrpSpPr>
      <p:grpSpPr>
        <a:xfrm>
          <a:off x="0" y="0"/>
          <a:ext cx="0" cy="0"/>
          <a:chOff x="0" y="0"/>
          <a:chExt cx="0" cy="0"/>
        </a:xfrm>
      </p:grpSpPr>
      <p:sp>
        <p:nvSpPr>
          <p:cNvPr id="64" name="Google Shape;64;p28"/>
          <p:cNvSpPr txBox="1"/>
          <p:nvPr/>
        </p:nvSpPr>
        <p:spPr>
          <a:xfrm>
            <a:off x="155325" y="1379575"/>
            <a:ext cx="3578100" cy="41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28"/>
          <p:cNvSpPr/>
          <p:nvPr/>
        </p:nvSpPr>
        <p:spPr>
          <a:xfrm>
            <a:off x="0" y="0"/>
            <a:ext cx="3069600" cy="5143500"/>
          </a:xfrm>
          <a:prstGeom prst="rect">
            <a:avLst/>
          </a:prstGeom>
          <a:solidFill>
            <a:srgbClr val="F3F3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28"/>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pic>
        <p:nvPicPr>
          <p:cNvPr id="67" name="Google Shape;67;p28"/>
          <p:cNvPicPr preferRelativeResize="0"/>
          <p:nvPr/>
        </p:nvPicPr>
        <p:blipFill rotWithShape="1">
          <a:blip r:embed="rId2">
            <a:alphaModFix/>
          </a:blip>
          <a:srcRect b="0" l="0" r="0" t="0"/>
          <a:stretch/>
        </p:blipFill>
        <p:spPr>
          <a:xfrm>
            <a:off x="343800" y="4767300"/>
            <a:ext cx="356531" cy="136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2.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14"/>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999999"/>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EA4335"/>
          </p15:clr>
        </p15:guide>
        <p15:guide id="2" pos="2880">
          <p15:clr>
            <a:srgbClr val="EA4335"/>
          </p15:clr>
        </p15:guide>
        <p15:guide id="3" pos="486">
          <p15:clr>
            <a:srgbClr val="EA4335"/>
          </p15:clr>
        </p15:guide>
        <p15:guide id="4" pos="5274">
          <p15:clr>
            <a:srgbClr val="EA4335"/>
          </p15:clr>
        </p15:guide>
        <p15:guide id="5" orient="horz" pos="2900">
          <p15:clr>
            <a:srgbClr val="EA4335"/>
          </p15:clr>
        </p15:guide>
        <p15:guide id="6" orient="horz" pos="34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slide" Target="/ppt/slid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fbblueprint.com/AEP" TargetMode="Externa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CD34"/>
        </a:solidFill>
      </p:bgPr>
    </p:bg>
    <p:spTree>
      <p:nvGrpSpPr>
        <p:cNvPr id="71" name="Shape 71"/>
        <p:cNvGrpSpPr/>
        <p:nvPr/>
      </p:nvGrpSpPr>
      <p:grpSpPr>
        <a:xfrm>
          <a:off x="0" y="0"/>
          <a:ext cx="0" cy="0"/>
          <a:chOff x="0" y="0"/>
          <a:chExt cx="0" cy="0"/>
        </a:xfrm>
      </p:grpSpPr>
      <p:sp>
        <p:nvSpPr>
          <p:cNvPr id="72" name="Google Shape;72;p1"/>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73" name="Google Shape;73;p1"/>
          <p:cNvSpPr txBox="1"/>
          <p:nvPr/>
        </p:nvSpPr>
        <p:spPr>
          <a:xfrm>
            <a:off x="771525" y="1241500"/>
            <a:ext cx="6968400" cy="2705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3800" u="none" cap="none" strike="noStrike">
                <a:solidFill>
                  <a:srgbClr val="404041"/>
                </a:solidFill>
                <a:latin typeface="Spectral"/>
                <a:ea typeface="Spectral"/>
                <a:cs typeface="Spectral"/>
                <a:sym typeface="Spectral"/>
              </a:rPr>
              <a:t>Programa de </a:t>
            </a:r>
            <a:r>
              <a:rPr b="1" lang="pt-BR" sz="3800">
                <a:solidFill>
                  <a:srgbClr val="404041"/>
                </a:solidFill>
                <a:latin typeface="Spectral"/>
                <a:ea typeface="Spectral"/>
                <a:cs typeface="Spectral"/>
                <a:sym typeface="Spectral"/>
              </a:rPr>
              <a:t>Bônus</a:t>
            </a:r>
            <a:endParaRPr b="1" i="0" sz="3800" u="none" cap="none" strike="noStrike">
              <a:solidFill>
                <a:srgbClr val="404041"/>
              </a:solidFill>
              <a:latin typeface="Spectral"/>
              <a:ea typeface="Spectral"/>
              <a:cs typeface="Spectral"/>
              <a:sym typeface="Spectral"/>
            </a:endParaRPr>
          </a:p>
          <a:p>
            <a:pPr indent="0" lvl="0" marL="0" marR="0" rtl="0" algn="l">
              <a:lnSpc>
                <a:spcPct val="100000"/>
              </a:lnSpc>
              <a:spcBef>
                <a:spcPts val="0"/>
              </a:spcBef>
              <a:spcAft>
                <a:spcPts val="0"/>
              </a:spcAft>
              <a:buClr>
                <a:srgbClr val="000000"/>
              </a:buClr>
              <a:buSzPts val="2300"/>
              <a:buFont typeface="Helvetica Neue"/>
              <a:buNone/>
            </a:pPr>
            <a:r>
              <a:t/>
            </a:r>
            <a:endParaRPr b="1" i="0" sz="3800" u="none" cap="none" strike="noStrike">
              <a:solidFill>
                <a:srgbClr val="404041"/>
              </a:solidFill>
              <a:latin typeface="Spectral"/>
              <a:ea typeface="Spectral"/>
              <a:cs typeface="Spectral"/>
              <a:sym typeface="Spectral"/>
            </a:endParaRPr>
          </a:p>
          <a:p>
            <a:pPr indent="0" lvl="0" marL="0" marR="0" rtl="0" algn="l">
              <a:lnSpc>
                <a:spcPct val="100000"/>
              </a:lnSpc>
              <a:spcBef>
                <a:spcPts val="0"/>
              </a:spcBef>
              <a:spcAft>
                <a:spcPts val="0"/>
              </a:spcAft>
              <a:buClr>
                <a:srgbClr val="000000"/>
              </a:buClr>
              <a:buSzPts val="2300"/>
              <a:buFont typeface="Helvetica Neue"/>
              <a:buNone/>
            </a:pPr>
            <a:r>
              <a:rPr b="1" i="0" lang="pt-BR" sz="4600" u="none" cap="none" strike="noStrike">
                <a:solidFill>
                  <a:srgbClr val="404041"/>
                </a:solidFill>
                <a:latin typeface="Spectral"/>
                <a:ea typeface="Spectral"/>
                <a:cs typeface="Spectral"/>
                <a:sym typeface="Spectral"/>
              </a:rPr>
              <a:t>2022 </a:t>
            </a:r>
            <a:endParaRPr b="1" i="0" sz="4600" u="none" cap="none" strike="noStrike">
              <a:solidFill>
                <a:srgbClr val="404041"/>
              </a:solidFill>
              <a:latin typeface="Spectral"/>
              <a:ea typeface="Spectral"/>
              <a:cs typeface="Spectral"/>
              <a:sym typeface="Spectral"/>
            </a:endParaRPr>
          </a:p>
          <a:p>
            <a:pPr indent="0" lvl="0" marL="0" marR="0" rtl="0" algn="l">
              <a:lnSpc>
                <a:spcPct val="100000"/>
              </a:lnSpc>
              <a:spcBef>
                <a:spcPts val="0"/>
              </a:spcBef>
              <a:spcAft>
                <a:spcPts val="0"/>
              </a:spcAft>
              <a:buClr>
                <a:srgbClr val="000000"/>
              </a:buClr>
              <a:buSzPts val="2300"/>
              <a:buFont typeface="Helvetica Neue"/>
              <a:buNone/>
            </a:pPr>
            <a:r>
              <a:t/>
            </a:r>
            <a:endParaRPr b="1" i="0" sz="3600" u="none" cap="none" strike="noStrike">
              <a:solidFill>
                <a:srgbClr val="404041"/>
              </a:solidFill>
              <a:latin typeface="Spectral"/>
              <a:ea typeface="Spectral"/>
              <a:cs typeface="Spectral"/>
              <a:sym typeface="Spectr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g11fa3052e6c_0_92"/>
          <p:cNvSpPr txBox="1"/>
          <p:nvPr>
            <p:ph idx="12" type="sldNum"/>
          </p:nvPr>
        </p:nvSpPr>
        <p:spPr>
          <a:xfrm>
            <a:off x="8289309" y="4579638"/>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80" name="Google Shape;80;g11fa3052e6c_0_92"/>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lang="pt-BR" sz="2500">
                <a:solidFill>
                  <a:schemeClr val="dk1"/>
                </a:solidFill>
                <a:latin typeface="Spectral"/>
                <a:ea typeface="Spectral"/>
                <a:cs typeface="Spectral"/>
                <a:sym typeface="Spectral"/>
              </a:rPr>
              <a:t>Objetivo do Programa de Bônus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81" name="Google Shape;81;g11fa3052e6c_0_92"/>
          <p:cNvSpPr txBox="1"/>
          <p:nvPr/>
        </p:nvSpPr>
        <p:spPr>
          <a:xfrm>
            <a:off x="639300" y="1405650"/>
            <a:ext cx="8198700" cy="31089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457200" marR="0" rtl="0" algn="l">
              <a:lnSpc>
                <a:spcPct val="150000"/>
              </a:lnSpc>
              <a:spcBef>
                <a:spcPts val="0"/>
              </a:spcBef>
              <a:spcAft>
                <a:spcPts val="0"/>
              </a:spcAft>
              <a:buNone/>
            </a:pPr>
            <a:r>
              <a:rPr lang="pt-BR" sz="1300">
                <a:solidFill>
                  <a:schemeClr val="accent3"/>
                </a:solidFill>
                <a:latin typeface="Montserrat"/>
                <a:ea typeface="Montserrat"/>
                <a:cs typeface="Montserrat"/>
                <a:sym typeface="Montserrat"/>
              </a:rPr>
              <a:t>O objetivo desse programa é reconhecer a contribuição dos funcionários no resultado alcançado pela empresa durante o ano de 2022.</a:t>
            </a:r>
            <a:endParaRPr sz="1300">
              <a:solidFill>
                <a:schemeClr val="accent3"/>
              </a:solidFill>
              <a:latin typeface="Montserrat"/>
              <a:ea typeface="Montserrat"/>
              <a:cs typeface="Montserrat"/>
              <a:sym typeface="Montserrat"/>
            </a:endParaRPr>
          </a:p>
          <a:p>
            <a:pPr indent="0" lvl="0" marL="457200" marR="0" rtl="0" algn="l">
              <a:lnSpc>
                <a:spcPct val="150000"/>
              </a:lnSpc>
              <a:spcBef>
                <a:spcPts val="0"/>
              </a:spcBef>
              <a:spcAft>
                <a:spcPts val="0"/>
              </a:spcAft>
              <a:buNone/>
            </a:pPr>
            <a:r>
              <a:t/>
            </a:r>
            <a:endParaRPr sz="1300">
              <a:solidFill>
                <a:schemeClr val="accent3"/>
              </a:solidFill>
              <a:latin typeface="Montserrat"/>
              <a:ea typeface="Montserrat"/>
              <a:cs typeface="Montserrat"/>
              <a:sym typeface="Montserrat"/>
            </a:endParaRPr>
          </a:p>
          <a:p>
            <a:pPr indent="0" lvl="0" marL="457200" marR="0" rtl="0" algn="l">
              <a:lnSpc>
                <a:spcPct val="150000"/>
              </a:lnSpc>
              <a:spcBef>
                <a:spcPts val="0"/>
              </a:spcBef>
              <a:spcAft>
                <a:spcPts val="0"/>
              </a:spcAft>
              <a:buNone/>
            </a:pPr>
            <a:r>
              <a:rPr lang="pt-BR" sz="1300">
                <a:solidFill>
                  <a:schemeClr val="accent3"/>
                </a:solidFill>
                <a:latin typeface="Montserrat"/>
                <a:ea typeface="Montserrat"/>
                <a:cs typeface="Montserrat"/>
                <a:sym typeface="Montserrat"/>
              </a:rPr>
              <a:t>Entendemos que todos os funcionários, de forma colaborativa e participativa, são responsáveis pelas metas da empresa, e queremos incentivar o esforço de cada um através de metas conjuntas, que tragam uma excelente experiência para nossos funcionários, clientes e stakeholders.</a:t>
            </a:r>
            <a:endParaRPr sz="1300">
              <a:solidFill>
                <a:schemeClr val="accent3"/>
              </a:solidFill>
              <a:latin typeface="Montserrat"/>
              <a:ea typeface="Montserrat"/>
              <a:cs typeface="Montserrat"/>
              <a:sym typeface="Montserrat"/>
            </a:endParaRPr>
          </a:p>
          <a:p>
            <a:pPr indent="0" lvl="0" marL="914400" marR="0" rtl="0" algn="l">
              <a:lnSpc>
                <a:spcPct val="15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2"/>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Regras gerais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87" name="Google Shape;87;p2"/>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88" name="Google Shape;88;p2"/>
          <p:cNvSpPr txBox="1"/>
          <p:nvPr/>
        </p:nvSpPr>
        <p:spPr>
          <a:xfrm>
            <a:off x="676400" y="539752"/>
            <a:ext cx="8198700" cy="39261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311150" lvl="0" marL="4572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Todos os colaboradores CLT são elegíveis a partir da data de entrada e devem estar na empresa na data de pagamento da gratificação.</a:t>
            </a:r>
            <a:endParaRPr/>
          </a:p>
          <a:p>
            <a:pPr indent="-311150" lvl="0" marL="4572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O valor </a:t>
            </a:r>
            <a:r>
              <a:rPr lang="pt-BR" sz="1300">
                <a:solidFill>
                  <a:schemeClr val="accent3"/>
                </a:solidFill>
                <a:latin typeface="Montserrat"/>
                <a:ea typeface="Montserrat"/>
                <a:cs typeface="Montserrat"/>
                <a:sym typeface="Montserrat"/>
              </a:rPr>
              <a:t>a ser pago</a:t>
            </a:r>
            <a:r>
              <a:rPr b="0" i="0" lang="pt-BR" sz="1300" u="none" cap="none" strike="noStrike">
                <a:solidFill>
                  <a:schemeClr val="accent3"/>
                </a:solidFill>
                <a:latin typeface="Montserrat"/>
                <a:ea typeface="Montserrat"/>
                <a:cs typeface="Montserrat"/>
                <a:sym typeface="Montserrat"/>
              </a:rPr>
              <a:t> é proporcional à data de início do contrato, e </a:t>
            </a:r>
            <a:r>
              <a:rPr lang="pt-BR" sz="1300">
                <a:solidFill>
                  <a:schemeClr val="accent3"/>
                </a:solidFill>
                <a:latin typeface="Montserrat"/>
                <a:ea typeface="Montserrat"/>
                <a:cs typeface="Montserrat"/>
                <a:sym typeface="Montserrat"/>
              </a:rPr>
              <a:t>a data de início no</a:t>
            </a:r>
            <a:r>
              <a:rPr b="0" i="0" lang="pt-BR" sz="1300" u="none" cap="none" strike="noStrike">
                <a:solidFill>
                  <a:schemeClr val="accent3"/>
                </a:solidFill>
                <a:latin typeface="Montserrat"/>
                <a:ea typeface="Montserrat"/>
                <a:cs typeface="Montserrat"/>
                <a:sym typeface="Montserrat"/>
              </a:rPr>
              <a:t> mês </a:t>
            </a:r>
            <a:r>
              <a:rPr lang="pt-BR" sz="1300">
                <a:solidFill>
                  <a:schemeClr val="accent3"/>
                </a:solidFill>
                <a:latin typeface="Montserrat"/>
                <a:ea typeface="Montserrat"/>
                <a:cs typeface="Montserrat"/>
                <a:sym typeface="Montserrat"/>
              </a:rPr>
              <a:t>a ser considerada na proporção do número de meses deve ser até o dia 15 de cada mês. Caso o funcionário inicie após o dia 15, o número de meses considerará o mês seguinte à data de início;</a:t>
            </a:r>
            <a:endParaRPr b="0" i="0" sz="800" u="none" cap="none" strike="noStrike">
              <a:solidFill>
                <a:schemeClr val="accent3"/>
              </a:solidFill>
              <a:highlight>
                <a:srgbClr val="6D9EEB"/>
              </a:highlight>
              <a:latin typeface="Montserrat"/>
              <a:ea typeface="Montserrat"/>
              <a:cs typeface="Montserrat"/>
              <a:sym typeface="Montserrat"/>
            </a:endParaRPr>
          </a:p>
          <a:p>
            <a:pPr indent="-311150" lvl="0" marL="457200" marR="0" rtl="0" algn="l">
              <a:lnSpc>
                <a:spcPct val="150000"/>
              </a:lnSpc>
              <a:spcBef>
                <a:spcPts val="0"/>
              </a:spcBef>
              <a:spcAft>
                <a:spcPts val="0"/>
              </a:spcAft>
              <a:buClr>
                <a:schemeClr val="accent3"/>
              </a:buClr>
              <a:buSzPts val="1300"/>
              <a:buFont typeface="Montserrat"/>
              <a:buChar char="●"/>
            </a:pPr>
            <a:r>
              <a:rPr lang="pt-BR" sz="1300">
                <a:solidFill>
                  <a:schemeClr val="accent3"/>
                </a:solidFill>
                <a:latin typeface="Montserrat"/>
                <a:ea typeface="Montserrat"/>
                <a:cs typeface="Montserrat"/>
                <a:sym typeface="Montserrat"/>
              </a:rPr>
              <a:t>A</a:t>
            </a:r>
            <a:r>
              <a:rPr b="0" i="0" lang="pt-BR" sz="1300" u="none" cap="none" strike="noStrike">
                <a:solidFill>
                  <a:schemeClr val="accent3"/>
                </a:solidFill>
                <a:latin typeface="Montserrat"/>
                <a:ea typeface="Montserrat"/>
                <a:cs typeface="Montserrat"/>
                <a:sym typeface="Montserrat"/>
              </a:rPr>
              <a:t> quantidade de salários </a:t>
            </a:r>
            <a:r>
              <a:rPr lang="pt-BR" sz="1300">
                <a:solidFill>
                  <a:schemeClr val="accent3"/>
                </a:solidFill>
                <a:latin typeface="Montserrat"/>
                <a:ea typeface="Montserrat"/>
                <a:cs typeface="Montserrat"/>
                <a:sym typeface="Montserrat"/>
              </a:rPr>
              <a:t>à</a:t>
            </a:r>
            <a:r>
              <a:rPr b="0" i="0" lang="pt-BR" sz="1300" u="none" cap="none" strike="noStrike">
                <a:solidFill>
                  <a:schemeClr val="accent3"/>
                </a:solidFill>
                <a:latin typeface="Montserrat"/>
                <a:ea typeface="Montserrat"/>
                <a:cs typeface="Montserrat"/>
                <a:sym typeface="Montserrat"/>
              </a:rPr>
              <a:t> qual cada funcionário é elegível, varia conforme o cargo:</a:t>
            </a:r>
            <a:endParaRPr b="0" i="0" sz="1300" u="none" cap="none" strike="noStrike">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Gerentes e Diretores diretamente envolvidos com clientes - até 4 salários por ano.</a:t>
            </a:r>
            <a:endParaRPr b="0" i="0" sz="1300" u="none" cap="none" strike="noStrike">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Gerentes não envolvidos diretamente com clientes - até 3 salários por ano</a:t>
            </a:r>
            <a:endParaRPr sz="1300">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Coordenadores, especialistas e analistas SR - até 2 salários por ano</a:t>
            </a:r>
            <a:endParaRPr b="0" i="0" sz="1300" u="none" cap="none" strike="noStrike">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Analistas PL e JR - até 1 salário por ano</a:t>
            </a:r>
            <a:endParaRPr b="0" i="0" sz="1300" u="none" cap="none" strike="noStrike">
              <a:solidFill>
                <a:schemeClr val="accent3"/>
              </a:solidFill>
              <a:latin typeface="Montserrat"/>
              <a:ea typeface="Montserrat"/>
              <a:cs typeface="Montserrat"/>
              <a:sym typeface="Montserrat"/>
            </a:endParaRPr>
          </a:p>
          <a:p>
            <a:pPr indent="0" lvl="0" marL="914400" marR="0" rtl="0" algn="l">
              <a:lnSpc>
                <a:spcPct val="15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Regras gerais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94" name="Google Shape;94;p3"/>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95" name="Google Shape;95;p3"/>
          <p:cNvSpPr txBox="1"/>
          <p:nvPr/>
        </p:nvSpPr>
        <p:spPr>
          <a:xfrm>
            <a:off x="699425" y="911477"/>
            <a:ext cx="8198700" cy="3926100"/>
          </a:xfrm>
          <a:prstGeom prst="rect">
            <a:avLst/>
          </a:prstGeom>
          <a:noFill/>
          <a:ln>
            <a:noFill/>
          </a:ln>
        </p:spPr>
        <p:txBody>
          <a:bodyPr anchorCtr="0" anchor="t" bIns="26775" lIns="26775" spcFirstLastPara="1" rIns="26775" wrap="square" tIns="26775">
            <a:noAutofit/>
          </a:bodyPr>
          <a:lstStyle/>
          <a:p>
            <a:pPr indent="0" lvl="0" marL="0" marR="0" rtl="0" algn="l">
              <a:lnSpc>
                <a:spcPct val="150000"/>
              </a:lnSpc>
              <a:spcBef>
                <a:spcPts val="0"/>
              </a:spcBef>
              <a:spcAft>
                <a:spcPts val="0"/>
              </a:spcAft>
              <a:buClr>
                <a:srgbClr val="000000"/>
              </a:buClr>
              <a:buSzPts val="1300"/>
              <a:buFont typeface="Arial"/>
              <a:buNone/>
            </a:pPr>
            <a:r>
              <a:t/>
            </a:r>
            <a:endParaRPr b="0" i="0" sz="1300" u="none" cap="none" strike="noStrike">
              <a:solidFill>
                <a:schemeClr val="accent3"/>
              </a:solidFill>
              <a:latin typeface="Montserrat"/>
              <a:ea typeface="Montserrat"/>
              <a:cs typeface="Montserrat"/>
              <a:sym typeface="Montserrat"/>
            </a:endParaRPr>
          </a:p>
          <a:p>
            <a:pPr indent="-311150" lvl="0" marL="4572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Apuração semestral</a:t>
            </a:r>
            <a:endParaRPr b="0" i="0" sz="1300" u="none" cap="none" strike="noStrike">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H1 - pago em Ago – </a:t>
            </a:r>
            <a:r>
              <a:rPr lang="pt-BR" sz="1300">
                <a:solidFill>
                  <a:schemeClr val="accent3"/>
                </a:solidFill>
                <a:latin typeface="Montserrat"/>
                <a:ea typeface="Montserrat"/>
                <a:cs typeface="Montserrat"/>
                <a:sym typeface="Montserrat"/>
              </a:rPr>
              <a:t>apuração do semestre de acordo com as metas estipuladas para o período, pagamento de até 50% do bônus anual, de acordo com o resultado das metas estipuladas *</a:t>
            </a:r>
            <a:endParaRPr b="0" i="0" sz="1300" u="none" cap="none" strike="noStrike">
              <a:solidFill>
                <a:schemeClr val="accent3"/>
              </a:solidFill>
              <a:latin typeface="Montserrat"/>
              <a:ea typeface="Montserrat"/>
              <a:cs typeface="Montserrat"/>
              <a:sym typeface="Montserrat"/>
            </a:endParaRPr>
          </a:p>
          <a:p>
            <a:pPr indent="-311150" lvl="1" marL="914400" marR="0" rtl="0" algn="l">
              <a:lnSpc>
                <a:spcPct val="150000"/>
              </a:lnSpc>
              <a:spcBef>
                <a:spcPts val="0"/>
              </a:spcBef>
              <a:spcAft>
                <a:spcPts val="0"/>
              </a:spcAft>
              <a:buClr>
                <a:schemeClr val="accent3"/>
              </a:buClr>
              <a:buSzPts val="1300"/>
              <a:buFont typeface="Montserrat"/>
              <a:buChar char="○"/>
            </a:pPr>
            <a:r>
              <a:rPr b="0" i="0" lang="pt-BR" sz="1300" u="none" cap="none" strike="noStrike">
                <a:solidFill>
                  <a:schemeClr val="accent3"/>
                </a:solidFill>
                <a:latin typeface="Montserrat"/>
                <a:ea typeface="Montserrat"/>
                <a:cs typeface="Montserrat"/>
                <a:sym typeface="Montserrat"/>
              </a:rPr>
              <a:t>H2 - pago em Fev do ano seguinte – </a:t>
            </a:r>
            <a:r>
              <a:rPr lang="pt-BR" sz="1300">
                <a:solidFill>
                  <a:schemeClr val="accent3"/>
                </a:solidFill>
                <a:latin typeface="Montserrat"/>
                <a:ea typeface="Montserrat"/>
                <a:cs typeface="Montserrat"/>
                <a:sym typeface="Montserrat"/>
              </a:rPr>
              <a:t>apuração do semestre de acordo com as metas estipuladas para o período, pagamento de até 50% do bônus anual, de acordo com o resultado das metas estipuladas**</a:t>
            </a:r>
            <a:endParaRPr sz="1300">
              <a:solidFill>
                <a:schemeClr val="accent3"/>
              </a:solidFill>
              <a:latin typeface="Montserrat"/>
              <a:ea typeface="Montserrat"/>
              <a:cs typeface="Montserrat"/>
              <a:sym typeface="Montserrat"/>
            </a:endParaRPr>
          </a:p>
          <a:p>
            <a:pPr indent="0" lvl="0" marL="914400" marR="0" rtl="0" algn="l">
              <a:lnSpc>
                <a:spcPct val="150000"/>
              </a:lnSpc>
              <a:spcBef>
                <a:spcPts val="0"/>
              </a:spcBef>
              <a:spcAft>
                <a:spcPts val="0"/>
              </a:spcAft>
              <a:buNone/>
            </a:pPr>
            <a:r>
              <a:t/>
            </a:r>
            <a:endParaRPr sz="1300">
              <a:solidFill>
                <a:schemeClr val="accent3"/>
              </a:solidFill>
              <a:latin typeface="Montserrat"/>
              <a:ea typeface="Montserrat"/>
              <a:cs typeface="Montserrat"/>
              <a:sym typeface="Montserrat"/>
            </a:endParaRPr>
          </a:p>
          <a:p>
            <a:pPr indent="0" lvl="0" marL="0" rtl="0" algn="l">
              <a:lnSpc>
                <a:spcPct val="150000"/>
              </a:lnSpc>
              <a:spcBef>
                <a:spcPts val="0"/>
              </a:spcBef>
              <a:spcAft>
                <a:spcPts val="0"/>
              </a:spcAft>
              <a:buNone/>
            </a:pPr>
            <a:r>
              <a:t/>
            </a:r>
            <a:endParaRPr sz="1300">
              <a:solidFill>
                <a:schemeClr val="accent3"/>
              </a:solidFill>
              <a:latin typeface="Montserrat"/>
              <a:ea typeface="Montserrat"/>
              <a:cs typeface="Montserrat"/>
              <a:sym typeface="Montserrat"/>
            </a:endParaRPr>
          </a:p>
          <a:p>
            <a:pPr indent="0" lvl="0" marL="457200" rtl="0" algn="l">
              <a:lnSpc>
                <a:spcPct val="150000"/>
              </a:lnSpc>
              <a:spcBef>
                <a:spcPts val="0"/>
              </a:spcBef>
              <a:spcAft>
                <a:spcPts val="0"/>
              </a:spcAft>
              <a:buNone/>
            </a:pPr>
            <a:r>
              <a:rPr lang="pt-BR" sz="1300">
                <a:solidFill>
                  <a:schemeClr val="accent3"/>
                </a:solidFill>
                <a:latin typeface="Montserrat"/>
                <a:ea typeface="Montserrat"/>
                <a:cs typeface="Montserrat"/>
                <a:sym typeface="Montserrat"/>
              </a:rPr>
              <a:t>* </a:t>
            </a:r>
            <a:r>
              <a:rPr lang="pt-BR" sz="1300">
                <a:solidFill>
                  <a:schemeClr val="accent3"/>
                </a:solidFill>
                <a:latin typeface="Montserrat"/>
                <a:ea typeface="Montserrat"/>
                <a:cs typeface="Montserrat"/>
                <a:sym typeface="Montserrat"/>
              </a:rPr>
              <a:t>Dedução dos impostos obrigatórios por lei e do valor obrigatório estipulado pelo Sindicato dos Publicitários - Convenção Coletiva 2022</a:t>
            </a:r>
            <a:endParaRPr sz="1300">
              <a:solidFill>
                <a:schemeClr val="accent3"/>
              </a:solidFill>
              <a:latin typeface="Montserrat"/>
              <a:ea typeface="Montserrat"/>
              <a:cs typeface="Montserrat"/>
              <a:sym typeface="Montserrat"/>
            </a:endParaRPr>
          </a:p>
          <a:p>
            <a:pPr indent="0" lvl="0" marL="457200" rtl="0" algn="l">
              <a:lnSpc>
                <a:spcPct val="150000"/>
              </a:lnSpc>
              <a:spcBef>
                <a:spcPts val="0"/>
              </a:spcBef>
              <a:spcAft>
                <a:spcPts val="0"/>
              </a:spcAft>
              <a:buNone/>
            </a:pPr>
            <a:r>
              <a:t/>
            </a:r>
            <a:endParaRPr sz="1300">
              <a:solidFill>
                <a:schemeClr val="accent3"/>
              </a:solidFill>
              <a:latin typeface="Montserrat"/>
              <a:ea typeface="Montserrat"/>
              <a:cs typeface="Montserrat"/>
              <a:sym typeface="Montserrat"/>
            </a:endParaRPr>
          </a:p>
          <a:p>
            <a:pPr indent="0" lvl="0" marL="457200" rtl="0" algn="l">
              <a:lnSpc>
                <a:spcPct val="150000"/>
              </a:lnSpc>
              <a:spcBef>
                <a:spcPts val="0"/>
              </a:spcBef>
              <a:spcAft>
                <a:spcPts val="0"/>
              </a:spcAft>
              <a:buNone/>
            </a:pPr>
            <a:r>
              <a:rPr lang="pt-BR" sz="1300">
                <a:solidFill>
                  <a:schemeClr val="accent3"/>
                </a:solidFill>
                <a:latin typeface="Montserrat"/>
                <a:ea typeface="Montserrat"/>
                <a:cs typeface="Montserrat"/>
                <a:sym typeface="Montserrat"/>
              </a:rPr>
              <a:t>** Dedução dos impostos obrigatórios por lei</a:t>
            </a:r>
            <a:endParaRPr sz="1300">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4"/>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Pilares e métricas do programa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01" name="Google Shape;101;p4"/>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102" name="Google Shape;102;p4"/>
          <p:cNvSpPr/>
          <p:nvPr/>
        </p:nvSpPr>
        <p:spPr>
          <a:xfrm>
            <a:off x="670313" y="1526388"/>
            <a:ext cx="2290200" cy="440100"/>
          </a:xfrm>
          <a:prstGeom prst="roundRect">
            <a:avLst>
              <a:gd fmla="val 50000" name="adj"/>
            </a:avLst>
          </a:prstGeom>
          <a:solidFill>
            <a:srgbClr val="00859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pt-BR" sz="1400" u="none" cap="none" strike="noStrike">
                <a:solidFill>
                  <a:srgbClr val="FFFFFF"/>
                </a:solidFill>
                <a:latin typeface="Montserrat"/>
                <a:ea typeface="Montserrat"/>
                <a:cs typeface="Montserrat"/>
                <a:sym typeface="Montserrat"/>
              </a:rPr>
              <a:t>Resultado</a:t>
            </a:r>
            <a:endParaRPr b="1" i="0" sz="1400" u="none" cap="none" strike="noStrike">
              <a:solidFill>
                <a:srgbClr val="FFFFFF"/>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FFFFFF"/>
              </a:solidFill>
              <a:latin typeface="Montserrat Light"/>
              <a:ea typeface="Montserrat Light"/>
              <a:cs typeface="Montserrat Light"/>
              <a:sym typeface="Montserrat Light"/>
            </a:endParaRPr>
          </a:p>
        </p:txBody>
      </p:sp>
      <p:sp>
        <p:nvSpPr>
          <p:cNvPr id="103" name="Google Shape;103;p4"/>
          <p:cNvSpPr/>
          <p:nvPr/>
        </p:nvSpPr>
        <p:spPr>
          <a:xfrm>
            <a:off x="3441050" y="1526388"/>
            <a:ext cx="2290200" cy="440100"/>
          </a:xfrm>
          <a:prstGeom prst="roundRect">
            <a:avLst>
              <a:gd fmla="val 50000" name="adj"/>
            </a:avLst>
          </a:prstGeom>
          <a:solidFill>
            <a:srgbClr val="00859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pt-BR" sz="1400" u="none" cap="none" strike="noStrike">
                <a:solidFill>
                  <a:srgbClr val="FFFFFF"/>
                </a:solidFill>
                <a:latin typeface="Montserrat"/>
                <a:ea typeface="Montserrat"/>
                <a:cs typeface="Montserrat"/>
                <a:sym typeface="Montserrat"/>
              </a:rPr>
              <a:t>Pessoas</a:t>
            </a:r>
            <a:endParaRPr b="1" i="0" sz="1400" u="none" cap="none" strike="noStrike">
              <a:solidFill>
                <a:srgbClr val="FFFFFF"/>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FFFFFF"/>
              </a:solidFill>
              <a:latin typeface="Montserrat Light"/>
              <a:ea typeface="Montserrat Light"/>
              <a:cs typeface="Montserrat Light"/>
              <a:sym typeface="Montserrat Light"/>
            </a:endParaRPr>
          </a:p>
        </p:txBody>
      </p:sp>
      <p:sp>
        <p:nvSpPr>
          <p:cNvPr id="104" name="Google Shape;104;p4"/>
          <p:cNvSpPr/>
          <p:nvPr/>
        </p:nvSpPr>
        <p:spPr>
          <a:xfrm>
            <a:off x="6457436" y="1526388"/>
            <a:ext cx="2290200" cy="440100"/>
          </a:xfrm>
          <a:prstGeom prst="roundRect">
            <a:avLst>
              <a:gd fmla="val 50000" name="adj"/>
            </a:avLst>
          </a:prstGeom>
          <a:solidFill>
            <a:srgbClr val="00859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pt-BR" sz="1400" u="none" cap="none" strike="noStrike">
                <a:solidFill>
                  <a:srgbClr val="FFFFFF"/>
                </a:solidFill>
                <a:latin typeface="Montserrat"/>
                <a:ea typeface="Montserrat"/>
                <a:cs typeface="Montserrat"/>
                <a:sym typeface="Montserrat"/>
              </a:rPr>
              <a:t>Excelência técnica</a:t>
            </a:r>
            <a:endParaRPr b="1" i="0" sz="1400" u="none" cap="none" strike="noStrike">
              <a:solidFill>
                <a:srgbClr val="FFFFFF"/>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FFFFFF"/>
              </a:solidFill>
              <a:latin typeface="Montserrat Light"/>
              <a:ea typeface="Montserrat Light"/>
              <a:cs typeface="Montserrat Light"/>
              <a:sym typeface="Montserrat Light"/>
            </a:endParaRPr>
          </a:p>
        </p:txBody>
      </p:sp>
      <p:sp>
        <p:nvSpPr>
          <p:cNvPr id="105" name="Google Shape;105;p4"/>
          <p:cNvSpPr txBox="1"/>
          <p:nvPr/>
        </p:nvSpPr>
        <p:spPr>
          <a:xfrm>
            <a:off x="670325" y="2169313"/>
            <a:ext cx="2290200" cy="1447800"/>
          </a:xfrm>
          <a:prstGeom prst="rect">
            <a:avLst/>
          </a:prstGeom>
          <a:noFill/>
          <a:ln>
            <a:noFill/>
          </a:ln>
        </p:spPr>
        <p:txBody>
          <a:bodyPr anchorCtr="0" anchor="t" bIns="26775" lIns="26775" spcFirstLastPara="1" rIns="26775" wrap="square" tIns="26775">
            <a:noAutofit/>
          </a:bodyPr>
          <a:lstStyle/>
          <a:p>
            <a:pPr indent="0" lvl="0" marL="0" marR="0" rtl="0" algn="l">
              <a:lnSpc>
                <a:spcPct val="150000"/>
              </a:lnSpc>
              <a:spcBef>
                <a:spcPts val="0"/>
              </a:spcBef>
              <a:spcAft>
                <a:spcPts val="0"/>
              </a:spcAft>
              <a:buClr>
                <a:srgbClr val="000000"/>
              </a:buClr>
              <a:buSzPts val="1700"/>
              <a:buFont typeface="Arial"/>
              <a:buNone/>
            </a:pPr>
            <a:r>
              <a:rPr b="0" i="0" lang="pt-BR" sz="1700" u="none" cap="none" strike="noStrike">
                <a:solidFill>
                  <a:srgbClr val="000000"/>
                </a:solidFill>
                <a:latin typeface="Montserrat"/>
                <a:ea typeface="Montserrat"/>
                <a:cs typeface="Montserrat"/>
                <a:sym typeface="Montserrat"/>
              </a:rPr>
              <a:t>1. Receita</a:t>
            </a:r>
            <a:endParaRPr b="0" i="0" sz="1700" u="none" cap="none" strike="noStrike">
              <a:solidFill>
                <a:srgbClr val="000000"/>
              </a:solidFill>
              <a:latin typeface="Montserrat"/>
              <a:ea typeface="Montserrat"/>
              <a:cs typeface="Montserrat"/>
              <a:sym typeface="Montserrat"/>
            </a:endParaRPr>
          </a:p>
          <a:p>
            <a:pPr indent="0" lvl="0" marL="0" marR="0" rtl="0" algn="l">
              <a:lnSpc>
                <a:spcPct val="150000"/>
              </a:lnSpc>
              <a:spcBef>
                <a:spcPts val="0"/>
              </a:spcBef>
              <a:spcAft>
                <a:spcPts val="0"/>
              </a:spcAft>
              <a:buClr>
                <a:srgbClr val="000000"/>
              </a:buClr>
              <a:buSzPts val="1100"/>
              <a:buFont typeface="Helvetica Neue"/>
              <a:buNone/>
            </a:pPr>
            <a:r>
              <a:t/>
            </a:r>
            <a:endParaRPr b="0" i="0" sz="1100" u="none" cap="none" strike="noStrike">
              <a:solidFill>
                <a:srgbClr val="000000"/>
              </a:solidFill>
              <a:latin typeface="Montserrat"/>
              <a:ea typeface="Montserrat"/>
              <a:cs typeface="Montserrat"/>
              <a:sym typeface="Montserrat"/>
            </a:endParaRPr>
          </a:p>
        </p:txBody>
      </p:sp>
      <p:sp>
        <p:nvSpPr>
          <p:cNvPr id="106" name="Google Shape;106;p4"/>
          <p:cNvSpPr txBox="1"/>
          <p:nvPr/>
        </p:nvSpPr>
        <p:spPr>
          <a:xfrm>
            <a:off x="3209575" y="2169325"/>
            <a:ext cx="3047100" cy="2410200"/>
          </a:xfrm>
          <a:prstGeom prst="rect">
            <a:avLst/>
          </a:prstGeom>
          <a:noFill/>
          <a:ln>
            <a:noFill/>
          </a:ln>
        </p:spPr>
        <p:txBody>
          <a:bodyPr anchorCtr="0" anchor="t" bIns="26775" lIns="26775" spcFirstLastPara="1" rIns="26775" wrap="square" tIns="26775">
            <a:noAutofit/>
          </a:bodyPr>
          <a:lstStyle/>
          <a:p>
            <a:pPr indent="0" lvl="0" marL="0" marR="0" rtl="0" algn="l">
              <a:lnSpc>
                <a:spcPct val="150000"/>
              </a:lnSpc>
              <a:spcBef>
                <a:spcPts val="0"/>
              </a:spcBef>
              <a:spcAft>
                <a:spcPts val="0"/>
              </a:spcAft>
              <a:buClr>
                <a:srgbClr val="000000"/>
              </a:buClr>
              <a:buSzPts val="1700"/>
              <a:buFont typeface="Arial"/>
              <a:buNone/>
            </a:pPr>
            <a:r>
              <a:rPr lang="pt-BR" sz="1700">
                <a:latin typeface="Montserrat"/>
                <a:ea typeface="Montserrat"/>
                <a:cs typeface="Montserrat"/>
                <a:sym typeface="Montserrat"/>
              </a:rPr>
              <a:t>2</a:t>
            </a:r>
            <a:r>
              <a:rPr b="0" i="0" lang="pt-BR" sz="1700" u="none" cap="none" strike="noStrike">
                <a:solidFill>
                  <a:srgbClr val="000000"/>
                </a:solidFill>
                <a:latin typeface="Montserrat"/>
                <a:ea typeface="Montserrat"/>
                <a:cs typeface="Montserrat"/>
                <a:sym typeface="Montserrat"/>
              </a:rPr>
              <a:t>. Turnover</a:t>
            </a:r>
            <a:endParaRPr/>
          </a:p>
          <a:p>
            <a:pPr indent="0" lvl="0" marL="0" marR="0" rtl="0" algn="l">
              <a:lnSpc>
                <a:spcPct val="150000"/>
              </a:lnSpc>
              <a:spcBef>
                <a:spcPts val="0"/>
              </a:spcBef>
              <a:spcAft>
                <a:spcPts val="0"/>
              </a:spcAft>
              <a:buClr>
                <a:srgbClr val="000000"/>
              </a:buClr>
              <a:buSzPts val="1700"/>
              <a:buFont typeface="Arial"/>
              <a:buNone/>
            </a:pPr>
            <a:r>
              <a:rPr lang="pt-BR" sz="1700">
                <a:latin typeface="Montserrat"/>
                <a:ea typeface="Montserrat"/>
                <a:cs typeface="Montserrat"/>
                <a:sym typeface="Montserrat"/>
              </a:rPr>
              <a:t>3</a:t>
            </a:r>
            <a:r>
              <a:rPr b="0" i="0" lang="pt-BR" sz="1700" u="none" cap="none" strike="noStrike">
                <a:solidFill>
                  <a:srgbClr val="000000"/>
                </a:solidFill>
                <a:latin typeface="Montserrat"/>
                <a:ea typeface="Montserrat"/>
                <a:cs typeface="Montserrat"/>
                <a:sym typeface="Montserrat"/>
              </a:rPr>
              <a:t>. Diversidade</a:t>
            </a:r>
            <a:endParaRPr b="0" i="0" sz="1700" u="none" cap="none" strike="noStrike">
              <a:solidFill>
                <a:srgbClr val="000000"/>
              </a:solidFill>
              <a:latin typeface="Montserrat"/>
              <a:ea typeface="Montserrat"/>
              <a:cs typeface="Montserrat"/>
              <a:sym typeface="Montserrat"/>
            </a:endParaRPr>
          </a:p>
          <a:p>
            <a:pPr indent="0" lvl="0" marL="0" marR="0" rtl="0" algn="l">
              <a:lnSpc>
                <a:spcPct val="150000"/>
              </a:lnSpc>
              <a:spcBef>
                <a:spcPts val="0"/>
              </a:spcBef>
              <a:spcAft>
                <a:spcPts val="0"/>
              </a:spcAft>
              <a:buClr>
                <a:srgbClr val="000000"/>
              </a:buClr>
              <a:buSzPts val="1700"/>
              <a:buFont typeface="Arial"/>
              <a:buNone/>
            </a:pPr>
            <a:r>
              <a:rPr lang="pt-BR" sz="1700">
                <a:latin typeface="Montserrat"/>
                <a:ea typeface="Montserrat"/>
                <a:cs typeface="Montserrat"/>
                <a:sym typeface="Montserrat"/>
              </a:rPr>
              <a:t>4</a:t>
            </a:r>
            <a:r>
              <a:rPr b="0" i="0" lang="pt-BR" sz="1700" u="none" cap="none" strike="noStrike">
                <a:solidFill>
                  <a:srgbClr val="000000"/>
                </a:solidFill>
                <a:latin typeface="Montserrat"/>
                <a:ea typeface="Montserrat"/>
                <a:cs typeface="Montserrat"/>
                <a:sym typeface="Montserrat"/>
              </a:rPr>
              <a:t>. Revisão de Desempenho</a:t>
            </a:r>
            <a:endParaRPr b="0" i="0" sz="1700" u="none" cap="none" strike="noStrike">
              <a:solidFill>
                <a:srgbClr val="000000"/>
              </a:solidFill>
              <a:latin typeface="Montserrat"/>
              <a:ea typeface="Montserrat"/>
              <a:cs typeface="Montserrat"/>
              <a:sym typeface="Montserrat"/>
            </a:endParaRPr>
          </a:p>
        </p:txBody>
      </p:sp>
      <p:sp>
        <p:nvSpPr>
          <p:cNvPr id="107" name="Google Shape;107;p4"/>
          <p:cNvSpPr txBox="1"/>
          <p:nvPr/>
        </p:nvSpPr>
        <p:spPr>
          <a:xfrm>
            <a:off x="6716400" y="2169325"/>
            <a:ext cx="2427600" cy="2410200"/>
          </a:xfrm>
          <a:prstGeom prst="rect">
            <a:avLst/>
          </a:prstGeom>
          <a:noFill/>
          <a:ln>
            <a:noFill/>
          </a:ln>
        </p:spPr>
        <p:txBody>
          <a:bodyPr anchorCtr="0" anchor="t" bIns="26775" lIns="26775" spcFirstLastPara="1" rIns="26775" wrap="square" tIns="26775">
            <a:noAutofit/>
          </a:bodyPr>
          <a:lstStyle/>
          <a:p>
            <a:pPr indent="0" lvl="0" marL="0" marR="0" rtl="0" algn="l">
              <a:lnSpc>
                <a:spcPct val="150000"/>
              </a:lnSpc>
              <a:spcBef>
                <a:spcPts val="0"/>
              </a:spcBef>
              <a:spcAft>
                <a:spcPts val="0"/>
              </a:spcAft>
              <a:buClr>
                <a:srgbClr val="000000"/>
              </a:buClr>
              <a:buSzPts val="1700"/>
              <a:buFont typeface="Arial"/>
              <a:buNone/>
            </a:pPr>
            <a:r>
              <a:rPr lang="pt-BR" sz="1700">
                <a:latin typeface="Montserrat"/>
                <a:ea typeface="Montserrat"/>
                <a:cs typeface="Montserrat"/>
                <a:sym typeface="Montserrat"/>
              </a:rPr>
              <a:t>5</a:t>
            </a:r>
            <a:r>
              <a:rPr b="0" i="0" lang="pt-BR" sz="1700" u="none" cap="none" strike="noStrike">
                <a:solidFill>
                  <a:srgbClr val="000000"/>
                </a:solidFill>
                <a:latin typeface="Montserrat"/>
                <a:ea typeface="Montserrat"/>
                <a:cs typeface="Montserrat"/>
                <a:sym typeface="Montserrat"/>
              </a:rPr>
              <a:t>. Certificações</a:t>
            </a:r>
            <a:endParaRPr b="0" i="0" sz="17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5"/>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Resultado</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sz="1900">
              <a:solidFill>
                <a:schemeClr val="accent1"/>
              </a:solidFill>
              <a:latin typeface="Montserrat"/>
              <a:ea typeface="Montserrat"/>
              <a:cs typeface="Montserrat"/>
              <a:sym typeface="Montserrat"/>
            </a:endParaRPr>
          </a:p>
        </p:txBody>
      </p:sp>
      <p:sp>
        <p:nvSpPr>
          <p:cNvPr id="113" name="Google Shape;113;p5"/>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114" name="Google Shape;114;p5"/>
          <p:cNvSpPr txBox="1"/>
          <p:nvPr/>
        </p:nvSpPr>
        <p:spPr>
          <a:xfrm>
            <a:off x="943200" y="653550"/>
            <a:ext cx="7429200" cy="35478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457200" lvl="0" marL="457200" marR="0" rtl="0" algn="l">
              <a:lnSpc>
                <a:spcPct val="120000"/>
              </a:lnSpc>
              <a:spcBef>
                <a:spcPts val="0"/>
              </a:spcBef>
              <a:spcAft>
                <a:spcPts val="0"/>
              </a:spcAft>
              <a:buClr>
                <a:srgbClr val="008598"/>
              </a:buClr>
              <a:buSzPts val="1900"/>
              <a:buFont typeface="Arial"/>
              <a:buAutoNum type="arabicPeriod"/>
            </a:pPr>
            <a:r>
              <a:rPr b="1" i="0" lang="pt-BR" sz="1900" u="none" cap="none" strike="noStrike">
                <a:solidFill>
                  <a:schemeClr val="accent1"/>
                </a:solidFill>
                <a:latin typeface="Montserrat"/>
                <a:ea typeface="Montserrat"/>
                <a:cs typeface="Montserrat"/>
                <a:sym typeface="Montserrat"/>
              </a:rPr>
              <a:t>Receita</a:t>
            </a:r>
            <a:endParaRPr b="1" i="0" sz="1900" u="none" cap="none" strike="noStrike">
              <a:solidFill>
                <a:schemeClr val="accent1"/>
              </a:solidFill>
              <a:latin typeface="Montserrat"/>
              <a:ea typeface="Montserrat"/>
              <a:cs typeface="Montserrat"/>
              <a:sym typeface="Montserrat"/>
            </a:endParaRPr>
          </a:p>
          <a:p>
            <a:pPr indent="0" lvl="0" marL="457200" marR="0" rtl="0" algn="l">
              <a:lnSpc>
                <a:spcPct val="120000"/>
              </a:lnSpc>
              <a:spcBef>
                <a:spcPts val="0"/>
              </a:spcBef>
              <a:spcAft>
                <a:spcPts val="0"/>
              </a:spcAft>
              <a:buNone/>
            </a:pPr>
            <a:r>
              <a:t/>
            </a:r>
            <a:endParaRPr b="1" sz="1900">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None/>
            </a:pPr>
            <a:r>
              <a:rPr lang="pt-BR">
                <a:solidFill>
                  <a:schemeClr val="accent3"/>
                </a:solidFill>
                <a:latin typeface="Montserrat"/>
                <a:ea typeface="Montserrat"/>
                <a:cs typeface="Montserrat"/>
                <a:sym typeface="Montserrat"/>
              </a:rPr>
              <a:t>As m</a:t>
            </a:r>
            <a:r>
              <a:rPr b="0" i="0" lang="pt-BR" sz="1400" u="none" cap="none" strike="noStrike">
                <a:solidFill>
                  <a:schemeClr val="accent3"/>
                </a:solidFill>
                <a:latin typeface="Montserrat"/>
                <a:ea typeface="Montserrat"/>
                <a:cs typeface="Montserrat"/>
                <a:sym typeface="Montserrat"/>
              </a:rPr>
              <a:t>etas de receita de H1 e H2 de 2022 serão divididas com </a:t>
            </a:r>
            <a:r>
              <a:rPr lang="pt-BR">
                <a:solidFill>
                  <a:schemeClr val="accent3"/>
                </a:solidFill>
                <a:latin typeface="Montserrat"/>
                <a:ea typeface="Montserrat"/>
                <a:cs typeface="Montserrat"/>
                <a:sym typeface="Montserrat"/>
              </a:rPr>
              <a:t>o board executivo</a:t>
            </a:r>
            <a:r>
              <a:rPr b="0" i="0" lang="pt-BR" sz="1400" u="none" cap="none" strike="noStrike">
                <a:solidFill>
                  <a:schemeClr val="accent3"/>
                </a:solidFill>
                <a:latin typeface="Montserrat"/>
                <a:ea typeface="Montserrat"/>
                <a:cs typeface="Montserrat"/>
                <a:sym typeface="Montserrat"/>
              </a:rPr>
              <a:t> da Blinks Essence</a:t>
            </a:r>
            <a:r>
              <a:rPr lang="pt-BR">
                <a:solidFill>
                  <a:schemeClr val="accent3"/>
                </a:solidFill>
                <a:latin typeface="Montserrat"/>
                <a:ea typeface="Montserrat"/>
                <a:cs typeface="Montserrat"/>
                <a:sym typeface="Montserrat"/>
              </a:rPr>
              <a:t>.</a:t>
            </a:r>
            <a:endParaRPr/>
          </a:p>
          <a:p>
            <a:pPr indent="0" lvl="0" marL="0" marR="0" rtl="0" algn="l">
              <a:lnSpc>
                <a:spcPct val="120000"/>
              </a:lnSpc>
              <a:spcBef>
                <a:spcPts val="0"/>
              </a:spcBef>
              <a:spcAft>
                <a:spcPts val="0"/>
              </a:spcAft>
              <a:buNone/>
            </a:pPr>
            <a:r>
              <a:t/>
            </a:r>
            <a:endParaRPr>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None/>
            </a:pPr>
            <a:r>
              <a:rPr lang="pt-BR">
                <a:solidFill>
                  <a:schemeClr val="accent3"/>
                </a:solidFill>
                <a:latin typeface="Montserrat"/>
                <a:ea typeface="Montserrat"/>
                <a:cs typeface="Montserrat"/>
                <a:sym typeface="Montserrat"/>
              </a:rPr>
              <a:t>De 100% a</a:t>
            </a:r>
            <a:r>
              <a:rPr b="0" i="0" lang="pt-BR" sz="1400" u="none" cap="none" strike="noStrike">
                <a:solidFill>
                  <a:schemeClr val="accent3"/>
                </a:solidFill>
                <a:latin typeface="Montserrat"/>
                <a:ea typeface="Montserrat"/>
                <a:cs typeface="Montserrat"/>
                <a:sym typeface="Montserrat"/>
              </a:rPr>
              <a:t>té 119,9% de receita – 1</a:t>
            </a:r>
            <a:endParaRPr/>
          </a:p>
          <a:p>
            <a:pPr indent="0" lvl="0" marL="0" marR="0" rtl="0" algn="l">
              <a:lnSpc>
                <a:spcPct val="120000"/>
              </a:lnSpc>
              <a:spcBef>
                <a:spcPts val="0"/>
              </a:spcBef>
              <a:spcAft>
                <a:spcPts val="0"/>
              </a:spcAft>
              <a:buNone/>
            </a:pPr>
            <a:r>
              <a:rPr b="0" i="0" lang="pt-BR" sz="1400" u="none" cap="none" strike="noStrike">
                <a:solidFill>
                  <a:schemeClr val="accent3"/>
                </a:solidFill>
                <a:latin typeface="Montserrat"/>
                <a:ea typeface="Montserrat"/>
                <a:cs typeface="Montserrat"/>
                <a:sym typeface="Montserrat"/>
              </a:rPr>
              <a:t>De 80% a 99,9% de receita – 0,5</a:t>
            </a:r>
            <a:endParaRPr/>
          </a:p>
          <a:p>
            <a:pPr indent="0" lvl="0" marL="0" marR="0" rtl="0" algn="l">
              <a:lnSpc>
                <a:spcPct val="120000"/>
              </a:lnSpc>
              <a:spcBef>
                <a:spcPts val="0"/>
              </a:spcBef>
              <a:spcAft>
                <a:spcPts val="0"/>
              </a:spcAft>
              <a:buNone/>
            </a:pPr>
            <a:r>
              <a:rPr b="0" i="0" lang="pt-BR" sz="1400" u="none" cap="none" strike="noStrike">
                <a:solidFill>
                  <a:schemeClr val="accent3"/>
                </a:solidFill>
                <a:latin typeface="Montserrat"/>
                <a:ea typeface="Montserrat"/>
                <a:cs typeface="Montserrat"/>
                <a:sym typeface="Montserrat"/>
              </a:rPr>
              <a:t>Abaixo de 79,9% - 0</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4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000"/>
              <a:buFont typeface="Arial"/>
              <a:buNone/>
            </a:pPr>
            <a:r>
              <a:rPr b="0" i="1" lang="pt-BR" sz="1000" u="none" cap="none" strike="noStrike">
                <a:solidFill>
                  <a:schemeClr val="accent3"/>
                </a:solidFill>
                <a:latin typeface="Montserrat"/>
                <a:ea typeface="Montserrat"/>
                <a:cs typeface="Montserrat"/>
                <a:sym typeface="Montserrat"/>
              </a:rPr>
              <a:t>*</a:t>
            </a:r>
            <a:r>
              <a:rPr b="0" i="1" lang="pt-BR" sz="1000" u="none" cap="none" strike="noStrike">
                <a:solidFill>
                  <a:schemeClr val="dk1"/>
                </a:solidFill>
                <a:latin typeface="Montserrat"/>
                <a:ea typeface="Montserrat"/>
                <a:cs typeface="Montserrat"/>
                <a:sym typeface="Montserrat"/>
              </a:rPr>
              <a:t>Em caso de estouro de verba de cliente (independente do valor), o gerente perderá o correspondente a 15% do total d</a:t>
            </a:r>
            <a:r>
              <a:rPr i="1" lang="pt-BR" sz="1000">
                <a:solidFill>
                  <a:schemeClr val="dk1"/>
                </a:solidFill>
                <a:latin typeface="Montserrat"/>
                <a:ea typeface="Montserrat"/>
                <a:cs typeface="Montserrat"/>
                <a:sym typeface="Montserrat"/>
              </a:rPr>
              <a:t>o valor recebido no semestre</a:t>
            </a:r>
            <a:r>
              <a:rPr b="0" i="1" lang="pt-BR" sz="1000" u="none" cap="none" strike="noStrike">
                <a:solidFill>
                  <a:schemeClr val="dk1"/>
                </a:solidFill>
                <a:latin typeface="Montserrat"/>
                <a:ea typeface="Montserrat"/>
                <a:cs typeface="Montserrat"/>
                <a:sym typeface="Montserrat"/>
              </a:rPr>
              <a:t> (de acordo com o múltiplo de salários do cargo) e os analistas/coordenadores perdem 15% do total </a:t>
            </a:r>
            <a:r>
              <a:rPr i="1" lang="pt-BR" sz="1000">
                <a:solidFill>
                  <a:schemeClr val="dk1"/>
                </a:solidFill>
                <a:latin typeface="Montserrat"/>
                <a:ea typeface="Montserrat"/>
                <a:cs typeface="Montserrat"/>
                <a:sym typeface="Montserrat"/>
              </a:rPr>
              <a:t>do valor recebido no semestre (de acordo com o múltiplo de salários do cargo)</a:t>
            </a:r>
            <a:r>
              <a:rPr i="1" lang="pt-BR" sz="1000">
                <a:solidFill>
                  <a:schemeClr val="dk1"/>
                </a:solidFill>
                <a:latin typeface="Montserrat"/>
                <a:ea typeface="Montserrat"/>
                <a:cs typeface="Montserrat"/>
                <a:sym typeface="Montserrat"/>
              </a:rPr>
              <a:t>.</a:t>
            </a:r>
            <a:r>
              <a:rPr b="0" i="1" lang="pt-BR" sz="1000" u="none" cap="none" strike="noStrike">
                <a:solidFill>
                  <a:schemeClr val="dk1"/>
                </a:solidFill>
                <a:latin typeface="Montserrat"/>
                <a:ea typeface="Montserrat"/>
                <a:cs typeface="Montserrat"/>
                <a:sym typeface="Montserrat"/>
              </a:rPr>
              <a:t>    </a:t>
            </a:r>
            <a:r>
              <a:rPr i="1" lang="pt-BR" sz="1000">
                <a:solidFill>
                  <a:schemeClr val="dk1"/>
                </a:solidFill>
                <a:latin typeface="Montserrat"/>
                <a:ea typeface="Montserrat"/>
                <a:cs typeface="Montserrat"/>
                <a:sym typeface="Montserrat"/>
              </a:rPr>
              <a:t> </a:t>
            </a:r>
            <a:endParaRPr b="0" i="0" sz="1000" u="none" cap="none" strike="noStrike">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1" sz="10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4"/>
                                        </p:tgtEl>
                                        <p:attrNameLst>
                                          <p:attrName>style.visibility</p:attrName>
                                        </p:attrNameLst>
                                      </p:cBhvr>
                                      <p:to>
                                        <p:strVal val="visible"/>
                                      </p:to>
                                    </p:set>
                                    <p:animEffect filter="fade" transition="in">
                                      <p:cBhvr>
                                        <p:cTn dur="1000"/>
                                        <p:tgtEl>
                                          <p:spTgt spid="1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6"/>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Pessoas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20" name="Google Shape;120;p6"/>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121" name="Google Shape;121;p6"/>
          <p:cNvSpPr txBox="1"/>
          <p:nvPr/>
        </p:nvSpPr>
        <p:spPr>
          <a:xfrm>
            <a:off x="967600" y="765450"/>
            <a:ext cx="7469700" cy="37269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lang="pt-BR" sz="1900">
                <a:solidFill>
                  <a:schemeClr val="accent1"/>
                </a:solidFill>
                <a:latin typeface="Montserrat"/>
                <a:ea typeface="Montserrat"/>
                <a:cs typeface="Montserrat"/>
                <a:sym typeface="Montserrat"/>
              </a:rPr>
              <a:t>2</a:t>
            </a:r>
            <a:r>
              <a:rPr b="1" i="0" lang="pt-BR" sz="1900" u="none" cap="none" strike="noStrike">
                <a:solidFill>
                  <a:schemeClr val="accent1"/>
                </a:solidFill>
                <a:latin typeface="Montserrat"/>
                <a:ea typeface="Montserrat"/>
                <a:cs typeface="Montserrat"/>
                <a:sym typeface="Montserrat"/>
              </a:rPr>
              <a:t>. Turnover </a:t>
            </a:r>
            <a:endParaRPr/>
          </a:p>
          <a:p>
            <a:pPr indent="0" lvl="0" marL="0" marR="0" rtl="0" algn="l">
              <a:lnSpc>
                <a:spcPct val="120000"/>
              </a:lnSpc>
              <a:spcBef>
                <a:spcPts val="0"/>
              </a:spcBef>
              <a:spcAft>
                <a:spcPts val="0"/>
              </a:spcAft>
              <a:buClr>
                <a:srgbClr val="000000"/>
              </a:buClr>
              <a:buSzPts val="900"/>
              <a:buFont typeface="Arial"/>
              <a:buNone/>
            </a:pPr>
            <a:r>
              <a:t/>
            </a:r>
            <a:endParaRPr b="0" i="0"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900"/>
              <a:buFont typeface="Arial"/>
              <a:buNone/>
            </a:pPr>
            <a:r>
              <a:rPr b="0" i="0" lang="pt-BR" sz="900" u="none" cap="none" strike="noStrike">
                <a:solidFill>
                  <a:schemeClr val="accent3"/>
                </a:solidFill>
                <a:latin typeface="Montserrat"/>
                <a:ea typeface="Montserrat"/>
                <a:cs typeface="Montserrat"/>
                <a:sym typeface="Montserrat"/>
              </a:rPr>
              <a:t>Turnover = 	</a:t>
            </a:r>
            <a:r>
              <a:rPr b="0" i="0" lang="pt-BR" sz="900" u="sng" cap="none" strike="noStrike">
                <a:solidFill>
                  <a:schemeClr val="accent3"/>
                </a:solidFill>
                <a:latin typeface="Montserrat"/>
                <a:ea typeface="Montserrat"/>
                <a:cs typeface="Montserrat"/>
                <a:sym typeface="Montserrat"/>
              </a:rPr>
              <a:t>Soma das saídas voluntárias </a:t>
            </a:r>
            <a:r>
              <a:rPr lang="pt-BR" sz="900" u="sng">
                <a:solidFill>
                  <a:schemeClr val="accent3"/>
                </a:solidFill>
                <a:latin typeface="Montserrat"/>
                <a:ea typeface="Montserrat"/>
                <a:cs typeface="Montserrat"/>
                <a:sym typeface="Montserrat"/>
              </a:rPr>
              <a:t>por semestre</a:t>
            </a:r>
            <a:endParaRPr/>
          </a:p>
          <a:p>
            <a:pPr indent="0" lvl="0" marL="0" marR="0" rtl="0" algn="l">
              <a:lnSpc>
                <a:spcPct val="120000"/>
              </a:lnSpc>
              <a:spcBef>
                <a:spcPts val="0"/>
              </a:spcBef>
              <a:spcAft>
                <a:spcPts val="0"/>
              </a:spcAft>
              <a:buClr>
                <a:srgbClr val="000000"/>
              </a:buClr>
              <a:buSzPts val="900"/>
              <a:buFont typeface="Arial"/>
              <a:buNone/>
            </a:pPr>
            <a:r>
              <a:rPr b="0" i="0" lang="pt-BR" sz="900" u="none" cap="none" strike="noStrike">
                <a:solidFill>
                  <a:schemeClr val="accent3"/>
                </a:solidFill>
                <a:latin typeface="Montserrat"/>
                <a:ea typeface="Montserrat"/>
                <a:cs typeface="Montserrat"/>
                <a:sym typeface="Montserrat"/>
              </a:rPr>
              <a:t>		</a:t>
            </a:r>
            <a:r>
              <a:rPr lang="pt-BR" sz="900">
                <a:solidFill>
                  <a:schemeClr val="accent3"/>
                </a:solidFill>
                <a:latin typeface="Montserrat"/>
                <a:ea typeface="Montserrat"/>
                <a:cs typeface="Montserrat"/>
                <a:sym typeface="Montserrat"/>
              </a:rPr>
              <a:t>M</a:t>
            </a:r>
            <a:r>
              <a:rPr b="0" i="0" lang="pt-BR" sz="900" u="none" cap="none" strike="noStrike">
                <a:solidFill>
                  <a:schemeClr val="accent3"/>
                </a:solidFill>
                <a:latin typeface="Montserrat"/>
                <a:ea typeface="Montserrat"/>
                <a:cs typeface="Montserrat"/>
                <a:sym typeface="Montserrat"/>
              </a:rPr>
              <a:t>édia do </a:t>
            </a:r>
            <a:r>
              <a:rPr lang="pt-BR" sz="900">
                <a:solidFill>
                  <a:schemeClr val="accent3"/>
                </a:solidFill>
                <a:latin typeface="Montserrat"/>
                <a:ea typeface="Montserrat"/>
                <a:cs typeface="Montserrat"/>
                <a:sym typeface="Montserrat"/>
              </a:rPr>
              <a:t>FTE</a:t>
            </a:r>
            <a:r>
              <a:rPr b="0" i="0" lang="pt-BR" sz="900" u="none" cap="none" strike="noStrike">
                <a:solidFill>
                  <a:schemeClr val="accent3"/>
                </a:solidFill>
                <a:latin typeface="Montserrat"/>
                <a:ea typeface="Montserrat"/>
                <a:cs typeface="Montserrat"/>
                <a:sym typeface="Montserrat"/>
              </a:rPr>
              <a:t> fracionado( de acordo com a data de entrada e saída) de funcionários d</a:t>
            </a:r>
            <a:r>
              <a:rPr lang="pt-BR" sz="900">
                <a:solidFill>
                  <a:schemeClr val="accent3"/>
                </a:solidFill>
                <a:latin typeface="Montserrat"/>
                <a:ea typeface="Montserrat"/>
                <a:cs typeface="Montserrat"/>
                <a:sym typeface="Montserrat"/>
              </a:rPr>
              <a:t>urante H1</a:t>
            </a:r>
            <a:endParaRPr/>
          </a:p>
          <a:p>
            <a:pPr indent="0" lvl="0" marL="0" marR="0" rtl="0" algn="l">
              <a:lnSpc>
                <a:spcPct val="120000"/>
              </a:lnSpc>
              <a:spcBef>
                <a:spcPts val="0"/>
              </a:spcBef>
              <a:spcAft>
                <a:spcPts val="0"/>
              </a:spcAft>
              <a:buClr>
                <a:srgbClr val="000000"/>
              </a:buClr>
              <a:buSzPts val="900"/>
              <a:buFont typeface="Arial"/>
              <a:buNone/>
            </a:pPr>
            <a:r>
              <a:t/>
            </a:r>
            <a:endParaRPr b="0" i="0"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rPr b="0" i="0" lang="pt-BR" sz="1200" u="none" cap="none" strike="noStrike">
                <a:solidFill>
                  <a:srgbClr val="008598"/>
                </a:solidFill>
                <a:latin typeface="Montserrat"/>
                <a:ea typeface="Montserrat"/>
                <a:cs typeface="Montserrat"/>
                <a:sym typeface="Montserrat"/>
              </a:rPr>
              <a:t>Turnover CLTs em </a:t>
            </a:r>
            <a:r>
              <a:rPr lang="pt-BR" sz="1200">
                <a:solidFill>
                  <a:srgbClr val="008598"/>
                </a:solidFill>
                <a:latin typeface="Montserrat"/>
                <a:ea typeface="Montserrat"/>
                <a:cs typeface="Montserrat"/>
                <a:sym typeface="Montserrat"/>
              </a:rPr>
              <a:t>H1</a:t>
            </a:r>
            <a:r>
              <a:rPr b="0" i="0" lang="pt-BR" sz="1200" u="none" cap="none" strike="noStrike">
                <a:solidFill>
                  <a:srgbClr val="008598"/>
                </a:solidFill>
                <a:latin typeface="Montserrat"/>
                <a:ea typeface="Montserrat"/>
                <a:cs typeface="Montserrat"/>
                <a:sym typeface="Montserrat"/>
              </a:rPr>
              <a:t> – abaixo de </a:t>
            </a:r>
            <a:r>
              <a:rPr lang="pt-BR" sz="1200">
                <a:solidFill>
                  <a:srgbClr val="008598"/>
                </a:solidFill>
                <a:latin typeface="Montserrat"/>
                <a:ea typeface="Montserrat"/>
                <a:cs typeface="Montserrat"/>
                <a:sym typeface="Montserrat"/>
              </a:rPr>
              <a:t>18</a:t>
            </a:r>
            <a:r>
              <a:rPr b="0" i="0" lang="pt-BR" sz="1200" u="none" cap="none" strike="noStrike">
                <a:solidFill>
                  <a:srgbClr val="008598"/>
                </a:solidFill>
                <a:latin typeface="Montserrat"/>
                <a:ea typeface="Montserrat"/>
                <a:cs typeface="Montserrat"/>
                <a:sym typeface="Montserrat"/>
              </a:rPr>
              <a:t>%</a:t>
            </a:r>
            <a:r>
              <a:rPr b="0" i="0" lang="pt-BR" sz="1200" u="none" cap="none" strike="noStrike">
                <a:solidFill>
                  <a:schemeClr val="accent3"/>
                </a:solidFill>
                <a:latin typeface="Montserrat"/>
                <a:ea typeface="Montserrat"/>
                <a:cs typeface="Montserrat"/>
                <a:sym typeface="Montserrat"/>
              </a:rPr>
              <a:t>			</a:t>
            </a:r>
            <a:endParaRPr b="0" i="0" sz="1200" u="none" cap="none" strike="noStrike">
              <a:solidFill>
                <a:schemeClr val="accent3"/>
              </a:solidFill>
              <a:latin typeface="Montserrat"/>
              <a:ea typeface="Montserrat"/>
              <a:cs typeface="Montserrat"/>
              <a:sym typeface="Montserrat"/>
            </a:endParaRPr>
          </a:p>
          <a:p>
            <a:pPr indent="457200" lvl="0" marL="0" marR="0" rtl="0" algn="l">
              <a:lnSpc>
                <a:spcPct val="120000"/>
              </a:lnSpc>
              <a:spcBef>
                <a:spcPts val="0"/>
              </a:spcBef>
              <a:spcAft>
                <a:spcPts val="0"/>
              </a:spcAft>
              <a:buClr>
                <a:srgbClr val="000000"/>
              </a:buClr>
              <a:buSzPts val="1200"/>
              <a:buFont typeface="Arial"/>
              <a:buNone/>
            </a:pPr>
            <a:r>
              <a:rPr lang="pt-BR" sz="1200">
                <a:solidFill>
                  <a:schemeClr val="accent3"/>
                </a:solidFill>
                <a:latin typeface="Montserrat"/>
                <a:ea typeface="Montserrat"/>
                <a:cs typeface="Montserrat"/>
                <a:sym typeface="Montserrat"/>
              </a:rPr>
              <a:t>Até</a:t>
            </a:r>
            <a:r>
              <a:rPr b="0" i="0" lang="pt-BR" sz="1200" u="none" cap="none" strike="noStrike">
                <a:solidFill>
                  <a:schemeClr val="accent3"/>
                </a:solidFill>
                <a:latin typeface="Montserrat"/>
                <a:ea typeface="Montserrat"/>
                <a:cs typeface="Montserrat"/>
                <a:sym typeface="Montserrat"/>
              </a:rPr>
              <a:t> </a:t>
            </a:r>
            <a:r>
              <a:rPr lang="pt-BR" sz="1200">
                <a:solidFill>
                  <a:schemeClr val="accent3"/>
                </a:solidFill>
                <a:latin typeface="Montserrat"/>
                <a:ea typeface="Montserrat"/>
                <a:cs typeface="Montserrat"/>
                <a:sym typeface="Montserrat"/>
              </a:rPr>
              <a:t>18</a:t>
            </a:r>
            <a:r>
              <a:rPr b="0" i="0" lang="pt-BR" sz="1200" u="none" cap="none" strike="noStrike">
                <a:solidFill>
                  <a:schemeClr val="accent3"/>
                </a:solidFill>
                <a:latin typeface="Montserrat"/>
                <a:ea typeface="Montserrat"/>
                <a:cs typeface="Montserrat"/>
                <a:sym typeface="Montserrat"/>
              </a:rPr>
              <a:t>% - 1	</a:t>
            </a:r>
            <a:endParaRPr b="0" i="0" sz="1200" u="none" cap="none" strike="noStrike">
              <a:solidFill>
                <a:schemeClr val="accent3"/>
              </a:solidFill>
              <a:latin typeface="Montserrat"/>
              <a:ea typeface="Montserrat"/>
              <a:cs typeface="Montserrat"/>
              <a:sym typeface="Montserrat"/>
            </a:endParaRPr>
          </a:p>
          <a:p>
            <a:pPr indent="0" lvl="0" marL="457200" marR="0" rtl="0" algn="l">
              <a:lnSpc>
                <a:spcPct val="120000"/>
              </a:lnSpc>
              <a:spcBef>
                <a:spcPts val="0"/>
              </a:spcBef>
              <a:spcAft>
                <a:spcPts val="0"/>
              </a:spcAft>
              <a:buClr>
                <a:srgbClr val="000000"/>
              </a:buClr>
              <a:buSzPts val="1200"/>
              <a:buFont typeface="Arial"/>
              <a:buNone/>
            </a:pPr>
            <a:r>
              <a:rPr b="0" i="0" lang="pt-BR" sz="1200" u="none" cap="none" strike="noStrike">
                <a:solidFill>
                  <a:schemeClr val="accent3"/>
                </a:solidFill>
                <a:latin typeface="Montserrat"/>
                <a:ea typeface="Montserrat"/>
                <a:cs typeface="Montserrat"/>
                <a:sym typeface="Montserrat"/>
              </a:rPr>
              <a:t>Entre 1</a:t>
            </a:r>
            <a:r>
              <a:rPr lang="pt-BR" sz="1200">
                <a:solidFill>
                  <a:schemeClr val="accent3"/>
                </a:solidFill>
                <a:latin typeface="Montserrat"/>
                <a:ea typeface="Montserrat"/>
                <a:cs typeface="Montserrat"/>
                <a:sym typeface="Montserrat"/>
              </a:rPr>
              <a:t>8</a:t>
            </a:r>
            <a:r>
              <a:rPr b="0" i="0" lang="pt-BR" sz="1200" u="none" cap="none" strike="noStrike">
                <a:solidFill>
                  <a:schemeClr val="accent3"/>
                </a:solidFill>
                <a:latin typeface="Montserrat"/>
                <a:ea typeface="Montserrat"/>
                <a:cs typeface="Montserrat"/>
                <a:sym typeface="Montserrat"/>
              </a:rPr>
              <a:t>,</a:t>
            </a:r>
            <a:r>
              <a:rPr lang="pt-BR" sz="1200">
                <a:solidFill>
                  <a:schemeClr val="accent3"/>
                </a:solidFill>
                <a:latin typeface="Montserrat"/>
                <a:ea typeface="Montserrat"/>
                <a:cs typeface="Montserrat"/>
                <a:sym typeface="Montserrat"/>
              </a:rPr>
              <a:t>01</a:t>
            </a:r>
            <a:r>
              <a:rPr b="0" i="0" lang="pt-BR" sz="1200" u="none" cap="none" strike="noStrike">
                <a:solidFill>
                  <a:schemeClr val="accent3"/>
                </a:solidFill>
                <a:latin typeface="Montserrat"/>
                <a:ea typeface="Montserrat"/>
                <a:cs typeface="Montserrat"/>
                <a:sym typeface="Montserrat"/>
              </a:rPr>
              <a:t> e </a:t>
            </a:r>
            <a:r>
              <a:rPr lang="pt-BR" sz="1200">
                <a:solidFill>
                  <a:schemeClr val="accent3"/>
                </a:solidFill>
                <a:latin typeface="Montserrat"/>
                <a:ea typeface="Montserrat"/>
                <a:cs typeface="Montserrat"/>
                <a:sym typeface="Montserrat"/>
              </a:rPr>
              <a:t>19</a:t>
            </a:r>
            <a:r>
              <a:rPr b="0" i="0" lang="pt-BR" sz="1200" u="none" cap="none" strike="noStrike">
                <a:solidFill>
                  <a:schemeClr val="accent3"/>
                </a:solidFill>
                <a:latin typeface="Montserrat"/>
                <a:ea typeface="Montserrat"/>
                <a:cs typeface="Montserrat"/>
                <a:sym typeface="Montserrat"/>
              </a:rPr>
              <a:t> % - 0,5</a:t>
            </a:r>
            <a:endParaRPr b="0" i="0" sz="1200" u="none" cap="none" strike="noStrike">
              <a:solidFill>
                <a:schemeClr val="accent3"/>
              </a:solidFill>
              <a:latin typeface="Montserrat"/>
              <a:ea typeface="Montserrat"/>
              <a:cs typeface="Montserrat"/>
              <a:sym typeface="Montserrat"/>
            </a:endParaRPr>
          </a:p>
          <a:p>
            <a:pPr indent="0" lvl="0" marL="457200" marR="0" rtl="0" algn="l">
              <a:lnSpc>
                <a:spcPct val="120000"/>
              </a:lnSpc>
              <a:spcBef>
                <a:spcPts val="0"/>
              </a:spcBef>
              <a:spcAft>
                <a:spcPts val="0"/>
              </a:spcAft>
              <a:buClr>
                <a:srgbClr val="000000"/>
              </a:buClr>
              <a:buSzPts val="1200"/>
              <a:buFont typeface="Arial"/>
              <a:buNone/>
            </a:pPr>
            <a:r>
              <a:rPr b="0" i="0" lang="pt-BR" sz="1200" u="none" cap="none" strike="noStrike">
                <a:solidFill>
                  <a:schemeClr val="accent3"/>
                </a:solidFill>
                <a:latin typeface="Montserrat"/>
                <a:ea typeface="Montserrat"/>
                <a:cs typeface="Montserrat"/>
                <a:sym typeface="Montserrat"/>
              </a:rPr>
              <a:t>Acima de </a:t>
            </a:r>
            <a:r>
              <a:rPr lang="pt-BR" sz="1200">
                <a:solidFill>
                  <a:schemeClr val="accent3"/>
                </a:solidFill>
                <a:latin typeface="Montserrat"/>
                <a:ea typeface="Montserrat"/>
                <a:cs typeface="Montserrat"/>
                <a:sym typeface="Montserrat"/>
              </a:rPr>
              <a:t>19</a:t>
            </a:r>
            <a:r>
              <a:rPr b="0" i="0" lang="pt-BR" sz="1200" u="none" cap="none" strike="noStrike">
                <a:solidFill>
                  <a:schemeClr val="accent3"/>
                </a:solidFill>
                <a:latin typeface="Montserrat"/>
                <a:ea typeface="Montserrat"/>
                <a:cs typeface="Montserrat"/>
                <a:sym typeface="Montserrat"/>
              </a:rPr>
              <a:t>% - 0	</a:t>
            </a:r>
            <a:endParaRPr b="0" i="0" sz="1200" u="none" cap="none" strike="noStrike">
              <a:solidFill>
                <a:schemeClr val="accent3"/>
              </a:solidFill>
              <a:latin typeface="Montserrat"/>
              <a:ea typeface="Montserrat"/>
              <a:cs typeface="Montserrat"/>
              <a:sym typeface="Montserrat"/>
            </a:endParaRPr>
          </a:p>
          <a:p>
            <a:pPr indent="0" lvl="0" marL="457200" marR="0" rtl="0" algn="l">
              <a:lnSpc>
                <a:spcPct val="120000"/>
              </a:lnSpc>
              <a:spcBef>
                <a:spcPts val="0"/>
              </a:spcBef>
              <a:spcAft>
                <a:spcPts val="0"/>
              </a:spcAft>
              <a:buClr>
                <a:srgbClr val="000000"/>
              </a:buClr>
              <a:buSzPts val="1200"/>
              <a:buFont typeface="Arial"/>
              <a:buNone/>
            </a:pPr>
            <a:r>
              <a:t/>
            </a:r>
            <a:endParaRPr sz="1200">
              <a:solidFill>
                <a:schemeClr val="accent3"/>
              </a:solidFill>
              <a:latin typeface="Montserrat"/>
              <a:ea typeface="Montserrat"/>
              <a:cs typeface="Montserrat"/>
              <a:sym typeface="Montserrat"/>
            </a:endParaRPr>
          </a:p>
          <a:p>
            <a:pPr indent="0" lvl="0" marL="0" rtl="0" algn="l">
              <a:lnSpc>
                <a:spcPct val="120000"/>
              </a:lnSpc>
              <a:spcBef>
                <a:spcPts val="0"/>
              </a:spcBef>
              <a:spcAft>
                <a:spcPts val="0"/>
              </a:spcAft>
              <a:buClr>
                <a:schemeClr val="dk1"/>
              </a:buClr>
              <a:buSzPts val="900"/>
              <a:buFont typeface="Arial"/>
              <a:buNone/>
            </a:pPr>
            <a:r>
              <a:rPr lang="pt-BR" sz="900">
                <a:solidFill>
                  <a:schemeClr val="accent3"/>
                </a:solidFill>
                <a:latin typeface="Montserrat"/>
                <a:ea typeface="Montserrat"/>
                <a:cs typeface="Montserrat"/>
                <a:sym typeface="Montserrat"/>
              </a:rPr>
              <a:t>Turnover = 	</a:t>
            </a:r>
            <a:r>
              <a:rPr lang="pt-BR" sz="900" u="sng">
                <a:solidFill>
                  <a:schemeClr val="accent3"/>
                </a:solidFill>
                <a:latin typeface="Montserrat"/>
                <a:ea typeface="Montserrat"/>
                <a:cs typeface="Montserrat"/>
                <a:sym typeface="Montserrat"/>
              </a:rPr>
              <a:t>Soma das saídas voluntárias por semestre</a:t>
            </a:r>
            <a:endParaRPr>
              <a:solidFill>
                <a:schemeClr val="dk1"/>
              </a:solidFill>
            </a:endParaRPr>
          </a:p>
          <a:p>
            <a:pPr indent="0" lvl="0" marL="0" rtl="0" algn="l">
              <a:lnSpc>
                <a:spcPct val="120000"/>
              </a:lnSpc>
              <a:spcBef>
                <a:spcPts val="0"/>
              </a:spcBef>
              <a:spcAft>
                <a:spcPts val="0"/>
              </a:spcAft>
              <a:buClr>
                <a:schemeClr val="dk1"/>
              </a:buClr>
              <a:buSzPts val="900"/>
              <a:buFont typeface="Arial"/>
              <a:buNone/>
            </a:pPr>
            <a:r>
              <a:rPr lang="pt-BR" sz="900">
                <a:solidFill>
                  <a:schemeClr val="accent3"/>
                </a:solidFill>
                <a:latin typeface="Montserrat"/>
                <a:ea typeface="Montserrat"/>
                <a:cs typeface="Montserrat"/>
                <a:sym typeface="Montserrat"/>
              </a:rPr>
              <a:t>		Média do FTE fracionado( de acordo com a data de entrada e saída) de funcionários durante H2</a:t>
            </a:r>
            <a:endParaRPr>
              <a:solidFill>
                <a:schemeClr val="dk1"/>
              </a:solidFill>
            </a:endParaRPr>
          </a:p>
          <a:p>
            <a:pPr indent="0" lvl="0" marL="0" rtl="0" algn="l">
              <a:lnSpc>
                <a:spcPct val="120000"/>
              </a:lnSpc>
              <a:spcBef>
                <a:spcPts val="0"/>
              </a:spcBef>
              <a:spcAft>
                <a:spcPts val="0"/>
              </a:spcAft>
              <a:buClr>
                <a:schemeClr val="dk1"/>
              </a:buClr>
              <a:buSzPts val="900"/>
              <a:buFont typeface="Arial"/>
              <a:buNone/>
            </a:pPr>
            <a:r>
              <a:t/>
            </a:r>
            <a:endParaRPr sz="900">
              <a:solidFill>
                <a:schemeClr val="accent3"/>
              </a:solidFill>
              <a:latin typeface="Montserrat"/>
              <a:ea typeface="Montserrat"/>
              <a:cs typeface="Montserrat"/>
              <a:sym typeface="Montserrat"/>
            </a:endParaRPr>
          </a:p>
          <a:p>
            <a:pPr indent="0" lvl="0" marL="0" rtl="0" algn="l">
              <a:lnSpc>
                <a:spcPct val="120000"/>
              </a:lnSpc>
              <a:spcBef>
                <a:spcPts val="0"/>
              </a:spcBef>
              <a:spcAft>
                <a:spcPts val="0"/>
              </a:spcAft>
              <a:buClr>
                <a:schemeClr val="dk1"/>
              </a:buClr>
              <a:buSzPts val="1200"/>
              <a:buFont typeface="Arial"/>
              <a:buNone/>
            </a:pPr>
            <a:r>
              <a:rPr lang="pt-BR" sz="1200">
                <a:solidFill>
                  <a:srgbClr val="008598"/>
                </a:solidFill>
                <a:latin typeface="Montserrat"/>
                <a:ea typeface="Montserrat"/>
                <a:cs typeface="Montserrat"/>
                <a:sym typeface="Montserrat"/>
              </a:rPr>
              <a:t>Turnover CLTs em H2 – abaixo de 22%</a:t>
            </a:r>
            <a:r>
              <a:rPr lang="pt-BR" sz="1200">
                <a:solidFill>
                  <a:schemeClr val="accent3"/>
                </a:solidFill>
                <a:latin typeface="Montserrat"/>
                <a:ea typeface="Montserrat"/>
                <a:cs typeface="Montserrat"/>
                <a:sym typeface="Montserrat"/>
              </a:rPr>
              <a:t>			</a:t>
            </a:r>
            <a:endParaRPr sz="1200">
              <a:solidFill>
                <a:schemeClr val="accent3"/>
              </a:solidFill>
              <a:latin typeface="Montserrat"/>
              <a:ea typeface="Montserrat"/>
              <a:cs typeface="Montserrat"/>
              <a:sym typeface="Montserrat"/>
            </a:endParaRPr>
          </a:p>
          <a:p>
            <a:pPr indent="457200" lvl="0" marL="0" rtl="0" algn="l">
              <a:lnSpc>
                <a:spcPct val="120000"/>
              </a:lnSpc>
              <a:spcBef>
                <a:spcPts val="0"/>
              </a:spcBef>
              <a:spcAft>
                <a:spcPts val="0"/>
              </a:spcAft>
              <a:buClr>
                <a:schemeClr val="dk1"/>
              </a:buClr>
              <a:buSzPts val="1200"/>
              <a:buFont typeface="Arial"/>
              <a:buNone/>
            </a:pPr>
            <a:r>
              <a:rPr lang="pt-BR" sz="1200">
                <a:solidFill>
                  <a:schemeClr val="accent3"/>
                </a:solidFill>
                <a:latin typeface="Montserrat"/>
                <a:ea typeface="Montserrat"/>
                <a:cs typeface="Montserrat"/>
                <a:sym typeface="Montserrat"/>
              </a:rPr>
              <a:t>Até 22% - 1	</a:t>
            </a:r>
            <a:endParaRPr sz="1200">
              <a:solidFill>
                <a:schemeClr val="accent3"/>
              </a:solidFill>
              <a:latin typeface="Montserrat"/>
              <a:ea typeface="Montserrat"/>
              <a:cs typeface="Montserrat"/>
              <a:sym typeface="Montserrat"/>
            </a:endParaRPr>
          </a:p>
          <a:p>
            <a:pPr indent="0" lvl="0" marL="457200" rtl="0" algn="l">
              <a:lnSpc>
                <a:spcPct val="120000"/>
              </a:lnSpc>
              <a:spcBef>
                <a:spcPts val="0"/>
              </a:spcBef>
              <a:spcAft>
                <a:spcPts val="0"/>
              </a:spcAft>
              <a:buClr>
                <a:schemeClr val="dk1"/>
              </a:buClr>
              <a:buSzPts val="1200"/>
              <a:buFont typeface="Arial"/>
              <a:buNone/>
            </a:pPr>
            <a:r>
              <a:rPr lang="pt-BR" sz="1200">
                <a:solidFill>
                  <a:schemeClr val="accent3"/>
                </a:solidFill>
                <a:latin typeface="Montserrat"/>
                <a:ea typeface="Montserrat"/>
                <a:cs typeface="Montserrat"/>
                <a:sym typeface="Montserrat"/>
              </a:rPr>
              <a:t>Entre 22,01 e 24 % - 0,5</a:t>
            </a:r>
            <a:endParaRPr sz="1200">
              <a:solidFill>
                <a:schemeClr val="accent3"/>
              </a:solidFill>
              <a:latin typeface="Montserrat"/>
              <a:ea typeface="Montserrat"/>
              <a:cs typeface="Montserrat"/>
              <a:sym typeface="Montserrat"/>
            </a:endParaRPr>
          </a:p>
          <a:p>
            <a:pPr indent="457200" lvl="0" marL="0" marR="0" rtl="0" algn="l">
              <a:lnSpc>
                <a:spcPct val="120000"/>
              </a:lnSpc>
              <a:spcBef>
                <a:spcPts val="0"/>
              </a:spcBef>
              <a:spcAft>
                <a:spcPts val="0"/>
              </a:spcAft>
              <a:buClr>
                <a:srgbClr val="000000"/>
              </a:buClr>
              <a:buSzPts val="1200"/>
              <a:buFont typeface="Arial"/>
              <a:buNone/>
            </a:pPr>
            <a:r>
              <a:rPr lang="pt-BR" sz="1200">
                <a:solidFill>
                  <a:schemeClr val="accent3"/>
                </a:solidFill>
                <a:latin typeface="Montserrat"/>
                <a:ea typeface="Montserrat"/>
                <a:cs typeface="Montserrat"/>
                <a:sym typeface="Montserrat"/>
              </a:rPr>
              <a:t>Acima de 24% - 0	</a:t>
            </a:r>
            <a:r>
              <a:rPr b="0" i="0" lang="pt-BR" sz="1200" u="none" cap="none" strike="noStrike">
                <a:solidFill>
                  <a:schemeClr val="accent3"/>
                </a:solidFill>
                <a:latin typeface="Montserrat"/>
                <a:ea typeface="Montserrat"/>
                <a:cs typeface="Montserrat"/>
                <a:sym typeface="Montserrat"/>
              </a:rPr>
              <a:t>		</a:t>
            </a:r>
            <a:endParaRPr b="0" i="1"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900"/>
              <a:buFont typeface="Arial"/>
              <a:buNone/>
            </a:pPr>
            <a:r>
              <a:t/>
            </a:r>
            <a:endParaRPr b="0" i="1" sz="600" u="none" cap="none" strike="noStrike">
              <a:solidFill>
                <a:schemeClr val="accent3"/>
              </a:solidFill>
              <a:highlight>
                <a:srgbClr val="E06666"/>
              </a:highlight>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100" u="none" cap="none" strike="noStrike">
              <a:solidFill>
                <a:schemeClr val="accent3"/>
              </a:solidFill>
              <a:highlight>
                <a:srgbClr val="6D9EEB"/>
              </a:highlight>
              <a:latin typeface="Montserrat"/>
              <a:ea typeface="Montserrat"/>
              <a:cs typeface="Montserrat"/>
              <a:sym typeface="Montserra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1"/>
                                        </p:tgtEl>
                                        <p:attrNameLst>
                                          <p:attrName>style.visibility</p:attrName>
                                        </p:attrNameLst>
                                      </p:cBhvr>
                                      <p:to>
                                        <p:strVal val="visible"/>
                                      </p:to>
                                    </p:set>
                                    <p:animEffect filter="fade" transition="in">
                                      <p:cBhvr>
                                        <p:cTn dur="1000"/>
                                        <p:tgtEl>
                                          <p:spTgt spid="12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7"/>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Pessoas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27" name="Google Shape;127;p7"/>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128" name="Google Shape;128;p7"/>
          <p:cNvSpPr txBox="1"/>
          <p:nvPr/>
        </p:nvSpPr>
        <p:spPr>
          <a:xfrm>
            <a:off x="967600" y="765450"/>
            <a:ext cx="7208800" cy="22239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Diversidade</a:t>
            </a:r>
            <a:endParaRPr/>
          </a:p>
          <a:p>
            <a:pPr indent="0" lvl="0" marL="0" marR="0" rtl="0" algn="l">
              <a:lnSpc>
                <a:spcPct val="120000"/>
              </a:lnSpc>
              <a:spcBef>
                <a:spcPts val="0"/>
              </a:spcBef>
              <a:spcAft>
                <a:spcPts val="0"/>
              </a:spcAft>
              <a:buClr>
                <a:srgbClr val="000000"/>
              </a:buClr>
              <a:buSzPts val="900"/>
              <a:buFont typeface="Arial"/>
              <a:buNone/>
            </a:pPr>
            <a:r>
              <a:t/>
            </a:r>
            <a:endParaRPr b="0" i="0"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900"/>
              <a:buFont typeface="Arial"/>
              <a:buNone/>
            </a:pPr>
            <a:r>
              <a:rPr b="0" i="0" lang="pt-BR" sz="900" u="none" cap="none" strike="noStrike">
                <a:solidFill>
                  <a:schemeClr val="accent3"/>
                </a:solidFill>
                <a:latin typeface="Montserrat"/>
                <a:ea typeface="Montserrat"/>
                <a:cs typeface="Montserrat"/>
                <a:sym typeface="Montserrat"/>
              </a:rPr>
              <a:t>A diversidade é medida por dois indicadores que devem ser obrigatoriamente cumpridos (3.1 </a:t>
            </a:r>
            <a:r>
              <a:rPr lang="pt-BR" sz="900">
                <a:solidFill>
                  <a:schemeClr val="accent3"/>
                </a:solidFill>
                <a:latin typeface="Montserrat"/>
                <a:ea typeface="Montserrat"/>
                <a:cs typeface="Montserrat"/>
                <a:sym typeface="Montserrat"/>
              </a:rPr>
              <a:t>e</a:t>
            </a:r>
            <a:r>
              <a:rPr b="0" i="0" lang="pt-BR" sz="900" u="none" cap="none" strike="noStrike">
                <a:solidFill>
                  <a:schemeClr val="accent3"/>
                </a:solidFill>
                <a:latin typeface="Montserrat"/>
                <a:ea typeface="Montserrat"/>
                <a:cs typeface="Montserrat"/>
                <a:sym typeface="Montserrat"/>
              </a:rPr>
              <a:t> 3.2). Caso um dos dois indicadores não seja alcançado, a métrica é anulada.</a:t>
            </a:r>
            <a:endParaRPr b="0" i="0"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rPr b="0" i="0" lang="pt-BR" sz="1200" u="none" cap="none" strike="noStrike">
                <a:solidFill>
                  <a:schemeClr val="accent3"/>
                </a:solidFill>
                <a:latin typeface="Montserrat"/>
                <a:ea typeface="Montserrat"/>
                <a:cs typeface="Montserrat"/>
                <a:sym typeface="Montserrat"/>
              </a:rPr>
              <a:t>		</a:t>
            </a:r>
            <a:endParaRPr b="0" i="1"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900"/>
              <a:buFont typeface="Arial"/>
              <a:buNone/>
            </a:pPr>
            <a:r>
              <a:t/>
            </a:r>
            <a:endParaRPr b="0" i="1"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
        <p:nvSpPr>
          <p:cNvPr id="129" name="Google Shape;129;p7"/>
          <p:cNvSpPr txBox="1"/>
          <p:nvPr/>
        </p:nvSpPr>
        <p:spPr>
          <a:xfrm>
            <a:off x="871250" y="1877400"/>
            <a:ext cx="7861500" cy="2182500"/>
          </a:xfrm>
          <a:prstGeom prst="rect">
            <a:avLst/>
          </a:prstGeom>
          <a:noFill/>
          <a:ln>
            <a:noFill/>
          </a:ln>
        </p:spPr>
        <p:txBody>
          <a:bodyPr anchorCtr="0" anchor="t" bIns="91425" lIns="91425" spcFirstLastPara="1" rIns="91425" wrap="square" tIns="91425">
            <a:spAutoFit/>
          </a:bodyPr>
          <a:lstStyle/>
          <a:p>
            <a:pPr indent="0" lvl="0" marL="0" marR="0" rtl="0" algn="l">
              <a:lnSpc>
                <a:spcPct val="120000"/>
              </a:lnSpc>
              <a:spcBef>
                <a:spcPts val="0"/>
              </a:spcBef>
              <a:spcAft>
                <a:spcPts val="0"/>
              </a:spcAft>
              <a:buClr>
                <a:srgbClr val="000000"/>
              </a:buClr>
              <a:buSzPts val="1200"/>
              <a:buFont typeface="Arial"/>
              <a:buNone/>
            </a:pPr>
            <a:r>
              <a:rPr b="0" i="0" lang="pt-BR" sz="1100" u="none" cap="none" strike="noStrike">
                <a:solidFill>
                  <a:schemeClr val="accent3"/>
                </a:solidFill>
                <a:latin typeface="Montserrat"/>
                <a:ea typeface="Montserrat"/>
                <a:cs typeface="Montserrat"/>
                <a:sym typeface="Montserrat"/>
              </a:rPr>
              <a:t>3.1 </a:t>
            </a:r>
            <a:r>
              <a:rPr lang="pt-BR" sz="1100">
                <a:solidFill>
                  <a:schemeClr val="accent3"/>
                </a:solidFill>
                <a:latin typeface="Montserrat"/>
                <a:ea typeface="Montserrat"/>
                <a:cs typeface="Montserrat"/>
                <a:sym typeface="Montserrat"/>
              </a:rPr>
              <a:t>10</a:t>
            </a:r>
            <a:r>
              <a:rPr b="0" i="0" lang="pt-BR" sz="1100" u="none" cap="none" strike="noStrike">
                <a:solidFill>
                  <a:schemeClr val="accent3"/>
                </a:solidFill>
                <a:latin typeface="Montserrat"/>
                <a:ea typeface="Montserrat"/>
                <a:cs typeface="Montserrat"/>
                <a:sym typeface="Montserrat"/>
              </a:rPr>
              <a:t>% da</a:t>
            </a:r>
            <a:r>
              <a:rPr lang="pt-BR" sz="1100">
                <a:solidFill>
                  <a:schemeClr val="accent3"/>
                </a:solidFill>
                <a:latin typeface="Montserrat"/>
                <a:ea typeface="Montserrat"/>
                <a:cs typeface="Montserrat"/>
                <a:sym typeface="Montserrat"/>
              </a:rPr>
              <a:t> população Blinks Essence</a:t>
            </a:r>
            <a:r>
              <a:rPr b="0" i="0" lang="pt-BR" sz="1100" u="none" cap="none" strike="noStrike">
                <a:solidFill>
                  <a:schemeClr val="accent3"/>
                </a:solidFill>
                <a:latin typeface="Montserrat"/>
                <a:ea typeface="Montserrat"/>
                <a:cs typeface="Montserrat"/>
                <a:sym typeface="Montserrat"/>
              </a:rPr>
              <a:t> no </a:t>
            </a:r>
            <a:r>
              <a:rPr lang="pt-BR" sz="1100">
                <a:solidFill>
                  <a:schemeClr val="accent3"/>
                </a:solidFill>
                <a:latin typeface="Montserrat"/>
                <a:ea typeface="Montserrat"/>
                <a:cs typeface="Montserrat"/>
                <a:sym typeface="Montserrat"/>
              </a:rPr>
              <a:t>primeiro semestre e 20% no segundo semestre</a:t>
            </a:r>
            <a:r>
              <a:rPr b="0" i="0" lang="pt-BR" sz="1100" u="none" cap="none" strike="noStrike">
                <a:solidFill>
                  <a:schemeClr val="accent3"/>
                </a:solidFill>
                <a:latin typeface="Montserrat"/>
                <a:ea typeface="Montserrat"/>
                <a:cs typeface="Montserrat"/>
                <a:sym typeface="Montserrat"/>
              </a:rPr>
              <a:t> </a:t>
            </a:r>
            <a:r>
              <a:rPr lang="pt-BR" sz="1100">
                <a:solidFill>
                  <a:schemeClr val="accent3"/>
                </a:solidFill>
                <a:latin typeface="Montserrat"/>
                <a:ea typeface="Montserrat"/>
                <a:cs typeface="Montserrat"/>
                <a:sym typeface="Montserrat"/>
              </a:rPr>
              <a:t>(Estágio, Analistas, Especialistas) composta</a:t>
            </a:r>
            <a:r>
              <a:rPr b="0" i="0" lang="pt-BR" sz="1100" u="none" cap="none" strike="noStrike">
                <a:solidFill>
                  <a:schemeClr val="accent3"/>
                </a:solidFill>
                <a:latin typeface="Montserrat"/>
                <a:ea typeface="Montserrat"/>
                <a:cs typeface="Montserrat"/>
                <a:sym typeface="Montserrat"/>
              </a:rPr>
              <a:t> por pessoas pret</a:t>
            </a:r>
            <a:r>
              <a:rPr lang="pt-BR" sz="1100">
                <a:solidFill>
                  <a:schemeClr val="accent3"/>
                </a:solidFill>
                <a:latin typeface="Montserrat"/>
                <a:ea typeface="Montserrat"/>
                <a:cs typeface="Montserrat"/>
                <a:sym typeface="Montserrat"/>
              </a:rPr>
              <a:t>a</a:t>
            </a:r>
            <a:r>
              <a:rPr b="0" i="0" lang="pt-BR" sz="1100" u="none" cap="none" strike="noStrike">
                <a:solidFill>
                  <a:schemeClr val="accent3"/>
                </a:solidFill>
                <a:latin typeface="Montserrat"/>
                <a:ea typeface="Montserrat"/>
                <a:cs typeface="Montserrat"/>
                <a:sym typeface="Montserrat"/>
              </a:rPr>
              <a:t>s </a:t>
            </a:r>
            <a:r>
              <a:rPr lang="pt-BR" sz="1100">
                <a:solidFill>
                  <a:schemeClr val="accent3"/>
                </a:solidFill>
                <a:latin typeface="Montserrat"/>
                <a:ea typeface="Montserrat"/>
                <a:cs typeface="Montserrat"/>
                <a:sym typeface="Montserrat"/>
              </a:rPr>
              <a:t>(critério fenotipagem)</a:t>
            </a:r>
            <a:endParaRPr sz="1300"/>
          </a:p>
          <a:p>
            <a:pPr indent="0" lvl="0" marL="0" marR="0" rtl="0" algn="l">
              <a:lnSpc>
                <a:spcPct val="120000"/>
              </a:lnSpc>
              <a:spcBef>
                <a:spcPts val="0"/>
              </a:spcBef>
              <a:spcAft>
                <a:spcPts val="0"/>
              </a:spcAft>
              <a:buClr>
                <a:srgbClr val="000000"/>
              </a:buClr>
              <a:buSzPts val="1200"/>
              <a:buFont typeface="Arial"/>
              <a:buNone/>
            </a:pPr>
            <a:r>
              <a:t/>
            </a:r>
            <a:endParaRPr b="0" i="0" sz="1100" u="none" cap="none" strike="noStrike">
              <a:solidFill>
                <a:schemeClr val="accent3"/>
              </a:solidFill>
              <a:highlight>
                <a:srgbClr val="FFFF00"/>
              </a:highlight>
              <a:latin typeface="Montserrat"/>
              <a:ea typeface="Montserrat"/>
              <a:cs typeface="Montserrat"/>
              <a:sym typeface="Montserrat"/>
            </a:endParaRPr>
          </a:p>
          <a:p>
            <a:pPr indent="0" lvl="0" marL="457200" rtl="0" algn="l">
              <a:lnSpc>
                <a:spcPct val="120000"/>
              </a:lnSpc>
              <a:spcBef>
                <a:spcPts val="0"/>
              </a:spcBef>
              <a:spcAft>
                <a:spcPts val="0"/>
              </a:spcAft>
              <a:buClr>
                <a:srgbClr val="000000"/>
              </a:buClr>
              <a:buFont typeface="Arial"/>
              <a:buNone/>
            </a:pPr>
            <a:r>
              <a:t/>
            </a:r>
            <a:endParaRPr sz="1100">
              <a:solidFill>
                <a:schemeClr val="dk1"/>
              </a:solidFill>
              <a:latin typeface="Montserrat"/>
              <a:ea typeface="Montserrat"/>
              <a:cs typeface="Montserrat"/>
              <a:sym typeface="Montserrat"/>
            </a:endParaRPr>
          </a:p>
          <a:p>
            <a:pPr indent="0" lvl="0" marL="457200" rtl="0" algn="l">
              <a:lnSpc>
                <a:spcPct val="120000"/>
              </a:lnSpc>
              <a:spcBef>
                <a:spcPts val="0"/>
              </a:spcBef>
              <a:spcAft>
                <a:spcPts val="0"/>
              </a:spcAft>
              <a:buClr>
                <a:srgbClr val="000000"/>
              </a:buClr>
              <a:buFont typeface="Arial"/>
              <a:buNone/>
            </a:pPr>
            <a:r>
              <a:t/>
            </a:r>
            <a:endParaRPr sz="1100">
              <a:solidFill>
                <a:schemeClr val="dk1"/>
              </a:solidFill>
              <a:latin typeface="Montserrat"/>
              <a:ea typeface="Montserrat"/>
              <a:cs typeface="Montserrat"/>
              <a:sym typeface="Montserrat"/>
            </a:endParaRPr>
          </a:p>
          <a:p>
            <a:pPr indent="0" lvl="0" marL="457200" rtl="0" algn="l">
              <a:lnSpc>
                <a:spcPct val="120000"/>
              </a:lnSpc>
              <a:spcBef>
                <a:spcPts val="0"/>
              </a:spcBef>
              <a:spcAft>
                <a:spcPts val="0"/>
              </a:spcAft>
              <a:buClr>
                <a:srgbClr val="000000"/>
              </a:buClr>
              <a:buFont typeface="Arial"/>
              <a:buNone/>
            </a:pPr>
            <a:r>
              <a:t/>
            </a:r>
            <a:endParaRPr sz="1100">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t/>
            </a:r>
            <a:endParaRPr sz="1100">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t/>
            </a:r>
            <a:endParaRPr sz="1100">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rPr b="0" i="0" lang="pt-BR" sz="1100" u="none" cap="none" strike="noStrike">
                <a:solidFill>
                  <a:schemeClr val="accent3"/>
                </a:solidFill>
                <a:latin typeface="Montserrat"/>
                <a:ea typeface="Montserrat"/>
                <a:cs typeface="Montserrat"/>
                <a:sym typeface="Montserrat"/>
              </a:rPr>
              <a:t>3.2 </a:t>
            </a:r>
            <a:r>
              <a:rPr lang="pt-BR" sz="1100">
                <a:solidFill>
                  <a:schemeClr val="accent3"/>
                </a:solidFill>
                <a:latin typeface="Montserrat"/>
                <a:ea typeface="Montserrat"/>
                <a:cs typeface="Montserrat"/>
                <a:sym typeface="Montserrat"/>
              </a:rPr>
              <a:t>3</a:t>
            </a:r>
            <a:r>
              <a:rPr lang="pt-BR" sz="1100">
                <a:solidFill>
                  <a:schemeClr val="accent3"/>
                </a:solidFill>
                <a:latin typeface="Montserrat"/>
                <a:ea typeface="Montserrat"/>
                <a:cs typeface="Montserrat"/>
                <a:sym typeface="Montserrat"/>
              </a:rPr>
              <a:t>% da população Blinks Essence no primeiro semestre e 7% no segundo semestre dos cargos de liderança (Coordenação, Gerência, Diretoria) composta por pessoas</a:t>
            </a:r>
            <a:r>
              <a:rPr lang="pt-BR" sz="1100">
                <a:solidFill>
                  <a:schemeClr val="dk1"/>
                </a:solidFill>
                <a:latin typeface="Montserrat"/>
                <a:ea typeface="Montserrat"/>
                <a:cs typeface="Montserrat"/>
                <a:sym typeface="Montserrat"/>
              </a:rPr>
              <a:t> </a:t>
            </a:r>
            <a:r>
              <a:rPr lang="pt-BR" sz="1100">
                <a:solidFill>
                  <a:schemeClr val="accent3"/>
                </a:solidFill>
                <a:latin typeface="Montserrat"/>
                <a:ea typeface="Montserrat"/>
                <a:cs typeface="Montserrat"/>
                <a:sym typeface="Montserrat"/>
              </a:rPr>
              <a:t>pretas (critério fenotipagem)</a:t>
            </a:r>
            <a:r>
              <a:rPr lang="pt-BR" sz="1100">
                <a:solidFill>
                  <a:srgbClr val="FF0000"/>
                </a:solidFill>
                <a:latin typeface="Montserrat"/>
                <a:ea typeface="Montserrat"/>
                <a:cs typeface="Montserrat"/>
                <a:sym typeface="Montserrat"/>
              </a:rPr>
              <a:t>	</a:t>
            </a:r>
            <a:endParaRPr sz="1100">
              <a:solidFill>
                <a:schemeClr val="accent3"/>
              </a:solidFill>
              <a:latin typeface="Montserrat"/>
              <a:ea typeface="Montserrat"/>
              <a:cs typeface="Montserrat"/>
              <a:sym typeface="Montserrat"/>
            </a:endParaRPr>
          </a:p>
        </p:txBody>
      </p:sp>
      <p:graphicFrame>
        <p:nvGraphicFramePr>
          <p:cNvPr id="130" name="Google Shape;130;p7"/>
          <p:cNvGraphicFramePr/>
          <p:nvPr/>
        </p:nvGraphicFramePr>
        <p:xfrm>
          <a:off x="1578150" y="2427550"/>
          <a:ext cx="3000000" cy="3000000"/>
        </p:xfrm>
        <a:graphic>
          <a:graphicData uri="http://schemas.openxmlformats.org/drawingml/2006/table">
            <a:tbl>
              <a:tblPr>
                <a:noFill/>
                <a:tableStyleId>{04F095FD-1155-4E39-9436-0E95A2916E5A}</a:tableStyleId>
              </a:tblPr>
              <a:tblGrid>
                <a:gridCol w="2685750"/>
                <a:gridCol w="2240600"/>
              </a:tblGrid>
              <a:tr h="350500">
                <a:tc>
                  <a:txBody>
                    <a:bodyPr/>
                    <a:lstStyle/>
                    <a:p>
                      <a:pPr indent="0" lvl="0" marL="0" rtl="0" algn="ctr">
                        <a:spcBef>
                          <a:spcPts val="0"/>
                        </a:spcBef>
                        <a:spcAft>
                          <a:spcPts val="0"/>
                        </a:spcAft>
                        <a:buNone/>
                      </a:pPr>
                      <a:r>
                        <a:rPr lang="pt-BR" sz="1100"/>
                        <a:t>H1</a:t>
                      </a:r>
                      <a:endParaRPr sz="1100"/>
                    </a:p>
                  </a:txBody>
                  <a:tcPr marT="91425" marB="91425" marR="91425" marL="91425"/>
                </a:tc>
                <a:tc>
                  <a:txBody>
                    <a:bodyPr/>
                    <a:lstStyle/>
                    <a:p>
                      <a:pPr indent="0" lvl="0" marL="0" rtl="0" algn="ctr">
                        <a:spcBef>
                          <a:spcPts val="0"/>
                        </a:spcBef>
                        <a:spcAft>
                          <a:spcPts val="0"/>
                        </a:spcAft>
                        <a:buNone/>
                      </a:pPr>
                      <a:r>
                        <a:rPr lang="pt-BR" sz="1100"/>
                        <a:t>H2</a:t>
                      </a:r>
                      <a:endParaRPr sz="1100"/>
                    </a:p>
                  </a:txBody>
                  <a:tcPr marT="91425" marB="91425" marR="91425" marL="91425"/>
                </a:tc>
              </a:tr>
              <a:tr h="660600">
                <a:tc>
                  <a:txBody>
                    <a:bodyPr/>
                    <a:lstStyle/>
                    <a:p>
                      <a:pPr indent="457200" lvl="0" marL="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1</a:t>
                      </a:r>
                      <a:r>
                        <a:rPr lang="pt-BR" sz="900">
                          <a:solidFill>
                            <a:schemeClr val="dk1"/>
                          </a:solidFill>
                          <a:latin typeface="Montserrat"/>
                          <a:ea typeface="Montserrat"/>
                          <a:cs typeface="Montserrat"/>
                          <a:sym typeface="Montserrat"/>
                        </a:rPr>
                        <a:t>0% e acima - 1	</a:t>
                      </a:r>
                      <a:endParaRPr sz="1100">
                        <a:solidFill>
                          <a:schemeClr val="dk1"/>
                        </a:solidFill>
                      </a:endParaRPr>
                    </a:p>
                    <a:p>
                      <a:pPr indent="0" lvl="0" marL="45720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Entre 9,99% e 5% - 0,5</a:t>
                      </a:r>
                      <a:endParaRPr sz="1100">
                        <a:solidFill>
                          <a:schemeClr val="dk1"/>
                        </a:solidFill>
                      </a:endParaRPr>
                    </a:p>
                    <a:p>
                      <a:pPr indent="0" lvl="0" marL="45720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Abaixo de 5% - 0	</a:t>
                      </a:r>
                      <a:endParaRPr sz="1100"/>
                    </a:p>
                  </a:txBody>
                  <a:tcPr marT="91425" marB="91425" marR="91425" marL="91425"/>
                </a:tc>
                <a:tc>
                  <a:txBody>
                    <a:bodyPr/>
                    <a:lstStyle/>
                    <a:p>
                      <a:pPr indent="457200" lvl="0" marL="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2</a:t>
                      </a:r>
                      <a:r>
                        <a:rPr lang="pt-BR" sz="900">
                          <a:solidFill>
                            <a:schemeClr val="dk1"/>
                          </a:solidFill>
                          <a:latin typeface="Montserrat"/>
                          <a:ea typeface="Montserrat"/>
                          <a:cs typeface="Montserrat"/>
                          <a:sym typeface="Montserrat"/>
                        </a:rPr>
                        <a:t>0% e acima - 1	</a:t>
                      </a:r>
                      <a:endParaRPr sz="1100">
                        <a:solidFill>
                          <a:schemeClr val="dk1"/>
                        </a:solidFill>
                      </a:endParaRPr>
                    </a:p>
                    <a:p>
                      <a:pPr indent="0" lvl="0" marL="45720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Entre 19,99% e 15% - 0,5</a:t>
                      </a:r>
                      <a:endParaRPr sz="1100">
                        <a:solidFill>
                          <a:schemeClr val="dk1"/>
                        </a:solidFill>
                      </a:endParaRPr>
                    </a:p>
                    <a:p>
                      <a:pPr indent="0" lvl="0" marL="457200" rtl="0" algn="l">
                        <a:lnSpc>
                          <a:spcPct val="120000"/>
                        </a:lnSpc>
                        <a:spcBef>
                          <a:spcPts val="0"/>
                        </a:spcBef>
                        <a:spcAft>
                          <a:spcPts val="0"/>
                        </a:spcAft>
                        <a:buClr>
                          <a:schemeClr val="dk1"/>
                        </a:buClr>
                        <a:buFont typeface="Arial"/>
                        <a:buNone/>
                      </a:pPr>
                      <a:r>
                        <a:rPr lang="pt-BR" sz="900">
                          <a:solidFill>
                            <a:schemeClr val="dk1"/>
                          </a:solidFill>
                          <a:latin typeface="Montserrat"/>
                          <a:ea typeface="Montserrat"/>
                          <a:cs typeface="Montserrat"/>
                          <a:sym typeface="Montserrat"/>
                        </a:rPr>
                        <a:t>Abaixo de 15% - 0	</a:t>
                      </a:r>
                      <a:endParaRPr sz="1100"/>
                    </a:p>
                  </a:txBody>
                  <a:tcPr marT="91425" marB="91425" marR="91425" marL="91425"/>
                </a:tc>
              </a:tr>
            </a:tbl>
          </a:graphicData>
        </a:graphic>
      </p:graphicFrame>
      <p:graphicFrame>
        <p:nvGraphicFramePr>
          <p:cNvPr id="131" name="Google Shape;131;p7"/>
          <p:cNvGraphicFramePr/>
          <p:nvPr/>
        </p:nvGraphicFramePr>
        <p:xfrm>
          <a:off x="1538150" y="4015700"/>
          <a:ext cx="3000000" cy="3000000"/>
        </p:xfrm>
        <a:graphic>
          <a:graphicData uri="http://schemas.openxmlformats.org/drawingml/2006/table">
            <a:tbl>
              <a:tblPr>
                <a:noFill/>
                <a:tableStyleId>{04F095FD-1155-4E39-9436-0E95A2916E5A}</a:tableStyleId>
              </a:tblPr>
              <a:tblGrid>
                <a:gridCol w="2685750"/>
                <a:gridCol w="2240600"/>
              </a:tblGrid>
              <a:tr h="350500">
                <a:tc>
                  <a:txBody>
                    <a:bodyPr/>
                    <a:lstStyle/>
                    <a:p>
                      <a:pPr indent="0" lvl="0" marL="0" rtl="0" algn="ctr">
                        <a:spcBef>
                          <a:spcPts val="0"/>
                        </a:spcBef>
                        <a:spcAft>
                          <a:spcPts val="0"/>
                        </a:spcAft>
                        <a:buNone/>
                      </a:pPr>
                      <a:r>
                        <a:rPr lang="pt-BR" sz="1100"/>
                        <a:t>H1</a:t>
                      </a:r>
                      <a:endParaRPr sz="1100"/>
                    </a:p>
                  </a:txBody>
                  <a:tcPr marT="91425" marB="91425" marR="91425" marL="91425"/>
                </a:tc>
                <a:tc>
                  <a:txBody>
                    <a:bodyPr/>
                    <a:lstStyle/>
                    <a:p>
                      <a:pPr indent="0" lvl="0" marL="0" rtl="0" algn="ctr">
                        <a:spcBef>
                          <a:spcPts val="0"/>
                        </a:spcBef>
                        <a:spcAft>
                          <a:spcPts val="0"/>
                        </a:spcAft>
                        <a:buNone/>
                      </a:pPr>
                      <a:r>
                        <a:rPr lang="pt-BR" sz="1100"/>
                        <a:t>H2</a:t>
                      </a:r>
                      <a:endParaRPr sz="1100"/>
                    </a:p>
                  </a:txBody>
                  <a:tcPr marT="91425" marB="91425" marR="91425" marL="91425"/>
                </a:tc>
              </a:tr>
              <a:tr h="660600">
                <a:tc>
                  <a:txBody>
                    <a:bodyPr/>
                    <a:lstStyle/>
                    <a:p>
                      <a:pPr indent="457200" lvl="0" marL="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3</a:t>
                      </a:r>
                      <a:r>
                        <a:rPr lang="pt-BR" sz="900">
                          <a:solidFill>
                            <a:schemeClr val="dk1"/>
                          </a:solidFill>
                          <a:latin typeface="Montserrat"/>
                          <a:ea typeface="Montserrat"/>
                          <a:cs typeface="Montserrat"/>
                          <a:sym typeface="Montserrat"/>
                        </a:rPr>
                        <a:t>% e acima - 1	</a:t>
                      </a:r>
                      <a:endParaRPr sz="1100">
                        <a:solidFill>
                          <a:schemeClr val="dk1"/>
                        </a:solidFill>
                      </a:endParaRPr>
                    </a:p>
                    <a:p>
                      <a:pPr indent="0" lvl="0" marL="45720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Entre 2,99% e 2% - 0,5</a:t>
                      </a:r>
                      <a:endParaRPr sz="1100">
                        <a:solidFill>
                          <a:schemeClr val="dk1"/>
                        </a:solidFill>
                      </a:endParaRPr>
                    </a:p>
                    <a:p>
                      <a:pPr indent="0" lvl="0" marL="45720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Abaixo de 2% - 0	</a:t>
                      </a:r>
                      <a:endParaRPr sz="1100"/>
                    </a:p>
                  </a:txBody>
                  <a:tcPr marT="91425" marB="91425" marR="91425" marL="91425"/>
                </a:tc>
                <a:tc>
                  <a:txBody>
                    <a:bodyPr/>
                    <a:lstStyle/>
                    <a:p>
                      <a:pPr indent="457200" lvl="0" marL="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7</a:t>
                      </a:r>
                      <a:r>
                        <a:rPr lang="pt-BR" sz="900">
                          <a:solidFill>
                            <a:schemeClr val="dk1"/>
                          </a:solidFill>
                          <a:latin typeface="Montserrat"/>
                          <a:ea typeface="Montserrat"/>
                          <a:cs typeface="Montserrat"/>
                          <a:sym typeface="Montserrat"/>
                        </a:rPr>
                        <a:t>% e acima - 1	</a:t>
                      </a:r>
                      <a:endParaRPr sz="1100">
                        <a:solidFill>
                          <a:schemeClr val="dk1"/>
                        </a:solidFill>
                      </a:endParaRPr>
                    </a:p>
                    <a:p>
                      <a:pPr indent="0" lvl="0" marL="45720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Entre 6,99% e 5% - 0,5</a:t>
                      </a:r>
                      <a:endParaRPr sz="1100">
                        <a:solidFill>
                          <a:schemeClr val="dk1"/>
                        </a:solidFill>
                      </a:endParaRPr>
                    </a:p>
                    <a:p>
                      <a:pPr indent="0" lvl="0" marL="457200" rtl="0" algn="l">
                        <a:lnSpc>
                          <a:spcPct val="120000"/>
                        </a:lnSpc>
                        <a:spcBef>
                          <a:spcPts val="0"/>
                        </a:spcBef>
                        <a:spcAft>
                          <a:spcPts val="0"/>
                        </a:spcAft>
                        <a:buNone/>
                      </a:pPr>
                      <a:r>
                        <a:rPr lang="pt-BR" sz="900">
                          <a:solidFill>
                            <a:schemeClr val="dk1"/>
                          </a:solidFill>
                          <a:latin typeface="Montserrat"/>
                          <a:ea typeface="Montserrat"/>
                          <a:cs typeface="Montserrat"/>
                          <a:sym typeface="Montserrat"/>
                        </a:rPr>
                        <a:t>Abaixo de 5% - 0	</a:t>
                      </a:r>
                      <a:endParaRPr sz="1100"/>
                    </a:p>
                  </a:txBody>
                  <a:tcPr marT="91425" marB="91425" marR="91425" marL="91425"/>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8"/>
                                        </p:tgtEl>
                                        <p:attrNameLst>
                                          <p:attrName>style.visibility</p:attrName>
                                        </p:attrNameLst>
                                      </p:cBhvr>
                                      <p:to>
                                        <p:strVal val="visible"/>
                                      </p:to>
                                    </p:set>
                                    <p:animEffect filter="fade" transition="in">
                                      <p:cBhvr>
                                        <p:cTn dur="1000"/>
                                        <p:tgtEl>
                                          <p:spTgt spid="1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9"/>
                                        </p:tgtEl>
                                        <p:attrNameLst>
                                          <p:attrName>style.visibility</p:attrName>
                                        </p:attrNameLst>
                                      </p:cBhvr>
                                      <p:to>
                                        <p:strVal val="visible"/>
                                      </p:to>
                                    </p:set>
                                    <p:animEffect filter="fade" transition="in">
                                      <p:cBhvr>
                                        <p:cTn dur="1000"/>
                                        <p:tgtEl>
                                          <p:spTgt spid="1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9"/>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Pessoas</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37" name="Google Shape;137;p9"/>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sp>
        <p:nvSpPr>
          <p:cNvPr id="138" name="Google Shape;138;p9"/>
          <p:cNvSpPr txBox="1"/>
          <p:nvPr/>
        </p:nvSpPr>
        <p:spPr>
          <a:xfrm>
            <a:off x="967600" y="765450"/>
            <a:ext cx="7154400" cy="22239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lang="pt-BR" sz="1900">
                <a:solidFill>
                  <a:schemeClr val="accent1"/>
                </a:solidFill>
                <a:latin typeface="Montserrat"/>
                <a:ea typeface="Montserrat"/>
                <a:cs typeface="Montserrat"/>
                <a:sym typeface="Montserrat"/>
              </a:rPr>
              <a:t>4</a:t>
            </a:r>
            <a:r>
              <a:rPr b="1" i="0" lang="pt-BR" sz="1900" u="none" cap="none" strike="noStrike">
                <a:solidFill>
                  <a:schemeClr val="accent1"/>
                </a:solidFill>
                <a:latin typeface="Montserrat"/>
                <a:ea typeface="Montserrat"/>
                <a:cs typeface="Montserrat"/>
                <a:sym typeface="Montserrat"/>
              </a:rPr>
              <a:t>. Revisão de Desempenho </a:t>
            </a:r>
            <a:endParaRPr/>
          </a:p>
          <a:p>
            <a:pPr indent="0" lvl="0" marL="0" marR="0" rtl="0" algn="l">
              <a:lnSpc>
                <a:spcPct val="120000"/>
              </a:lnSpc>
              <a:spcBef>
                <a:spcPts val="0"/>
              </a:spcBef>
              <a:spcAft>
                <a:spcPts val="0"/>
              </a:spcAft>
              <a:buClr>
                <a:srgbClr val="000000"/>
              </a:buClr>
              <a:buSzPts val="900"/>
              <a:buFont typeface="Arial"/>
              <a:buNone/>
            </a:pPr>
            <a:r>
              <a:t/>
            </a:r>
            <a:endParaRPr b="0" i="0"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200"/>
              <a:buFont typeface="Arial"/>
              <a:buNone/>
            </a:pPr>
            <a:r>
              <a:rPr b="0" i="0" lang="pt-BR" sz="1200" u="none" cap="none" strike="noStrike">
                <a:solidFill>
                  <a:schemeClr val="accent3"/>
                </a:solidFill>
                <a:latin typeface="Montserrat"/>
                <a:ea typeface="Montserrat"/>
                <a:cs typeface="Montserrat"/>
                <a:sym typeface="Montserrat"/>
              </a:rPr>
              <a:t>O valor final da Revisão de Desempenho é calculado considerando a média </a:t>
            </a:r>
            <a:r>
              <a:rPr lang="pt-BR" sz="1200">
                <a:solidFill>
                  <a:schemeClr val="accent3"/>
                </a:solidFill>
                <a:latin typeface="Montserrat"/>
                <a:ea typeface="Montserrat"/>
                <a:cs typeface="Montserrat"/>
                <a:sym typeface="Montserrat"/>
              </a:rPr>
              <a:t>entre</a:t>
            </a:r>
            <a:r>
              <a:rPr b="0" i="0" lang="pt-BR" sz="1200" u="none" cap="none" strike="noStrike">
                <a:solidFill>
                  <a:schemeClr val="accent3"/>
                </a:solidFill>
                <a:latin typeface="Montserrat"/>
                <a:ea typeface="Montserrat"/>
                <a:cs typeface="Montserrat"/>
                <a:sym typeface="Montserrat"/>
              </a:rPr>
              <a:t>:</a:t>
            </a:r>
            <a:endParaRPr/>
          </a:p>
          <a:p>
            <a:pPr indent="0" lvl="0" marL="0" marR="0" rtl="0" algn="l">
              <a:lnSpc>
                <a:spcPct val="120000"/>
              </a:lnSpc>
              <a:spcBef>
                <a:spcPts val="0"/>
              </a:spcBef>
              <a:spcAft>
                <a:spcPts val="0"/>
              </a:spcAft>
              <a:buNone/>
            </a:pPr>
            <a:r>
              <a:t/>
            </a:r>
            <a:endParaRPr b="0" i="0" sz="1200" u="none" cap="none" strike="noStrike">
              <a:solidFill>
                <a:schemeClr val="accent3"/>
              </a:solidFill>
              <a:latin typeface="Montserrat"/>
              <a:ea typeface="Montserrat"/>
              <a:cs typeface="Montserrat"/>
              <a:sym typeface="Montserrat"/>
            </a:endParaRPr>
          </a:p>
          <a:p>
            <a:pPr indent="-171450" lvl="0" marL="171450" marR="0" rtl="0" algn="l">
              <a:lnSpc>
                <a:spcPct val="120000"/>
              </a:lnSpc>
              <a:spcBef>
                <a:spcPts val="0"/>
              </a:spcBef>
              <a:spcAft>
                <a:spcPts val="0"/>
              </a:spcAft>
              <a:buClr>
                <a:srgbClr val="000000"/>
              </a:buClr>
              <a:buSzPts val="1200"/>
              <a:buFont typeface="Arial"/>
              <a:buChar char="-"/>
            </a:pPr>
            <a:r>
              <a:rPr b="0" i="0" lang="pt-BR" sz="1200" u="none" cap="none" strike="noStrike">
                <a:solidFill>
                  <a:schemeClr val="accent3"/>
                </a:solidFill>
                <a:latin typeface="Montserrat"/>
                <a:ea typeface="Montserrat"/>
                <a:cs typeface="Montserrat"/>
                <a:sym typeface="Montserrat"/>
              </a:rPr>
              <a:t>Avaliação do gestor </a:t>
            </a:r>
            <a:endParaRPr/>
          </a:p>
          <a:p>
            <a:pPr indent="-171450" lvl="0" marL="171450" marR="0" rtl="0" algn="l">
              <a:lnSpc>
                <a:spcPct val="120000"/>
              </a:lnSpc>
              <a:spcBef>
                <a:spcPts val="0"/>
              </a:spcBef>
              <a:spcAft>
                <a:spcPts val="0"/>
              </a:spcAft>
              <a:buClr>
                <a:srgbClr val="000000"/>
              </a:buClr>
              <a:buSzPts val="1200"/>
              <a:buFont typeface="Arial"/>
              <a:buChar char="-"/>
            </a:pPr>
            <a:r>
              <a:rPr b="0" i="0" lang="pt-BR" sz="1200" u="none" cap="none" strike="noStrike">
                <a:solidFill>
                  <a:schemeClr val="accent3"/>
                </a:solidFill>
                <a:latin typeface="Montserrat"/>
                <a:ea typeface="Montserrat"/>
                <a:cs typeface="Montserrat"/>
                <a:sym typeface="Montserrat"/>
              </a:rPr>
              <a:t>Avaliações 360</a:t>
            </a:r>
            <a:endParaRPr/>
          </a:p>
          <a:p>
            <a:pPr indent="-95250" lvl="0" marL="17145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None/>
            </a:pPr>
            <a:r>
              <a:rPr b="0" i="0" lang="pt-BR" sz="1200" u="none" cap="none" strike="noStrike">
                <a:solidFill>
                  <a:schemeClr val="accent3"/>
                </a:solidFill>
                <a:latin typeface="Montserrat"/>
                <a:ea typeface="Montserrat"/>
                <a:cs typeface="Montserrat"/>
                <a:sym typeface="Montserrat"/>
              </a:rPr>
              <a:t>A média é a soma de todos os valores obtidos (gestor + avaliadores) dividido pelo número total de avaliações. Todas as avaliações têm o mesmo peso.</a:t>
            </a:r>
            <a:endParaRPr/>
          </a:p>
          <a:p>
            <a:pPr indent="0" lvl="0" marL="0" marR="0" rtl="0" algn="l">
              <a:lnSpc>
                <a:spcPct val="120000"/>
              </a:lnSpc>
              <a:spcBef>
                <a:spcPts val="0"/>
              </a:spcBef>
              <a:spcAft>
                <a:spcPts val="0"/>
              </a:spcAft>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None/>
            </a:pPr>
            <a:r>
              <a:rPr b="0" i="0" lang="pt-BR" sz="1200" u="none" cap="none" strike="noStrike">
                <a:solidFill>
                  <a:schemeClr val="accent3"/>
                </a:solidFill>
                <a:latin typeface="Montserrat"/>
                <a:ea typeface="Montserrat"/>
                <a:cs typeface="Montserrat"/>
                <a:sym typeface="Montserrat"/>
              </a:rPr>
              <a:t>Essa média é transformada em um valor equivalente ao peso do indicador de acordo com o nível da pessoa avaliada (ver tabela </a:t>
            </a:r>
            <a:r>
              <a:rPr lang="pt-BR" sz="1200">
                <a:solidFill>
                  <a:schemeClr val="accent3"/>
                </a:solidFill>
                <a:latin typeface="Montserrat"/>
                <a:ea typeface="Montserrat"/>
                <a:cs typeface="Montserrat"/>
                <a:sym typeface="Montserrat"/>
              </a:rPr>
              <a:t>“</a:t>
            </a:r>
            <a:r>
              <a:rPr lang="pt-BR" sz="1200" u="sng">
                <a:solidFill>
                  <a:schemeClr val="hlink"/>
                </a:solidFill>
                <a:latin typeface="Montserrat"/>
                <a:ea typeface="Montserrat"/>
                <a:cs typeface="Montserrat"/>
                <a:sym typeface="Montserrat"/>
                <a:hlinkClick action="ppaction://hlinksldjump" r:id="rId3"/>
              </a:rPr>
              <a:t>Alocação das métricas por cargo</a:t>
            </a:r>
            <a:r>
              <a:rPr lang="pt-BR" sz="1200">
                <a:solidFill>
                  <a:schemeClr val="accent3"/>
                </a:solidFill>
                <a:latin typeface="Montserrat"/>
                <a:ea typeface="Montserrat"/>
                <a:cs typeface="Montserrat"/>
                <a:sym typeface="Montserrat"/>
              </a:rPr>
              <a:t>”</a:t>
            </a:r>
            <a:r>
              <a:rPr b="0" i="0" lang="pt-BR" sz="1200" u="none" cap="none" strike="noStrike">
                <a:solidFill>
                  <a:schemeClr val="accent3"/>
                </a:solidFill>
                <a:latin typeface="Montserrat"/>
                <a:ea typeface="Montserrat"/>
                <a:cs typeface="Montserrat"/>
                <a:sym typeface="Montserrat"/>
              </a:rPr>
              <a:t>).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None/>
            </a:pPr>
            <a:r>
              <a:t/>
            </a:r>
            <a:endParaRPr sz="1000">
              <a:solidFill>
                <a:schemeClr val="dk1"/>
              </a:solidFill>
              <a:highlight>
                <a:srgbClr val="6D9EEB"/>
              </a:highlight>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900"/>
              <a:buFont typeface="Arial"/>
              <a:buNone/>
            </a:pPr>
            <a:r>
              <a:t/>
            </a:r>
            <a:endParaRPr b="0" i="1" sz="9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
                                        </p:tgtEl>
                                        <p:attrNameLst>
                                          <p:attrName>style.visibility</p:attrName>
                                        </p:attrNameLst>
                                      </p:cBhvr>
                                      <p:to>
                                        <p:strVal val="visible"/>
                                      </p:to>
                                    </p:set>
                                    <p:animEffect filter="fade" transition="in">
                                      <p:cBhvr>
                                        <p:cTn dur="1000"/>
                                        <p:tgtEl>
                                          <p:spTgt spid="1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11fa3052e6c_0_0"/>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44" name="Google Shape;144;g11fa3052e6c_0_0"/>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45" name="Google Shape;145;g11fa3052e6c_0_0"/>
          <p:cNvSpPr txBox="1"/>
          <p:nvPr/>
        </p:nvSpPr>
        <p:spPr>
          <a:xfrm>
            <a:off x="838650" y="678525"/>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 5.</a:t>
            </a:r>
            <a:r>
              <a:rPr b="1" lang="pt-BR" sz="1900">
                <a:solidFill>
                  <a:schemeClr val="accent1"/>
                </a:solidFill>
                <a:latin typeface="Montserrat"/>
                <a:ea typeface="Montserrat"/>
                <a:cs typeface="Montserrat"/>
                <a:sym typeface="Montserrat"/>
              </a:rPr>
              <a:t> </a:t>
            </a:r>
            <a:r>
              <a:rPr b="1" i="0" lang="pt-BR" sz="1900" u="none" cap="none" strike="noStrike">
                <a:solidFill>
                  <a:schemeClr val="accent1"/>
                </a:solidFill>
                <a:latin typeface="Montserrat"/>
                <a:ea typeface="Montserrat"/>
                <a:cs typeface="Montserrat"/>
                <a:sym typeface="Montserrat"/>
              </a:rPr>
              <a:t>Certificações para o 1o sem/22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
        <p:nvSpPr>
          <p:cNvPr id="146" name="Google Shape;146;g11fa3052e6c_0_0"/>
          <p:cNvSpPr txBox="1"/>
          <p:nvPr/>
        </p:nvSpPr>
        <p:spPr>
          <a:xfrm>
            <a:off x="502675" y="3725700"/>
            <a:ext cx="8371800" cy="878100"/>
          </a:xfrm>
          <a:prstGeom prst="rect">
            <a:avLst/>
          </a:prstGeom>
          <a:noFill/>
          <a:ln>
            <a:noFill/>
          </a:ln>
        </p:spPr>
        <p:txBody>
          <a:bodyPr anchorCtr="0" anchor="t" bIns="26775" lIns="26775" spcFirstLastPara="1" rIns="26775" wrap="square" tIns="26775">
            <a:noAutofit/>
          </a:bodyPr>
          <a:lstStyle/>
          <a:p>
            <a:pPr indent="0" lvl="0" marL="0" marR="0" rtl="0" algn="l">
              <a:lnSpc>
                <a:spcPct val="100000"/>
              </a:lnSpc>
              <a:spcBef>
                <a:spcPts val="0"/>
              </a:spcBef>
              <a:spcAft>
                <a:spcPts val="0"/>
              </a:spcAft>
              <a:buClr>
                <a:srgbClr val="000000"/>
              </a:buClr>
              <a:buSzPts val="1000"/>
              <a:buFont typeface="Arial"/>
              <a:buNone/>
            </a:pPr>
            <a:r>
              <a:rPr b="1" i="0" lang="pt-BR" sz="1000" u="none" cap="none" strike="noStrike">
                <a:solidFill>
                  <a:schemeClr val="accent3"/>
                </a:solidFill>
                <a:latin typeface="Montserrat"/>
                <a:ea typeface="Montserrat"/>
                <a:cs typeface="Montserrat"/>
                <a:sym typeface="Montserrat"/>
              </a:rPr>
              <a:t>* </a:t>
            </a:r>
            <a:r>
              <a:rPr b="1" i="0" lang="pt-BR" sz="1000" u="sng" cap="none" strike="noStrike">
                <a:solidFill>
                  <a:schemeClr val="accent3"/>
                </a:solidFill>
                <a:latin typeface="Montserrat"/>
                <a:ea typeface="Montserrat"/>
                <a:cs typeface="Montserrat"/>
                <a:sym typeface="Montserrat"/>
              </a:rPr>
              <a:t>IMPORTANTE</a:t>
            </a:r>
            <a:r>
              <a:rPr b="1" i="0" lang="pt-BR" sz="1000" u="none" cap="none" strike="noStrike">
                <a:solidFill>
                  <a:schemeClr val="accent3"/>
                </a:solidFill>
                <a:latin typeface="Montserrat"/>
                <a:ea typeface="Montserrat"/>
                <a:cs typeface="Montserrat"/>
                <a:sym typeface="Montserrat"/>
              </a:rPr>
              <a:t>: </a:t>
            </a:r>
            <a:r>
              <a:rPr b="0" i="0" lang="pt-BR" sz="1000" u="none" cap="none" strike="noStrike">
                <a:solidFill>
                  <a:schemeClr val="accent3"/>
                </a:solidFill>
                <a:latin typeface="Montserrat"/>
                <a:ea typeface="Montserrat"/>
                <a:cs typeface="Montserrat"/>
                <a:sym typeface="Montserrat"/>
              </a:rPr>
              <a:t>Serão contabilizadas as provas concluídas e comprovadas até 30/06/2022. Provas após esta data não serão consideradas na apuração do P</a:t>
            </a:r>
            <a:r>
              <a:rPr lang="pt-BR" sz="1000">
                <a:solidFill>
                  <a:schemeClr val="accent3"/>
                </a:solidFill>
                <a:latin typeface="Montserrat"/>
                <a:ea typeface="Montserrat"/>
                <a:cs typeface="Montserrat"/>
                <a:sym typeface="Montserrat"/>
              </a:rPr>
              <a:t>rograma de Remuneração de Incentivo</a:t>
            </a:r>
            <a:r>
              <a:rPr b="0" i="0" lang="pt-BR" sz="1000" u="none" cap="none" strike="noStrike">
                <a:solidFill>
                  <a:schemeClr val="accent3"/>
                </a:solidFill>
                <a:latin typeface="Montserrat"/>
                <a:ea typeface="Montserrat"/>
                <a:cs typeface="Montserrat"/>
                <a:sym typeface="Montserrat"/>
              </a:rPr>
              <a:t> do 1o semestre de 2022. </a:t>
            </a:r>
            <a:r>
              <a:rPr b="0" i="0" lang="pt-BR" sz="1000" u="none" cap="none" strike="noStrike">
                <a:solidFill>
                  <a:schemeClr val="dk1"/>
                </a:solidFill>
                <a:latin typeface="Montserrat"/>
                <a:ea typeface="Montserrat"/>
                <a:cs typeface="Montserrat"/>
                <a:sym typeface="Montserrat"/>
              </a:rPr>
              <a:t>Se você é um novo funcionário, lembre-se de atualizar seu cadastro no Skillshop do Google - se não estiver atualizado, não conseguiremos validar sua certificação.</a:t>
            </a:r>
            <a:endParaRPr b="0" i="0" sz="1000" u="none" cap="none" strike="noStrike">
              <a:solidFill>
                <a:schemeClr val="accent1"/>
              </a:solidFill>
              <a:latin typeface="Montserrat"/>
              <a:ea typeface="Montserrat"/>
              <a:cs typeface="Montserrat"/>
              <a:sym typeface="Montserrat"/>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accent3"/>
              </a:solidFill>
              <a:latin typeface="Montserrat"/>
              <a:ea typeface="Montserrat"/>
              <a:cs typeface="Montserrat"/>
              <a:sym typeface="Montserrat"/>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accent3"/>
              </a:solidFill>
              <a:latin typeface="Montserrat"/>
              <a:ea typeface="Montserrat"/>
              <a:cs typeface="Montserrat"/>
              <a:sym typeface="Montserrat"/>
            </a:endParaRPr>
          </a:p>
        </p:txBody>
      </p:sp>
      <p:pic>
        <p:nvPicPr>
          <p:cNvPr id="147" name="Google Shape;147;g11fa3052e6c_0_0"/>
          <p:cNvPicPr preferRelativeResize="0"/>
          <p:nvPr/>
        </p:nvPicPr>
        <p:blipFill>
          <a:blip r:embed="rId3">
            <a:alphaModFix/>
          </a:blip>
          <a:stretch>
            <a:fillRect/>
          </a:stretch>
        </p:blipFill>
        <p:spPr>
          <a:xfrm>
            <a:off x="152400" y="1792150"/>
            <a:ext cx="8839201" cy="1733307"/>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g11fa3052e6c_0_8"/>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53" name="Google Shape;153;g11fa3052e6c_0_8"/>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54" name="Google Shape;154;g11fa3052e6c_0_8"/>
          <p:cNvSpPr txBox="1"/>
          <p:nvPr/>
        </p:nvSpPr>
        <p:spPr>
          <a:xfrm>
            <a:off x="905600" y="880050"/>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 Certificações para o 1o sem/22</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
        <p:nvSpPr>
          <p:cNvPr id="155" name="Google Shape;155;g11fa3052e6c_0_8"/>
          <p:cNvSpPr txBox="1"/>
          <p:nvPr/>
        </p:nvSpPr>
        <p:spPr>
          <a:xfrm>
            <a:off x="126500" y="1556850"/>
            <a:ext cx="9024900" cy="3986700"/>
          </a:xfrm>
          <a:prstGeom prst="rect">
            <a:avLst/>
          </a:prstGeom>
          <a:noFill/>
          <a:ln>
            <a:noFill/>
          </a:ln>
        </p:spPr>
        <p:txBody>
          <a:bodyPr anchorCtr="0" anchor="t" bIns="91425" lIns="91425" spcFirstLastPara="1" rIns="91425" wrap="square" tIns="91425">
            <a:spAutoFit/>
          </a:bodyPr>
          <a:lstStyle/>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Caso apenas 1 (uma) das provas obrigatórias seja realizada você terá direito a 33% do bônus equivalente a certificação; caso faça 2 (duas) provas terá o peso de 67% e perderá o direito ao acelerador. Só terá direito ao acelerador quem tiver as 3 (três) provas realizadas;</a:t>
            </a:r>
            <a:endParaRPr sz="900">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dk1"/>
              </a:buClr>
              <a:buSzPts val="900"/>
              <a:buFont typeface="Montserrat"/>
              <a:buChar char="●"/>
            </a:pPr>
            <a:r>
              <a:rPr lang="pt-BR" sz="900">
                <a:solidFill>
                  <a:schemeClr val="dk1"/>
                </a:solidFill>
                <a:highlight>
                  <a:srgbClr val="D9EAD3"/>
                </a:highlight>
                <a:latin typeface="Montserrat"/>
                <a:ea typeface="Montserrat"/>
                <a:cs typeface="Montserrat"/>
                <a:sym typeface="Montserrat"/>
              </a:rPr>
              <a:t>Revisão da regra anterior: Caso apenas 1 (uma) das provas obrigatórias seja realizada você terá direito a 50% do bônus equivalente a certificação; caso faça 2 (duas) provas terá o peso de 100% e perderá o direito ao acelerador. Para Google são necessárias a realização das duas certificações para ter direito a 50% do valor. Só terá direito ao acelerador quem tiver as 3 (três) provas realizadas;</a:t>
            </a:r>
            <a:endParaRPr sz="900">
              <a:solidFill>
                <a:schemeClr val="dk1"/>
              </a:solidFill>
              <a:highlight>
                <a:srgbClr val="D9EAD3"/>
              </a:highlight>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Para as provas da Meta: se você tiver uma das provas completas ainda válida, escolha a opção de prova que não foi realizada. Caso você tenha as duas provas completas válidas precisará seguir a regra: Exceção Meta;</a:t>
            </a:r>
            <a:endParaRPr sz="900">
              <a:solidFill>
                <a:schemeClr val="dk1"/>
              </a:solidFill>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Para as provas do Google: é necessário que as duas provas sugeridas sejam realizadas (display e vídeo practitioner);</a:t>
            </a:r>
            <a:endParaRPr sz="900">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dk1"/>
              </a:buClr>
              <a:buSzPts val="900"/>
              <a:buFont typeface="Montserrat"/>
              <a:buChar char="●"/>
            </a:pPr>
            <a:r>
              <a:rPr lang="pt-BR" sz="900">
                <a:solidFill>
                  <a:schemeClr val="dk1"/>
                </a:solidFill>
                <a:latin typeface="Montserrat"/>
                <a:ea typeface="Montserrat"/>
                <a:cs typeface="Montserrat"/>
                <a:sym typeface="Montserrat"/>
              </a:rPr>
              <a:t>As provas </a:t>
            </a:r>
            <a:r>
              <a:rPr lang="pt-BR" sz="900" u="sng">
                <a:solidFill>
                  <a:schemeClr val="dk1"/>
                </a:solidFill>
                <a:latin typeface="Montserrat"/>
                <a:ea typeface="Montserrat"/>
                <a:cs typeface="Montserrat"/>
                <a:sym typeface="Montserrat"/>
              </a:rPr>
              <a:t>EXTRAS </a:t>
            </a:r>
            <a:r>
              <a:rPr lang="pt-BR" sz="900">
                <a:solidFill>
                  <a:schemeClr val="dk1"/>
                </a:solidFill>
                <a:latin typeface="Montserrat"/>
                <a:ea typeface="Montserrat"/>
                <a:cs typeface="Montserrat"/>
                <a:sym typeface="Montserrat"/>
              </a:rPr>
              <a:t>só serão consideradas se as provas básicas e do acelerador forem efetuadas;</a:t>
            </a:r>
            <a:endParaRPr sz="900">
              <a:solidFill>
                <a:schemeClr val="dk1"/>
              </a:solidFill>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Para as provas eletivas do acelerador, só serão consideradas as certificações realizadas entre 01/01/2022 e 30/06/2022.</a:t>
            </a:r>
            <a:endParaRPr sz="900">
              <a:solidFill>
                <a:schemeClr val="dk1"/>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800"/>
              <a:buFont typeface="Arial"/>
              <a:buNone/>
            </a:pPr>
            <a:r>
              <a:t/>
            </a:r>
            <a:endParaRPr sz="900">
              <a:solidFill>
                <a:schemeClr val="dk1"/>
              </a:solidFill>
              <a:latin typeface="Montserrat"/>
              <a:ea typeface="Montserrat"/>
              <a:cs typeface="Montserrat"/>
              <a:sym typeface="Montserrat"/>
            </a:endParaRPr>
          </a:p>
          <a:p>
            <a:pPr indent="0" lvl="0" marL="0" marR="0" rtl="0" algn="l">
              <a:lnSpc>
                <a:spcPct val="200000"/>
              </a:lnSpc>
              <a:spcBef>
                <a:spcPts val="0"/>
              </a:spcBef>
              <a:spcAft>
                <a:spcPts val="0"/>
              </a:spcAft>
              <a:buClr>
                <a:srgbClr val="000000"/>
              </a:buClr>
              <a:buSzPts val="800"/>
              <a:buFont typeface="Arial"/>
              <a:buNone/>
            </a:pPr>
            <a:r>
              <a:t/>
            </a:r>
            <a:endParaRPr b="0" i="0" sz="800" u="none" cap="none" strike="noStrike">
              <a:solidFill>
                <a:schemeClr val="dk1"/>
              </a:solidFill>
              <a:latin typeface="Montserrat"/>
              <a:ea typeface="Montserrat"/>
              <a:cs typeface="Montserrat"/>
              <a:sym typeface="Montserrat"/>
            </a:endParaRPr>
          </a:p>
          <a:p>
            <a:pPr indent="457200" lvl="0" marL="0" marR="0" rtl="0" algn="l">
              <a:lnSpc>
                <a:spcPct val="200000"/>
              </a:lnSpc>
              <a:spcBef>
                <a:spcPts val="0"/>
              </a:spcBef>
              <a:spcAft>
                <a:spcPts val="0"/>
              </a:spcAft>
              <a:buClr>
                <a:schemeClr val="dk1"/>
              </a:buClr>
              <a:buSzPts val="1100"/>
              <a:buFont typeface="Arial"/>
              <a:buNone/>
            </a:pPr>
            <a:r>
              <a:rPr b="1" i="0" lang="pt-BR" sz="900" u="none" cap="none" strike="noStrike">
                <a:solidFill>
                  <a:schemeClr val="dk1"/>
                </a:solidFill>
                <a:latin typeface="Montserrat"/>
                <a:ea typeface="Montserrat"/>
                <a:cs typeface="Montserrat"/>
                <a:sym typeface="Montserrat"/>
              </a:rPr>
              <a:t>IMPORTANTE: </a:t>
            </a:r>
            <a:r>
              <a:rPr b="0" i="0" lang="pt-BR" sz="900" u="none" cap="none" strike="noStrike">
                <a:solidFill>
                  <a:schemeClr val="dk1"/>
                </a:solidFill>
                <a:latin typeface="Montserrat"/>
                <a:ea typeface="Montserrat"/>
                <a:cs typeface="Montserrat"/>
                <a:sym typeface="Montserrat"/>
              </a:rPr>
              <a:t>Nenhuma exceção será aberta diante das regras. Atente-se ao prazo de 30/06/2022 e se adiante para evitar problemas.</a:t>
            </a:r>
            <a:endParaRPr b="0" i="0" sz="80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g120b71f36fa_0_0"/>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61" name="Google Shape;161;g120b71f36fa_0_0"/>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62" name="Google Shape;162;g120b71f36fa_0_0"/>
          <p:cNvSpPr txBox="1"/>
          <p:nvPr/>
        </p:nvSpPr>
        <p:spPr>
          <a:xfrm>
            <a:off x="905600" y="880050"/>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sz="900">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lang="pt-BR" sz="900">
                <a:solidFill>
                  <a:schemeClr val="dk1"/>
                </a:solidFill>
                <a:latin typeface="Montserrat"/>
                <a:ea typeface="Montserrat"/>
                <a:cs typeface="Montserrat"/>
                <a:sym typeface="Montserrat"/>
              </a:rPr>
              <a:t> </a:t>
            </a:r>
            <a:r>
              <a:rPr b="1" lang="pt-BR" sz="1900">
                <a:solidFill>
                  <a:schemeClr val="accent1"/>
                </a:solidFill>
                <a:latin typeface="Montserrat"/>
                <a:ea typeface="Montserrat"/>
                <a:cs typeface="Montserrat"/>
                <a:sym typeface="Montserrat"/>
              </a:rPr>
              <a:t>Certificação Meta</a:t>
            </a:r>
            <a:endParaRPr b="1" sz="900">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sz="900">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sz="900">
              <a:solidFill>
                <a:schemeClr val="dk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sz="900">
              <a:solidFill>
                <a:schemeClr val="dk1"/>
              </a:solidFill>
              <a:latin typeface="Montserrat"/>
              <a:ea typeface="Montserrat"/>
              <a:cs typeface="Montserrat"/>
              <a:sym typeface="Montserrat"/>
            </a:endParaRPr>
          </a:p>
        </p:txBody>
      </p:sp>
      <p:sp>
        <p:nvSpPr>
          <p:cNvPr id="163" name="Google Shape;163;g120b71f36fa_0_0"/>
          <p:cNvSpPr txBox="1"/>
          <p:nvPr/>
        </p:nvSpPr>
        <p:spPr>
          <a:xfrm>
            <a:off x="4485450" y="1692125"/>
            <a:ext cx="4458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164" name="Google Shape;164;g120b71f36fa_0_0"/>
          <p:cNvSpPr txBox="1"/>
          <p:nvPr/>
        </p:nvSpPr>
        <p:spPr>
          <a:xfrm>
            <a:off x="2738725" y="1495050"/>
            <a:ext cx="6003000" cy="3317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lang="pt-BR" sz="900">
                <a:solidFill>
                  <a:schemeClr val="dk1"/>
                </a:solidFill>
                <a:latin typeface="Montserrat"/>
                <a:ea typeface="Montserrat"/>
                <a:cs typeface="Montserrat"/>
                <a:sym typeface="Montserrat"/>
              </a:rPr>
              <a:t>Acessar o hub do programa através do link: </a:t>
            </a:r>
            <a:r>
              <a:rPr lang="pt-BR" sz="900">
                <a:solidFill>
                  <a:schemeClr val="dk1"/>
                </a:solidFill>
                <a:uFill>
                  <a:noFill/>
                </a:uFill>
                <a:latin typeface="Montserrat"/>
                <a:ea typeface="Montserrat"/>
                <a:cs typeface="Montserrat"/>
                <a:sym typeface="Montserrat"/>
                <a:hlinkClick r:id="rId3">
                  <a:extLst>
                    <a:ext uri="{A12FA001-AC4F-418D-AE19-62706E023703}">
                      <ahyp:hlinkClr val="tx"/>
                    </a:ext>
                  </a:extLst>
                </a:hlinkClick>
              </a:rPr>
              <a:t>fbblueprint.com/AEP</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Clr>
                <a:schemeClr val="dk1"/>
              </a:buClr>
              <a:buSzPts val="1100"/>
              <a:buFont typeface="Arial"/>
              <a:buNone/>
            </a:pPr>
            <a:r>
              <a:rPr lang="pt-BR" sz="900">
                <a:solidFill>
                  <a:schemeClr val="dk1"/>
                </a:solidFill>
                <a:latin typeface="Montserrat"/>
                <a:ea typeface="Montserrat"/>
                <a:cs typeface="Montserrat"/>
                <a:sym typeface="Montserrat"/>
              </a:rPr>
              <a:t>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Clr>
                <a:schemeClr val="dk1"/>
              </a:buClr>
              <a:buSzPts val="1100"/>
              <a:buFont typeface="Arial"/>
              <a:buNone/>
            </a:pPr>
            <a:r>
              <a:rPr lang="pt-BR" sz="900">
                <a:solidFill>
                  <a:schemeClr val="dk1"/>
                </a:solidFill>
                <a:latin typeface="Montserrat"/>
                <a:ea typeface="Montserrat"/>
                <a:cs typeface="Montserrat"/>
                <a:sym typeface="Montserrat"/>
              </a:rPr>
              <a:t>Lá</a:t>
            </a:r>
            <a:r>
              <a:rPr lang="pt-BR" sz="900">
                <a:solidFill>
                  <a:schemeClr val="dk1"/>
                </a:solidFill>
                <a:latin typeface="Montserrat"/>
                <a:ea typeface="Montserrat"/>
                <a:cs typeface="Montserrat"/>
                <a:sym typeface="Montserrat"/>
              </a:rPr>
              <a:t> você terá: guias de estudo, conteúdos preparatórios, simulados, treinamentos e o agendamento das provas.</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Clr>
                <a:schemeClr val="dk1"/>
              </a:buClr>
              <a:buSzPts val="1100"/>
              <a:buFont typeface="Arial"/>
              <a:buNone/>
            </a:pPr>
            <a:r>
              <a:rPr lang="pt-BR" sz="900">
                <a:solidFill>
                  <a:schemeClr val="dk1"/>
                </a:solidFill>
                <a:latin typeface="Montserrat"/>
                <a:ea typeface="Montserrat"/>
                <a:cs typeface="Montserrat"/>
                <a:sym typeface="Montserrat"/>
              </a:rPr>
              <a:t>Todos os profissionais, ao se registrarem no hub, já possuem 3 VOUCHERS liberados. Assim que realizar o agendamento de uma prova, o voucher será aplicado automaticamente; após 3 tentativas haverão indicações da Meta de estudos antes da liberação do voucher para a realização da próxima prova.</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Clr>
                <a:schemeClr val="dk1"/>
              </a:buClr>
              <a:buSzPts val="1100"/>
              <a:buFont typeface="Arial"/>
              <a:buNone/>
            </a:pPr>
            <a:r>
              <a:rPr lang="pt-BR" sz="900">
                <a:solidFill>
                  <a:schemeClr val="dk1"/>
                </a:solidFill>
                <a:latin typeface="Montserrat"/>
                <a:ea typeface="Montserrat"/>
                <a:cs typeface="Montserrat"/>
                <a:sym typeface="Montserrat"/>
              </a:rPr>
              <a:t>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pt-BR" sz="900">
                <a:solidFill>
                  <a:schemeClr val="dk1"/>
                </a:solidFill>
                <a:latin typeface="Montserrat"/>
                <a:ea typeface="Montserrat"/>
                <a:cs typeface="Montserrat"/>
                <a:sym typeface="Montserrat"/>
              </a:rPr>
              <a:t>Ao criar o seu perfil, certifique-se de que seus dados estão atualizados e de que selecionou a “Blinks Essence” como </a:t>
            </a:r>
            <a:r>
              <a:rPr lang="pt-BR" sz="900">
                <a:solidFill>
                  <a:schemeClr val="dk1"/>
                </a:solidFill>
                <a:latin typeface="Montserrat"/>
                <a:ea typeface="Montserrat"/>
                <a:cs typeface="Montserrat"/>
                <a:sym typeface="Montserrat"/>
              </a:rPr>
              <a:t>empresa. S</a:t>
            </a:r>
            <a:r>
              <a:rPr lang="pt-BR" sz="900">
                <a:solidFill>
                  <a:schemeClr val="dk1"/>
                </a:solidFill>
                <a:latin typeface="Montserrat"/>
                <a:ea typeface="Montserrat"/>
                <a:cs typeface="Montserrat"/>
                <a:sym typeface="Montserrat"/>
              </a:rPr>
              <a:t>omente com essa seleção sua certificação será contabilizada nos relatórios da B/e.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lang="pt-BR" sz="900">
                <a:solidFill>
                  <a:schemeClr val="dk1"/>
                </a:solidFill>
                <a:latin typeface="Montserrat"/>
                <a:ea typeface="Montserrat"/>
                <a:cs typeface="Montserrat"/>
                <a:sym typeface="Montserrat"/>
              </a:rPr>
              <a:t>As provas precisam de agendamento dentro da ferramenta e serão provas assistidas por uma pessoa do time da Meta.</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t/>
            </a:r>
            <a:endParaRPr sz="900">
              <a:solidFill>
                <a:schemeClr val="dk1"/>
              </a:solidFill>
              <a:latin typeface="Montserrat"/>
              <a:ea typeface="Montserrat"/>
              <a:cs typeface="Montserrat"/>
              <a:sym typeface="Montserrat"/>
            </a:endParaRPr>
          </a:p>
          <a:p>
            <a:pPr indent="0" lvl="0" marL="0" rtl="0" algn="l">
              <a:lnSpc>
                <a:spcPct val="115000"/>
              </a:lnSpc>
              <a:spcBef>
                <a:spcPts val="0"/>
              </a:spcBef>
              <a:spcAft>
                <a:spcPts val="0"/>
              </a:spcAft>
              <a:buNone/>
            </a:pPr>
            <a:r>
              <a:rPr b="1" lang="pt-BR" sz="900">
                <a:solidFill>
                  <a:schemeClr val="dk1"/>
                </a:solidFill>
                <a:latin typeface="Montserrat"/>
                <a:ea typeface="Montserrat"/>
                <a:cs typeface="Montserrat"/>
                <a:sym typeface="Montserrat"/>
              </a:rPr>
              <a:t>Link de auxilio para as certificações da Meta: </a:t>
            </a:r>
            <a:r>
              <a:rPr lang="pt-BR" sz="800">
                <a:solidFill>
                  <a:schemeClr val="dk1"/>
                </a:solidFill>
                <a:latin typeface="Montserrat"/>
                <a:ea typeface="Montserrat"/>
                <a:cs typeface="Montserrat"/>
                <a:sym typeface="Montserrat"/>
              </a:rPr>
              <a:t>https://sites.google.com/blinksessence.com.br/centralblinksessence/produto/treinamentos-e-atualiza%C3%A7%C3%B5es/social/certifica%C3%A7%C3%A3o-2022</a:t>
            </a:r>
            <a:endParaRPr sz="800">
              <a:solidFill>
                <a:schemeClr val="dk1"/>
              </a:solidFill>
              <a:latin typeface="Montserrat"/>
              <a:ea typeface="Montserrat"/>
              <a:cs typeface="Montserrat"/>
              <a:sym typeface="Montserrat"/>
            </a:endParaRPr>
          </a:p>
        </p:txBody>
      </p:sp>
      <p:pic>
        <p:nvPicPr>
          <p:cNvPr id="165" name="Google Shape;165;g120b71f36fa_0_0"/>
          <p:cNvPicPr preferRelativeResize="0"/>
          <p:nvPr/>
        </p:nvPicPr>
        <p:blipFill>
          <a:blip r:embed="rId4">
            <a:alphaModFix/>
          </a:blip>
          <a:stretch>
            <a:fillRect/>
          </a:stretch>
        </p:blipFill>
        <p:spPr>
          <a:xfrm>
            <a:off x="535350" y="1615925"/>
            <a:ext cx="2091974" cy="300434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g120b71f36fa_0_13"/>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71" name="Google Shape;171;g120b71f36fa_0_13"/>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72" name="Google Shape;172;g120b71f36fa_0_13"/>
          <p:cNvSpPr txBox="1"/>
          <p:nvPr/>
        </p:nvSpPr>
        <p:spPr>
          <a:xfrm>
            <a:off x="905600" y="880050"/>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 Certificaç</a:t>
            </a:r>
            <a:r>
              <a:rPr b="1" lang="pt-BR" sz="1900">
                <a:solidFill>
                  <a:schemeClr val="accent1"/>
                </a:solidFill>
                <a:latin typeface="Montserrat"/>
                <a:ea typeface="Montserrat"/>
                <a:cs typeface="Montserrat"/>
                <a:sym typeface="Montserrat"/>
              </a:rPr>
              <a:t>ão Google</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
        <p:nvSpPr>
          <p:cNvPr id="173" name="Google Shape;173;g120b71f36fa_0_13"/>
          <p:cNvSpPr txBox="1"/>
          <p:nvPr/>
        </p:nvSpPr>
        <p:spPr>
          <a:xfrm>
            <a:off x="4485450" y="1692125"/>
            <a:ext cx="4458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174" name="Google Shape;174;g120b71f36fa_0_13"/>
          <p:cNvSpPr txBox="1"/>
          <p:nvPr/>
        </p:nvSpPr>
        <p:spPr>
          <a:xfrm>
            <a:off x="468600" y="1692125"/>
            <a:ext cx="6003000" cy="1754700"/>
          </a:xfrm>
          <a:prstGeom prst="rect">
            <a:avLst/>
          </a:prstGeom>
          <a:noFill/>
          <a:ln>
            <a:noFill/>
          </a:ln>
        </p:spPr>
        <p:txBody>
          <a:bodyPr anchorCtr="0" anchor="t" bIns="91425" lIns="91425" spcFirstLastPara="1" rIns="91425" wrap="square" tIns="91425">
            <a:spAutoFit/>
          </a:bodyPr>
          <a:lstStyle/>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Liberação de acesso a página em Abril;</a:t>
            </a:r>
            <a:endParaRPr sz="900">
              <a:solidFill>
                <a:schemeClr val="dk1"/>
              </a:solidFill>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Neste caso também será necessário atrelar o seu cadastro à Blinks Essence para que a contabilização de sua certificação seja considerada nos relatórios do Google;</a:t>
            </a:r>
            <a:endParaRPr sz="900">
              <a:solidFill>
                <a:schemeClr val="dk1"/>
              </a:solidFill>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Será necessário assistir e fazer atividades sugeridas para as provas antes de fazer o teste;</a:t>
            </a:r>
            <a:endParaRPr sz="900">
              <a:solidFill>
                <a:schemeClr val="dk1"/>
              </a:solidFill>
              <a:latin typeface="Montserrat"/>
              <a:ea typeface="Montserrat"/>
              <a:cs typeface="Montserrat"/>
              <a:sym typeface="Montserrat"/>
            </a:endParaRPr>
          </a:p>
          <a:p>
            <a:pPr indent="-304800" lvl="0" marL="457200" marR="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As provas serão supervisionadas e com agendamento prévio (semelhante às provas da Meta).</a:t>
            </a:r>
            <a:endParaRPr sz="900">
              <a:solidFill>
                <a:schemeClr val="dk1"/>
              </a:solidFill>
              <a:latin typeface="Montserrat"/>
              <a:ea typeface="Montserrat"/>
              <a:cs typeface="Montserrat"/>
              <a:sym typeface="Montserra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gfddcd28218_0_0"/>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80" name="Google Shape;180;gfddcd28218_0_0"/>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81" name="Google Shape;181;gfddcd28218_0_0"/>
          <p:cNvSpPr txBox="1"/>
          <p:nvPr/>
        </p:nvSpPr>
        <p:spPr>
          <a:xfrm>
            <a:off x="838650" y="678525"/>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 5.</a:t>
            </a:r>
            <a:r>
              <a:rPr b="1" lang="pt-BR" sz="1900">
                <a:solidFill>
                  <a:schemeClr val="accent1"/>
                </a:solidFill>
                <a:latin typeface="Montserrat"/>
                <a:ea typeface="Montserrat"/>
                <a:cs typeface="Montserrat"/>
                <a:sym typeface="Montserrat"/>
              </a:rPr>
              <a:t> </a:t>
            </a:r>
            <a:r>
              <a:rPr b="1" i="0" lang="pt-BR" sz="1900" u="none" cap="none" strike="noStrike">
                <a:solidFill>
                  <a:schemeClr val="accent1"/>
                </a:solidFill>
                <a:latin typeface="Montserrat"/>
                <a:ea typeface="Montserrat"/>
                <a:cs typeface="Montserrat"/>
                <a:sym typeface="Montserrat"/>
              </a:rPr>
              <a:t>Certificações para o </a:t>
            </a:r>
            <a:r>
              <a:rPr b="1" lang="pt-BR" sz="1900">
                <a:solidFill>
                  <a:schemeClr val="accent1"/>
                </a:solidFill>
                <a:latin typeface="Montserrat"/>
                <a:ea typeface="Montserrat"/>
                <a:cs typeface="Montserrat"/>
                <a:sym typeface="Montserrat"/>
              </a:rPr>
              <a:t>2</a:t>
            </a:r>
            <a:r>
              <a:rPr b="1" i="0" lang="pt-BR" sz="1900" u="none" cap="none" strike="noStrike">
                <a:solidFill>
                  <a:schemeClr val="accent1"/>
                </a:solidFill>
                <a:latin typeface="Montserrat"/>
                <a:ea typeface="Montserrat"/>
                <a:cs typeface="Montserrat"/>
                <a:sym typeface="Montserrat"/>
              </a:rPr>
              <a:t>o sem/22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pic>
        <p:nvPicPr>
          <p:cNvPr id="182" name="Google Shape;182;gfddcd28218_0_0"/>
          <p:cNvPicPr preferRelativeResize="0"/>
          <p:nvPr/>
        </p:nvPicPr>
        <p:blipFill>
          <a:blip r:embed="rId3">
            <a:alphaModFix/>
          </a:blip>
          <a:stretch>
            <a:fillRect/>
          </a:stretch>
        </p:blipFill>
        <p:spPr>
          <a:xfrm>
            <a:off x="1143450" y="1202150"/>
            <a:ext cx="6959425" cy="385882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gfddcd28218_0_8"/>
          <p:cNvSpPr txBox="1"/>
          <p:nvPr/>
        </p:nvSpPr>
        <p:spPr>
          <a:xfrm>
            <a:off x="502675" y="351975"/>
            <a:ext cx="8198700" cy="55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500" u="none" cap="none" strike="noStrike">
                <a:solidFill>
                  <a:schemeClr val="dk1"/>
                </a:solidFill>
                <a:latin typeface="Spectral"/>
                <a:ea typeface="Spectral"/>
                <a:cs typeface="Spectral"/>
                <a:sym typeface="Spectral"/>
              </a:rPr>
              <a:t>Pilar Excelência Técnica</a:t>
            </a:r>
            <a:endParaRPr b="1" i="0" sz="2500" u="none" cap="none" strike="noStrike">
              <a:solidFill>
                <a:srgbClr val="000000"/>
              </a:solidFill>
              <a:latin typeface="Spectral"/>
              <a:ea typeface="Spectral"/>
              <a:cs typeface="Spectral"/>
              <a:sym typeface="Spectral"/>
            </a:endParaRPr>
          </a:p>
          <a:p>
            <a:pPr indent="0" lvl="0" marL="0" marR="0" rtl="0" algn="l">
              <a:lnSpc>
                <a:spcPct val="100000"/>
              </a:lnSpc>
              <a:spcBef>
                <a:spcPts val="0"/>
              </a:spcBef>
              <a:spcAft>
                <a:spcPts val="0"/>
              </a:spcAft>
              <a:buClr>
                <a:schemeClr val="dk1"/>
              </a:buClr>
              <a:buSzPts val="1100"/>
              <a:buFont typeface="Arial"/>
              <a:buNone/>
            </a:pPr>
            <a:r>
              <a:t/>
            </a:r>
            <a:endParaRPr b="1" i="0" sz="7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300" u="none" cap="none" strike="noStrike">
              <a:solidFill>
                <a:srgbClr val="000000"/>
              </a:solidFill>
              <a:latin typeface="Spectral"/>
              <a:ea typeface="Spectral"/>
              <a:cs typeface="Spectral"/>
              <a:sym typeface="Spectral"/>
            </a:endParaRPr>
          </a:p>
        </p:txBody>
      </p:sp>
      <p:sp>
        <p:nvSpPr>
          <p:cNvPr id="188" name="Google Shape;188;gfddcd28218_0_8"/>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900"/>
              <a:buFont typeface="Arial"/>
              <a:buNone/>
            </a:pPr>
            <a:fld id="{00000000-1234-1234-1234-123412341234}" type="slidenum">
              <a:rPr lang="pt-BR"/>
              <a:t>‹#›</a:t>
            </a:fld>
            <a:endParaRPr/>
          </a:p>
        </p:txBody>
      </p:sp>
      <p:sp>
        <p:nvSpPr>
          <p:cNvPr id="189" name="Google Shape;189;gfddcd28218_0_8"/>
          <p:cNvSpPr txBox="1"/>
          <p:nvPr/>
        </p:nvSpPr>
        <p:spPr>
          <a:xfrm>
            <a:off x="905600" y="880050"/>
            <a:ext cx="7466700" cy="954300"/>
          </a:xfrm>
          <a:prstGeom prst="rect">
            <a:avLst/>
          </a:prstGeom>
          <a:noFill/>
          <a:ln>
            <a:noFill/>
          </a:ln>
        </p:spPr>
        <p:txBody>
          <a:bodyPr anchorCtr="0" anchor="t" bIns="26775" lIns="26775" spcFirstLastPara="1" rIns="26775" wrap="square" tIns="26775">
            <a:noAutofit/>
          </a:bodyPr>
          <a:lstStyle/>
          <a:p>
            <a:pPr indent="0" lvl="0" marL="0" marR="0" rtl="0" algn="l">
              <a:lnSpc>
                <a:spcPct val="120000"/>
              </a:lnSpc>
              <a:spcBef>
                <a:spcPts val="0"/>
              </a:spcBef>
              <a:spcAft>
                <a:spcPts val="0"/>
              </a:spcAft>
              <a:buClr>
                <a:srgbClr val="000000"/>
              </a:buClr>
              <a:buSzPts val="1200"/>
              <a:buFont typeface="Arial"/>
              <a:buNone/>
            </a:pPr>
            <a:r>
              <a:t/>
            </a:r>
            <a:endParaRPr b="0" i="0" sz="12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rPr b="1" i="0" lang="pt-BR" sz="1900" u="none" cap="none" strike="noStrike">
                <a:solidFill>
                  <a:schemeClr val="accent1"/>
                </a:solidFill>
                <a:latin typeface="Montserrat"/>
                <a:ea typeface="Montserrat"/>
                <a:cs typeface="Montserrat"/>
                <a:sym typeface="Montserrat"/>
              </a:rPr>
              <a:t> Certificações para o </a:t>
            </a:r>
            <a:r>
              <a:rPr b="1" lang="pt-BR" sz="1900">
                <a:solidFill>
                  <a:schemeClr val="accent1"/>
                </a:solidFill>
                <a:latin typeface="Montserrat"/>
                <a:ea typeface="Montserrat"/>
                <a:cs typeface="Montserrat"/>
                <a:sym typeface="Montserrat"/>
              </a:rPr>
              <a:t>2</a:t>
            </a:r>
            <a:r>
              <a:rPr b="1" i="0" lang="pt-BR" sz="1900" u="none" cap="none" strike="noStrike">
                <a:solidFill>
                  <a:schemeClr val="accent1"/>
                </a:solidFill>
                <a:latin typeface="Montserrat"/>
                <a:ea typeface="Montserrat"/>
                <a:cs typeface="Montserrat"/>
                <a:sym typeface="Montserrat"/>
              </a:rPr>
              <a:t>o sem/22</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rgbClr val="000000"/>
              </a:buClr>
              <a:buSzPts val="1900"/>
              <a:buFont typeface="Arial"/>
              <a:buNone/>
            </a:pPr>
            <a:r>
              <a:t/>
            </a:r>
            <a:endParaRPr b="1" i="0" sz="1900" u="none" cap="none" strike="noStrike">
              <a:solidFill>
                <a:schemeClr val="accent1"/>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a:p>
            <a:pPr indent="0" lvl="0" marL="0" marR="0" rtl="0" algn="l">
              <a:lnSpc>
                <a:spcPct val="120000"/>
              </a:lnSpc>
              <a:spcBef>
                <a:spcPts val="0"/>
              </a:spcBef>
              <a:spcAft>
                <a:spcPts val="0"/>
              </a:spcAft>
              <a:buClr>
                <a:schemeClr val="dk1"/>
              </a:buClr>
              <a:buSzPts val="1100"/>
              <a:buFont typeface="Arial"/>
              <a:buNone/>
            </a:pPr>
            <a:r>
              <a:t/>
            </a:r>
            <a:endParaRPr b="0" i="0" sz="1400" u="none" cap="none" strike="noStrike">
              <a:solidFill>
                <a:schemeClr val="accent3"/>
              </a:solidFill>
              <a:latin typeface="Montserrat"/>
              <a:ea typeface="Montserrat"/>
              <a:cs typeface="Montserrat"/>
              <a:sym typeface="Montserrat"/>
            </a:endParaRPr>
          </a:p>
        </p:txBody>
      </p:sp>
      <p:sp>
        <p:nvSpPr>
          <p:cNvPr id="190" name="Google Shape;190;gfddcd28218_0_8"/>
          <p:cNvSpPr txBox="1"/>
          <p:nvPr/>
        </p:nvSpPr>
        <p:spPr>
          <a:xfrm>
            <a:off x="126500" y="1556850"/>
            <a:ext cx="9024900" cy="3247800"/>
          </a:xfrm>
          <a:prstGeom prst="rect">
            <a:avLst/>
          </a:prstGeom>
          <a:noFill/>
          <a:ln>
            <a:noFill/>
          </a:ln>
        </p:spPr>
        <p:txBody>
          <a:bodyPr anchorCtr="0" anchor="t" bIns="91425" lIns="91425" spcFirstLastPara="1" rIns="91425" wrap="square" tIns="91425">
            <a:spAutoFit/>
          </a:bodyPr>
          <a:lstStyle/>
          <a:p>
            <a:pPr indent="-304800" lvl="0" marL="457200" rtl="0" algn="l">
              <a:lnSpc>
                <a:spcPct val="200000"/>
              </a:lnSpc>
              <a:spcBef>
                <a:spcPts val="0"/>
              </a:spcBef>
              <a:spcAft>
                <a:spcPts val="0"/>
              </a:spcAft>
              <a:buClr>
                <a:srgbClr val="444444"/>
              </a:buClr>
              <a:buSzPts val="1200"/>
              <a:buFont typeface="Times New Roman"/>
              <a:buChar char="●"/>
            </a:pPr>
            <a:r>
              <a:rPr lang="pt-BR" sz="900">
                <a:solidFill>
                  <a:schemeClr val="dk1"/>
                </a:solidFill>
                <a:highlight>
                  <a:schemeClr val="lt1"/>
                </a:highlight>
                <a:latin typeface="Montserrat"/>
                <a:ea typeface="Montserrat"/>
                <a:cs typeface="Montserrat"/>
                <a:sym typeface="Montserrat"/>
              </a:rPr>
              <a:t>Caso apenas 1 (uma) das opções de certificação obrigatória seja realizada, você terá direito a 50% do bônus, caso faça as 2 (duas) opções de certificação terá o peso de 100%. Só terá direito ao acelerador quem tiver as 2 (duas) provas realizadas e concluídas;</a:t>
            </a:r>
            <a:endParaRPr sz="900">
              <a:solidFill>
                <a:schemeClr val="dk1"/>
              </a:solidFill>
              <a:highlight>
                <a:schemeClr val="lt1"/>
              </a:highlight>
              <a:latin typeface="Montserrat"/>
              <a:ea typeface="Montserrat"/>
              <a:cs typeface="Montserrat"/>
              <a:sym typeface="Montserrat"/>
            </a:endParaRPr>
          </a:p>
          <a:p>
            <a:pPr indent="-285750" lvl="0" marL="457200" rtl="0" algn="l">
              <a:lnSpc>
                <a:spcPct val="200000"/>
              </a:lnSpc>
              <a:spcBef>
                <a:spcPts val="0"/>
              </a:spcBef>
              <a:spcAft>
                <a:spcPts val="0"/>
              </a:spcAft>
              <a:buClr>
                <a:schemeClr val="dk1"/>
              </a:buClr>
              <a:buSzPts val="900"/>
              <a:buFont typeface="Montserrat"/>
              <a:buChar char="●"/>
            </a:pPr>
            <a:r>
              <a:rPr lang="pt-BR" sz="900">
                <a:solidFill>
                  <a:schemeClr val="dk1"/>
                </a:solidFill>
                <a:highlight>
                  <a:schemeClr val="lt1"/>
                </a:highlight>
                <a:latin typeface="Montserrat"/>
                <a:ea typeface="Montserrat"/>
                <a:cs typeface="Montserrat"/>
                <a:sym typeface="Montserrat"/>
              </a:rPr>
              <a:t>As certificações do Mercado Livre e da Criteo são pacotes de provas, então se </a:t>
            </a:r>
            <a:r>
              <a:rPr lang="pt-BR" sz="900">
                <a:solidFill>
                  <a:schemeClr val="dk1"/>
                </a:solidFill>
                <a:highlight>
                  <a:schemeClr val="lt1"/>
                </a:highlight>
                <a:latin typeface="Montserrat"/>
                <a:ea typeface="Montserrat"/>
                <a:cs typeface="Montserrat"/>
                <a:sym typeface="Montserrat"/>
              </a:rPr>
              <a:t>atente</a:t>
            </a:r>
            <a:r>
              <a:rPr lang="pt-BR" sz="900">
                <a:solidFill>
                  <a:schemeClr val="dk1"/>
                </a:solidFill>
                <a:highlight>
                  <a:schemeClr val="lt1"/>
                </a:highlight>
                <a:latin typeface="Montserrat"/>
                <a:ea typeface="Montserrat"/>
                <a:cs typeface="Montserrat"/>
                <a:sym typeface="Montserrat"/>
              </a:rPr>
              <a:t> para cumprir todas as provas necessárias, pois na apuração só serão consideradas as certificações com todo pacote de prova realizado;</a:t>
            </a:r>
            <a:endParaRPr sz="900">
              <a:solidFill>
                <a:schemeClr val="dk1"/>
              </a:solidFill>
              <a:highlight>
                <a:schemeClr val="lt1"/>
              </a:highlight>
              <a:latin typeface="Montserrat"/>
              <a:ea typeface="Montserrat"/>
              <a:cs typeface="Montserrat"/>
              <a:sym typeface="Montserrat"/>
            </a:endParaRPr>
          </a:p>
          <a:p>
            <a:pPr indent="-285750" lvl="0" marL="457200" rtl="0" algn="l">
              <a:lnSpc>
                <a:spcPct val="200000"/>
              </a:lnSpc>
              <a:spcBef>
                <a:spcPts val="0"/>
              </a:spcBef>
              <a:spcAft>
                <a:spcPts val="0"/>
              </a:spcAft>
              <a:buClr>
                <a:schemeClr val="dk1"/>
              </a:buClr>
              <a:buSzPts val="900"/>
              <a:buFont typeface="Montserrat"/>
              <a:buChar char="●"/>
            </a:pPr>
            <a:r>
              <a:rPr lang="pt-BR" sz="900">
                <a:solidFill>
                  <a:schemeClr val="dk1"/>
                </a:solidFill>
                <a:highlight>
                  <a:schemeClr val="lt1"/>
                </a:highlight>
                <a:latin typeface="Montserrat"/>
                <a:ea typeface="Montserrat"/>
                <a:cs typeface="Montserrat"/>
                <a:sym typeface="Montserrat"/>
              </a:rPr>
              <a:t>O acelerador só será contabilizado tendo a conclusão de 3 (três) certificações sugeridas no campo acelerador</a:t>
            </a:r>
            <a:endParaRPr sz="900">
              <a:solidFill>
                <a:schemeClr val="dk1"/>
              </a:solidFill>
              <a:highlight>
                <a:schemeClr val="lt1"/>
              </a:highlight>
              <a:latin typeface="Montserrat"/>
              <a:ea typeface="Montserrat"/>
              <a:cs typeface="Montserrat"/>
              <a:sym typeface="Montserrat"/>
            </a:endParaRPr>
          </a:p>
          <a:p>
            <a:pPr indent="-285750" lvl="0" marL="457200" rtl="0" algn="l">
              <a:lnSpc>
                <a:spcPct val="200000"/>
              </a:lnSpc>
              <a:spcBef>
                <a:spcPts val="0"/>
              </a:spcBef>
              <a:spcAft>
                <a:spcPts val="0"/>
              </a:spcAft>
              <a:buClr>
                <a:schemeClr val="dk1"/>
              </a:buClr>
              <a:buSzPts val="900"/>
              <a:buFont typeface="Montserrat"/>
              <a:buChar char="●"/>
            </a:pPr>
            <a:r>
              <a:rPr lang="pt-BR" sz="900">
                <a:solidFill>
                  <a:schemeClr val="dk1"/>
                </a:solidFill>
                <a:highlight>
                  <a:schemeClr val="lt1"/>
                </a:highlight>
                <a:latin typeface="Montserrat"/>
                <a:ea typeface="Montserrat"/>
                <a:cs typeface="Montserrat"/>
                <a:sym typeface="Montserrat"/>
              </a:rPr>
              <a:t>Se você já se certificou em alguma prova no 1° semestre que está disponível nas opções de provas do 2° semestre, você deverá escolher uma opção de teste diferente;</a:t>
            </a:r>
            <a:endParaRPr sz="900">
              <a:solidFill>
                <a:schemeClr val="dk1"/>
              </a:solidFill>
              <a:highlight>
                <a:schemeClr val="lt1"/>
              </a:highlight>
              <a:latin typeface="Montserrat"/>
              <a:ea typeface="Montserrat"/>
              <a:cs typeface="Montserrat"/>
              <a:sym typeface="Montserrat"/>
            </a:endParaRPr>
          </a:p>
          <a:p>
            <a:pPr indent="-304800" lvl="0" marL="457200" rtl="0" algn="l">
              <a:lnSpc>
                <a:spcPct val="200000"/>
              </a:lnSpc>
              <a:spcBef>
                <a:spcPts val="0"/>
              </a:spcBef>
              <a:spcAft>
                <a:spcPts val="0"/>
              </a:spcAft>
              <a:buClr>
                <a:srgbClr val="444444"/>
              </a:buClr>
              <a:buSzPts val="1200"/>
              <a:buFont typeface="Times New Roman"/>
              <a:buChar char="●"/>
            </a:pPr>
            <a:r>
              <a:rPr lang="pt-BR" sz="900">
                <a:solidFill>
                  <a:schemeClr val="dk1"/>
                </a:solidFill>
                <a:latin typeface="Montserrat"/>
                <a:ea typeface="Montserrat"/>
                <a:cs typeface="Montserrat"/>
                <a:sym typeface="Montserrat"/>
              </a:rPr>
              <a:t>Só serão consideradas as certificações realizadas entre 01/07/2022 e 31/12/2022. Provas realizadas antes ou após esta data não serão consideradas na apuração do Programa de Remuneração de Incentivo do 2o semestre de 2022. </a:t>
            </a:r>
            <a:endParaRPr sz="1000">
              <a:solidFill>
                <a:schemeClr val="accent1"/>
              </a:solidFill>
              <a:latin typeface="Montserrat"/>
              <a:ea typeface="Montserrat"/>
              <a:cs typeface="Montserrat"/>
              <a:sym typeface="Montserrat"/>
            </a:endParaRPr>
          </a:p>
          <a:p>
            <a:pPr indent="457200" lvl="0" marL="0" rtl="0" algn="l">
              <a:lnSpc>
                <a:spcPct val="200000"/>
              </a:lnSpc>
              <a:spcBef>
                <a:spcPts val="0"/>
              </a:spcBef>
              <a:spcAft>
                <a:spcPts val="0"/>
              </a:spcAft>
              <a:buClr>
                <a:schemeClr val="dk1"/>
              </a:buClr>
              <a:buSzPts val="1100"/>
              <a:buFont typeface="Arial"/>
              <a:buNone/>
            </a:pPr>
            <a:r>
              <a:t/>
            </a:r>
            <a:endParaRPr sz="800">
              <a:solidFill>
                <a:schemeClr val="dk1"/>
              </a:solidFill>
              <a:latin typeface="Montserrat"/>
              <a:ea typeface="Montserrat"/>
              <a:cs typeface="Montserrat"/>
              <a:sym typeface="Montserrat"/>
            </a:endParaRPr>
          </a:p>
          <a:p>
            <a:pPr indent="457200" lvl="0" marL="0" rtl="0" algn="l">
              <a:lnSpc>
                <a:spcPct val="200000"/>
              </a:lnSpc>
              <a:spcBef>
                <a:spcPts val="0"/>
              </a:spcBef>
              <a:spcAft>
                <a:spcPts val="0"/>
              </a:spcAft>
              <a:buClr>
                <a:schemeClr val="dk1"/>
              </a:buClr>
              <a:buSzPts val="1100"/>
              <a:buFont typeface="Arial"/>
              <a:buNone/>
            </a:pPr>
            <a:r>
              <a:rPr b="1" lang="pt-BR" sz="900">
                <a:solidFill>
                  <a:schemeClr val="dk1"/>
                </a:solidFill>
                <a:latin typeface="Montserrat"/>
                <a:ea typeface="Montserrat"/>
                <a:cs typeface="Montserrat"/>
                <a:sym typeface="Montserrat"/>
              </a:rPr>
              <a:t>IMPORTANTE: </a:t>
            </a:r>
            <a:r>
              <a:rPr lang="pt-BR" sz="900">
                <a:solidFill>
                  <a:schemeClr val="dk1"/>
                </a:solidFill>
                <a:latin typeface="Montserrat"/>
                <a:ea typeface="Montserrat"/>
                <a:cs typeface="Montserrat"/>
                <a:sym typeface="Montserrat"/>
              </a:rPr>
              <a:t>Nenhuma exceção será aberta diante das regras. Atente-se ao prazo de 31/12/2022 e se adiante para evitar problemas.</a:t>
            </a:r>
            <a:endParaRPr sz="900">
              <a:solidFill>
                <a:schemeClr val="dk1"/>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g14480e30754_0_0"/>
          <p:cNvSpPr txBox="1"/>
          <p:nvPr/>
        </p:nvSpPr>
        <p:spPr>
          <a:xfrm>
            <a:off x="426475" y="162825"/>
            <a:ext cx="8198700" cy="74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300" u="none" cap="none" strike="noStrike">
                <a:solidFill>
                  <a:schemeClr val="dk1"/>
                </a:solidFill>
                <a:latin typeface="Montserrat"/>
                <a:ea typeface="Montserrat"/>
                <a:cs typeface="Montserrat"/>
                <a:sym typeface="Montserrat"/>
              </a:rPr>
              <a:t>Alocação das métricas por cargo (</a:t>
            </a:r>
            <a:r>
              <a:rPr b="1" lang="pt-BR" sz="2300">
                <a:solidFill>
                  <a:schemeClr val="dk1"/>
                </a:solidFill>
                <a:latin typeface="Montserrat"/>
                <a:ea typeface="Montserrat"/>
                <a:cs typeface="Montserrat"/>
                <a:sym typeface="Montserrat"/>
              </a:rPr>
              <a:t>múltiplo de salários anual) - 1º semestre de 2022</a:t>
            </a:r>
            <a:endParaRPr b="1" i="0" sz="2300" u="none" cap="none" strike="noStrike">
              <a:solidFill>
                <a:srgbClr val="000000"/>
              </a:solidFill>
              <a:latin typeface="Montserrat"/>
              <a:ea typeface="Montserrat"/>
              <a:cs typeface="Montserrat"/>
              <a:sym typeface="Montserrat"/>
            </a:endParaRPr>
          </a:p>
          <a:p>
            <a:pPr indent="0" lvl="0" marL="0" marR="0" rtl="0" algn="l">
              <a:lnSpc>
                <a:spcPct val="100000"/>
              </a:lnSpc>
              <a:spcBef>
                <a:spcPts val="0"/>
              </a:spcBef>
              <a:spcAft>
                <a:spcPts val="0"/>
              </a:spcAft>
              <a:buClr>
                <a:schemeClr val="dk1"/>
              </a:buClr>
              <a:buSzPts val="1100"/>
              <a:buFont typeface="Arial"/>
              <a:buNone/>
            </a:pPr>
            <a:r>
              <a:t/>
            </a:r>
            <a:endParaRPr b="1" i="0" sz="5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100" u="none" cap="none" strike="noStrike">
              <a:solidFill>
                <a:srgbClr val="000000"/>
              </a:solidFill>
              <a:latin typeface="Montserrat"/>
              <a:ea typeface="Montserrat"/>
              <a:cs typeface="Montserrat"/>
              <a:sym typeface="Montserrat"/>
            </a:endParaRPr>
          </a:p>
        </p:txBody>
      </p:sp>
      <p:sp>
        <p:nvSpPr>
          <p:cNvPr id="196" name="Google Shape;196;g14480e30754_0_0"/>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pic>
        <p:nvPicPr>
          <p:cNvPr id="197" name="Google Shape;197;g14480e30754_0_0"/>
          <p:cNvPicPr preferRelativeResize="0"/>
          <p:nvPr/>
        </p:nvPicPr>
        <p:blipFill>
          <a:blip r:embed="rId3">
            <a:alphaModFix/>
          </a:blip>
          <a:stretch>
            <a:fillRect/>
          </a:stretch>
        </p:blipFill>
        <p:spPr>
          <a:xfrm>
            <a:off x="375274" y="972150"/>
            <a:ext cx="8515974" cy="35469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2"/>
          <p:cNvSpPr txBox="1"/>
          <p:nvPr/>
        </p:nvSpPr>
        <p:spPr>
          <a:xfrm>
            <a:off x="426475" y="162825"/>
            <a:ext cx="8198700" cy="74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2300" u="none" cap="none" strike="noStrike">
                <a:solidFill>
                  <a:schemeClr val="dk1"/>
                </a:solidFill>
                <a:latin typeface="Montserrat"/>
                <a:ea typeface="Montserrat"/>
                <a:cs typeface="Montserrat"/>
                <a:sym typeface="Montserrat"/>
              </a:rPr>
              <a:t>Alocação das métricas por cargo (</a:t>
            </a:r>
            <a:r>
              <a:rPr b="1" lang="pt-BR" sz="2300">
                <a:solidFill>
                  <a:schemeClr val="dk1"/>
                </a:solidFill>
                <a:latin typeface="Montserrat"/>
                <a:ea typeface="Montserrat"/>
                <a:cs typeface="Montserrat"/>
                <a:sym typeface="Montserrat"/>
              </a:rPr>
              <a:t>múltiplo de salários anual) - 2º semestre de 2022</a:t>
            </a:r>
            <a:endParaRPr b="1" i="0" sz="2300" u="none" cap="none" strike="noStrike">
              <a:solidFill>
                <a:srgbClr val="000000"/>
              </a:solidFill>
              <a:latin typeface="Montserrat"/>
              <a:ea typeface="Montserrat"/>
              <a:cs typeface="Montserrat"/>
              <a:sym typeface="Montserrat"/>
            </a:endParaRPr>
          </a:p>
          <a:p>
            <a:pPr indent="0" lvl="0" marL="0" marR="0" rtl="0" algn="l">
              <a:lnSpc>
                <a:spcPct val="100000"/>
              </a:lnSpc>
              <a:spcBef>
                <a:spcPts val="0"/>
              </a:spcBef>
              <a:spcAft>
                <a:spcPts val="0"/>
              </a:spcAft>
              <a:buClr>
                <a:schemeClr val="dk1"/>
              </a:buClr>
              <a:buSzPts val="1100"/>
              <a:buFont typeface="Arial"/>
              <a:buNone/>
            </a:pPr>
            <a:r>
              <a:t/>
            </a:r>
            <a:endParaRPr b="1" i="0" sz="500" u="none" cap="none" strike="noStrike">
              <a:solidFill>
                <a:srgbClr val="008598"/>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2300"/>
              <a:buFont typeface="Helvetica Neue"/>
              <a:buNone/>
            </a:pPr>
            <a:r>
              <a:t/>
            </a:r>
            <a:endParaRPr b="1" i="0" sz="2100" u="none" cap="none" strike="noStrike">
              <a:solidFill>
                <a:srgbClr val="000000"/>
              </a:solidFill>
              <a:latin typeface="Montserrat"/>
              <a:ea typeface="Montserrat"/>
              <a:cs typeface="Montserrat"/>
              <a:sym typeface="Montserrat"/>
            </a:endParaRPr>
          </a:p>
        </p:txBody>
      </p:sp>
      <p:sp>
        <p:nvSpPr>
          <p:cNvPr id="203" name="Google Shape;203;p12"/>
          <p:cNvSpPr txBox="1"/>
          <p:nvPr>
            <p:ph idx="12" type="sldNum"/>
          </p:nvPr>
        </p:nvSpPr>
        <p:spPr>
          <a:xfrm>
            <a:off x="8289309" y="4579638"/>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900"/>
              <a:buNone/>
            </a:pPr>
            <a:fld id="{00000000-1234-1234-1234-123412341234}" type="slidenum">
              <a:rPr lang="pt-BR"/>
              <a:t>‹#›</a:t>
            </a:fld>
            <a:endParaRPr/>
          </a:p>
        </p:txBody>
      </p:sp>
      <p:pic>
        <p:nvPicPr>
          <p:cNvPr id="204" name="Google Shape;204;p12"/>
          <p:cNvPicPr preferRelativeResize="0"/>
          <p:nvPr/>
        </p:nvPicPr>
        <p:blipFill>
          <a:blip r:embed="rId3">
            <a:alphaModFix/>
          </a:blip>
          <a:stretch>
            <a:fillRect/>
          </a:stretch>
        </p:blipFill>
        <p:spPr>
          <a:xfrm>
            <a:off x="152400" y="1064025"/>
            <a:ext cx="8839199" cy="31793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08" name="Shape 208"/>
        <p:cNvGrpSpPr/>
        <p:nvPr/>
      </p:nvGrpSpPr>
      <p:grpSpPr>
        <a:xfrm>
          <a:off x="0" y="0"/>
          <a:ext cx="0" cy="0"/>
          <a:chOff x="0" y="0"/>
          <a:chExt cx="0" cy="0"/>
        </a:xfrm>
      </p:grpSpPr>
      <p:sp>
        <p:nvSpPr>
          <p:cNvPr id="209" name="Google Shape;209;p13"/>
          <p:cNvSpPr txBox="1"/>
          <p:nvPr/>
        </p:nvSpPr>
        <p:spPr>
          <a:xfrm>
            <a:off x="771525" y="1991750"/>
            <a:ext cx="5648400" cy="15093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300"/>
              <a:buFont typeface="Helvetica Neue"/>
              <a:buNone/>
            </a:pPr>
            <a:r>
              <a:rPr b="1" i="0" lang="pt-BR" sz="8000" u="none" cap="none" strike="noStrike">
                <a:solidFill>
                  <a:srgbClr val="FFFFFF"/>
                </a:solidFill>
                <a:latin typeface="Spectral"/>
                <a:ea typeface="Spectral"/>
                <a:cs typeface="Spectral"/>
                <a:sym typeface="Spectral"/>
              </a:rPr>
              <a:t>Tks</a:t>
            </a:r>
            <a:r>
              <a:rPr b="1" i="0" lang="pt-BR" sz="8000" u="none" cap="none" strike="noStrike">
                <a:solidFill>
                  <a:srgbClr val="FFCD34"/>
                </a:solidFill>
                <a:latin typeface="Spectral"/>
                <a:ea typeface="Spectral"/>
                <a:cs typeface="Spectral"/>
                <a:sym typeface="Spectral"/>
              </a:rPr>
              <a:t> ;-)</a:t>
            </a:r>
            <a:endParaRPr b="0" i="0" sz="8000" u="none" cap="none" strike="noStrike">
              <a:solidFill>
                <a:srgbClr val="FFCD34"/>
              </a:solidFill>
              <a:latin typeface="Spectral"/>
              <a:ea typeface="Spectral"/>
              <a:cs typeface="Spectral"/>
              <a:sym typeface="Spectral"/>
            </a:endParaRPr>
          </a:p>
        </p:txBody>
      </p:sp>
      <p:sp>
        <p:nvSpPr>
          <p:cNvPr id="210" name="Google Shape;210;p13"/>
          <p:cNvSpPr txBox="1"/>
          <p:nvPr/>
        </p:nvSpPr>
        <p:spPr>
          <a:xfrm>
            <a:off x="778400" y="3699375"/>
            <a:ext cx="3174900" cy="429300"/>
          </a:xfrm>
          <a:prstGeom prst="rect">
            <a:avLst/>
          </a:prstGeom>
          <a:noFill/>
          <a:ln>
            <a:noFill/>
          </a:ln>
        </p:spPr>
        <p:txBody>
          <a:bodyPr anchorCtr="0" anchor="t" bIns="0" lIns="0" spcFirstLastPara="1" rIns="0" wrap="square" tIns="0">
            <a:noAutofit/>
          </a:bodyPr>
          <a:lstStyle/>
          <a:p>
            <a:pPr indent="0" lvl="0" marL="0" marR="152400" rtl="0" algn="l">
              <a:lnSpc>
                <a:spcPct val="115000"/>
              </a:lnSpc>
              <a:spcBef>
                <a:spcPts val="0"/>
              </a:spcBef>
              <a:spcAft>
                <a:spcPts val="0"/>
              </a:spcAft>
              <a:buClr>
                <a:srgbClr val="000000"/>
              </a:buClr>
              <a:buSzPts val="500"/>
              <a:buFont typeface="Arial"/>
              <a:buNone/>
            </a:pPr>
            <a:r>
              <a:rPr b="1" i="1" lang="pt-BR" sz="500" u="none" cap="none" strike="noStrike">
                <a:solidFill>
                  <a:srgbClr val="999999"/>
                </a:solidFill>
                <a:latin typeface="Montserrat"/>
                <a:ea typeface="Montserrat"/>
                <a:cs typeface="Montserrat"/>
                <a:sym typeface="Montserrat"/>
              </a:rPr>
              <a:t>Blinks Essence © 202</a:t>
            </a:r>
            <a:r>
              <a:rPr b="1" i="1" lang="pt-BR" sz="500">
                <a:solidFill>
                  <a:srgbClr val="999999"/>
                </a:solidFill>
                <a:latin typeface="Montserrat"/>
                <a:ea typeface="Montserrat"/>
                <a:cs typeface="Montserrat"/>
                <a:sym typeface="Montserrat"/>
              </a:rPr>
              <a:t>2</a:t>
            </a:r>
            <a:br>
              <a:rPr b="1" i="1" lang="pt-BR" sz="500" u="none" cap="none" strike="noStrike">
                <a:solidFill>
                  <a:srgbClr val="999999"/>
                </a:solidFill>
                <a:latin typeface="Montserrat"/>
                <a:ea typeface="Montserrat"/>
                <a:cs typeface="Montserrat"/>
                <a:sym typeface="Montserrat"/>
              </a:rPr>
            </a:br>
            <a:r>
              <a:rPr b="0" i="1" lang="pt-BR" sz="500" u="none" cap="none" strike="noStrike">
                <a:solidFill>
                  <a:srgbClr val="999999"/>
                </a:solidFill>
                <a:latin typeface="Montserrat"/>
                <a:ea typeface="Montserrat"/>
                <a:cs typeface="Montserrat"/>
                <a:sym typeface="Montserrat"/>
              </a:rPr>
              <a:t>This document contains confidential information and methodology belonging to the Agency. None of this information may be disclosed to others, nor may it be used, copied or transmitted in any form or by any means without prior written consent of the Agency. This document must be returned immediately on the Agency's request. </a:t>
            </a:r>
            <a:endParaRPr b="0" i="1" sz="500" u="none" cap="none" strike="noStrike">
              <a:solidFill>
                <a:srgbClr val="999999"/>
              </a:solidFill>
              <a:latin typeface="Montserrat"/>
              <a:ea typeface="Montserrat"/>
              <a:cs typeface="Montserrat"/>
              <a:sym typeface="Montserrat"/>
            </a:endParaRPr>
          </a:p>
          <a:p>
            <a:pPr indent="0" lvl="0" marL="0" marR="0" rtl="0" algn="l">
              <a:lnSpc>
                <a:spcPct val="115000"/>
              </a:lnSpc>
              <a:spcBef>
                <a:spcPts val="1000"/>
              </a:spcBef>
              <a:spcAft>
                <a:spcPts val="0"/>
              </a:spcAft>
              <a:buClr>
                <a:srgbClr val="000000"/>
              </a:buClr>
              <a:buSzPts val="500"/>
              <a:buFont typeface="Arial"/>
              <a:buNone/>
            </a:pPr>
            <a:r>
              <a:t/>
            </a:r>
            <a:endParaRPr b="0" i="0" sz="500" u="none" cap="none" strike="noStrike">
              <a:solidFill>
                <a:srgbClr val="999999"/>
              </a:solidFill>
              <a:latin typeface="Montserrat"/>
              <a:ea typeface="Montserrat"/>
              <a:cs typeface="Montserrat"/>
              <a:sym typeface="Montserrat"/>
            </a:endParaRPr>
          </a:p>
        </p:txBody>
      </p:sp>
      <p:pic>
        <p:nvPicPr>
          <p:cNvPr id="211" name="Google Shape;211;p13"/>
          <p:cNvPicPr preferRelativeResize="0"/>
          <p:nvPr/>
        </p:nvPicPr>
        <p:blipFill rotWithShape="1">
          <a:blip r:embed="rId3">
            <a:alphaModFix/>
          </a:blip>
          <a:srcRect b="0" l="0" r="0" t="0"/>
          <a:stretch/>
        </p:blipFill>
        <p:spPr>
          <a:xfrm>
            <a:off x="614500" y="1198428"/>
            <a:ext cx="614504" cy="3130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links Essence SEM CLIENTE">
  <a:themeElements>
    <a:clrScheme name="White">
      <a:dk1>
        <a:srgbClr val="000000"/>
      </a:dk1>
      <a:lt1>
        <a:srgbClr val="FFFFFF"/>
      </a:lt1>
      <a:dk2>
        <a:srgbClr val="9F9F9B"/>
      </a:dk2>
      <a:lt2>
        <a:srgbClr val="E6E6E2"/>
      </a:lt2>
      <a:accent1>
        <a:srgbClr val="008598"/>
      </a:accent1>
      <a:accent2>
        <a:srgbClr val="FFCD34"/>
      </a:accent2>
      <a:accent3>
        <a:srgbClr val="404041"/>
      </a:accent3>
      <a:accent4>
        <a:srgbClr val="31538F"/>
      </a:accent4>
      <a:accent5>
        <a:srgbClr val="FFFFFF"/>
      </a:accent5>
      <a:accent6>
        <a:srgbClr val="FFFFFF"/>
      </a:accent6>
      <a:hlink>
        <a:srgbClr val="008598"/>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